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5장 '교육과정의 계획과 운영'을 세 부분으로 나눠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 순서입니다.
첫째, '영유아교육과정의 이해'.
둘째, '영유아교육과정의 구성'.
셋째, '영유아교육과정의 계획 및 운영'입니다.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첫 번째 부분, '영유아교육과정의 이해'입니다.
교육과정의 정의, 유치원교육과정과 누리과정, 어린이집 표준보육과정, 그리고 2019 개정 누리과정의 혁신 방향 순서로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유치원과 어린이집 운영의 가장 기본적인 목적은 영유아를 교육하기 위한 우수한 교육과정을 운영하는 것입니다.
교육과정이란 목표와 일정한 순서로 배열된 학습의 코스와 더불어 교육내용이나 경험내용을 의미합니다. 이는 교사를 중심으로 보면 가르치는 내용이나 교과 혹은 의도적 계획으로 정의되며, 배우는 학생을 중심으로 보면 학습경험 또는 학습 결과로 정의됩니다(이귀윤, 1990).
또한 방인옥 등(1999)은 교육과정을 '학습자의 전인적 성장과 발달을 돕기 위해서 학교가 의미하는 교육적 상황을 마련하고 모든 종류의 교수-학습 경험을 체계적으로 구성한 설계도'라고 정의하고 있습니다.
넓은 의미로는 '학생이 경험하는 모든 것'이라고 정의하기도 하고, 좁은 의미로는 '계획된 교과목 또는 교수요목'으로 정의하기도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우리나라 유치원교육과정은 1969년 처음으로 제정된 이후 2007년에 이르기까지 여섯 차례 개정되었습니다.
현재는 유치원과 어린이집 3~5세를 위한 공통교육과정으로 누리과정을 시행하고 있습니다. 누리과정은 지금까지 이원화되어 있는 유치원교육과정과 어린이집 표준보육과정을 일원화하여 취학 전 교육의 질을 제고하여, 생애초기 출발점 평등을 보장하려는 취지로 개발된 것입니다(교육과학기술부·보건복지부, 2012; 2013; 2019).
2013년에는 유치원과 어린이집 교육·보육과정을 통합하여 만 3~5세 유아를 위한 누리과정이 시행되었으며, 2020년부터 유아중심·놀이중심의 개정 누리과정이 적용되고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어린이집은 국가수준 보육과정으로 표준보육과정이 보급되었습니다. 표준보육과정이란 어린이집에서 영유아가 경험해야 할 바람직한 태도와 가치, 지식, 기술 등을 제시한 국가수준의 보편적 교육과정입니다.
표준보육과정의 개발은 1990년대 후반 어린이집의 양적인 증가와 관련되어 있습니다. 핵가족화와 취업모의 지속적인 증가, 그리고 출생 후 조기 경험이 인간의 발달에 결정적이라는 영유아기 교육에 대한 중요성이 더욱 부각되면서 영유아가 어린이집에 다니는 것이 보편화되었습니다. 이에 어린이집에서 영유아에게 언제, 무엇을 목표로 어떤 경험을 제공할 것인가에 대한 국가수준의 지침이 필요하게 되었습니다.
2004년 1월 29일 전면 개정된 영유아보육법 제29조 제2항에 표준보육과정을 개발, 보급하여야 함이 명시되었습니다. 2007년에 표준보육과정이 공포되었으며, 이후 2013년에 제3차 어린이집 표준보육과정으로 개정되고(보건복지부, 2013b), 2020년에는 제4차 어린이집 표준보육과정이 고시되었습니다(보건복지부, 2020).
그리고 2025년에는 「유보통합 실행계획(안)」에서 0~5세 영유아교육과정이 마련되기 전에 표준보육과정(0~2세)의 일부개정의 필요성에 따라 2024 개정 표준보육과정(0~2세)이 고시되었습니다.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유치원과 어린이집의 공통교육과정인 2019 개정 누리과정은 교육부가 출발선 평등을 실현하기 위한 '유아교육 혁신방안'에 의거하여 개정된 것입니다.
혁신방향은 다음과 같습니다.
첫째, 초등학교 준비 위주의 학습보다는 개별 유아에 대한 다양한 특성을 고려한 내용으로 구성해야 한다.
둘째, 교사계획서 위주, 학습 위주의 교육보다는 유아의 자유놀이를 권장하며 관찰과 기록 등 유아와의 상호작용을 강조해야 한다.
셋째, 5개 영역, 주제-소주제 등 구성체계가 지나치게 세부적이므로 현장의 자율성을 존중하기 위해 세부내용을 삭제해야 한다(교육부, 2017).
이와 같은 방향을 반영하여 '유아 중심·놀이 중심 교육과정'으로 개정된 누리과정은 2020년부터 유치원과 어린이집 공통교육과정으로 적용되고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0~2세는 어린이집 표준보육과정, 3~5세는 유치원과 어린이집의 공통교육과정인 누리과정이 적용됩니다.
교육과정은 학습자의 전인적 성장과 발달을 돕기 위해 모든 종류의 교수-학습 경험을 체계적으로 구성한 설계도입니다. 누리과정은 이원화되어 있던 유치원교육과정과 어린이집 표준보육과정을 일원화하여 취학 전 교육의 질을 제고하고 생애초기 출발점 평등을 보장하려는 취지로 개발되었습니다. 그리고 2019 개정 누리과정은 '유아 중심·놀이 중심 교육과정'으로 개정되었습니다.
다음으로 두 번째 부분, '영유아교육과정의 구성'을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부분은 '영유아교육과정의 구성'입니다.
교육과정의 구성 요소와 교육과정 구성의 특징 순서로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교육과정에 대한 개념적 정의가 다양하므로 교육과정 구성요소 또한 학자마다 서로 다를 수 있지만, 가장 일반적인 교육과정 구성요소는 교육목적, 교육내용, 교육방법, 교육평가입니다.
타일러(Tyler)는 교육과정을 체계화하는 데 있어서 다음과 같은 네 가지 질문을 해야 한다고 제시하고 있습니다.
첫째, 학교가 성취해야 할 교육목표는 무엇인가?
둘째, 교육목표를 달성하기 위해 어떤 교육적 경험이 제공될 수 있는가?
셋째, 교육적 경험은 어떻게 하면 가장 효과적으로 조직할 수 있는가?
넷째, 교육목표들이 달성되었는지를 어떻게 알 수 있는가?
타일러가 제시한 네 가지 질문에 기초하면, 영유아교육과정의 구성은 영유아에게 가치 있는 교육목표를 설정하고, 목표를 달성하도록 돕는 적절한 교육 내용과 방법을 선정 및 조직하고, 의도한 목표가 제대로 달성되었는지를 확인하는 평가 작업 등이 핵심적인 요소가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타일러의 교육과정 모형에 대해 비판하면서도 우리나라 초·중·고등학교 교육과정은 타일러의 교육과정 체제에 의존해 왔으며, 이 모형은 교육과정을 개념화하는 데도 많은 영향을 미쳤습니다. 따라서 우리나라 영유아교육과정을 구성하는 기본 요소에도 교육목표와 교육내용, 교수-학습 방법, 평가 등의 네 가지 요소가 포함됩니다.
즉, 각 기관의 철학에 부합하는 교육목표의 설정과 그러한 교육목표를 달성하는 데 반드시 필요한 교육내용의 선정, 잘 선정된 교육내용의 조직 및 영유아의 발달과 흥미에 적합한 교수방법의 결정, 평가, 그리고 평가 결과를 차기 교육계획 수립에 적절히 반영하는 것 등은 교육과정의 구성요소이자 교육과정이 실행되는 순서이기도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교육과정 구성의 특징입니다.
첫째, 교육내용 간의 통합입니다. 영유아는 분리된 교과별 학습보다 통합된 경험을 통해 더 잘 배웁니다. 따라서 학습경험을 국어, 사회, 과학, 미술 등 교과로 분리하여 접근하는 것보다는 유아의 경험을 중심으로 교육과정의 영역이 자연스럽게 통합되면서 배움이 이루어지도록 운영해야 합니다. 영유아에게 친근하며 관심 있는 주제를 중심으로 통합한 놀이 경험, 예를 들어 주제 '가을' 전개 시 가을 과일 만들기, 과일 가게 놀이, 간판과 가격표 쓰기 등을 통해 영유아들은 각 교과 혹은 학문영역 간의 지식을 서로 잘 연관 지을 수 있고 추상적인 개념을 이해할 수 있게 됩니다.
둘째, 놀이 중심 교육과정으로 운영하는 것입니다. 유아와 놀이를 최우선으로 존중하는 교육과정으로 운영되어야 합니다. 이를 위해 충분한 놀이시간을 확보하고, 교사가 활동을 통해 지식을 가르치려는 접근보다는 유아 스스로 놀이하는 과정에서 배움이 이루어지도록 장려해야 합니다. 충분한 바깥놀이 시간을 제공하고 친숙한 사물이나 자연물을 이용한 놀이가 이루어지도록 장려합니다. 교사는 놀이지원자로서 유아를 관찰하고 필요한 지원과 상호작용을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흥미와 요구를 반영한 교육적 경험입니다. 영유아를 위한 교육과정은 영유아의 흥미를 최대한 존중하면서 발달적 요구에 적합한 것을 내용으로 선정해야 합니다. 흥미에 기초한다는 것은 단순히 영유아가 좋아하는 것, 지금 경험하는 것이 좋은 교육과정을 의미하는 것은 아니라는 점에 유의해야 합니다. 교사는 주의 깊은 관찰과 영유아에 대한 평가를 통해 개별 및 전체 영유아에게 의미 있는 주제나 놀이를 선별하고, 이를 교육적인 활동으로 연결하는 것이 필요합니다.
넷째, 개인차와 문화적 특성 등의 다양성 반영입니다. 영유아를 위한 교육과정은 영유아기의 발달적 독특성뿐만 아니라 개별 영유아의 발달 특성, 개인차, 기질, 사회문화적 배경 차이 등의 다양성을 반영해야 합니다. 특히 영아기는 개인별 발달 차이와 월령별 발달 차이가 크게 나타나므로 학급별 계획보다는 개인별 보육계획을 수립하는 것이 적합합니다. 누리과정도 연령별로 구성되어 있으나, 이를 적용할 때는 학급별 교육계획 시 담당교사가 영유아의 개인별 평가에 기초한 수준별 교육계획을 수립하는 것이 바람직합니다. 또한 우리 사회가 다문화 사회로 진입한 만큼 유아와 가정의 다양성을 반영한 다문화교육을 계획해야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영유아교육과정을 구성하는 기본 요소는 교육목표, 교육내용, 교수-학습 방법, 평가이며, 이는 교육과정의 구성요소이자 교육과정이 실행되는 순서이기도 합니다.
그리고 교육과정 구성의 특징은 교육내용 간의 통합, 놀이 중심 교육과정으로 운영, 흥미와 요구를 반영한 교육적 경험, 개인차와 문화적 특성 등의 다양성 반영입니다.
다음으로 세 번째 부분, '영유아교육과정의 계획 및 운영'을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세 번째 부분은 '영유아교육과정의 계획 및 운영'입니다.
교육과정 계획·운영의 지침, 표준보육과정의 총론과 운영, 연령별 목표 및 내용, 그리고 관련 법규와 지침의 이해 순서로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어린이집과 유치원의 교육과정을 계획하고 운영하기 위해서는 교육과정에 대한 전문적 지식만 필요한 것이 아닙니다. 각 원이 추구하는 교육 방향뿐 아니라 국가수준의 교육과정, 소속한 지역의 유아교육 방향, 해당 연도의 유치원 교육과정 편성·운영 지침, 어린이집 보육사업안내 등을 지침으로 운영해야 하기 때문입니다.
어린이집은 표준보육과정, 유치원은 유치원 교육과정(누리과정)이 고시되어 있으므로 교원이 함께 이를 연구하고 각 기관의 교육에 어떻게 반영할지 협의하도록 합니다.
표 5-1과 같이 3~5세는 공통교육과정(누리과정)을 적용하여 내용이 동일하므로, 여기서는 제4차 표준보육과정(보건복지부 고시 제2020-75호, 2020. 4. 9)을 중심으로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표준보육과정의 총론입니다. 추구하는 인간상은 건강한 사람, 자주적인 사람, 창의적인 사람, 감성이 풍부한 사람, 더불어 사는 사람입니다.
표준보육과정의 목적은 영유아가 놀이를 통해 심신의 건강과 조화로운 발달을 이루고, 바른 인성과 민주 시민의 기초를 형성하는 데에 있습니다.
이를 실현하기 위한 목표는 다음과 같습니다.
0~1세 보육과정 및 2세 보육과정 목표는 자신의 소중함을 알고 건강하고 안전한 환경에서 즐겁게 생활한다, 자신의 일을 스스로 하고자 한다, 호기심을 가지고 탐색하며 상상력을 기른다, 일상에서 아름다움에 관심을 가지고 감성을 기른다, 사람과 자연을 존중하고 소통하는 데 관심을 가진다 입니다.
3~5세 보육과정 목표는 자신의 소중함을 알고 건강하고 안전한 생활습관을 기른다, 자신의 일을 스스로 해결하는 기초능력을 기른다, 호기심과 탐구심을 가지고 상상력과 창의력을 기른다, 일상에서 아름다움을 느끼고 문화적 감수성을 기른다, 사람과 자연을 존중하고 배려하며 소통하는 태도를 기른다 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표준보육과정은 영유아가 개별적인 특성을 지닌 고유한 존재임을 전제로 다음 사항에 중점을 두고 구성합니다.
가. 0~5세 모든 영유아에게 적용할 수 있도록 구성한다.
나. 추구하는 인간상 구현을 위한 지식, 기능, 태도 및 가치를 반영하여 구성한다.
다. 신체운동·건강, 의사소통, 사회관계, 예술경험, 자연탐구의 5개 영역을 중심으로 구성한다.
라. 0~5세 영유아가 경험해야 할 내용으로 구성한다.
마. 초등학교 교육과정과의 연계성을 고려하여 구성한다.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표준보육과정의 운영입니다.
먼저 편성·운영입니다. 각 기관의 운영 시간에 맞추어 편성하고, 표준보육과정을 바탕으로 각 기관의 실정에 적합한 계획을 수립하여 운영합니다. 하루일과에서 바깥놀이를 포함하여 영유아의 놀이가 충분히 이루어지도록 편성하고, 성, 신체적 특성, 장애, 종교, 가족 및 문화적 배경 등에 따른 차별이 없도록 편성하여 운영합니다. 영유아의 발달과 장애 정도에 따라 조정하여 운영하고, 가정과 지역사회와의 협력과 참여에 기반하여 운영하며, 교사 연수를 통해 표준보육과정의 운영을 개선할 수 있도록 합니다.
교수·학습에서 교사는 영유아가 흥미와 관심에 따라 놀이에 자유롭게 참여하고 즐기도록 하고, 놀이를 통해 배우도록 합니다. 다양한 놀이와 활동을 경험할 수 있도록 실내외 환경을 구성하고, 영유아와 영유아, 영유아와 교사, 영유아와 환경 사이에 능동적인 상호작용이 이루어지도록 합니다. 5개 영역의 내용이 통합적으로 영유아의 경험과 연계되도록 하고, 개별 영유아의 요구에 따라 휴식과 일상생활이 원활히 이루어지도록 하며, 영유아의 연령, 발달, 장애, 배경 등을 고려하여 개별 특성에 적합한 방식으로 배우도록 합니다.
평가는 표준보육과정 운영의 질을 진단하고 개선하기 위해 계획하고 실시합니다. 영유아의 특성 및 변화 정도와 표준보육과정의 운영을 평가하고, 평가의 목적에 따라 적합한 방법을 사용하여 평가합니다. 평가의 결과는 영유아에 대한 이해와 표준보육과정 운영 개선을 위한 자료로 활용할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0~1세, 2세, 3~5세 연령별 목표 및 내용은 표 5-2, 표 5-3, 표 5-4에 제시되어 있습니다(교육부고시 제2024-23호). 3~5세 영역별 목표 및 내용은 유치원교육과정과 동일합니다.
세 연령 모두 신체운동·건강, 의사소통, 사회관계, 예술경험, 자연탐구의 5개 영역으로 되어 있습니다.
신체운동·건강의 내용범주는 신체활동 즐기기, 건강하게 생활하기, 안전하게 생활하기입니다.
의사소통은 듣기와 말하기, 읽기와 쓰기에 관심 가지기, 책과 이야기 즐기기입니다.
사회관계는 나를 알고 존중하기, 더불어 생활하기이고, 3~5세에는 사회에 관심 가지기가 있습니다.
예술경험은 아름다움 찾아보기, 창의적으로 표현하기이고, 3~5세에는 예술 감상하기가 있습니다.
자연탐구는 탐구 과정 즐기기, 생활 속에서 탐구하기, 자연과 더불어 살기입니다.
예를 들어 '안전하게 생활하기'의 내용을 보면, 0~1세는 '위험하다는 말에 주의한다', 2세는 '위험한 상황에 대처하는 방법을 경험한다', 3~5세는 '안전사고, 화재, 재난, 학대, 유괴 등에 대처하는 방법을 경험한다'로 제시되어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관련 법규와 지침의 이해입니다.
유아교육기관의 교육과정을 계획하는 경우에도 사전에 교육청의 지침을 파악하며, 필수 교육 내용이 있는 경우 이를 교육과정에 반영하여야 합니다. 관련청의 지침은 유치원과 어린이집에 적용되는 법령의 변경 사항을 정확하게 반영하면서, 아울러 각 지역 교육청과 지방자치단체의 지침 사항을 반영하고 있는 중요한 문서입니다.
유치원의 경우 매년 교육청별 유치원교육과정 편성·운영지침과 유아교육계획을 참조하며, 어린이집은 보육사업안내서와 업무별 매뉴얼을 참고하면 됩니다. 또한 상위법에 따라 교육청이 정하도록 되어 있는 내용에 대해서는 각 교육청마다 다를 수 있으므로 반드시 소속 교육청의 계획서와 지침을 참조하도록 합니다. 매년 운영계획서를 작성하고 연간 학사일정 등을 정할 때도 소속청의 지침을 숙지하고 반영합니다.
표 5-5는 2025학년도 경기도 유치원 교육과정 편성·운영 지침의 목차입니다(경기도교육청, 2025). 제1부 경기교육의 방향, 제2부 경기유아교육의 방향, 제3부 경기도 유치원 교육과정 편성·운영, 제4부 경기도 유치원 교육과정 영역별 목표 및 내용, 제5부 경기도 유치원 교육과정 편성·운영 지원으로 구성되어 있습니다.
이상으로 5장 '교육과정의 계획과 운영' 발표를 마치겠습니다.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dirty="0">
                <a:solidFill>
                  <a:srgbClr val="FDF3D6"/>
                </a:solidFill>
                <a:latin typeface="Malgun Gothic" pitchFamily="34" charset="0"/>
                <a:ea typeface="Malgun Gothic" pitchFamily="34" charset="-122"/>
                <a:cs typeface="Malgun Gothic" pitchFamily="34" charset="-120"/>
              </a:rPr>
              <a:t>05  교육과정의 계획과 운영</a:t>
            </a:r>
            <a:endParaRPr lang="en-US" sz="1600" dirty="0"/>
          </a:p>
        </p:txBody>
      </p:sp>
      <p:sp>
        <p:nvSpPr>
          <p:cNvPr id="10" name="Text 8"/>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교육과정의 계획과 운영</a:t>
            </a:r>
            <a:endParaRPr lang="en-US" sz="4400" dirty="0"/>
          </a:p>
        </p:txBody>
      </p:sp>
      <p:sp>
        <p:nvSpPr>
          <p:cNvPr id="11" name="Text 9"/>
          <p:cNvSpPr txBox="1"/>
          <p:nvPr/>
        </p:nvSpPr>
        <p:spPr>
          <a:xfrm>
            <a:off x="640080" y="260604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영유아교육과정의 이해 · 구성 · 계획 및 운영</a:t>
            </a:r>
            <a:endParaRPr lang="en-US" sz="1800" dirty="0"/>
          </a:p>
        </p:txBody>
      </p:sp>
      <p:sp>
        <p:nvSpPr>
          <p:cNvPr id="12" name="Text 10"/>
          <p:cNvSpPr txBox="1"/>
          <p:nvPr/>
        </p:nvSpPr>
        <p:spPr>
          <a:xfrm>
            <a:off x="640080" y="3931920"/>
            <a:ext cx="5486400" cy="365760"/>
          </a:xfrm>
          <a:prstGeom prst="rect">
            <a:avLst/>
          </a:prstGeom>
          <a:noFill/>
          <a:ln/>
        </p:spPr>
        <p:txBody>
          <a:bodyPr wrap="square" lIns="0" tIns="0" rIns="0" bIns="0" rtlCol="0" anchor="ctr"/>
          <a:lstStyle/>
          <a:p>
            <a:pPr indent="0" marL="0">
              <a:buNone/>
            </a:pPr>
            <a:r>
              <a:rPr lang="en-US" sz="1400" dirty="0">
                <a:solidFill>
                  <a:srgbClr val="DCEBDD"/>
                </a:solidFill>
                <a:latin typeface="Malgun Gothic" pitchFamily="34" charset="0"/>
                <a:ea typeface="Malgun Gothic" pitchFamily="34" charset="-122"/>
                <a:cs typeface="Malgun Gothic" pitchFamily="34" charset="-120"/>
              </a:rPr>
              <a:t>과목명  |  학번  |  발표자 이름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02</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목차</a:t>
            </a:r>
            <a:endParaRPr lang="en-US" sz="2800" dirty="0"/>
          </a:p>
        </p:txBody>
      </p:sp>
      <p:sp>
        <p:nvSpPr>
          <p:cNvPr id="5" name="Shape 3"/>
          <p:cNvSpPr/>
          <p:nvPr/>
        </p:nvSpPr>
        <p:spPr>
          <a:xfrm>
            <a:off x="457200" y="1188720"/>
            <a:ext cx="2615184" cy="3474720"/>
          </a:xfrm>
          <a:prstGeom prst="roundRect">
            <a:avLst>
              <a:gd name="adj" fmla="val 5245"/>
            </a:avLst>
          </a:prstGeom>
          <a:solidFill>
            <a:srgbClr val="FCE4D8"/>
          </a:solidFill>
          <a:ln/>
        </p:spPr>
      </p:sp>
      <p:sp>
        <p:nvSpPr>
          <p:cNvPr id="6" name="Shape 4"/>
          <p:cNvSpPr/>
          <p:nvPr/>
        </p:nvSpPr>
        <p:spPr>
          <a:xfrm>
            <a:off x="685800" y="1417320"/>
            <a:ext cx="640080" cy="640080"/>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845820" y="1577340"/>
            <a:ext cx="320040" cy="320040"/>
          </a:xfrm>
          <a:prstGeom prst="rect">
            <a:avLst/>
          </a:prstGeom>
        </p:spPr>
      </p:pic>
      <p:sp>
        <p:nvSpPr>
          <p:cNvPr id="8" name="Text 5"/>
          <p:cNvSpPr txBox="1"/>
          <p:nvPr/>
        </p:nvSpPr>
        <p:spPr>
          <a:xfrm>
            <a:off x="1463040" y="1463040"/>
            <a:ext cx="1463040" cy="548640"/>
          </a:xfrm>
          <a:prstGeom prst="rect">
            <a:avLst/>
          </a:prstGeom>
          <a:noFill/>
          <a:ln/>
        </p:spPr>
        <p:txBody>
          <a:bodyPr wrap="square" lIns="0" tIns="0" rIns="0" bIns="0" rtlCol="0" anchor="ctr"/>
          <a:lstStyle/>
          <a:p>
            <a:pPr indent="0" marL="0">
              <a:buNone/>
            </a:pPr>
            <a:r>
              <a:rPr lang="en-US" sz="1600" b="1" dirty="0">
                <a:solidFill>
                  <a:srgbClr val="C0643E"/>
                </a:solidFill>
                <a:latin typeface="Malgun Gothic" pitchFamily="34" charset="0"/>
                <a:ea typeface="Malgun Gothic" pitchFamily="34" charset="-122"/>
                <a:cs typeface="Malgun Gothic" pitchFamily="34" charset="-120"/>
              </a:rPr>
              <a:t>PART 1</a:t>
            </a:r>
            <a:endParaRPr lang="en-US" sz="1600" dirty="0"/>
          </a:p>
        </p:txBody>
      </p:sp>
      <p:sp>
        <p:nvSpPr>
          <p:cNvPr id="9" name="Text 6"/>
          <p:cNvSpPr txBox="1"/>
          <p:nvPr/>
        </p:nvSpPr>
        <p:spPr>
          <a:xfrm>
            <a:off x="685800" y="2240280"/>
            <a:ext cx="2194560" cy="777240"/>
          </a:xfrm>
          <a:prstGeom prst="rect">
            <a:avLst/>
          </a:prstGeom>
          <a:noFill/>
          <a:ln/>
        </p:spPr>
        <p:txBody>
          <a:bodyPr wrap="square" lIns="0" tIns="0" rIns="0" bIns="0" rtlCol="0" anchor="t"/>
          <a:lstStyle/>
          <a:p>
            <a:pPr indent="0" marL="0">
              <a:buNone/>
            </a:pPr>
            <a:r>
              <a:rPr lang="en-US" sz="1700" b="1" dirty="0">
                <a:solidFill>
                  <a:srgbClr val="33413A"/>
                </a:solidFill>
                <a:latin typeface="Malgun Gothic" pitchFamily="34" charset="0"/>
                <a:ea typeface="Malgun Gothic" pitchFamily="34" charset="-122"/>
                <a:cs typeface="Malgun Gothic" pitchFamily="34" charset="-120"/>
              </a:rPr>
              <a:t>영유아교육과정의 이해</a:t>
            </a:r>
            <a:endParaRPr lang="en-US" sz="1700" dirty="0"/>
          </a:p>
        </p:txBody>
      </p:sp>
      <p:sp>
        <p:nvSpPr>
          <p:cNvPr id="10" name="Text 7"/>
          <p:cNvSpPr txBox="1"/>
          <p:nvPr/>
        </p:nvSpPr>
        <p:spPr>
          <a:xfrm>
            <a:off x="685800" y="3108960"/>
            <a:ext cx="224028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교육과정의 정의</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누리과정·표준보육과정의 변천</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2019 개정 누리과정</a:t>
            </a:r>
            <a:endParaRPr lang="en-US" sz="1200" dirty="0"/>
          </a:p>
        </p:txBody>
      </p:sp>
      <p:sp>
        <p:nvSpPr>
          <p:cNvPr id="11" name="Shape 8"/>
          <p:cNvSpPr/>
          <p:nvPr/>
        </p:nvSpPr>
        <p:spPr>
          <a:xfrm>
            <a:off x="3264408" y="1188720"/>
            <a:ext cx="2615184" cy="3474720"/>
          </a:xfrm>
          <a:prstGeom prst="roundRect">
            <a:avLst>
              <a:gd name="adj" fmla="val 5245"/>
            </a:avLst>
          </a:prstGeom>
          <a:solidFill>
            <a:srgbClr val="FDF3D6"/>
          </a:solidFill>
          <a:ln/>
        </p:spPr>
      </p:sp>
      <p:sp>
        <p:nvSpPr>
          <p:cNvPr id="12" name="Shape 9"/>
          <p:cNvSpPr/>
          <p:nvPr/>
        </p:nvSpPr>
        <p:spPr>
          <a:xfrm>
            <a:off x="3493008" y="1417320"/>
            <a:ext cx="640080" cy="640080"/>
          </a:xfrm>
          <a:prstGeom prst="ellipse">
            <a:avLst/>
          </a:prstGeom>
          <a:solidFill>
            <a:srgbClr val="F5D07A"/>
          </a:solidFill>
          <a:ln/>
        </p:spPr>
      </p:sp>
      <p:pic>
        <p:nvPicPr>
          <p:cNvPr id="13" name="Image 1" descr="preencoded.png">    </p:cNvPr>
          <p:cNvPicPr>
            <a:picLocks noChangeAspect="1"/>
          </p:cNvPicPr>
          <p:nvPr/>
        </p:nvPicPr>
        <p:blipFill>
          <a:blip r:embed="rId2"/>
          <a:stretch>
            <a:fillRect/>
          </a:stretch>
        </p:blipFill>
        <p:spPr>
          <a:xfrm>
            <a:off x="3653028" y="1577340"/>
            <a:ext cx="320040" cy="320040"/>
          </a:xfrm>
          <a:prstGeom prst="rect">
            <a:avLst/>
          </a:prstGeom>
        </p:spPr>
      </p:pic>
      <p:sp>
        <p:nvSpPr>
          <p:cNvPr id="14" name="Text 10"/>
          <p:cNvSpPr txBox="1"/>
          <p:nvPr/>
        </p:nvSpPr>
        <p:spPr>
          <a:xfrm>
            <a:off x="4270248" y="1463040"/>
            <a:ext cx="1463040" cy="548640"/>
          </a:xfrm>
          <a:prstGeom prst="rect">
            <a:avLst/>
          </a:prstGeom>
          <a:noFill/>
          <a:ln/>
        </p:spPr>
        <p:txBody>
          <a:bodyPr wrap="square" lIns="0" tIns="0" rIns="0" bIns="0" rtlCol="0" anchor="ctr"/>
          <a:lstStyle/>
          <a:p>
            <a:pPr indent="0" marL="0">
              <a:buNone/>
            </a:pPr>
            <a:r>
              <a:rPr lang="en-US" sz="1600" b="1" dirty="0">
                <a:solidFill>
                  <a:srgbClr val="B08A2E"/>
                </a:solidFill>
                <a:latin typeface="Malgun Gothic" pitchFamily="34" charset="0"/>
                <a:ea typeface="Malgun Gothic" pitchFamily="34" charset="-122"/>
                <a:cs typeface="Malgun Gothic" pitchFamily="34" charset="-120"/>
              </a:rPr>
              <a:t>PART 2</a:t>
            </a:r>
            <a:endParaRPr lang="en-US" sz="1600" dirty="0"/>
          </a:p>
        </p:txBody>
      </p:sp>
      <p:sp>
        <p:nvSpPr>
          <p:cNvPr id="15" name="Text 11"/>
          <p:cNvSpPr txBox="1"/>
          <p:nvPr/>
        </p:nvSpPr>
        <p:spPr>
          <a:xfrm>
            <a:off x="3493008" y="2240280"/>
            <a:ext cx="2194560" cy="777240"/>
          </a:xfrm>
          <a:prstGeom prst="rect">
            <a:avLst/>
          </a:prstGeom>
          <a:noFill/>
          <a:ln/>
        </p:spPr>
        <p:txBody>
          <a:bodyPr wrap="square" lIns="0" tIns="0" rIns="0" bIns="0" rtlCol="0" anchor="t"/>
          <a:lstStyle/>
          <a:p>
            <a:pPr indent="0" marL="0">
              <a:buNone/>
            </a:pPr>
            <a:r>
              <a:rPr lang="en-US" sz="1700" b="1" dirty="0">
                <a:solidFill>
                  <a:srgbClr val="33413A"/>
                </a:solidFill>
                <a:latin typeface="Malgun Gothic" pitchFamily="34" charset="0"/>
                <a:ea typeface="Malgun Gothic" pitchFamily="34" charset="-122"/>
                <a:cs typeface="Malgun Gothic" pitchFamily="34" charset="-120"/>
              </a:rPr>
              <a:t>영유아교육과정의 구성</a:t>
            </a:r>
            <a:endParaRPr lang="en-US" sz="1700" dirty="0"/>
          </a:p>
        </p:txBody>
      </p:sp>
      <p:sp>
        <p:nvSpPr>
          <p:cNvPr id="16" name="Text 12"/>
          <p:cNvSpPr txBox="1"/>
          <p:nvPr/>
        </p:nvSpPr>
        <p:spPr>
          <a:xfrm>
            <a:off x="3493008" y="3108960"/>
            <a:ext cx="224028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구성 요소(목표·내용·방법·평가)</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실행 순서</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구성의 네 가지 특징</a:t>
            </a:r>
            <a:endParaRPr lang="en-US" sz="1200" dirty="0"/>
          </a:p>
        </p:txBody>
      </p:sp>
      <p:sp>
        <p:nvSpPr>
          <p:cNvPr id="17" name="Shape 13"/>
          <p:cNvSpPr/>
          <p:nvPr/>
        </p:nvSpPr>
        <p:spPr>
          <a:xfrm>
            <a:off x="6071616" y="1188720"/>
            <a:ext cx="2615184" cy="3474720"/>
          </a:xfrm>
          <a:prstGeom prst="roundRect">
            <a:avLst>
              <a:gd name="adj" fmla="val 5245"/>
            </a:avLst>
          </a:prstGeom>
          <a:solidFill>
            <a:srgbClr val="DCEBDD"/>
          </a:solidFill>
          <a:ln/>
        </p:spPr>
      </p:sp>
      <p:sp>
        <p:nvSpPr>
          <p:cNvPr id="18" name="Shape 14"/>
          <p:cNvSpPr/>
          <p:nvPr/>
        </p:nvSpPr>
        <p:spPr>
          <a:xfrm>
            <a:off x="6300216" y="1417320"/>
            <a:ext cx="640080" cy="640080"/>
          </a:xfrm>
          <a:prstGeom prst="ellipse">
            <a:avLst/>
          </a:prstGeom>
          <a:solidFill>
            <a:srgbClr val="5E8C6A"/>
          </a:solidFill>
          <a:ln/>
        </p:spPr>
      </p:sp>
      <p:pic>
        <p:nvPicPr>
          <p:cNvPr id="19" name="Image 2" descr="preencoded.png">    </p:cNvPr>
          <p:cNvPicPr>
            <a:picLocks noChangeAspect="1"/>
          </p:cNvPicPr>
          <p:nvPr/>
        </p:nvPicPr>
        <p:blipFill>
          <a:blip r:embed="rId3"/>
          <a:stretch>
            <a:fillRect/>
          </a:stretch>
        </p:blipFill>
        <p:spPr>
          <a:xfrm>
            <a:off x="6460236" y="1577340"/>
            <a:ext cx="320040" cy="320040"/>
          </a:xfrm>
          <a:prstGeom prst="rect">
            <a:avLst/>
          </a:prstGeom>
        </p:spPr>
      </p:pic>
      <p:sp>
        <p:nvSpPr>
          <p:cNvPr id="20" name="Text 15"/>
          <p:cNvSpPr txBox="1"/>
          <p:nvPr/>
        </p:nvSpPr>
        <p:spPr>
          <a:xfrm>
            <a:off x="7077456" y="1463040"/>
            <a:ext cx="1463040" cy="54864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PART 3</a:t>
            </a:r>
            <a:endParaRPr lang="en-US" sz="1600" dirty="0"/>
          </a:p>
        </p:txBody>
      </p:sp>
      <p:sp>
        <p:nvSpPr>
          <p:cNvPr id="21" name="Text 16"/>
          <p:cNvSpPr txBox="1"/>
          <p:nvPr/>
        </p:nvSpPr>
        <p:spPr>
          <a:xfrm>
            <a:off x="6300216" y="2240280"/>
            <a:ext cx="2194560" cy="777240"/>
          </a:xfrm>
          <a:prstGeom prst="rect">
            <a:avLst/>
          </a:prstGeom>
          <a:noFill/>
          <a:ln/>
        </p:spPr>
        <p:txBody>
          <a:bodyPr wrap="square" lIns="0" tIns="0" rIns="0" bIns="0" rtlCol="0" anchor="t"/>
          <a:lstStyle/>
          <a:p>
            <a:pPr indent="0" marL="0">
              <a:buNone/>
            </a:pPr>
            <a:r>
              <a:rPr lang="en-US" sz="1700" b="1" dirty="0">
                <a:solidFill>
                  <a:srgbClr val="33413A"/>
                </a:solidFill>
                <a:latin typeface="Malgun Gothic" pitchFamily="34" charset="0"/>
                <a:ea typeface="Malgun Gothic" pitchFamily="34" charset="-122"/>
                <a:cs typeface="Malgun Gothic" pitchFamily="34" charset="-120"/>
              </a:rPr>
              <a:t>영유아교육과정의 계획 및 운영</a:t>
            </a:r>
            <a:endParaRPr lang="en-US" sz="1700" dirty="0"/>
          </a:p>
        </p:txBody>
      </p:sp>
      <p:sp>
        <p:nvSpPr>
          <p:cNvPr id="22" name="Text 17"/>
          <p:cNvSpPr txBox="1"/>
          <p:nvPr/>
        </p:nvSpPr>
        <p:spPr>
          <a:xfrm>
            <a:off x="6300216" y="3108960"/>
            <a:ext cx="224028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계획·운영의 기준</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표준보육과정 총론과 운영</a:t>
            </a:r>
            <a:endParaRPr lang="en-US" sz="1200" dirty="0"/>
          </a:p>
          <a:p>
            <a:pPr marL="342900" indent="-342900">
              <a:spcAft>
                <a:spcPts val="600"/>
              </a:spcAft>
              <a:buSzPct val="100000"/>
              <a:buChar char="•"/>
            </a:pPr>
            <a:r>
              <a:rPr lang="en-US" sz="1200" dirty="0">
                <a:solidFill>
                  <a:srgbClr val="4A5750"/>
                </a:solidFill>
                <a:latin typeface="Malgun Gothic" pitchFamily="34" charset="0"/>
                <a:ea typeface="Malgun Gothic" pitchFamily="34" charset="-122"/>
                <a:cs typeface="Malgun Gothic" pitchFamily="34" charset="-120"/>
              </a:rPr>
              <a:t>관련 법규와 지침</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b="1" dirty="0">
                <a:solidFill>
                  <a:srgbClr val="FDF3D6"/>
                </a:solidFill>
                <a:latin typeface="Malgun Gothic" pitchFamily="34" charset="0"/>
                <a:ea typeface="Malgun Gothic" pitchFamily="34" charset="-122"/>
                <a:cs typeface="Malgun Gothic" pitchFamily="34" charset="-120"/>
              </a:rPr>
              <a:t>PART 1</a:t>
            </a:r>
            <a:endParaRPr lang="en-US" sz="1600" dirty="0"/>
          </a:p>
        </p:txBody>
      </p:sp>
      <p:sp>
        <p:nvSpPr>
          <p:cNvPr id="10" name="Text 8"/>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영유아교육과정의 이해</a:t>
            </a:r>
            <a:endParaRPr lang="en-US" sz="4400" dirty="0"/>
          </a:p>
        </p:txBody>
      </p:sp>
      <p:sp>
        <p:nvSpPr>
          <p:cNvPr id="11" name="Text 9"/>
          <p:cNvSpPr txBox="1"/>
          <p:nvPr/>
        </p:nvSpPr>
        <p:spPr>
          <a:xfrm>
            <a:off x="640080" y="260604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교육과정의 정의부터 누리과정·표준보육과정까지</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04</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교육과정이란?</a:t>
            </a:r>
            <a:endParaRPr lang="en-US" sz="2800" dirty="0"/>
          </a:p>
        </p:txBody>
      </p:sp>
      <p:sp>
        <p:nvSpPr>
          <p:cNvPr id="5" name="Shape 3"/>
          <p:cNvSpPr/>
          <p:nvPr/>
        </p:nvSpPr>
        <p:spPr>
          <a:xfrm>
            <a:off x="457200" y="1188720"/>
            <a:ext cx="4206240" cy="960120"/>
          </a:xfrm>
          <a:prstGeom prst="roundRect">
            <a:avLst>
              <a:gd name="adj" fmla="val 14286"/>
            </a:avLst>
          </a:prstGeom>
          <a:solidFill>
            <a:srgbClr val="FCE4D8"/>
          </a:solidFill>
          <a:ln/>
        </p:spPr>
      </p:sp>
      <p:sp>
        <p:nvSpPr>
          <p:cNvPr id="6" name="Shape 4"/>
          <p:cNvSpPr/>
          <p:nvPr/>
        </p:nvSpPr>
        <p:spPr>
          <a:xfrm>
            <a:off x="640080" y="1371600"/>
            <a:ext cx="594360" cy="594360"/>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777240" y="1508760"/>
            <a:ext cx="320040" cy="320040"/>
          </a:xfrm>
          <a:prstGeom prst="rect">
            <a:avLst/>
          </a:prstGeom>
        </p:spPr>
      </p:pic>
      <p:sp>
        <p:nvSpPr>
          <p:cNvPr id="8" name="Text 5"/>
          <p:cNvSpPr txBox="1"/>
          <p:nvPr/>
        </p:nvSpPr>
        <p:spPr>
          <a:xfrm>
            <a:off x="1417320" y="1325880"/>
            <a:ext cx="3108960" cy="32004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교사 중심으로 보면</a:t>
            </a:r>
            <a:endParaRPr lang="en-US" sz="1300" dirty="0"/>
          </a:p>
        </p:txBody>
      </p:sp>
      <p:sp>
        <p:nvSpPr>
          <p:cNvPr id="9" name="Text 6"/>
          <p:cNvSpPr txBox="1"/>
          <p:nvPr/>
        </p:nvSpPr>
        <p:spPr>
          <a:xfrm>
            <a:off x="1417320" y="1645920"/>
            <a:ext cx="3154680" cy="365760"/>
          </a:xfrm>
          <a:prstGeom prst="rect">
            <a:avLst/>
          </a:prstGeom>
          <a:noFill/>
          <a:ln/>
        </p:spPr>
        <p:txBody>
          <a:bodyPr wrap="square" lIns="0" tIns="0" rIns="0" bIns="0" rtlCol="0" anchor="ctr"/>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가르치는 내용 · 교과 · 의도적 계획</a:t>
            </a:r>
            <a:endParaRPr lang="en-US" sz="1400" dirty="0"/>
          </a:p>
        </p:txBody>
      </p:sp>
      <p:sp>
        <p:nvSpPr>
          <p:cNvPr id="10" name="Shape 7"/>
          <p:cNvSpPr/>
          <p:nvPr/>
        </p:nvSpPr>
        <p:spPr>
          <a:xfrm>
            <a:off x="457200" y="2331720"/>
            <a:ext cx="4206240" cy="960120"/>
          </a:xfrm>
          <a:prstGeom prst="roundRect">
            <a:avLst>
              <a:gd name="adj" fmla="val 14286"/>
            </a:avLst>
          </a:prstGeom>
          <a:solidFill>
            <a:srgbClr val="DCEBDD"/>
          </a:solidFill>
          <a:ln/>
        </p:spPr>
      </p:sp>
      <p:sp>
        <p:nvSpPr>
          <p:cNvPr id="11" name="Shape 8"/>
          <p:cNvSpPr/>
          <p:nvPr/>
        </p:nvSpPr>
        <p:spPr>
          <a:xfrm>
            <a:off x="640080" y="2514600"/>
            <a:ext cx="594360" cy="594360"/>
          </a:xfrm>
          <a:prstGeom prst="ellipse">
            <a:avLst/>
          </a:prstGeom>
          <a:solidFill>
            <a:srgbClr val="5E8C6A"/>
          </a:solidFill>
          <a:ln/>
        </p:spPr>
      </p:sp>
      <p:pic>
        <p:nvPicPr>
          <p:cNvPr id="12" name="Image 1" descr="preencoded.png">    </p:cNvPr>
          <p:cNvPicPr>
            <a:picLocks noChangeAspect="1"/>
          </p:cNvPicPr>
          <p:nvPr/>
        </p:nvPicPr>
        <p:blipFill>
          <a:blip r:embed="rId2"/>
          <a:stretch>
            <a:fillRect/>
          </a:stretch>
        </p:blipFill>
        <p:spPr>
          <a:xfrm>
            <a:off x="777240" y="2651760"/>
            <a:ext cx="320040" cy="320040"/>
          </a:xfrm>
          <a:prstGeom prst="rect">
            <a:avLst/>
          </a:prstGeom>
        </p:spPr>
      </p:pic>
      <p:sp>
        <p:nvSpPr>
          <p:cNvPr id="13" name="Text 9"/>
          <p:cNvSpPr txBox="1"/>
          <p:nvPr/>
        </p:nvSpPr>
        <p:spPr>
          <a:xfrm>
            <a:off x="1417320" y="2468880"/>
            <a:ext cx="3108960" cy="32004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학생 중심으로 보면</a:t>
            </a:r>
            <a:endParaRPr lang="en-US" sz="1300" dirty="0"/>
          </a:p>
        </p:txBody>
      </p:sp>
      <p:sp>
        <p:nvSpPr>
          <p:cNvPr id="14" name="Text 10"/>
          <p:cNvSpPr txBox="1"/>
          <p:nvPr/>
        </p:nvSpPr>
        <p:spPr>
          <a:xfrm>
            <a:off x="1417320" y="2788920"/>
            <a:ext cx="3154680" cy="365760"/>
          </a:xfrm>
          <a:prstGeom prst="rect">
            <a:avLst/>
          </a:prstGeom>
          <a:noFill/>
          <a:ln/>
        </p:spPr>
        <p:txBody>
          <a:bodyPr wrap="square" lIns="0" tIns="0" rIns="0" bIns="0" rtlCol="0" anchor="ctr"/>
          <a:lstStyle/>
          <a:p>
            <a:pPr indent="0" marL="0">
              <a:buNone/>
            </a:pPr>
            <a:r>
              <a:rPr lang="en-US" sz="1400" b="1" dirty="0">
                <a:solidFill>
                  <a:srgbClr val="33413A"/>
                </a:solidFill>
                <a:latin typeface="Malgun Gothic" pitchFamily="34" charset="0"/>
                <a:ea typeface="Malgun Gothic" pitchFamily="34" charset="-122"/>
                <a:cs typeface="Malgun Gothic" pitchFamily="34" charset="-120"/>
              </a:rPr>
              <a:t>학습경험 · 학습 결과</a:t>
            </a:r>
            <a:endParaRPr lang="en-US" sz="1400" dirty="0"/>
          </a:p>
        </p:txBody>
      </p:sp>
      <p:sp>
        <p:nvSpPr>
          <p:cNvPr id="15" name="Text 11"/>
          <p:cNvSpPr txBox="1"/>
          <p:nvPr/>
        </p:nvSpPr>
        <p:spPr>
          <a:xfrm>
            <a:off x="457200" y="3364992"/>
            <a:ext cx="4206240" cy="228600"/>
          </a:xfrm>
          <a:prstGeom prst="rect">
            <a:avLst/>
          </a:prstGeom>
          <a:noFill/>
          <a:ln/>
        </p:spPr>
        <p:txBody>
          <a:bodyPr wrap="square" lIns="0" tIns="0" rIns="0" bIns="0" rtlCol="0" anchor="ctr"/>
          <a:lstStyle/>
          <a:p>
            <a:pPr algn="r" indent="0" marL="0">
              <a:buNone/>
            </a:pPr>
            <a:r>
              <a:rPr lang="en-US" sz="1000" dirty="0">
                <a:solidFill>
                  <a:srgbClr val="6E7B73"/>
                </a:solidFill>
                <a:latin typeface="Malgun Gothic" pitchFamily="34" charset="0"/>
                <a:ea typeface="Malgun Gothic" pitchFamily="34" charset="-122"/>
                <a:cs typeface="Malgun Gothic" pitchFamily="34" charset="-120"/>
              </a:rPr>
              <a:t>(이귀윤, 1990)</a:t>
            </a:r>
            <a:endParaRPr lang="en-US" sz="1000" dirty="0"/>
          </a:p>
        </p:txBody>
      </p:sp>
      <p:sp>
        <p:nvSpPr>
          <p:cNvPr id="16" name="Shape 12"/>
          <p:cNvSpPr/>
          <p:nvPr/>
        </p:nvSpPr>
        <p:spPr>
          <a:xfrm>
            <a:off x="5074920" y="1051560"/>
            <a:ext cx="3566160" cy="2651760"/>
          </a:xfrm>
          <a:prstGeom prst="ellipse">
            <a:avLst/>
          </a:prstGeom>
          <a:solidFill>
            <a:srgbClr val="FDF3D6"/>
          </a:solidFill>
          <a:ln w="19050">
            <a:solidFill>
              <a:srgbClr val="F5D07A"/>
            </a:solidFill>
            <a:prstDash val="solid"/>
          </a:ln>
        </p:spPr>
      </p:sp>
      <p:sp>
        <p:nvSpPr>
          <p:cNvPr id="17" name="Text 13"/>
          <p:cNvSpPr txBox="1"/>
          <p:nvPr/>
        </p:nvSpPr>
        <p:spPr>
          <a:xfrm>
            <a:off x="5074920" y="1234440"/>
            <a:ext cx="3566160" cy="274320"/>
          </a:xfrm>
          <a:prstGeom prst="rect">
            <a:avLst/>
          </a:prstGeom>
          <a:noFill/>
          <a:ln/>
        </p:spPr>
        <p:txBody>
          <a:bodyPr wrap="square" lIns="0" tIns="0" rIns="0" bIns="0" rtlCol="0" anchor="ctr"/>
          <a:lstStyle/>
          <a:p>
            <a:pPr algn="ctr" indent="0" marL="0">
              <a:buNone/>
            </a:pPr>
            <a:r>
              <a:rPr lang="en-US" sz="1300" b="1" dirty="0">
                <a:solidFill>
                  <a:srgbClr val="B08A2E"/>
                </a:solidFill>
                <a:latin typeface="Malgun Gothic" pitchFamily="34" charset="0"/>
                <a:ea typeface="Malgun Gothic" pitchFamily="34" charset="-122"/>
                <a:cs typeface="Malgun Gothic" pitchFamily="34" charset="-120"/>
              </a:rPr>
              <a:t>넓은 의미</a:t>
            </a:r>
            <a:endParaRPr lang="en-US" sz="1300" dirty="0"/>
          </a:p>
        </p:txBody>
      </p:sp>
      <p:sp>
        <p:nvSpPr>
          <p:cNvPr id="18" name="Text 14"/>
          <p:cNvSpPr txBox="1"/>
          <p:nvPr/>
        </p:nvSpPr>
        <p:spPr>
          <a:xfrm>
            <a:off x="5074920" y="1508760"/>
            <a:ext cx="3566160" cy="274320"/>
          </a:xfrm>
          <a:prstGeom prst="rect">
            <a:avLst/>
          </a:prstGeom>
          <a:noFill/>
          <a:ln/>
        </p:spPr>
        <p:txBody>
          <a:bodyPr wrap="square" lIns="0" tIns="0" rIns="0" bIns="0" rtlCol="0" anchor="ctr"/>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"학생이 경험하는 모든 것"</a:t>
            </a:r>
            <a:endParaRPr lang="en-US" sz="1300" dirty="0"/>
          </a:p>
        </p:txBody>
      </p:sp>
      <p:sp>
        <p:nvSpPr>
          <p:cNvPr id="19" name="Shape 15"/>
          <p:cNvSpPr/>
          <p:nvPr/>
        </p:nvSpPr>
        <p:spPr>
          <a:xfrm>
            <a:off x="5897880" y="2011680"/>
            <a:ext cx="1920240" cy="1417320"/>
          </a:xfrm>
          <a:prstGeom prst="ellipse">
            <a:avLst/>
          </a:prstGeom>
          <a:solidFill>
            <a:srgbClr val="F9E1E3"/>
          </a:solidFill>
          <a:ln w="19050">
            <a:solidFill>
              <a:srgbClr val="E8A1A8"/>
            </a:solidFill>
            <a:prstDash val="solid"/>
          </a:ln>
        </p:spPr>
      </p:sp>
      <p:sp>
        <p:nvSpPr>
          <p:cNvPr id="20" name="Text 16"/>
          <p:cNvSpPr txBox="1"/>
          <p:nvPr/>
        </p:nvSpPr>
        <p:spPr>
          <a:xfrm>
            <a:off x="5897880" y="2240280"/>
            <a:ext cx="1920240" cy="274320"/>
          </a:xfrm>
          <a:prstGeom prst="rect">
            <a:avLst/>
          </a:prstGeom>
          <a:noFill/>
          <a:ln/>
        </p:spPr>
        <p:txBody>
          <a:bodyPr wrap="square" lIns="0" tIns="0" rIns="0" bIns="0" rtlCol="0" anchor="ctr"/>
          <a:lstStyle/>
          <a:p>
            <a:pPr algn="ctr" indent="0" marL="0">
              <a:buNone/>
            </a:pPr>
            <a:r>
              <a:rPr lang="en-US" sz="1300" b="1" dirty="0">
                <a:solidFill>
                  <a:srgbClr val="B45A64"/>
                </a:solidFill>
                <a:latin typeface="Malgun Gothic" pitchFamily="34" charset="0"/>
                <a:ea typeface="Malgun Gothic" pitchFamily="34" charset="-122"/>
                <a:cs typeface="Malgun Gothic" pitchFamily="34" charset="-120"/>
              </a:rPr>
              <a:t>좁은 의미</a:t>
            </a:r>
            <a:endParaRPr lang="en-US" sz="1300" dirty="0"/>
          </a:p>
        </p:txBody>
      </p:sp>
      <p:sp>
        <p:nvSpPr>
          <p:cNvPr id="21" name="Text 17"/>
          <p:cNvSpPr txBox="1"/>
          <p:nvPr/>
        </p:nvSpPr>
        <p:spPr>
          <a:xfrm>
            <a:off x="5897880" y="2560320"/>
            <a:ext cx="1920240" cy="548640"/>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계획된 교과목</a:t>
            </a:r>
            <a:endParaRPr lang="en-US" sz="1200" dirty="0"/>
          </a:p>
          <a:p>
            <a:pPr algn="ctr" indent="0" marL="0">
              <a:buNone/>
            </a:pPr>
            <a:r>
              <a:rPr lang="en-US" sz="1200" dirty="0">
                <a:solidFill>
                  <a:srgbClr val="33413A"/>
                </a:solidFill>
                <a:latin typeface="Malgun Gothic" pitchFamily="34" charset="0"/>
                <a:ea typeface="Malgun Gothic" pitchFamily="34" charset="-122"/>
                <a:cs typeface="Malgun Gothic" pitchFamily="34" charset="-120"/>
              </a:rPr>
              <a:t>또는 교수요목</a:t>
            </a:r>
            <a:endParaRPr lang="en-US" sz="1200" dirty="0"/>
          </a:p>
        </p:txBody>
      </p:sp>
      <p:sp>
        <p:nvSpPr>
          <p:cNvPr id="22" name="Shape 18"/>
          <p:cNvSpPr/>
          <p:nvPr/>
        </p:nvSpPr>
        <p:spPr>
          <a:xfrm>
            <a:off x="457200" y="3703320"/>
            <a:ext cx="8229600" cy="1051560"/>
          </a:xfrm>
          <a:prstGeom prst="roundRect">
            <a:avLst>
              <a:gd name="adj" fmla="val 10435"/>
            </a:avLst>
          </a:prstGeom>
          <a:solidFill>
            <a:srgbClr val="F4F7F4"/>
          </a:solidFill>
          <a:ln/>
        </p:spPr>
      </p:sp>
      <p:sp>
        <p:nvSpPr>
          <p:cNvPr id="23" name="Text 19"/>
          <p:cNvSpPr txBox="1"/>
          <p:nvPr/>
        </p:nvSpPr>
        <p:spPr>
          <a:xfrm>
            <a:off x="685800" y="3767328"/>
            <a:ext cx="7772400" cy="64008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"학습자의 전인적 성장과 발달을 돕기 위해서 학교가 의미하는 교육적 상황을 마련하고 모든 종류의 교수-학습 경험을 체계적으로 구성한 </a:t>
            </a:r>
            <a:pPr indent="0" marL="0">
              <a:buNone/>
            </a:pPr>
            <a:r>
              <a:rPr lang="en-US" sz="1300" b="1" dirty="0">
                <a:solidFill>
                  <a:srgbClr val="5E8C6A"/>
                </a:solidFill>
                <a:latin typeface="Malgun Gothic" pitchFamily="34" charset="0"/>
                <a:ea typeface="Malgun Gothic" pitchFamily="34" charset="-122"/>
                <a:cs typeface="Malgun Gothic" pitchFamily="34" charset="-120"/>
              </a:rPr>
              <a:t>설계도</a:t>
            </a:r>
            <a:pPr indent="0" marL="0">
              <a:buNone/>
            </a:pPr>
            <a:r>
              <a:rPr lang="en-US" sz="1300" dirty="0">
                <a:solidFill>
                  <a:srgbClr val="33413A"/>
                </a:solidFill>
                <a:latin typeface="Malgun Gothic" pitchFamily="34" charset="0"/>
                <a:ea typeface="Malgun Gothic" pitchFamily="34" charset="-122"/>
                <a:cs typeface="Malgun Gothic" pitchFamily="34" charset="-120"/>
              </a:rPr>
              <a:t>"</a:t>
            </a:r>
            <a:endParaRPr lang="en-US" sz="1300" dirty="0"/>
          </a:p>
        </p:txBody>
      </p:sp>
      <p:sp>
        <p:nvSpPr>
          <p:cNvPr id="24" name="Text 20"/>
          <p:cNvSpPr txBox="1"/>
          <p:nvPr/>
        </p:nvSpPr>
        <p:spPr>
          <a:xfrm>
            <a:off x="685800" y="4434840"/>
            <a:ext cx="7772400" cy="256032"/>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방인옥 등(1999)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05</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유치원교육과정에서 누리과정으로</a:t>
            </a:r>
            <a:endParaRPr lang="en-US" sz="2800" dirty="0"/>
          </a:p>
        </p:txBody>
      </p:sp>
      <p:sp>
        <p:nvSpPr>
          <p:cNvPr id="5" name="Shape 3"/>
          <p:cNvSpPr/>
          <p:nvPr/>
        </p:nvSpPr>
        <p:spPr>
          <a:xfrm>
            <a:off x="1188720" y="1691640"/>
            <a:ext cx="6766560" cy="0"/>
          </a:xfrm>
          <a:prstGeom prst="line">
            <a:avLst/>
          </a:prstGeom>
          <a:noFill/>
          <a:ln w="38100">
            <a:solidFill>
              <a:srgbClr val="C9D6CC"/>
            </a:solidFill>
            <a:prstDash val="solid"/>
          </a:ln>
        </p:spPr>
      </p:sp>
      <p:sp>
        <p:nvSpPr>
          <p:cNvPr id="6" name="Shape 4"/>
          <p:cNvSpPr/>
          <p:nvPr/>
        </p:nvSpPr>
        <p:spPr>
          <a:xfrm>
            <a:off x="1005840" y="1508760"/>
            <a:ext cx="365760" cy="365760"/>
          </a:xfrm>
          <a:prstGeom prst="ellipse">
            <a:avLst/>
          </a:prstGeom>
          <a:solidFill>
            <a:srgbClr val="A9CBB0"/>
          </a:solidFill>
          <a:ln w="38100">
            <a:solidFill>
              <a:srgbClr val="FFFFFF"/>
            </a:solidFill>
            <a:prstDash val="solid"/>
          </a:ln>
        </p:spPr>
      </p:sp>
      <p:sp>
        <p:nvSpPr>
          <p:cNvPr id="7" name="Text 5"/>
          <p:cNvSpPr txBox="1"/>
          <p:nvPr/>
        </p:nvSpPr>
        <p:spPr>
          <a:xfrm>
            <a:off x="182880" y="1097280"/>
            <a:ext cx="2011680" cy="365760"/>
          </a:xfrm>
          <a:prstGeom prst="rect">
            <a:avLst/>
          </a:prstGeom>
          <a:noFill/>
          <a:ln/>
        </p:spPr>
        <p:txBody>
          <a:bodyPr wrap="square" lIns="0" tIns="0" rIns="0" bIns="0" rtlCol="0" anchor="ctr"/>
          <a:lstStyle/>
          <a:p>
            <a:pPr algn="ctr" indent="0" marL="0">
              <a:buNone/>
            </a:pPr>
            <a:r>
              <a:rPr lang="en-US" sz="2000" b="1" dirty="0">
                <a:solidFill>
                  <a:srgbClr val="A9CBB0"/>
                </a:solidFill>
                <a:latin typeface="Malgun Gothic" pitchFamily="34" charset="0"/>
                <a:ea typeface="Malgun Gothic" pitchFamily="34" charset="-122"/>
                <a:cs typeface="Malgun Gothic" pitchFamily="34" charset="-120"/>
              </a:rPr>
              <a:t>1969</a:t>
            </a:r>
            <a:endParaRPr lang="en-US" sz="2000" dirty="0"/>
          </a:p>
        </p:txBody>
      </p:sp>
      <p:sp>
        <p:nvSpPr>
          <p:cNvPr id="8" name="Text 6"/>
          <p:cNvSpPr txBox="1"/>
          <p:nvPr/>
        </p:nvSpPr>
        <p:spPr>
          <a:xfrm>
            <a:off x="18288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유치원교육과정</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처음 제정</a:t>
            </a:r>
            <a:endParaRPr lang="en-US" sz="1300" dirty="0"/>
          </a:p>
        </p:txBody>
      </p:sp>
      <p:sp>
        <p:nvSpPr>
          <p:cNvPr id="9" name="Shape 7"/>
          <p:cNvSpPr/>
          <p:nvPr/>
        </p:nvSpPr>
        <p:spPr>
          <a:xfrm>
            <a:off x="3261360" y="1508760"/>
            <a:ext cx="365760" cy="365760"/>
          </a:xfrm>
          <a:prstGeom prst="ellipse">
            <a:avLst/>
          </a:prstGeom>
          <a:solidFill>
            <a:srgbClr val="F5D07A"/>
          </a:solidFill>
          <a:ln w="38100">
            <a:solidFill>
              <a:srgbClr val="FFFFFF"/>
            </a:solidFill>
            <a:prstDash val="solid"/>
          </a:ln>
        </p:spPr>
      </p:sp>
      <p:sp>
        <p:nvSpPr>
          <p:cNvPr id="10" name="Text 8"/>
          <p:cNvSpPr txBox="1"/>
          <p:nvPr/>
        </p:nvSpPr>
        <p:spPr>
          <a:xfrm>
            <a:off x="2438400" y="1097280"/>
            <a:ext cx="2011680" cy="365760"/>
          </a:xfrm>
          <a:prstGeom prst="rect">
            <a:avLst/>
          </a:prstGeom>
          <a:noFill/>
          <a:ln/>
        </p:spPr>
        <p:txBody>
          <a:bodyPr wrap="square" lIns="0" tIns="0" rIns="0" bIns="0" rtlCol="0" anchor="ctr"/>
          <a:lstStyle/>
          <a:p>
            <a:pPr algn="ctr" indent="0" marL="0">
              <a:buNone/>
            </a:pPr>
            <a:r>
              <a:rPr lang="en-US" sz="2000" b="1" dirty="0">
                <a:solidFill>
                  <a:srgbClr val="B08A2E"/>
                </a:solidFill>
                <a:latin typeface="Malgun Gothic" pitchFamily="34" charset="0"/>
                <a:ea typeface="Malgun Gothic" pitchFamily="34" charset="-122"/>
                <a:cs typeface="Malgun Gothic" pitchFamily="34" charset="-120"/>
              </a:rPr>
              <a:t>~2007</a:t>
            </a:r>
            <a:endParaRPr lang="en-US" sz="2000" dirty="0"/>
          </a:p>
        </p:txBody>
      </p:sp>
      <p:sp>
        <p:nvSpPr>
          <p:cNvPr id="11" name="Text 9"/>
          <p:cNvSpPr txBox="1"/>
          <p:nvPr/>
        </p:nvSpPr>
        <p:spPr>
          <a:xfrm>
            <a:off x="243840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여섯 차례</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개정</a:t>
            </a:r>
            <a:endParaRPr lang="en-US" sz="1300" dirty="0"/>
          </a:p>
        </p:txBody>
      </p:sp>
      <p:sp>
        <p:nvSpPr>
          <p:cNvPr id="12" name="Shape 10"/>
          <p:cNvSpPr/>
          <p:nvPr/>
        </p:nvSpPr>
        <p:spPr>
          <a:xfrm>
            <a:off x="5516880" y="1508760"/>
            <a:ext cx="365760" cy="365760"/>
          </a:xfrm>
          <a:prstGeom prst="ellipse">
            <a:avLst/>
          </a:prstGeom>
          <a:solidFill>
            <a:srgbClr val="F2A27E"/>
          </a:solidFill>
          <a:ln w="38100">
            <a:solidFill>
              <a:srgbClr val="FFFFFF"/>
            </a:solidFill>
            <a:prstDash val="solid"/>
          </a:ln>
        </p:spPr>
      </p:sp>
      <p:sp>
        <p:nvSpPr>
          <p:cNvPr id="13" name="Text 11"/>
          <p:cNvSpPr txBox="1"/>
          <p:nvPr/>
        </p:nvSpPr>
        <p:spPr>
          <a:xfrm>
            <a:off x="4693920" y="1097280"/>
            <a:ext cx="2011680" cy="365760"/>
          </a:xfrm>
          <a:prstGeom prst="rect">
            <a:avLst/>
          </a:prstGeom>
          <a:noFill/>
          <a:ln/>
        </p:spPr>
        <p:txBody>
          <a:bodyPr wrap="square" lIns="0" tIns="0" rIns="0" bIns="0" rtlCol="0" anchor="ctr"/>
          <a:lstStyle/>
          <a:p>
            <a:pPr algn="ctr" indent="0" marL="0">
              <a:buNone/>
            </a:pPr>
            <a:r>
              <a:rPr lang="en-US" sz="2000" b="1" dirty="0">
                <a:solidFill>
                  <a:srgbClr val="F2A27E"/>
                </a:solidFill>
                <a:latin typeface="Malgun Gothic" pitchFamily="34" charset="0"/>
                <a:ea typeface="Malgun Gothic" pitchFamily="34" charset="-122"/>
                <a:cs typeface="Malgun Gothic" pitchFamily="34" charset="-120"/>
              </a:rPr>
              <a:t>2013</a:t>
            </a:r>
            <a:endParaRPr lang="en-US" sz="2000" dirty="0"/>
          </a:p>
        </p:txBody>
      </p:sp>
      <p:sp>
        <p:nvSpPr>
          <p:cNvPr id="14" name="Text 12"/>
          <p:cNvSpPr txBox="1"/>
          <p:nvPr/>
        </p:nvSpPr>
        <p:spPr>
          <a:xfrm>
            <a:off x="469392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만 3~5세</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누리과정 시행</a:t>
            </a:r>
            <a:endParaRPr lang="en-US" sz="1300" dirty="0"/>
          </a:p>
        </p:txBody>
      </p:sp>
      <p:sp>
        <p:nvSpPr>
          <p:cNvPr id="15" name="Shape 13"/>
          <p:cNvSpPr/>
          <p:nvPr/>
        </p:nvSpPr>
        <p:spPr>
          <a:xfrm>
            <a:off x="7772400" y="1508760"/>
            <a:ext cx="365760" cy="365760"/>
          </a:xfrm>
          <a:prstGeom prst="ellipse">
            <a:avLst/>
          </a:prstGeom>
          <a:solidFill>
            <a:srgbClr val="5E8C6A"/>
          </a:solidFill>
          <a:ln w="38100">
            <a:solidFill>
              <a:srgbClr val="FFFFFF"/>
            </a:solidFill>
            <a:prstDash val="solid"/>
          </a:ln>
        </p:spPr>
      </p:sp>
      <p:sp>
        <p:nvSpPr>
          <p:cNvPr id="16" name="Text 14"/>
          <p:cNvSpPr txBox="1"/>
          <p:nvPr/>
        </p:nvSpPr>
        <p:spPr>
          <a:xfrm>
            <a:off x="6949440" y="1097280"/>
            <a:ext cx="2011680" cy="365760"/>
          </a:xfrm>
          <a:prstGeom prst="rect">
            <a:avLst/>
          </a:prstGeom>
          <a:noFill/>
          <a:ln/>
        </p:spPr>
        <p:txBody>
          <a:bodyPr wrap="square" lIns="0" tIns="0" rIns="0" bIns="0" rtlCol="0" anchor="ctr"/>
          <a:lstStyle/>
          <a:p>
            <a:pPr algn="ctr" indent="0" marL="0">
              <a:buNone/>
            </a:pPr>
            <a:r>
              <a:rPr lang="en-US" sz="2000" b="1" dirty="0">
                <a:solidFill>
                  <a:srgbClr val="5E8C6A"/>
                </a:solidFill>
                <a:latin typeface="Malgun Gothic" pitchFamily="34" charset="0"/>
                <a:ea typeface="Malgun Gothic" pitchFamily="34" charset="-122"/>
                <a:cs typeface="Malgun Gothic" pitchFamily="34" charset="-120"/>
              </a:rPr>
              <a:t>2020</a:t>
            </a:r>
            <a:endParaRPr lang="en-US" sz="2000" dirty="0"/>
          </a:p>
        </p:txBody>
      </p:sp>
      <p:sp>
        <p:nvSpPr>
          <p:cNvPr id="17" name="Text 15"/>
          <p:cNvSpPr txBox="1"/>
          <p:nvPr/>
        </p:nvSpPr>
        <p:spPr>
          <a:xfrm>
            <a:off x="6949440" y="2011680"/>
            <a:ext cx="2011680" cy="640080"/>
          </a:xfrm>
          <a:prstGeom prst="rect">
            <a:avLst/>
          </a:prstGeom>
          <a:noFill/>
          <a:ln/>
        </p:spPr>
        <p:txBody>
          <a:bodyPr wrap="square" lIns="0" tIns="0" rIns="0" bIns="0" rtlCol="0" anchor="t"/>
          <a:lstStyle/>
          <a:p>
            <a:pPr algn="ctr" indent="0" marL="0">
              <a:buNone/>
            </a:pPr>
            <a:r>
              <a:rPr lang="en-US" sz="1300" dirty="0">
                <a:solidFill>
                  <a:srgbClr val="33413A"/>
                </a:solidFill>
                <a:latin typeface="Malgun Gothic" pitchFamily="34" charset="0"/>
                <a:ea typeface="Malgun Gothic" pitchFamily="34" charset="-122"/>
                <a:cs typeface="Malgun Gothic" pitchFamily="34" charset="-120"/>
              </a:rPr>
              <a:t>개정 누리과정 적용</a:t>
            </a:r>
            <a:endParaRPr lang="en-US" sz="1300" dirty="0"/>
          </a:p>
          <a:p>
            <a:pPr algn="ctr" indent="0" marL="0">
              <a:buNone/>
            </a:pPr>
            <a:r>
              <a:rPr lang="en-US" sz="1300" dirty="0">
                <a:solidFill>
                  <a:srgbClr val="33413A"/>
                </a:solidFill>
                <a:latin typeface="Malgun Gothic" pitchFamily="34" charset="0"/>
                <a:ea typeface="Malgun Gothic" pitchFamily="34" charset="-122"/>
                <a:cs typeface="Malgun Gothic" pitchFamily="34" charset="-120"/>
              </a:rPr>
              <a:t>(유아중심·놀이중심)</a:t>
            </a:r>
            <a:endParaRPr lang="en-US" sz="1300" dirty="0"/>
          </a:p>
        </p:txBody>
      </p:sp>
      <p:sp>
        <p:nvSpPr>
          <p:cNvPr id="18" name="Shape 16"/>
          <p:cNvSpPr/>
          <p:nvPr/>
        </p:nvSpPr>
        <p:spPr>
          <a:xfrm>
            <a:off x="457200" y="2971800"/>
            <a:ext cx="2377440" cy="685800"/>
          </a:xfrm>
          <a:prstGeom prst="roundRect">
            <a:avLst>
              <a:gd name="adj" fmla="val 16000"/>
            </a:avLst>
          </a:prstGeom>
          <a:solidFill>
            <a:srgbClr val="FCE4D8"/>
          </a:solidFill>
          <a:ln/>
        </p:spPr>
      </p:sp>
      <p:sp>
        <p:nvSpPr>
          <p:cNvPr id="19" name="Text 17"/>
          <p:cNvSpPr txBox="1"/>
          <p:nvPr/>
        </p:nvSpPr>
        <p:spPr>
          <a:xfrm>
            <a:off x="457200" y="2971800"/>
            <a:ext cx="2377440" cy="68580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유치원교육과정</a:t>
            </a:r>
            <a:endParaRPr lang="en-US" sz="1500" dirty="0"/>
          </a:p>
        </p:txBody>
      </p:sp>
      <p:sp>
        <p:nvSpPr>
          <p:cNvPr id="20" name="Shape 18"/>
          <p:cNvSpPr/>
          <p:nvPr/>
        </p:nvSpPr>
        <p:spPr>
          <a:xfrm>
            <a:off x="457200" y="3840480"/>
            <a:ext cx="2377440" cy="685800"/>
          </a:xfrm>
          <a:prstGeom prst="roundRect">
            <a:avLst>
              <a:gd name="adj" fmla="val 16000"/>
            </a:avLst>
          </a:prstGeom>
          <a:solidFill>
            <a:srgbClr val="DCEBDD"/>
          </a:solidFill>
          <a:ln/>
        </p:spPr>
      </p:sp>
      <p:sp>
        <p:nvSpPr>
          <p:cNvPr id="21" name="Text 19"/>
          <p:cNvSpPr txBox="1"/>
          <p:nvPr/>
        </p:nvSpPr>
        <p:spPr>
          <a:xfrm>
            <a:off x="457200" y="3840480"/>
            <a:ext cx="2377440" cy="68580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어린이집 표준보육과정</a:t>
            </a:r>
            <a:endParaRPr lang="en-US" sz="1500" dirty="0"/>
          </a:p>
        </p:txBody>
      </p:sp>
      <p:sp>
        <p:nvSpPr>
          <p:cNvPr id="22" name="Shape 20"/>
          <p:cNvSpPr/>
          <p:nvPr/>
        </p:nvSpPr>
        <p:spPr>
          <a:xfrm>
            <a:off x="3017520" y="3474720"/>
            <a:ext cx="731520" cy="548640"/>
          </a:xfrm>
          <a:prstGeom prst="rightArrow">
            <a:avLst/>
          </a:prstGeom>
          <a:solidFill>
            <a:srgbClr val="F5D07A"/>
          </a:solidFill>
          <a:ln/>
        </p:spPr>
      </p:sp>
      <p:sp>
        <p:nvSpPr>
          <p:cNvPr id="23" name="Text 21"/>
          <p:cNvSpPr txBox="1"/>
          <p:nvPr/>
        </p:nvSpPr>
        <p:spPr>
          <a:xfrm>
            <a:off x="2834640" y="3108960"/>
            <a:ext cx="1097280" cy="320040"/>
          </a:xfrm>
          <a:prstGeom prst="rect">
            <a:avLst/>
          </a:prstGeom>
          <a:noFill/>
          <a:ln/>
        </p:spPr>
        <p:txBody>
          <a:bodyPr wrap="square" lIns="0" tIns="0" rIns="0" bIns="0" rtlCol="0" anchor="ctr"/>
          <a:lstStyle/>
          <a:p>
            <a:pPr algn="ctr" indent="0" marL="0">
              <a:buNone/>
            </a:pPr>
            <a:r>
              <a:rPr lang="en-US" sz="1200" b="1" dirty="0">
                <a:solidFill>
                  <a:srgbClr val="B08A2E"/>
                </a:solidFill>
                <a:latin typeface="Malgun Gothic" pitchFamily="34" charset="0"/>
                <a:ea typeface="Malgun Gothic" pitchFamily="34" charset="-122"/>
                <a:cs typeface="Malgun Gothic" pitchFamily="34" charset="-120"/>
              </a:rPr>
              <a:t>일원화</a:t>
            </a:r>
            <a:endParaRPr lang="en-US" sz="1200" dirty="0"/>
          </a:p>
        </p:txBody>
      </p:sp>
      <p:sp>
        <p:nvSpPr>
          <p:cNvPr id="24" name="Shape 22"/>
          <p:cNvSpPr/>
          <p:nvPr/>
        </p:nvSpPr>
        <p:spPr>
          <a:xfrm>
            <a:off x="3931920" y="2971800"/>
            <a:ext cx="4754880" cy="1554480"/>
          </a:xfrm>
          <a:prstGeom prst="roundRect">
            <a:avLst>
              <a:gd name="adj" fmla="val 8824"/>
            </a:avLst>
          </a:prstGeom>
          <a:solidFill>
            <a:srgbClr val="FDF3D6"/>
          </a:solidFill>
          <a:ln/>
        </p:spPr>
      </p:sp>
      <p:sp>
        <p:nvSpPr>
          <p:cNvPr id="25" name="Text 23"/>
          <p:cNvSpPr txBox="1"/>
          <p:nvPr/>
        </p:nvSpPr>
        <p:spPr>
          <a:xfrm>
            <a:off x="4160520" y="3108960"/>
            <a:ext cx="4389120" cy="365760"/>
          </a:xfrm>
          <a:prstGeom prst="rect">
            <a:avLst/>
          </a:prstGeom>
          <a:noFill/>
          <a:ln/>
        </p:spPr>
        <p:txBody>
          <a:bodyPr wrap="square" lIns="0" tIns="0" rIns="0" bIns="0" rtlCol="0" anchor="ctr"/>
          <a:lstStyle/>
          <a:p>
            <a:pPr indent="0" marL="0">
              <a:buNone/>
            </a:pPr>
            <a:r>
              <a:rPr lang="en-US" sz="1700" b="1" dirty="0">
                <a:solidFill>
                  <a:srgbClr val="5E8C6A"/>
                </a:solidFill>
                <a:latin typeface="Malgun Gothic" pitchFamily="34" charset="0"/>
                <a:ea typeface="Malgun Gothic" pitchFamily="34" charset="-122"/>
                <a:cs typeface="Malgun Gothic" pitchFamily="34" charset="-120"/>
              </a:rPr>
              <a:t>누리과정 (만 3~5세 공통교육과정)</a:t>
            </a:r>
            <a:endParaRPr lang="en-US" sz="1700" dirty="0"/>
          </a:p>
        </p:txBody>
      </p:sp>
      <p:sp>
        <p:nvSpPr>
          <p:cNvPr id="26" name="Text 24"/>
          <p:cNvSpPr txBox="1"/>
          <p:nvPr/>
        </p:nvSpPr>
        <p:spPr>
          <a:xfrm>
            <a:off x="4160520" y="3566160"/>
            <a:ext cx="4389120" cy="7315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33413A"/>
                </a:solidFill>
                <a:latin typeface="Malgun Gothic" pitchFamily="34" charset="0"/>
                <a:ea typeface="Malgun Gothic" pitchFamily="34" charset="-122"/>
                <a:cs typeface="Malgun Gothic" pitchFamily="34" charset="-120"/>
              </a:rPr>
              <a:t>취학 전 교육의 질 제고</a:t>
            </a:r>
            <a:endParaRPr lang="en-US" sz="1500" dirty="0"/>
          </a:p>
          <a:p>
            <a:pPr marL="342900" indent="-342900">
              <a:spcAft>
                <a:spcPts val="600"/>
              </a:spcAft>
              <a:buSzPct val="100000"/>
              <a:buChar char="•"/>
            </a:pPr>
            <a:r>
              <a:rPr lang="en-US" sz="1500" dirty="0">
                <a:solidFill>
                  <a:srgbClr val="33413A"/>
                </a:solidFill>
                <a:latin typeface="Malgun Gothic" pitchFamily="34" charset="0"/>
                <a:ea typeface="Malgun Gothic" pitchFamily="34" charset="-122"/>
                <a:cs typeface="Malgun Gothic" pitchFamily="34" charset="-120"/>
              </a:rPr>
              <a:t>생애초기 출발점 평등 보장</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06</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어린이집 표준보육과정</a:t>
            </a:r>
            <a:endParaRPr lang="en-US" sz="2800" dirty="0"/>
          </a:p>
        </p:txBody>
      </p:sp>
      <p:sp>
        <p:nvSpPr>
          <p:cNvPr id="5" name="Text 3"/>
          <p:cNvSpPr txBox="1"/>
          <p:nvPr/>
        </p:nvSpPr>
        <p:spPr>
          <a:xfrm>
            <a:off x="457200" y="1097280"/>
            <a:ext cx="3840480" cy="320040"/>
          </a:xfrm>
          <a:prstGeom prst="rect">
            <a:avLst/>
          </a:prstGeom>
          <a:noFill/>
          <a:ln/>
        </p:spPr>
        <p:txBody>
          <a:bodyPr wrap="square" lIns="0" tIns="0" rIns="0" bIns="0" rtlCol="0" anchor="ctr"/>
          <a:lstStyle/>
          <a:p>
            <a:pPr indent="0" marL="0">
              <a:buNone/>
            </a:pPr>
            <a:r>
              <a:rPr lang="en-US" sz="1500" b="1" dirty="0">
                <a:solidFill>
                  <a:srgbClr val="5E8C6A"/>
                </a:solidFill>
                <a:latin typeface="Malgun Gothic" pitchFamily="34" charset="0"/>
                <a:ea typeface="Malgun Gothic" pitchFamily="34" charset="-122"/>
                <a:cs typeface="Malgun Gothic" pitchFamily="34" charset="-120"/>
              </a:rPr>
              <a:t>표준보육과정 개발의 배경</a:t>
            </a:r>
            <a:endParaRPr lang="en-US" sz="1500" dirty="0"/>
          </a:p>
        </p:txBody>
      </p:sp>
      <p:sp>
        <p:nvSpPr>
          <p:cNvPr id="6" name="Shape 4"/>
          <p:cNvSpPr/>
          <p:nvPr/>
        </p:nvSpPr>
        <p:spPr>
          <a:xfrm>
            <a:off x="457200" y="1554480"/>
            <a:ext cx="438912" cy="438912"/>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566928" y="1664208"/>
            <a:ext cx="219456" cy="219456"/>
          </a:xfrm>
          <a:prstGeom prst="rect">
            <a:avLst/>
          </a:prstGeom>
        </p:spPr>
      </p:pic>
      <p:sp>
        <p:nvSpPr>
          <p:cNvPr id="8" name="Text 5"/>
          <p:cNvSpPr txBox="1"/>
          <p:nvPr/>
        </p:nvSpPr>
        <p:spPr>
          <a:xfrm>
            <a:off x="1051560" y="1554480"/>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핵가족화</a:t>
            </a:r>
            <a:endParaRPr lang="en-US" sz="1500" dirty="0"/>
          </a:p>
        </p:txBody>
      </p:sp>
      <p:sp>
        <p:nvSpPr>
          <p:cNvPr id="9" name="Shape 6"/>
          <p:cNvSpPr/>
          <p:nvPr/>
        </p:nvSpPr>
        <p:spPr>
          <a:xfrm>
            <a:off x="457200" y="2121408"/>
            <a:ext cx="438912" cy="438912"/>
          </a:xfrm>
          <a:prstGeom prst="ellipse">
            <a:avLst/>
          </a:prstGeom>
          <a:solidFill>
            <a:srgbClr val="F5D07A"/>
          </a:solidFill>
          <a:ln/>
        </p:spPr>
      </p:sp>
      <p:pic>
        <p:nvPicPr>
          <p:cNvPr id="10" name="Image 1" descr="preencoded.png">    </p:cNvPr>
          <p:cNvPicPr>
            <a:picLocks noChangeAspect="1"/>
          </p:cNvPicPr>
          <p:nvPr/>
        </p:nvPicPr>
        <p:blipFill>
          <a:blip r:embed="rId2"/>
          <a:stretch>
            <a:fillRect/>
          </a:stretch>
        </p:blipFill>
        <p:spPr>
          <a:xfrm>
            <a:off x="566928" y="2231136"/>
            <a:ext cx="219456" cy="219456"/>
          </a:xfrm>
          <a:prstGeom prst="rect">
            <a:avLst/>
          </a:prstGeom>
        </p:spPr>
      </p:pic>
      <p:sp>
        <p:nvSpPr>
          <p:cNvPr id="11" name="Text 7"/>
          <p:cNvSpPr txBox="1"/>
          <p:nvPr/>
        </p:nvSpPr>
        <p:spPr>
          <a:xfrm>
            <a:off x="1051560" y="2121408"/>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취업모의 지속적인 증가</a:t>
            </a:r>
            <a:endParaRPr lang="en-US" sz="1500" dirty="0"/>
          </a:p>
        </p:txBody>
      </p:sp>
      <p:sp>
        <p:nvSpPr>
          <p:cNvPr id="12" name="Shape 8"/>
          <p:cNvSpPr/>
          <p:nvPr/>
        </p:nvSpPr>
        <p:spPr>
          <a:xfrm>
            <a:off x="457200" y="2688336"/>
            <a:ext cx="438912" cy="438912"/>
          </a:xfrm>
          <a:prstGeom prst="ellipse">
            <a:avLst/>
          </a:prstGeom>
          <a:solidFill>
            <a:srgbClr val="5E8C6A"/>
          </a:solidFill>
          <a:ln/>
        </p:spPr>
      </p:sp>
      <p:pic>
        <p:nvPicPr>
          <p:cNvPr id="13" name="Image 2" descr="preencoded.png">    </p:cNvPr>
          <p:cNvPicPr>
            <a:picLocks noChangeAspect="1"/>
          </p:cNvPicPr>
          <p:nvPr/>
        </p:nvPicPr>
        <p:blipFill>
          <a:blip r:embed="rId3"/>
          <a:stretch>
            <a:fillRect/>
          </a:stretch>
        </p:blipFill>
        <p:spPr>
          <a:xfrm>
            <a:off x="566928" y="2798064"/>
            <a:ext cx="219456" cy="219456"/>
          </a:xfrm>
          <a:prstGeom prst="rect">
            <a:avLst/>
          </a:prstGeom>
        </p:spPr>
      </p:pic>
      <p:sp>
        <p:nvSpPr>
          <p:cNvPr id="14" name="Text 9"/>
          <p:cNvSpPr txBox="1"/>
          <p:nvPr/>
        </p:nvSpPr>
        <p:spPr>
          <a:xfrm>
            <a:off x="1051560" y="2688336"/>
            <a:ext cx="3108960" cy="438912"/>
          </a:xfrm>
          <a:prstGeom prst="rect">
            <a:avLst/>
          </a:prstGeom>
          <a:noFill/>
          <a:ln/>
        </p:spPr>
        <p:txBody>
          <a:bodyPr wrap="square" lIns="0" tIns="0" rIns="0" bIns="0" rtlCol="0" anchor="ctr"/>
          <a:lstStyle/>
          <a:p>
            <a:pPr indent="0" marL="0">
              <a:buNone/>
            </a:pPr>
            <a:r>
              <a:rPr lang="en-US" sz="1500" dirty="0">
                <a:solidFill>
                  <a:srgbClr val="33413A"/>
                </a:solidFill>
                <a:latin typeface="Malgun Gothic" pitchFamily="34" charset="0"/>
                <a:ea typeface="Malgun Gothic" pitchFamily="34" charset="-122"/>
                <a:cs typeface="Malgun Gothic" pitchFamily="34" charset="-120"/>
              </a:rPr>
              <a:t>영유아기 교육의 중요성 부각</a:t>
            </a:r>
            <a:endParaRPr lang="en-US" sz="1500" dirty="0"/>
          </a:p>
        </p:txBody>
      </p:sp>
      <p:sp>
        <p:nvSpPr>
          <p:cNvPr id="15" name="Shape 10"/>
          <p:cNvSpPr/>
          <p:nvPr/>
        </p:nvSpPr>
        <p:spPr>
          <a:xfrm>
            <a:off x="457200" y="3337560"/>
            <a:ext cx="3749040" cy="1234440"/>
          </a:xfrm>
          <a:prstGeom prst="roundRect">
            <a:avLst>
              <a:gd name="adj" fmla="val 8889"/>
            </a:avLst>
          </a:prstGeom>
          <a:solidFill>
            <a:srgbClr val="DCEBDD"/>
          </a:solidFill>
          <a:ln/>
        </p:spPr>
      </p:sp>
      <p:sp>
        <p:nvSpPr>
          <p:cNvPr id="16" name="Text 11"/>
          <p:cNvSpPr txBox="1"/>
          <p:nvPr/>
        </p:nvSpPr>
        <p:spPr>
          <a:xfrm>
            <a:off x="640080" y="3429000"/>
            <a:ext cx="3474720" cy="1051560"/>
          </a:xfrm>
          <a:prstGeom prst="rect">
            <a:avLst/>
          </a:prstGeom>
          <a:noFill/>
          <a:ln/>
        </p:spPr>
        <p:txBody>
          <a:bodyPr wrap="square" lIns="0" tIns="0" rIns="0" bIns="0" rtlCol="0" anchor="ctr"/>
          <a:lstStyle/>
          <a:p>
            <a:pPr indent="0" marL="0">
              <a:spcAft>
                <a:spcPts val="400"/>
              </a:spcAft>
              <a:buNone/>
            </a:pPr>
            <a:r>
              <a:rPr lang="en-US" sz="1300" b="1" dirty="0">
                <a:solidFill>
                  <a:srgbClr val="33413A"/>
                </a:solidFill>
                <a:latin typeface="Malgun Gothic" pitchFamily="34" charset="0"/>
                <a:ea typeface="Malgun Gothic" pitchFamily="34" charset="-122"/>
                <a:cs typeface="Malgun Gothic" pitchFamily="34" charset="-120"/>
              </a:rPr>
              <a:t>영유아가 어린이집에 다니는 것이 보편화</a:t>
            </a:r>
            <a:endParaRPr lang="en-US" sz="1300" dirty="0"/>
          </a:p>
          <a:p>
            <a:pPr indent="0" marL="0">
              <a:spcAft>
                <a:spcPts val="400"/>
              </a:spcAft>
              <a:buNone/>
            </a:pPr>
            <a:r>
              <a:rPr lang="en-US" sz="1300" dirty="0">
                <a:solidFill>
                  <a:srgbClr val="33413A"/>
                </a:solidFill>
                <a:latin typeface="Malgun Gothic" pitchFamily="34" charset="0"/>
                <a:ea typeface="Malgun Gothic" pitchFamily="34" charset="-122"/>
                <a:cs typeface="Malgun Gothic" pitchFamily="34" charset="-120"/>
              </a:rPr>
              <a:t>→ 언제, 무엇을 목표로 어떤 경험을 제공할 것인가에 대한 </a:t>
            </a:r>
            <a:pPr indent="0" marL="0">
              <a:spcAft>
                <a:spcPts val="400"/>
              </a:spcAft>
              <a:buNone/>
            </a:pPr>
            <a:r>
              <a:rPr lang="en-US" sz="1300" b="1" dirty="0">
                <a:solidFill>
                  <a:srgbClr val="5E8C6A"/>
                </a:solidFill>
                <a:latin typeface="Malgun Gothic" pitchFamily="34" charset="0"/>
                <a:ea typeface="Malgun Gothic" pitchFamily="34" charset="-122"/>
                <a:cs typeface="Malgun Gothic" pitchFamily="34" charset="-120"/>
              </a:rPr>
              <a:t>국가수준의 지침</a:t>
            </a:r>
            <a:pPr indent="0" marL="0">
              <a:spcAft>
                <a:spcPts val="400"/>
              </a:spcAft>
              <a:buNone/>
            </a:pPr>
            <a:r>
              <a:rPr lang="en-US" sz="1300" dirty="0">
                <a:solidFill>
                  <a:srgbClr val="33413A"/>
                </a:solidFill>
                <a:latin typeface="Malgun Gothic" pitchFamily="34" charset="0"/>
                <a:ea typeface="Malgun Gothic" pitchFamily="34" charset="-122"/>
                <a:cs typeface="Malgun Gothic" pitchFamily="34" charset="-120"/>
              </a:rPr>
              <a:t> 필요</a:t>
            </a:r>
            <a:endParaRPr lang="en-US" sz="1300" dirty="0"/>
          </a:p>
        </p:txBody>
      </p:sp>
      <p:sp>
        <p:nvSpPr>
          <p:cNvPr id="17" name="Shape 12"/>
          <p:cNvSpPr/>
          <p:nvPr/>
        </p:nvSpPr>
        <p:spPr>
          <a:xfrm>
            <a:off x="5074920" y="1234440"/>
            <a:ext cx="0" cy="3246120"/>
          </a:xfrm>
          <a:prstGeom prst="line">
            <a:avLst/>
          </a:prstGeom>
          <a:noFill/>
          <a:ln w="31750">
            <a:solidFill>
              <a:srgbClr val="C9D6CC"/>
            </a:solidFill>
            <a:prstDash val="solid"/>
          </a:ln>
        </p:spPr>
      </p:sp>
      <p:sp>
        <p:nvSpPr>
          <p:cNvPr id="18" name="Shape 13"/>
          <p:cNvSpPr/>
          <p:nvPr/>
        </p:nvSpPr>
        <p:spPr>
          <a:xfrm>
            <a:off x="4965192" y="1170432"/>
            <a:ext cx="219456" cy="219456"/>
          </a:xfrm>
          <a:prstGeom prst="ellipse">
            <a:avLst/>
          </a:prstGeom>
          <a:solidFill>
            <a:srgbClr val="5E8C6A"/>
          </a:solidFill>
          <a:ln/>
        </p:spPr>
      </p:sp>
      <p:sp>
        <p:nvSpPr>
          <p:cNvPr id="19" name="Text 14"/>
          <p:cNvSpPr txBox="1"/>
          <p:nvPr/>
        </p:nvSpPr>
        <p:spPr>
          <a:xfrm>
            <a:off x="5349240" y="1097280"/>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2004</a:t>
            </a:r>
            <a:endParaRPr lang="en-US" sz="1600" dirty="0"/>
          </a:p>
        </p:txBody>
      </p:sp>
      <p:sp>
        <p:nvSpPr>
          <p:cNvPr id="20" name="Text 15"/>
          <p:cNvSpPr txBox="1"/>
          <p:nvPr/>
        </p:nvSpPr>
        <p:spPr>
          <a:xfrm>
            <a:off x="6126480" y="1115568"/>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영유아보육법 전면 개정</a:t>
            </a:r>
            <a:endParaRPr lang="en-US" sz="1200" dirty="0"/>
          </a:p>
          <a:p>
            <a:pPr indent="0" marL="0">
              <a:buNone/>
            </a:pPr>
            <a:r>
              <a:rPr lang="en-US" sz="1200" dirty="0">
                <a:solidFill>
                  <a:srgbClr val="33413A"/>
                </a:solidFill>
                <a:latin typeface="Malgun Gothic" pitchFamily="34" charset="0"/>
                <a:ea typeface="Malgun Gothic" pitchFamily="34" charset="-122"/>
                <a:cs typeface="Malgun Gothic" pitchFamily="34" charset="-120"/>
              </a:rPr>
              <a:t>제29조 제2항에 개발·보급 명시</a:t>
            </a:r>
            <a:endParaRPr lang="en-US" sz="1200" dirty="0"/>
          </a:p>
        </p:txBody>
      </p:sp>
      <p:sp>
        <p:nvSpPr>
          <p:cNvPr id="21" name="Shape 16"/>
          <p:cNvSpPr/>
          <p:nvPr/>
        </p:nvSpPr>
        <p:spPr>
          <a:xfrm>
            <a:off x="4965192" y="1883664"/>
            <a:ext cx="219456" cy="219456"/>
          </a:xfrm>
          <a:prstGeom prst="ellipse">
            <a:avLst/>
          </a:prstGeom>
          <a:solidFill>
            <a:srgbClr val="5E8C6A"/>
          </a:solidFill>
          <a:ln/>
        </p:spPr>
      </p:sp>
      <p:sp>
        <p:nvSpPr>
          <p:cNvPr id="22" name="Text 17"/>
          <p:cNvSpPr txBox="1"/>
          <p:nvPr/>
        </p:nvSpPr>
        <p:spPr>
          <a:xfrm>
            <a:off x="5349240" y="1810512"/>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2007</a:t>
            </a:r>
            <a:endParaRPr lang="en-US" sz="1600" dirty="0"/>
          </a:p>
        </p:txBody>
      </p:sp>
      <p:sp>
        <p:nvSpPr>
          <p:cNvPr id="23" name="Text 18"/>
          <p:cNvSpPr txBox="1"/>
          <p:nvPr/>
        </p:nvSpPr>
        <p:spPr>
          <a:xfrm>
            <a:off x="6126480" y="1828800"/>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표준보육과정 공포</a:t>
            </a:r>
            <a:endParaRPr lang="en-US" sz="1200" dirty="0"/>
          </a:p>
        </p:txBody>
      </p:sp>
      <p:sp>
        <p:nvSpPr>
          <p:cNvPr id="24" name="Shape 19"/>
          <p:cNvSpPr/>
          <p:nvPr/>
        </p:nvSpPr>
        <p:spPr>
          <a:xfrm>
            <a:off x="4965192" y="2596896"/>
            <a:ext cx="219456" cy="219456"/>
          </a:xfrm>
          <a:prstGeom prst="ellipse">
            <a:avLst/>
          </a:prstGeom>
          <a:solidFill>
            <a:srgbClr val="5E8C6A"/>
          </a:solidFill>
          <a:ln/>
        </p:spPr>
      </p:sp>
      <p:sp>
        <p:nvSpPr>
          <p:cNvPr id="25" name="Text 20"/>
          <p:cNvSpPr txBox="1"/>
          <p:nvPr/>
        </p:nvSpPr>
        <p:spPr>
          <a:xfrm>
            <a:off x="5349240" y="2523744"/>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2013</a:t>
            </a:r>
            <a:endParaRPr lang="en-US" sz="1600" dirty="0"/>
          </a:p>
        </p:txBody>
      </p:sp>
      <p:sp>
        <p:nvSpPr>
          <p:cNvPr id="26" name="Text 21"/>
          <p:cNvSpPr txBox="1"/>
          <p:nvPr/>
        </p:nvSpPr>
        <p:spPr>
          <a:xfrm>
            <a:off x="6126480" y="2542032"/>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제3차 어린이집 표준보육과정으로</a:t>
            </a:r>
            <a:endParaRPr lang="en-US" sz="1200" dirty="0"/>
          </a:p>
          <a:p>
            <a:pPr indent="0" marL="0">
              <a:buNone/>
            </a:pPr>
            <a:r>
              <a:rPr lang="en-US" sz="1200" dirty="0">
                <a:solidFill>
                  <a:srgbClr val="33413A"/>
                </a:solidFill>
                <a:latin typeface="Malgun Gothic" pitchFamily="34" charset="0"/>
                <a:ea typeface="Malgun Gothic" pitchFamily="34" charset="-122"/>
                <a:cs typeface="Malgun Gothic" pitchFamily="34" charset="-120"/>
              </a:rPr>
              <a:t>개정</a:t>
            </a:r>
            <a:endParaRPr lang="en-US" sz="1200" dirty="0"/>
          </a:p>
        </p:txBody>
      </p:sp>
      <p:sp>
        <p:nvSpPr>
          <p:cNvPr id="27" name="Shape 22"/>
          <p:cNvSpPr/>
          <p:nvPr/>
        </p:nvSpPr>
        <p:spPr>
          <a:xfrm>
            <a:off x="4965192" y="3310128"/>
            <a:ext cx="219456" cy="219456"/>
          </a:xfrm>
          <a:prstGeom prst="ellipse">
            <a:avLst/>
          </a:prstGeom>
          <a:solidFill>
            <a:srgbClr val="5E8C6A"/>
          </a:solidFill>
          <a:ln/>
        </p:spPr>
      </p:sp>
      <p:sp>
        <p:nvSpPr>
          <p:cNvPr id="28" name="Text 23"/>
          <p:cNvSpPr txBox="1"/>
          <p:nvPr/>
        </p:nvSpPr>
        <p:spPr>
          <a:xfrm>
            <a:off x="5349240" y="3236976"/>
            <a:ext cx="731520" cy="365760"/>
          </a:xfrm>
          <a:prstGeom prst="rect">
            <a:avLst/>
          </a:prstGeom>
          <a:noFill/>
          <a:ln/>
        </p:spPr>
        <p:txBody>
          <a:bodyPr wrap="square" lIns="0" tIns="0" rIns="0" bIns="0" rtlCol="0" anchor="ctr"/>
          <a:lstStyle/>
          <a:p>
            <a:pPr indent="0" marL="0">
              <a:buNone/>
            </a:pPr>
            <a:r>
              <a:rPr lang="en-US" sz="1600" b="1" dirty="0">
                <a:solidFill>
                  <a:srgbClr val="5E8C6A"/>
                </a:solidFill>
                <a:latin typeface="Malgun Gothic" pitchFamily="34" charset="0"/>
                <a:ea typeface="Malgun Gothic" pitchFamily="34" charset="-122"/>
                <a:cs typeface="Malgun Gothic" pitchFamily="34" charset="-120"/>
              </a:rPr>
              <a:t>2020</a:t>
            </a:r>
            <a:endParaRPr lang="en-US" sz="1600" dirty="0"/>
          </a:p>
        </p:txBody>
      </p:sp>
      <p:sp>
        <p:nvSpPr>
          <p:cNvPr id="29" name="Text 24"/>
          <p:cNvSpPr txBox="1"/>
          <p:nvPr/>
        </p:nvSpPr>
        <p:spPr>
          <a:xfrm>
            <a:off x="6126480" y="3255264"/>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제4차 어린이집 표준보육과정 고시</a:t>
            </a:r>
            <a:endParaRPr lang="en-US" sz="1200" dirty="0"/>
          </a:p>
        </p:txBody>
      </p:sp>
      <p:sp>
        <p:nvSpPr>
          <p:cNvPr id="30" name="Shape 25"/>
          <p:cNvSpPr/>
          <p:nvPr/>
        </p:nvSpPr>
        <p:spPr>
          <a:xfrm>
            <a:off x="4965192" y="4023360"/>
            <a:ext cx="219456" cy="219456"/>
          </a:xfrm>
          <a:prstGeom prst="ellipse">
            <a:avLst/>
          </a:prstGeom>
          <a:solidFill>
            <a:srgbClr val="F2A27E"/>
          </a:solidFill>
          <a:ln/>
        </p:spPr>
      </p:sp>
      <p:sp>
        <p:nvSpPr>
          <p:cNvPr id="31" name="Text 26"/>
          <p:cNvSpPr txBox="1"/>
          <p:nvPr/>
        </p:nvSpPr>
        <p:spPr>
          <a:xfrm>
            <a:off x="5349240" y="3950208"/>
            <a:ext cx="731520" cy="365760"/>
          </a:xfrm>
          <a:prstGeom prst="rect">
            <a:avLst/>
          </a:prstGeom>
          <a:noFill/>
          <a:ln/>
        </p:spPr>
        <p:txBody>
          <a:bodyPr wrap="square" lIns="0" tIns="0" rIns="0" bIns="0" rtlCol="0" anchor="ctr"/>
          <a:lstStyle/>
          <a:p>
            <a:pPr indent="0" marL="0">
              <a:buNone/>
            </a:pPr>
            <a:r>
              <a:rPr lang="en-US" sz="1600" b="1" dirty="0">
                <a:solidFill>
                  <a:srgbClr val="D07A55"/>
                </a:solidFill>
                <a:latin typeface="Malgun Gothic" pitchFamily="34" charset="0"/>
                <a:ea typeface="Malgun Gothic" pitchFamily="34" charset="-122"/>
                <a:cs typeface="Malgun Gothic" pitchFamily="34" charset="-120"/>
              </a:rPr>
              <a:t>2025</a:t>
            </a:r>
            <a:endParaRPr lang="en-US" sz="1600" dirty="0"/>
          </a:p>
        </p:txBody>
      </p:sp>
      <p:sp>
        <p:nvSpPr>
          <p:cNvPr id="32" name="Text 27"/>
          <p:cNvSpPr txBox="1"/>
          <p:nvPr/>
        </p:nvSpPr>
        <p:spPr>
          <a:xfrm>
            <a:off x="6126480" y="3968496"/>
            <a:ext cx="2651760" cy="640080"/>
          </a:xfrm>
          <a:prstGeom prst="rect">
            <a:avLst/>
          </a:prstGeom>
          <a:noFill/>
          <a:ln/>
        </p:spPr>
        <p:txBody>
          <a:bodyPr wrap="square" lIns="0" tIns="0" rIns="0" bIns="0" rtlCol="0" anchor="t"/>
          <a:lstStyle/>
          <a:p>
            <a:pPr indent="0" marL="0">
              <a:buNone/>
            </a:pPr>
            <a:r>
              <a:rPr lang="en-US" sz="1200" dirty="0">
                <a:solidFill>
                  <a:srgbClr val="33413A"/>
                </a:solidFill>
                <a:latin typeface="Malgun Gothic" pitchFamily="34" charset="0"/>
                <a:ea typeface="Malgun Gothic" pitchFamily="34" charset="-122"/>
                <a:cs typeface="Malgun Gothic" pitchFamily="34" charset="-120"/>
              </a:rPr>
              <a:t>2024 개정 표준보육과정(0~2세) 고시</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07</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2019 개정 누리과정의 혁신 방향</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200" dirty="0">
                <a:solidFill>
                  <a:srgbClr val="6E7B73"/>
                </a:solidFill>
                <a:latin typeface="Malgun Gothic" pitchFamily="34" charset="0"/>
                <a:ea typeface="Malgun Gothic" pitchFamily="34" charset="-122"/>
                <a:cs typeface="Malgun Gothic" pitchFamily="34" charset="-120"/>
              </a:rPr>
              <a:t>출발선 평등 실현을 위한 '유아교육 혁신방안'에 의거 (교육부, 2017)</a:t>
            </a:r>
            <a:endParaRPr lang="en-US" sz="1200" dirty="0"/>
          </a:p>
        </p:txBody>
      </p:sp>
      <p:sp>
        <p:nvSpPr>
          <p:cNvPr id="6" name="Shape 4"/>
          <p:cNvSpPr/>
          <p:nvPr/>
        </p:nvSpPr>
        <p:spPr>
          <a:xfrm>
            <a:off x="457200" y="1371600"/>
            <a:ext cx="2560320" cy="2514600"/>
          </a:xfrm>
          <a:prstGeom prst="roundRect">
            <a:avLst>
              <a:gd name="adj" fmla="val 5455"/>
            </a:avLst>
          </a:prstGeom>
          <a:solidFill>
            <a:srgbClr val="FCE4D8"/>
          </a:solidFill>
          <a:ln/>
        </p:spPr>
      </p:sp>
      <p:sp>
        <p:nvSpPr>
          <p:cNvPr id="7" name="Shape 5"/>
          <p:cNvSpPr/>
          <p:nvPr/>
        </p:nvSpPr>
        <p:spPr>
          <a:xfrm>
            <a:off x="640080" y="1554480"/>
            <a:ext cx="548640" cy="54864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777240" y="1691640"/>
            <a:ext cx="274320" cy="274320"/>
          </a:xfrm>
          <a:prstGeom prst="rect">
            <a:avLst/>
          </a:prstGeom>
        </p:spPr>
      </p:pic>
      <p:sp>
        <p:nvSpPr>
          <p:cNvPr id="9" name="Text 6"/>
          <p:cNvSpPr txBox="1"/>
          <p:nvPr/>
        </p:nvSpPr>
        <p:spPr>
          <a:xfrm>
            <a:off x="132588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첫째</a:t>
            </a:r>
            <a:endParaRPr lang="en-US" sz="1800" dirty="0"/>
          </a:p>
        </p:txBody>
      </p:sp>
      <p:sp>
        <p:nvSpPr>
          <p:cNvPr id="10" name="Text 7"/>
          <p:cNvSpPr txBox="1"/>
          <p:nvPr/>
        </p:nvSpPr>
        <p:spPr>
          <a:xfrm>
            <a:off x="64008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초등학교 준비 위주의 학습</a:t>
            </a:r>
            <a:endParaRPr lang="en-US" sz="1100" dirty="0"/>
          </a:p>
        </p:txBody>
      </p:sp>
      <p:sp>
        <p:nvSpPr>
          <p:cNvPr id="11" name="Text 8"/>
          <p:cNvSpPr txBox="1"/>
          <p:nvPr/>
        </p:nvSpPr>
        <p:spPr>
          <a:xfrm>
            <a:off x="640080" y="2743200"/>
            <a:ext cx="2194560" cy="228600"/>
          </a:xfrm>
          <a:prstGeom prst="rect">
            <a:avLst/>
          </a:prstGeom>
          <a:noFill/>
          <a:ln/>
        </p:spPr>
        <p:txBody>
          <a:bodyPr wrap="square" lIns="0" tIns="0" rIns="0" bIns="0" rtlCol="0" anchor="ctr"/>
          <a:lstStyle/>
          <a:p>
            <a:pPr indent="0" marL="0">
              <a:buNone/>
            </a:pPr>
            <a:r>
              <a:rPr lang="en-US" sz="1000" dirty="0">
                <a:solidFill>
                  <a:srgbClr val="F2A27E"/>
                </a:solidFill>
                <a:latin typeface="Malgun Gothic" pitchFamily="34" charset="0"/>
                <a:ea typeface="Malgun Gothic" pitchFamily="34" charset="-122"/>
                <a:cs typeface="Malgun Gothic" pitchFamily="34" charset="-120"/>
              </a:rPr>
              <a:t>▼</a:t>
            </a:r>
            <a:endParaRPr lang="en-US" sz="1000" dirty="0"/>
          </a:p>
        </p:txBody>
      </p:sp>
      <p:sp>
        <p:nvSpPr>
          <p:cNvPr id="12" name="Text 9"/>
          <p:cNvSpPr txBox="1"/>
          <p:nvPr/>
        </p:nvSpPr>
        <p:spPr>
          <a:xfrm>
            <a:off x="640080" y="2999232"/>
            <a:ext cx="2240280" cy="868680"/>
          </a:xfrm>
          <a:prstGeom prst="rect">
            <a:avLst/>
          </a:prstGeom>
          <a:noFill/>
          <a:ln/>
        </p:spPr>
        <p:txBody>
          <a:bodyPr wrap="square" lIns="0" tIns="0" rIns="0" bIns="0" rtlCol="0" anchor="t"/>
          <a:lstStyle/>
          <a:p>
            <a:pPr indent="0" marL="0">
              <a:buNone/>
            </a:pPr>
            <a:r>
              <a:rPr lang="en-US" sz="1300" b="1" dirty="0">
                <a:solidFill>
                  <a:srgbClr val="33413A"/>
                </a:solidFill>
                <a:latin typeface="Malgun Gothic" pitchFamily="34" charset="0"/>
                <a:ea typeface="Malgun Gothic" pitchFamily="34" charset="-122"/>
                <a:cs typeface="Malgun Gothic" pitchFamily="34" charset="-120"/>
              </a:rPr>
              <a:t>개별 유아에 대한 다양한</a:t>
            </a:r>
            <a:endParaRPr lang="en-US" sz="1300" dirty="0"/>
          </a:p>
          <a:p>
            <a:pPr indent="0" marL="0">
              <a:buNone/>
            </a:pPr>
            <a:r>
              <a:rPr lang="en-US" sz="1300" b="1" dirty="0">
                <a:solidFill>
                  <a:srgbClr val="33413A"/>
                </a:solidFill>
                <a:latin typeface="Malgun Gothic" pitchFamily="34" charset="0"/>
                <a:ea typeface="Malgun Gothic" pitchFamily="34" charset="-122"/>
                <a:cs typeface="Malgun Gothic" pitchFamily="34" charset="-120"/>
              </a:rPr>
              <a:t>특성을 고려한 내용</a:t>
            </a:r>
            <a:endParaRPr lang="en-US" sz="1300" dirty="0"/>
          </a:p>
        </p:txBody>
      </p:sp>
      <p:sp>
        <p:nvSpPr>
          <p:cNvPr id="13" name="Shape 10"/>
          <p:cNvSpPr/>
          <p:nvPr/>
        </p:nvSpPr>
        <p:spPr>
          <a:xfrm>
            <a:off x="3291840" y="1371600"/>
            <a:ext cx="2560320" cy="2514600"/>
          </a:xfrm>
          <a:prstGeom prst="roundRect">
            <a:avLst>
              <a:gd name="adj" fmla="val 5455"/>
            </a:avLst>
          </a:prstGeom>
          <a:solidFill>
            <a:srgbClr val="FDF3D6"/>
          </a:solidFill>
          <a:ln/>
        </p:spPr>
      </p:sp>
      <p:sp>
        <p:nvSpPr>
          <p:cNvPr id="14" name="Shape 11"/>
          <p:cNvSpPr/>
          <p:nvPr/>
        </p:nvSpPr>
        <p:spPr>
          <a:xfrm>
            <a:off x="3474720" y="1554480"/>
            <a:ext cx="548640" cy="548640"/>
          </a:xfrm>
          <a:prstGeom prst="ellipse">
            <a:avLst/>
          </a:prstGeom>
          <a:solidFill>
            <a:srgbClr val="F5D07A"/>
          </a:solidFill>
          <a:ln/>
        </p:spPr>
      </p:sp>
      <p:pic>
        <p:nvPicPr>
          <p:cNvPr id="15" name="Image 1" descr="preencoded.png">    </p:cNvPr>
          <p:cNvPicPr>
            <a:picLocks noChangeAspect="1"/>
          </p:cNvPicPr>
          <p:nvPr/>
        </p:nvPicPr>
        <p:blipFill>
          <a:blip r:embed="rId2"/>
          <a:stretch>
            <a:fillRect/>
          </a:stretch>
        </p:blipFill>
        <p:spPr>
          <a:xfrm>
            <a:off x="3611880" y="1691640"/>
            <a:ext cx="274320" cy="274320"/>
          </a:xfrm>
          <a:prstGeom prst="rect">
            <a:avLst/>
          </a:prstGeom>
        </p:spPr>
      </p:pic>
      <p:sp>
        <p:nvSpPr>
          <p:cNvPr id="16" name="Text 12"/>
          <p:cNvSpPr txBox="1"/>
          <p:nvPr/>
        </p:nvSpPr>
        <p:spPr>
          <a:xfrm>
            <a:off x="416052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둘째</a:t>
            </a:r>
            <a:endParaRPr lang="en-US" sz="1800" dirty="0"/>
          </a:p>
        </p:txBody>
      </p:sp>
      <p:sp>
        <p:nvSpPr>
          <p:cNvPr id="17" name="Text 13"/>
          <p:cNvSpPr txBox="1"/>
          <p:nvPr/>
        </p:nvSpPr>
        <p:spPr>
          <a:xfrm>
            <a:off x="347472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교사계획서 위주, 학습 위주의 교육</a:t>
            </a:r>
            <a:endParaRPr lang="en-US" sz="1100" dirty="0"/>
          </a:p>
        </p:txBody>
      </p:sp>
      <p:sp>
        <p:nvSpPr>
          <p:cNvPr id="18" name="Text 14"/>
          <p:cNvSpPr txBox="1"/>
          <p:nvPr/>
        </p:nvSpPr>
        <p:spPr>
          <a:xfrm>
            <a:off x="3474720" y="2743200"/>
            <a:ext cx="2194560" cy="228600"/>
          </a:xfrm>
          <a:prstGeom prst="rect">
            <a:avLst/>
          </a:prstGeom>
          <a:noFill/>
          <a:ln/>
        </p:spPr>
        <p:txBody>
          <a:bodyPr wrap="square" lIns="0" tIns="0" rIns="0" bIns="0" rtlCol="0" anchor="ctr"/>
          <a:lstStyle/>
          <a:p>
            <a:pPr indent="0" marL="0">
              <a:buNone/>
            </a:pPr>
            <a:r>
              <a:rPr lang="en-US" sz="1000" dirty="0">
                <a:solidFill>
                  <a:srgbClr val="B08A2E"/>
                </a:solidFill>
                <a:latin typeface="Malgun Gothic" pitchFamily="34" charset="0"/>
                <a:ea typeface="Malgun Gothic" pitchFamily="34" charset="-122"/>
                <a:cs typeface="Malgun Gothic" pitchFamily="34" charset="-120"/>
              </a:rPr>
              <a:t>▼</a:t>
            </a:r>
            <a:endParaRPr lang="en-US" sz="1000" dirty="0"/>
          </a:p>
        </p:txBody>
      </p:sp>
      <p:sp>
        <p:nvSpPr>
          <p:cNvPr id="19" name="Text 15"/>
          <p:cNvSpPr txBox="1"/>
          <p:nvPr/>
        </p:nvSpPr>
        <p:spPr>
          <a:xfrm>
            <a:off x="3474720" y="2999232"/>
            <a:ext cx="2240280" cy="868680"/>
          </a:xfrm>
          <a:prstGeom prst="rect">
            <a:avLst/>
          </a:prstGeom>
          <a:noFill/>
          <a:ln/>
        </p:spPr>
        <p:txBody>
          <a:bodyPr wrap="square" lIns="0" tIns="0" rIns="0" bIns="0" rtlCol="0" anchor="t"/>
          <a:lstStyle/>
          <a:p>
            <a:pPr indent="0" marL="0">
              <a:buNone/>
            </a:pPr>
            <a:r>
              <a:rPr lang="en-US" sz="1300" b="1" dirty="0">
                <a:solidFill>
                  <a:srgbClr val="33413A"/>
                </a:solidFill>
                <a:latin typeface="Malgun Gothic" pitchFamily="34" charset="0"/>
                <a:ea typeface="Malgun Gothic" pitchFamily="34" charset="-122"/>
                <a:cs typeface="Malgun Gothic" pitchFamily="34" charset="-120"/>
              </a:rPr>
              <a:t>유아의 자유놀이 권장</a:t>
            </a:r>
            <a:endParaRPr lang="en-US" sz="1300" dirty="0"/>
          </a:p>
          <a:p>
            <a:pPr indent="0" marL="0">
              <a:buNone/>
            </a:pPr>
            <a:r>
              <a:rPr lang="en-US" sz="1300" b="1" dirty="0">
                <a:solidFill>
                  <a:srgbClr val="33413A"/>
                </a:solidFill>
                <a:latin typeface="Malgun Gothic" pitchFamily="34" charset="0"/>
                <a:ea typeface="Malgun Gothic" pitchFamily="34" charset="-122"/>
                <a:cs typeface="Malgun Gothic" pitchFamily="34" charset="-120"/>
              </a:rPr>
              <a:t>관찰과 기록 등 유아와의</a:t>
            </a:r>
            <a:endParaRPr lang="en-US" sz="1300" dirty="0"/>
          </a:p>
          <a:p>
            <a:pPr indent="0" marL="0">
              <a:buNone/>
            </a:pPr>
            <a:r>
              <a:rPr lang="en-US" sz="1300" b="1" dirty="0">
                <a:solidFill>
                  <a:srgbClr val="33413A"/>
                </a:solidFill>
                <a:latin typeface="Malgun Gothic" pitchFamily="34" charset="0"/>
                <a:ea typeface="Malgun Gothic" pitchFamily="34" charset="-122"/>
                <a:cs typeface="Malgun Gothic" pitchFamily="34" charset="-120"/>
              </a:rPr>
              <a:t>상호작용 강조</a:t>
            </a:r>
            <a:endParaRPr lang="en-US" sz="1300" dirty="0"/>
          </a:p>
        </p:txBody>
      </p:sp>
      <p:sp>
        <p:nvSpPr>
          <p:cNvPr id="20" name="Shape 16"/>
          <p:cNvSpPr/>
          <p:nvPr/>
        </p:nvSpPr>
        <p:spPr>
          <a:xfrm>
            <a:off x="6126480" y="1371600"/>
            <a:ext cx="2560320" cy="2514600"/>
          </a:xfrm>
          <a:prstGeom prst="roundRect">
            <a:avLst>
              <a:gd name="adj" fmla="val 5455"/>
            </a:avLst>
          </a:prstGeom>
          <a:solidFill>
            <a:srgbClr val="DCEBDD"/>
          </a:solidFill>
          <a:ln/>
        </p:spPr>
      </p:sp>
      <p:sp>
        <p:nvSpPr>
          <p:cNvPr id="21" name="Shape 17"/>
          <p:cNvSpPr/>
          <p:nvPr/>
        </p:nvSpPr>
        <p:spPr>
          <a:xfrm>
            <a:off x="6309360" y="1554480"/>
            <a:ext cx="548640" cy="548640"/>
          </a:xfrm>
          <a:prstGeom prst="ellipse">
            <a:avLst/>
          </a:prstGeom>
          <a:solidFill>
            <a:srgbClr val="5E8C6A"/>
          </a:solidFill>
          <a:ln/>
        </p:spPr>
      </p:sp>
      <p:pic>
        <p:nvPicPr>
          <p:cNvPr id="22" name="Image 2" descr="preencoded.png">    </p:cNvPr>
          <p:cNvPicPr>
            <a:picLocks noChangeAspect="1"/>
          </p:cNvPicPr>
          <p:nvPr/>
        </p:nvPicPr>
        <p:blipFill>
          <a:blip r:embed="rId3"/>
          <a:stretch>
            <a:fillRect/>
          </a:stretch>
        </p:blipFill>
        <p:spPr>
          <a:xfrm>
            <a:off x="6446520" y="1691640"/>
            <a:ext cx="274320" cy="274320"/>
          </a:xfrm>
          <a:prstGeom prst="rect">
            <a:avLst/>
          </a:prstGeom>
        </p:spPr>
      </p:pic>
      <p:sp>
        <p:nvSpPr>
          <p:cNvPr id="23" name="Text 18"/>
          <p:cNvSpPr txBox="1"/>
          <p:nvPr/>
        </p:nvSpPr>
        <p:spPr>
          <a:xfrm>
            <a:off x="6995160" y="1554480"/>
            <a:ext cx="1463040" cy="548640"/>
          </a:xfrm>
          <a:prstGeom prst="rect">
            <a:avLst/>
          </a:prstGeom>
          <a:noFill/>
          <a:ln/>
        </p:spPr>
        <p:txBody>
          <a:bodyPr wrap="square" lIns="0" tIns="0" rIns="0" bIns="0" rtlCol="0" anchor="ctr"/>
          <a:lstStyle/>
          <a:p>
            <a:pPr indent="0" marL="0">
              <a:buNone/>
            </a:pPr>
            <a:r>
              <a:rPr lang="en-US" sz="1800" b="1" dirty="0">
                <a:solidFill>
                  <a:srgbClr val="33413A"/>
                </a:solidFill>
                <a:latin typeface="Malgun Gothic" pitchFamily="34" charset="0"/>
                <a:ea typeface="Malgun Gothic" pitchFamily="34" charset="-122"/>
                <a:cs typeface="Malgun Gothic" pitchFamily="34" charset="-120"/>
              </a:rPr>
              <a:t>셋째</a:t>
            </a:r>
            <a:endParaRPr lang="en-US" sz="1800" dirty="0"/>
          </a:p>
        </p:txBody>
      </p:sp>
      <p:sp>
        <p:nvSpPr>
          <p:cNvPr id="24" name="Text 19"/>
          <p:cNvSpPr txBox="1"/>
          <p:nvPr/>
        </p:nvSpPr>
        <p:spPr>
          <a:xfrm>
            <a:off x="6309360" y="2240280"/>
            <a:ext cx="2194560" cy="502920"/>
          </a:xfrm>
          <a:prstGeom prst="rect">
            <a:avLst/>
          </a:prstGeom>
          <a:noFill/>
          <a:ln/>
        </p:spPr>
        <p:txBody>
          <a:bodyPr wrap="square" lIns="0" tIns="0" rIns="0" bIns="0" rtlCol="0" anchor="t"/>
          <a:lstStyle/>
          <a:p>
            <a:pPr indent="0" marL="0">
              <a:buNone/>
            </a:pPr>
            <a:r>
              <a:rPr lang="en-US" sz="1100" dirty="0">
                <a:solidFill>
                  <a:srgbClr val="6E7B73"/>
                </a:solidFill>
                <a:latin typeface="Malgun Gothic" pitchFamily="34" charset="0"/>
                <a:ea typeface="Malgun Gothic" pitchFamily="34" charset="-122"/>
                <a:cs typeface="Malgun Gothic" pitchFamily="34" charset="-120"/>
              </a:rPr>
              <a:t>5개 영역, 주제-소주제 등</a:t>
            </a:r>
            <a:endParaRPr lang="en-US" sz="1100" dirty="0"/>
          </a:p>
          <a:p>
            <a:pPr indent="0" marL="0">
              <a:buNone/>
            </a:pPr>
            <a:r>
              <a:rPr lang="en-US" sz="1100" dirty="0">
                <a:solidFill>
                  <a:srgbClr val="6E7B73"/>
                </a:solidFill>
                <a:latin typeface="Malgun Gothic" pitchFamily="34" charset="0"/>
                <a:ea typeface="Malgun Gothic" pitchFamily="34" charset="-122"/>
                <a:cs typeface="Malgun Gothic" pitchFamily="34" charset="-120"/>
              </a:rPr>
              <a:t>구성체계가 지나치게 세부적</a:t>
            </a:r>
            <a:endParaRPr lang="en-US" sz="1100" dirty="0"/>
          </a:p>
        </p:txBody>
      </p:sp>
      <p:sp>
        <p:nvSpPr>
          <p:cNvPr id="25" name="Text 20"/>
          <p:cNvSpPr txBox="1"/>
          <p:nvPr/>
        </p:nvSpPr>
        <p:spPr>
          <a:xfrm>
            <a:off x="6309360" y="2743200"/>
            <a:ext cx="2194560" cy="228600"/>
          </a:xfrm>
          <a:prstGeom prst="rect">
            <a:avLst/>
          </a:prstGeom>
          <a:noFill/>
          <a:ln/>
        </p:spPr>
        <p:txBody>
          <a:bodyPr wrap="square" lIns="0" tIns="0" rIns="0" bIns="0" rtlCol="0" anchor="ctr"/>
          <a:lstStyle/>
          <a:p>
            <a:pPr indent="0" marL="0">
              <a:buNone/>
            </a:pPr>
            <a:r>
              <a:rPr lang="en-US" sz="1000" dirty="0">
                <a:solidFill>
                  <a:srgbClr val="5E8C6A"/>
                </a:solidFill>
                <a:latin typeface="Malgun Gothic" pitchFamily="34" charset="0"/>
                <a:ea typeface="Malgun Gothic" pitchFamily="34" charset="-122"/>
                <a:cs typeface="Malgun Gothic" pitchFamily="34" charset="-120"/>
              </a:rPr>
              <a:t>▼</a:t>
            </a:r>
            <a:endParaRPr lang="en-US" sz="1000" dirty="0"/>
          </a:p>
        </p:txBody>
      </p:sp>
      <p:sp>
        <p:nvSpPr>
          <p:cNvPr id="26" name="Text 21"/>
          <p:cNvSpPr txBox="1"/>
          <p:nvPr/>
        </p:nvSpPr>
        <p:spPr>
          <a:xfrm>
            <a:off x="6309360" y="2999232"/>
            <a:ext cx="2240280" cy="868680"/>
          </a:xfrm>
          <a:prstGeom prst="rect">
            <a:avLst/>
          </a:prstGeom>
          <a:noFill/>
          <a:ln/>
        </p:spPr>
        <p:txBody>
          <a:bodyPr wrap="square" lIns="0" tIns="0" rIns="0" bIns="0" rtlCol="0" anchor="t"/>
          <a:lstStyle/>
          <a:p>
            <a:pPr indent="0" marL="0">
              <a:buNone/>
            </a:pPr>
            <a:r>
              <a:rPr lang="en-US" sz="1300" b="1" dirty="0">
                <a:solidFill>
                  <a:srgbClr val="33413A"/>
                </a:solidFill>
                <a:latin typeface="Malgun Gothic" pitchFamily="34" charset="0"/>
                <a:ea typeface="Malgun Gothic" pitchFamily="34" charset="-122"/>
                <a:cs typeface="Malgun Gothic" pitchFamily="34" charset="-120"/>
              </a:rPr>
              <a:t>현장의 자율성 존중을 위해</a:t>
            </a:r>
            <a:endParaRPr lang="en-US" sz="1300" dirty="0"/>
          </a:p>
          <a:p>
            <a:pPr indent="0" marL="0">
              <a:buNone/>
            </a:pPr>
            <a:r>
              <a:rPr lang="en-US" sz="1300" b="1" dirty="0">
                <a:solidFill>
                  <a:srgbClr val="33413A"/>
                </a:solidFill>
                <a:latin typeface="Malgun Gothic" pitchFamily="34" charset="0"/>
                <a:ea typeface="Malgun Gothic" pitchFamily="34" charset="-122"/>
                <a:cs typeface="Malgun Gothic" pitchFamily="34" charset="-120"/>
              </a:rPr>
              <a:t>세부내용 삭제</a:t>
            </a:r>
            <a:endParaRPr lang="en-US" sz="1300" dirty="0"/>
          </a:p>
        </p:txBody>
      </p:sp>
      <p:sp>
        <p:nvSpPr>
          <p:cNvPr id="27" name="Shape 22"/>
          <p:cNvSpPr/>
          <p:nvPr/>
        </p:nvSpPr>
        <p:spPr>
          <a:xfrm>
            <a:off x="457200" y="4069080"/>
            <a:ext cx="8229600" cy="640080"/>
          </a:xfrm>
          <a:prstGeom prst="roundRect">
            <a:avLst>
              <a:gd name="adj" fmla="val 50000"/>
            </a:avLst>
          </a:prstGeom>
          <a:solidFill>
            <a:srgbClr val="5E8C6A"/>
          </a:solidFill>
          <a:ln/>
        </p:spPr>
      </p:sp>
      <p:sp>
        <p:nvSpPr>
          <p:cNvPr id="28" name="Text 23"/>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'유아 중심·놀이 중심 교육과정'  →  2020년부터 유치원과 어린이집 공통교육과정으로 적용</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E8C6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한눈에 정리</a:t>
            </a:r>
            <a:endParaRPr lang="en-US" sz="3000" dirty="0"/>
          </a:p>
        </p:txBody>
      </p:sp>
      <p:sp>
        <p:nvSpPr>
          <p:cNvPr id="3" name="Shape 1"/>
          <p:cNvSpPr/>
          <p:nvPr/>
        </p:nvSpPr>
        <p:spPr>
          <a:xfrm>
            <a:off x="457200" y="1508760"/>
            <a:ext cx="3291840" cy="1005840"/>
          </a:xfrm>
          <a:prstGeom prst="roundRect">
            <a:avLst>
              <a:gd name="adj" fmla="val 13636"/>
            </a:avLst>
          </a:prstGeom>
          <a:solidFill>
            <a:srgbClr val="DCEBDD"/>
          </a:solidFill>
          <a:ln/>
        </p:spPr>
      </p:sp>
      <p:sp>
        <p:nvSpPr>
          <p:cNvPr id="4" name="Text 2"/>
          <p:cNvSpPr txBox="1"/>
          <p:nvPr/>
        </p:nvSpPr>
        <p:spPr>
          <a:xfrm>
            <a:off x="640080" y="1600200"/>
            <a:ext cx="2926080" cy="411480"/>
          </a:xfrm>
          <a:prstGeom prst="rect">
            <a:avLst/>
          </a:prstGeom>
          <a:noFill/>
          <a:ln/>
        </p:spPr>
        <p:txBody>
          <a:bodyPr wrap="square" lIns="0" tIns="0" rIns="0" bIns="0" rtlCol="0" anchor="ctr"/>
          <a:lstStyle/>
          <a:p>
            <a:pPr indent="0" marL="0">
              <a:buNone/>
            </a:pPr>
            <a:r>
              <a:rPr lang="en-US" sz="1800" b="1" dirty="0">
                <a:solidFill>
                  <a:srgbClr val="5E8C6A"/>
                </a:solidFill>
                <a:latin typeface="Malgun Gothic" pitchFamily="34" charset="0"/>
                <a:ea typeface="Malgun Gothic" pitchFamily="34" charset="-122"/>
                <a:cs typeface="Malgun Gothic" pitchFamily="34" charset="-120"/>
              </a:rPr>
              <a:t>표준보육과정</a:t>
            </a:r>
            <a:endParaRPr lang="en-US" sz="1800" dirty="0"/>
          </a:p>
        </p:txBody>
      </p:sp>
      <p:sp>
        <p:nvSpPr>
          <p:cNvPr id="5" name="Text 3"/>
          <p:cNvSpPr txBox="1"/>
          <p:nvPr/>
        </p:nvSpPr>
        <p:spPr>
          <a:xfrm>
            <a:off x="640080" y="2011680"/>
            <a:ext cx="2926080" cy="36576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0~2세 · 어린이집</a:t>
            </a:r>
            <a:endParaRPr lang="en-US" sz="1300" dirty="0"/>
          </a:p>
        </p:txBody>
      </p:sp>
      <p:sp>
        <p:nvSpPr>
          <p:cNvPr id="6" name="Shape 4"/>
          <p:cNvSpPr/>
          <p:nvPr/>
        </p:nvSpPr>
        <p:spPr>
          <a:xfrm>
            <a:off x="3931920" y="1508760"/>
            <a:ext cx="4754880" cy="1005840"/>
          </a:xfrm>
          <a:prstGeom prst="roundRect">
            <a:avLst>
              <a:gd name="adj" fmla="val 13636"/>
            </a:avLst>
          </a:prstGeom>
          <a:solidFill>
            <a:srgbClr val="FDF3D6"/>
          </a:solidFill>
          <a:ln/>
        </p:spPr>
      </p:sp>
      <p:sp>
        <p:nvSpPr>
          <p:cNvPr id="7" name="Text 5"/>
          <p:cNvSpPr txBox="1"/>
          <p:nvPr/>
        </p:nvSpPr>
        <p:spPr>
          <a:xfrm>
            <a:off x="4114800" y="1600200"/>
            <a:ext cx="4389120" cy="411480"/>
          </a:xfrm>
          <a:prstGeom prst="rect">
            <a:avLst/>
          </a:prstGeom>
          <a:noFill/>
          <a:ln/>
        </p:spPr>
        <p:txBody>
          <a:bodyPr wrap="square" lIns="0" tIns="0" rIns="0" bIns="0" rtlCol="0" anchor="ctr"/>
          <a:lstStyle/>
          <a:p>
            <a:pPr indent="0" marL="0">
              <a:buNone/>
            </a:pPr>
            <a:r>
              <a:rPr lang="en-US" sz="1800" b="1" dirty="0">
                <a:solidFill>
                  <a:srgbClr val="B08A2E"/>
                </a:solidFill>
                <a:latin typeface="Malgun Gothic" pitchFamily="34" charset="0"/>
                <a:ea typeface="Malgun Gothic" pitchFamily="34" charset="-122"/>
                <a:cs typeface="Malgun Gothic" pitchFamily="34" charset="-120"/>
              </a:rPr>
              <a:t>누리과정</a:t>
            </a:r>
            <a:endParaRPr lang="en-US" sz="1800" dirty="0"/>
          </a:p>
        </p:txBody>
      </p:sp>
      <p:sp>
        <p:nvSpPr>
          <p:cNvPr id="8" name="Text 6"/>
          <p:cNvSpPr txBox="1"/>
          <p:nvPr/>
        </p:nvSpPr>
        <p:spPr>
          <a:xfrm>
            <a:off x="4114800" y="2011680"/>
            <a:ext cx="4389120" cy="36576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3~5세 · 유치원과 어린이집 공통</a:t>
            </a:r>
            <a:endParaRPr lang="en-US" sz="1300" dirty="0"/>
          </a:p>
        </p:txBody>
      </p:sp>
      <p:sp>
        <p:nvSpPr>
          <p:cNvPr id="9" name="Shape 7"/>
          <p:cNvSpPr/>
          <p:nvPr/>
        </p:nvSpPr>
        <p:spPr>
          <a:xfrm>
            <a:off x="457200" y="2880360"/>
            <a:ext cx="365760" cy="365760"/>
          </a:xfrm>
          <a:prstGeom prst="ellipse">
            <a:avLst/>
          </a:prstGeom>
          <a:solidFill>
            <a:srgbClr val="F5D07A"/>
          </a:solidFill>
          <a:ln/>
        </p:spPr>
      </p:sp>
      <p:sp>
        <p:nvSpPr>
          <p:cNvPr id="10" name="Text 8"/>
          <p:cNvSpPr txBox="1"/>
          <p:nvPr/>
        </p:nvSpPr>
        <p:spPr>
          <a:xfrm>
            <a:off x="457200" y="2880360"/>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1</a:t>
            </a:r>
            <a:endParaRPr lang="en-US" sz="1300" dirty="0"/>
          </a:p>
        </p:txBody>
      </p:sp>
      <p:sp>
        <p:nvSpPr>
          <p:cNvPr id="11" name="Text 9"/>
          <p:cNvSpPr txBox="1"/>
          <p:nvPr/>
        </p:nvSpPr>
        <p:spPr>
          <a:xfrm>
            <a:off x="1005840" y="2834640"/>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교육과정</a:t>
            </a:r>
            <a:endParaRPr lang="en-US" sz="1500" dirty="0"/>
          </a:p>
        </p:txBody>
      </p:sp>
      <p:sp>
        <p:nvSpPr>
          <p:cNvPr id="12" name="Text 10"/>
          <p:cNvSpPr txBox="1"/>
          <p:nvPr/>
        </p:nvSpPr>
        <p:spPr>
          <a:xfrm>
            <a:off x="2468880" y="2834640"/>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학습자의 전인적 성장과 발달을 돕기 위한 교수-학습 경험의 설계도</a:t>
            </a:r>
            <a:endParaRPr lang="en-US" sz="1400" dirty="0"/>
          </a:p>
        </p:txBody>
      </p:sp>
      <p:sp>
        <p:nvSpPr>
          <p:cNvPr id="13" name="Shape 11"/>
          <p:cNvSpPr/>
          <p:nvPr/>
        </p:nvSpPr>
        <p:spPr>
          <a:xfrm>
            <a:off x="457200" y="3447288"/>
            <a:ext cx="365760" cy="365760"/>
          </a:xfrm>
          <a:prstGeom prst="ellipse">
            <a:avLst/>
          </a:prstGeom>
          <a:solidFill>
            <a:srgbClr val="F5D07A"/>
          </a:solidFill>
          <a:ln/>
        </p:spPr>
      </p:sp>
      <p:sp>
        <p:nvSpPr>
          <p:cNvPr id="14" name="Text 12"/>
          <p:cNvSpPr txBox="1"/>
          <p:nvPr/>
        </p:nvSpPr>
        <p:spPr>
          <a:xfrm>
            <a:off x="457200" y="3447288"/>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2</a:t>
            </a:r>
            <a:endParaRPr lang="en-US" sz="1300" dirty="0"/>
          </a:p>
        </p:txBody>
      </p:sp>
      <p:sp>
        <p:nvSpPr>
          <p:cNvPr id="15" name="Text 13"/>
          <p:cNvSpPr txBox="1"/>
          <p:nvPr/>
        </p:nvSpPr>
        <p:spPr>
          <a:xfrm>
            <a:off x="1005840" y="3401568"/>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누리과정</a:t>
            </a:r>
            <a:endParaRPr lang="en-US" sz="1500" dirty="0"/>
          </a:p>
        </p:txBody>
      </p:sp>
      <p:sp>
        <p:nvSpPr>
          <p:cNvPr id="16" name="Text 14"/>
          <p:cNvSpPr txBox="1"/>
          <p:nvPr/>
        </p:nvSpPr>
        <p:spPr>
          <a:xfrm>
            <a:off x="2468880" y="3401568"/>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유치원교육과정과 표준보육과정 일원화, 생애초기 출발점 평등 보장</a:t>
            </a:r>
            <a:endParaRPr lang="en-US" sz="1400" dirty="0"/>
          </a:p>
        </p:txBody>
      </p:sp>
      <p:sp>
        <p:nvSpPr>
          <p:cNvPr id="17" name="Shape 15"/>
          <p:cNvSpPr/>
          <p:nvPr/>
        </p:nvSpPr>
        <p:spPr>
          <a:xfrm>
            <a:off x="457200" y="4014216"/>
            <a:ext cx="365760" cy="365760"/>
          </a:xfrm>
          <a:prstGeom prst="ellipse">
            <a:avLst/>
          </a:prstGeom>
          <a:solidFill>
            <a:srgbClr val="F5D07A"/>
          </a:solidFill>
          <a:ln/>
        </p:spPr>
      </p:sp>
      <p:sp>
        <p:nvSpPr>
          <p:cNvPr id="18" name="Text 16"/>
          <p:cNvSpPr txBox="1"/>
          <p:nvPr/>
        </p:nvSpPr>
        <p:spPr>
          <a:xfrm>
            <a:off x="457200" y="4014216"/>
            <a:ext cx="365760" cy="36576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3</a:t>
            </a:r>
            <a:endParaRPr lang="en-US" sz="1300" dirty="0"/>
          </a:p>
        </p:txBody>
      </p:sp>
      <p:sp>
        <p:nvSpPr>
          <p:cNvPr id="19" name="Text 17"/>
          <p:cNvSpPr txBox="1"/>
          <p:nvPr/>
        </p:nvSpPr>
        <p:spPr>
          <a:xfrm>
            <a:off x="1005840" y="3968496"/>
            <a:ext cx="1463040" cy="45720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2019 개정</a:t>
            </a:r>
            <a:endParaRPr lang="en-US" sz="1500" dirty="0"/>
          </a:p>
        </p:txBody>
      </p:sp>
      <p:sp>
        <p:nvSpPr>
          <p:cNvPr id="20" name="Text 18"/>
          <p:cNvSpPr txBox="1"/>
          <p:nvPr/>
        </p:nvSpPr>
        <p:spPr>
          <a:xfrm>
            <a:off x="2468880" y="3968496"/>
            <a:ext cx="6217920" cy="457200"/>
          </a:xfrm>
          <a:prstGeom prst="rect">
            <a:avLst/>
          </a:prstGeom>
          <a:noFill/>
          <a:ln/>
        </p:spPr>
        <p:txBody>
          <a:bodyPr wrap="square" lIns="0" tIns="0" rIns="0" bIns="0" rtlCol="0" anchor="ctr"/>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'유아 중심·놀이 중심 교육과정'으로 개정</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b="1" dirty="0">
                <a:solidFill>
                  <a:srgbClr val="FDF3D6"/>
                </a:solidFill>
                <a:latin typeface="Malgun Gothic" pitchFamily="34" charset="0"/>
                <a:ea typeface="Malgun Gothic" pitchFamily="34" charset="-122"/>
                <a:cs typeface="Malgun Gothic" pitchFamily="34" charset="-120"/>
              </a:rPr>
              <a:t>PART 2</a:t>
            </a:r>
            <a:endParaRPr lang="en-US" sz="1600" dirty="0"/>
          </a:p>
        </p:txBody>
      </p:sp>
      <p:sp>
        <p:nvSpPr>
          <p:cNvPr id="10" name="Text 8"/>
          <p:cNvSpPr txBox="1"/>
          <p:nvPr/>
        </p:nvSpPr>
        <p:spPr>
          <a:xfrm>
            <a:off x="640080" y="1645920"/>
            <a:ext cx="640080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영유아교육과정의 구성</a:t>
            </a:r>
            <a:endParaRPr lang="en-US" sz="4400" dirty="0"/>
          </a:p>
        </p:txBody>
      </p:sp>
      <p:sp>
        <p:nvSpPr>
          <p:cNvPr id="11" name="Text 9"/>
          <p:cNvSpPr txBox="1"/>
          <p:nvPr/>
        </p:nvSpPr>
        <p:spPr>
          <a:xfrm>
            <a:off x="640080" y="260604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구성 요소와 구성의 네 가지 특징</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10</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교육과정의 구성 요소</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타일러(Tyler)가 제시한 네 가지 질문</a:t>
            </a:r>
            <a:endParaRPr lang="en-US" sz="1300" dirty="0"/>
          </a:p>
        </p:txBody>
      </p:sp>
      <p:sp>
        <p:nvSpPr>
          <p:cNvPr id="6" name="Shape 4"/>
          <p:cNvSpPr/>
          <p:nvPr/>
        </p:nvSpPr>
        <p:spPr>
          <a:xfrm>
            <a:off x="457200" y="1371600"/>
            <a:ext cx="1920240" cy="2834640"/>
          </a:xfrm>
          <a:prstGeom prst="roundRect">
            <a:avLst>
              <a:gd name="adj" fmla="val 7143"/>
            </a:avLst>
          </a:prstGeom>
          <a:solidFill>
            <a:srgbClr val="FCE4D8"/>
          </a:solidFill>
          <a:ln/>
        </p:spPr>
      </p:sp>
      <p:sp>
        <p:nvSpPr>
          <p:cNvPr id="7" name="Shape 5"/>
          <p:cNvSpPr/>
          <p:nvPr/>
        </p:nvSpPr>
        <p:spPr>
          <a:xfrm>
            <a:off x="1097280" y="1600200"/>
            <a:ext cx="640080" cy="64008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1257300" y="1760220"/>
            <a:ext cx="320040" cy="320040"/>
          </a:xfrm>
          <a:prstGeom prst="rect">
            <a:avLst/>
          </a:prstGeom>
        </p:spPr>
      </p:pic>
      <p:sp>
        <p:nvSpPr>
          <p:cNvPr id="9" name="Text 6"/>
          <p:cNvSpPr txBox="1"/>
          <p:nvPr/>
        </p:nvSpPr>
        <p:spPr>
          <a:xfrm>
            <a:off x="56692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학교가 성취해야 할 교육목표는 무엇인가?</a:t>
            </a:r>
            <a:endParaRPr lang="en-US" sz="1100" dirty="0"/>
          </a:p>
        </p:txBody>
      </p:sp>
      <p:sp>
        <p:nvSpPr>
          <p:cNvPr id="10" name="Text 7"/>
          <p:cNvSpPr txBox="1"/>
          <p:nvPr/>
        </p:nvSpPr>
        <p:spPr>
          <a:xfrm>
            <a:off x="594360" y="3200400"/>
            <a:ext cx="1645920" cy="274320"/>
          </a:xfrm>
          <a:prstGeom prst="rect">
            <a:avLst/>
          </a:prstGeom>
          <a:noFill/>
          <a:ln/>
        </p:spPr>
        <p:txBody>
          <a:bodyPr wrap="square" lIns="0" tIns="0" rIns="0" bIns="0" rtlCol="0" anchor="ctr"/>
          <a:lstStyle/>
          <a:p>
            <a:pPr algn="ctr" indent="0" marL="0">
              <a:buNone/>
            </a:pPr>
            <a:r>
              <a:rPr lang="en-US" sz="1100" dirty="0">
                <a:solidFill>
                  <a:srgbClr val="F2A27E"/>
                </a:solidFill>
                <a:latin typeface="Malgun Gothic" pitchFamily="34" charset="0"/>
                <a:ea typeface="Malgun Gothic" pitchFamily="34" charset="-122"/>
                <a:cs typeface="Malgun Gothic" pitchFamily="34" charset="-120"/>
              </a:rPr>
              <a:t>▼</a:t>
            </a:r>
            <a:endParaRPr lang="en-US" sz="1100" dirty="0"/>
          </a:p>
        </p:txBody>
      </p:sp>
      <p:sp>
        <p:nvSpPr>
          <p:cNvPr id="11" name="Text 8"/>
          <p:cNvSpPr txBox="1"/>
          <p:nvPr/>
        </p:nvSpPr>
        <p:spPr>
          <a:xfrm>
            <a:off x="54864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교육목표</a:t>
            </a:r>
            <a:endParaRPr lang="en-US" sz="1700" dirty="0"/>
          </a:p>
        </p:txBody>
      </p:sp>
      <p:sp>
        <p:nvSpPr>
          <p:cNvPr id="12" name="Shape 9"/>
          <p:cNvSpPr/>
          <p:nvPr/>
        </p:nvSpPr>
        <p:spPr>
          <a:xfrm>
            <a:off x="2560320" y="1371600"/>
            <a:ext cx="1920240" cy="2834640"/>
          </a:xfrm>
          <a:prstGeom prst="roundRect">
            <a:avLst>
              <a:gd name="adj" fmla="val 7143"/>
            </a:avLst>
          </a:prstGeom>
          <a:solidFill>
            <a:srgbClr val="FDF3D6"/>
          </a:solidFill>
          <a:ln/>
        </p:spPr>
      </p:sp>
      <p:sp>
        <p:nvSpPr>
          <p:cNvPr id="13" name="Shape 10"/>
          <p:cNvSpPr/>
          <p:nvPr/>
        </p:nvSpPr>
        <p:spPr>
          <a:xfrm>
            <a:off x="3200400" y="1600200"/>
            <a:ext cx="640080" cy="640080"/>
          </a:xfrm>
          <a:prstGeom prst="ellipse">
            <a:avLst/>
          </a:prstGeom>
          <a:solidFill>
            <a:srgbClr val="F5D07A"/>
          </a:solidFill>
          <a:ln/>
        </p:spPr>
      </p:sp>
      <p:pic>
        <p:nvPicPr>
          <p:cNvPr id="14" name="Image 1" descr="preencoded.png">    </p:cNvPr>
          <p:cNvPicPr>
            <a:picLocks noChangeAspect="1"/>
          </p:cNvPicPr>
          <p:nvPr/>
        </p:nvPicPr>
        <p:blipFill>
          <a:blip r:embed="rId2"/>
          <a:stretch>
            <a:fillRect/>
          </a:stretch>
        </p:blipFill>
        <p:spPr>
          <a:xfrm>
            <a:off x="3360420" y="1760220"/>
            <a:ext cx="320040" cy="320040"/>
          </a:xfrm>
          <a:prstGeom prst="rect">
            <a:avLst/>
          </a:prstGeom>
        </p:spPr>
      </p:pic>
      <p:sp>
        <p:nvSpPr>
          <p:cNvPr id="15" name="Text 11"/>
          <p:cNvSpPr txBox="1"/>
          <p:nvPr/>
        </p:nvSpPr>
        <p:spPr>
          <a:xfrm>
            <a:off x="267004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교육목표를 달성하기 위해 어떤 교육적 경험이 제공될 수 있는가?</a:t>
            </a:r>
            <a:endParaRPr lang="en-US" sz="1100" dirty="0"/>
          </a:p>
        </p:txBody>
      </p:sp>
      <p:sp>
        <p:nvSpPr>
          <p:cNvPr id="16" name="Text 12"/>
          <p:cNvSpPr txBox="1"/>
          <p:nvPr/>
        </p:nvSpPr>
        <p:spPr>
          <a:xfrm>
            <a:off x="2697480" y="3200400"/>
            <a:ext cx="1645920" cy="274320"/>
          </a:xfrm>
          <a:prstGeom prst="rect">
            <a:avLst/>
          </a:prstGeom>
          <a:noFill/>
          <a:ln/>
        </p:spPr>
        <p:txBody>
          <a:bodyPr wrap="square" lIns="0" tIns="0" rIns="0" bIns="0" rtlCol="0" anchor="ctr"/>
          <a:lstStyle/>
          <a:p>
            <a:pPr algn="ctr" indent="0" marL="0">
              <a:buNone/>
            </a:pPr>
            <a:r>
              <a:rPr lang="en-US" sz="1100" dirty="0">
                <a:solidFill>
                  <a:srgbClr val="B08A2E"/>
                </a:solidFill>
                <a:latin typeface="Malgun Gothic" pitchFamily="34" charset="0"/>
                <a:ea typeface="Malgun Gothic" pitchFamily="34" charset="-122"/>
                <a:cs typeface="Malgun Gothic" pitchFamily="34" charset="-120"/>
              </a:rPr>
              <a:t>▼</a:t>
            </a:r>
            <a:endParaRPr lang="en-US" sz="1100" dirty="0"/>
          </a:p>
        </p:txBody>
      </p:sp>
      <p:sp>
        <p:nvSpPr>
          <p:cNvPr id="17" name="Text 13"/>
          <p:cNvSpPr txBox="1"/>
          <p:nvPr/>
        </p:nvSpPr>
        <p:spPr>
          <a:xfrm>
            <a:off x="265176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교육내용</a:t>
            </a:r>
            <a:endParaRPr lang="en-US" sz="1700" dirty="0"/>
          </a:p>
        </p:txBody>
      </p:sp>
      <p:sp>
        <p:nvSpPr>
          <p:cNvPr id="18" name="Shape 14"/>
          <p:cNvSpPr/>
          <p:nvPr/>
        </p:nvSpPr>
        <p:spPr>
          <a:xfrm>
            <a:off x="4663440" y="1371600"/>
            <a:ext cx="1920240" cy="2834640"/>
          </a:xfrm>
          <a:prstGeom prst="roundRect">
            <a:avLst>
              <a:gd name="adj" fmla="val 7143"/>
            </a:avLst>
          </a:prstGeom>
          <a:solidFill>
            <a:srgbClr val="DCEBDD"/>
          </a:solidFill>
          <a:ln/>
        </p:spPr>
      </p:sp>
      <p:sp>
        <p:nvSpPr>
          <p:cNvPr id="19" name="Shape 15"/>
          <p:cNvSpPr/>
          <p:nvPr/>
        </p:nvSpPr>
        <p:spPr>
          <a:xfrm>
            <a:off x="5303520" y="1600200"/>
            <a:ext cx="640080" cy="640080"/>
          </a:xfrm>
          <a:prstGeom prst="ellipse">
            <a:avLst/>
          </a:prstGeom>
          <a:solidFill>
            <a:srgbClr val="5E8C6A"/>
          </a:solidFill>
          <a:ln/>
        </p:spPr>
      </p:sp>
      <p:pic>
        <p:nvPicPr>
          <p:cNvPr id="20" name="Image 2" descr="preencoded.png">    </p:cNvPr>
          <p:cNvPicPr>
            <a:picLocks noChangeAspect="1"/>
          </p:cNvPicPr>
          <p:nvPr/>
        </p:nvPicPr>
        <p:blipFill>
          <a:blip r:embed="rId3"/>
          <a:stretch>
            <a:fillRect/>
          </a:stretch>
        </p:blipFill>
        <p:spPr>
          <a:xfrm>
            <a:off x="5463540" y="1760220"/>
            <a:ext cx="320040" cy="320040"/>
          </a:xfrm>
          <a:prstGeom prst="rect">
            <a:avLst/>
          </a:prstGeom>
        </p:spPr>
      </p:pic>
      <p:sp>
        <p:nvSpPr>
          <p:cNvPr id="21" name="Text 16"/>
          <p:cNvSpPr txBox="1"/>
          <p:nvPr/>
        </p:nvSpPr>
        <p:spPr>
          <a:xfrm>
            <a:off x="477316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교육적 경험은 어떻게 하면 가장 효과적으로 조직할 수 있는가?</a:t>
            </a:r>
            <a:endParaRPr lang="en-US" sz="1100" dirty="0"/>
          </a:p>
        </p:txBody>
      </p:sp>
      <p:sp>
        <p:nvSpPr>
          <p:cNvPr id="22" name="Text 17"/>
          <p:cNvSpPr txBox="1"/>
          <p:nvPr/>
        </p:nvSpPr>
        <p:spPr>
          <a:xfrm>
            <a:off x="4800600" y="3200400"/>
            <a:ext cx="1645920" cy="274320"/>
          </a:xfrm>
          <a:prstGeom prst="rect">
            <a:avLst/>
          </a:prstGeom>
          <a:noFill/>
          <a:ln/>
        </p:spPr>
        <p:txBody>
          <a:bodyPr wrap="square" lIns="0" tIns="0" rIns="0" bIns="0" rtlCol="0" anchor="ctr"/>
          <a:lstStyle/>
          <a:p>
            <a:pPr algn="ctr" indent="0" marL="0">
              <a:buNone/>
            </a:pPr>
            <a:r>
              <a:rPr lang="en-US" sz="1100" dirty="0">
                <a:solidFill>
                  <a:srgbClr val="5E8C6A"/>
                </a:solidFill>
                <a:latin typeface="Malgun Gothic" pitchFamily="34" charset="0"/>
                <a:ea typeface="Malgun Gothic" pitchFamily="34" charset="-122"/>
                <a:cs typeface="Malgun Gothic" pitchFamily="34" charset="-120"/>
              </a:rPr>
              <a:t>▼</a:t>
            </a:r>
            <a:endParaRPr lang="en-US" sz="1100" dirty="0"/>
          </a:p>
        </p:txBody>
      </p:sp>
      <p:sp>
        <p:nvSpPr>
          <p:cNvPr id="23" name="Text 18"/>
          <p:cNvSpPr txBox="1"/>
          <p:nvPr/>
        </p:nvSpPr>
        <p:spPr>
          <a:xfrm>
            <a:off x="475488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교수-학습 방법</a:t>
            </a:r>
            <a:endParaRPr lang="en-US" sz="1700" dirty="0"/>
          </a:p>
        </p:txBody>
      </p:sp>
      <p:sp>
        <p:nvSpPr>
          <p:cNvPr id="24" name="Shape 19"/>
          <p:cNvSpPr/>
          <p:nvPr/>
        </p:nvSpPr>
        <p:spPr>
          <a:xfrm>
            <a:off x="6766560" y="1371600"/>
            <a:ext cx="1920240" cy="2834640"/>
          </a:xfrm>
          <a:prstGeom prst="roundRect">
            <a:avLst>
              <a:gd name="adj" fmla="val 7143"/>
            </a:avLst>
          </a:prstGeom>
          <a:solidFill>
            <a:srgbClr val="F9E1E3"/>
          </a:solidFill>
          <a:ln/>
        </p:spPr>
      </p:sp>
      <p:sp>
        <p:nvSpPr>
          <p:cNvPr id="25" name="Shape 20"/>
          <p:cNvSpPr/>
          <p:nvPr/>
        </p:nvSpPr>
        <p:spPr>
          <a:xfrm>
            <a:off x="7406640" y="1600200"/>
            <a:ext cx="640080" cy="640080"/>
          </a:xfrm>
          <a:prstGeom prst="ellipse">
            <a:avLst/>
          </a:prstGeom>
          <a:solidFill>
            <a:srgbClr val="E8A1A8"/>
          </a:solidFill>
          <a:ln/>
        </p:spPr>
      </p:sp>
      <p:pic>
        <p:nvPicPr>
          <p:cNvPr id="26" name="Image 3" descr="preencoded.png">    </p:cNvPr>
          <p:cNvPicPr>
            <a:picLocks noChangeAspect="1"/>
          </p:cNvPicPr>
          <p:nvPr/>
        </p:nvPicPr>
        <p:blipFill>
          <a:blip r:embed="rId4"/>
          <a:stretch>
            <a:fillRect/>
          </a:stretch>
        </p:blipFill>
        <p:spPr>
          <a:xfrm>
            <a:off x="7566660" y="1760220"/>
            <a:ext cx="320040" cy="320040"/>
          </a:xfrm>
          <a:prstGeom prst="rect">
            <a:avLst/>
          </a:prstGeom>
        </p:spPr>
      </p:pic>
      <p:sp>
        <p:nvSpPr>
          <p:cNvPr id="27" name="Text 21"/>
          <p:cNvSpPr txBox="1"/>
          <p:nvPr/>
        </p:nvSpPr>
        <p:spPr>
          <a:xfrm>
            <a:off x="6876288" y="2331720"/>
            <a:ext cx="1700784" cy="868680"/>
          </a:xfrm>
          <a:prstGeom prst="rect">
            <a:avLst/>
          </a:prstGeom>
          <a:noFill/>
          <a:ln/>
        </p:spPr>
        <p:txBody>
          <a:bodyPr wrap="square" lIns="0" tIns="0" rIns="0" bIns="0" rtlCol="0" anchor="t"/>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교육목표들이 달성되었는지를 어떻게 알 수 있는가?</a:t>
            </a:r>
            <a:endParaRPr lang="en-US" sz="1100" dirty="0"/>
          </a:p>
        </p:txBody>
      </p:sp>
      <p:sp>
        <p:nvSpPr>
          <p:cNvPr id="28" name="Text 22"/>
          <p:cNvSpPr txBox="1"/>
          <p:nvPr/>
        </p:nvSpPr>
        <p:spPr>
          <a:xfrm>
            <a:off x="6903720" y="3200400"/>
            <a:ext cx="1645920" cy="274320"/>
          </a:xfrm>
          <a:prstGeom prst="rect">
            <a:avLst/>
          </a:prstGeom>
          <a:noFill/>
          <a:ln/>
        </p:spPr>
        <p:txBody>
          <a:bodyPr wrap="square" lIns="0" tIns="0" rIns="0" bIns="0" rtlCol="0" anchor="ctr"/>
          <a:lstStyle/>
          <a:p>
            <a:pPr algn="ctr" indent="0" marL="0">
              <a:buNone/>
            </a:pPr>
            <a:r>
              <a:rPr lang="en-US" sz="1100" dirty="0">
                <a:solidFill>
                  <a:srgbClr val="E8A1A8"/>
                </a:solidFill>
                <a:latin typeface="Malgun Gothic" pitchFamily="34" charset="0"/>
                <a:ea typeface="Malgun Gothic" pitchFamily="34" charset="-122"/>
                <a:cs typeface="Malgun Gothic" pitchFamily="34" charset="-120"/>
              </a:rPr>
              <a:t>▼</a:t>
            </a:r>
            <a:endParaRPr lang="en-US" sz="1100" dirty="0"/>
          </a:p>
        </p:txBody>
      </p:sp>
      <p:sp>
        <p:nvSpPr>
          <p:cNvPr id="29" name="Text 23"/>
          <p:cNvSpPr txBox="1"/>
          <p:nvPr/>
        </p:nvSpPr>
        <p:spPr>
          <a:xfrm>
            <a:off x="6858000" y="3520440"/>
            <a:ext cx="1737360" cy="457200"/>
          </a:xfrm>
          <a:prstGeom prst="rect">
            <a:avLst/>
          </a:prstGeom>
          <a:noFill/>
          <a:ln/>
        </p:spPr>
        <p:txBody>
          <a:bodyPr wrap="square" lIns="0" tIns="0" rIns="0" bIns="0" rtlCol="0" anchor="ctr"/>
          <a:lstStyle/>
          <a:p>
            <a:pPr algn="ctr" indent="0" marL="0">
              <a:buNone/>
            </a:pPr>
            <a:r>
              <a:rPr lang="en-US" sz="1700" b="1" dirty="0">
                <a:solidFill>
                  <a:srgbClr val="33413A"/>
                </a:solidFill>
                <a:latin typeface="Malgun Gothic" pitchFamily="34" charset="0"/>
                <a:ea typeface="Malgun Gothic" pitchFamily="34" charset="-122"/>
                <a:cs typeface="Malgun Gothic" pitchFamily="34" charset="-120"/>
              </a:rPr>
              <a:t>평가</a:t>
            </a:r>
            <a:endParaRPr lang="en-US" sz="1700" dirty="0"/>
          </a:p>
        </p:txBody>
      </p:sp>
      <p:sp>
        <p:nvSpPr>
          <p:cNvPr id="30" name="Text 24"/>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 우리나라 영유아교육과정을 구성하는 기본 요소에도 네 가지 요소가 포함된다</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11</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 요소 = 교육과정의 실행 순서</a:t>
            </a:r>
            <a:endParaRPr lang="en-US" sz="2800" dirty="0"/>
          </a:p>
        </p:txBody>
      </p:sp>
      <p:sp>
        <p:nvSpPr>
          <p:cNvPr id="5" name="Shape 3"/>
          <p:cNvSpPr/>
          <p:nvPr/>
        </p:nvSpPr>
        <p:spPr>
          <a:xfrm>
            <a:off x="1188720" y="1645920"/>
            <a:ext cx="3200400" cy="2651760"/>
          </a:xfrm>
          <a:prstGeom prst="ellipse">
            <a:avLst/>
          </a:prstGeom>
          <a:noFill/>
          <a:ln w="38100">
            <a:solidFill>
              <a:srgbClr val="C9D6CC"/>
            </a:solidFill>
            <a:prstDash val="dash"/>
          </a:ln>
        </p:spPr>
      </p:sp>
      <p:sp>
        <p:nvSpPr>
          <p:cNvPr id="6" name="Text 4"/>
          <p:cNvSpPr txBox="1"/>
          <p:nvPr/>
        </p:nvSpPr>
        <p:spPr>
          <a:xfrm>
            <a:off x="2240280" y="2651760"/>
            <a:ext cx="1097280" cy="640080"/>
          </a:xfrm>
          <a:prstGeom prst="rect">
            <a:avLst/>
          </a:prstGeom>
          <a:noFill/>
          <a:ln/>
        </p:spPr>
        <p:txBody>
          <a:bodyPr wrap="square" lIns="0" tIns="0" rIns="0" bIns="0" rtlCol="0" anchor="ctr"/>
          <a:lstStyle/>
          <a:p>
            <a:pPr algn="ctr" indent="0" marL="0">
              <a:buNone/>
            </a:pPr>
            <a:r>
              <a:rPr lang="en-US" sz="1400" b="1" dirty="0">
                <a:solidFill>
                  <a:srgbClr val="6E7B73"/>
                </a:solidFill>
                <a:latin typeface="Malgun Gothic" pitchFamily="34" charset="0"/>
                <a:ea typeface="Malgun Gothic" pitchFamily="34" charset="-122"/>
                <a:cs typeface="Malgun Gothic" pitchFamily="34" charset="-120"/>
              </a:rPr>
              <a:t>실행</a:t>
            </a:r>
            <a:endParaRPr lang="en-US" sz="1400" dirty="0"/>
          </a:p>
          <a:p>
            <a:pPr algn="ctr" indent="0" marL="0">
              <a:buNone/>
            </a:pPr>
            <a:r>
              <a:rPr lang="en-US" sz="1400" b="1" dirty="0">
                <a:solidFill>
                  <a:srgbClr val="6E7B73"/>
                </a:solidFill>
                <a:latin typeface="Malgun Gothic" pitchFamily="34" charset="0"/>
                <a:ea typeface="Malgun Gothic" pitchFamily="34" charset="-122"/>
                <a:cs typeface="Malgun Gothic" pitchFamily="34" charset="-120"/>
              </a:rPr>
              <a:t>순서</a:t>
            </a:r>
            <a:endParaRPr lang="en-US" sz="1400" dirty="0"/>
          </a:p>
        </p:txBody>
      </p:sp>
      <p:sp>
        <p:nvSpPr>
          <p:cNvPr id="7" name="Shape 5"/>
          <p:cNvSpPr/>
          <p:nvPr/>
        </p:nvSpPr>
        <p:spPr>
          <a:xfrm>
            <a:off x="2011680" y="1344168"/>
            <a:ext cx="1554480" cy="603504"/>
          </a:xfrm>
          <a:prstGeom prst="roundRect">
            <a:avLst>
              <a:gd name="adj" fmla="val 22727"/>
            </a:avLst>
          </a:prstGeom>
          <a:solidFill>
            <a:srgbClr val="FFFFFF"/>
          </a:solidFill>
          <a:ln w="25400">
            <a:solidFill>
              <a:srgbClr val="F2A27E"/>
            </a:solidFill>
            <a:prstDash val="solid"/>
          </a:ln>
        </p:spPr>
      </p:sp>
      <p:sp>
        <p:nvSpPr>
          <p:cNvPr id="8" name="Shape 6"/>
          <p:cNvSpPr/>
          <p:nvPr/>
        </p:nvSpPr>
        <p:spPr>
          <a:xfrm>
            <a:off x="2103120" y="1499616"/>
            <a:ext cx="292608" cy="292608"/>
          </a:xfrm>
          <a:prstGeom prst="ellipse">
            <a:avLst/>
          </a:prstGeom>
          <a:solidFill>
            <a:srgbClr val="F2A27E"/>
          </a:solidFill>
          <a:ln/>
        </p:spPr>
      </p:sp>
      <p:sp>
        <p:nvSpPr>
          <p:cNvPr id="9" name="Text 7"/>
          <p:cNvSpPr txBox="1"/>
          <p:nvPr/>
        </p:nvSpPr>
        <p:spPr>
          <a:xfrm>
            <a:off x="2103120" y="149961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10" name="Text 8"/>
          <p:cNvSpPr txBox="1"/>
          <p:nvPr/>
        </p:nvSpPr>
        <p:spPr>
          <a:xfrm>
            <a:off x="2468880" y="1344168"/>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교육목표 설정</a:t>
            </a:r>
            <a:endParaRPr lang="en-US" sz="1100" dirty="0"/>
          </a:p>
        </p:txBody>
      </p:sp>
      <p:sp>
        <p:nvSpPr>
          <p:cNvPr id="11" name="Shape 9"/>
          <p:cNvSpPr/>
          <p:nvPr/>
        </p:nvSpPr>
        <p:spPr>
          <a:xfrm>
            <a:off x="3533561" y="2260329"/>
            <a:ext cx="1554480" cy="603504"/>
          </a:xfrm>
          <a:prstGeom prst="roundRect">
            <a:avLst>
              <a:gd name="adj" fmla="val 22727"/>
            </a:avLst>
          </a:prstGeom>
          <a:solidFill>
            <a:srgbClr val="FFFFFF"/>
          </a:solidFill>
          <a:ln w="25400">
            <a:solidFill>
              <a:srgbClr val="F5D07A"/>
            </a:solidFill>
            <a:prstDash val="solid"/>
          </a:ln>
        </p:spPr>
      </p:sp>
      <p:sp>
        <p:nvSpPr>
          <p:cNvPr id="12" name="Shape 10"/>
          <p:cNvSpPr/>
          <p:nvPr/>
        </p:nvSpPr>
        <p:spPr>
          <a:xfrm>
            <a:off x="3625001" y="2415777"/>
            <a:ext cx="292608" cy="292608"/>
          </a:xfrm>
          <a:prstGeom prst="ellipse">
            <a:avLst/>
          </a:prstGeom>
          <a:solidFill>
            <a:srgbClr val="F5D07A"/>
          </a:solidFill>
          <a:ln/>
        </p:spPr>
      </p:sp>
      <p:sp>
        <p:nvSpPr>
          <p:cNvPr id="13" name="Text 11"/>
          <p:cNvSpPr txBox="1"/>
          <p:nvPr/>
        </p:nvSpPr>
        <p:spPr>
          <a:xfrm>
            <a:off x="3625001" y="2415777"/>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4" name="Text 12"/>
          <p:cNvSpPr txBox="1"/>
          <p:nvPr/>
        </p:nvSpPr>
        <p:spPr>
          <a:xfrm>
            <a:off x="3990761" y="2260329"/>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교육내용 선정</a:t>
            </a:r>
            <a:endParaRPr lang="en-US" sz="1100" dirty="0"/>
          </a:p>
        </p:txBody>
      </p:sp>
      <p:sp>
        <p:nvSpPr>
          <p:cNvPr id="15" name="Shape 13"/>
          <p:cNvSpPr/>
          <p:nvPr/>
        </p:nvSpPr>
        <p:spPr>
          <a:xfrm>
            <a:off x="2952254" y="3742707"/>
            <a:ext cx="1554480" cy="603504"/>
          </a:xfrm>
          <a:prstGeom prst="roundRect">
            <a:avLst>
              <a:gd name="adj" fmla="val 22727"/>
            </a:avLst>
          </a:prstGeom>
          <a:solidFill>
            <a:srgbClr val="FFFFFF"/>
          </a:solidFill>
          <a:ln w="25400">
            <a:solidFill>
              <a:srgbClr val="5E8C6A"/>
            </a:solidFill>
            <a:prstDash val="solid"/>
          </a:ln>
        </p:spPr>
      </p:sp>
      <p:sp>
        <p:nvSpPr>
          <p:cNvPr id="16" name="Shape 14"/>
          <p:cNvSpPr/>
          <p:nvPr/>
        </p:nvSpPr>
        <p:spPr>
          <a:xfrm>
            <a:off x="3043694" y="3898155"/>
            <a:ext cx="292608" cy="292608"/>
          </a:xfrm>
          <a:prstGeom prst="ellipse">
            <a:avLst/>
          </a:prstGeom>
          <a:solidFill>
            <a:srgbClr val="5E8C6A"/>
          </a:solidFill>
          <a:ln/>
        </p:spPr>
      </p:sp>
      <p:sp>
        <p:nvSpPr>
          <p:cNvPr id="17" name="Text 15"/>
          <p:cNvSpPr txBox="1"/>
          <p:nvPr/>
        </p:nvSpPr>
        <p:spPr>
          <a:xfrm>
            <a:off x="3043694" y="389815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8" name="Text 16"/>
          <p:cNvSpPr txBox="1"/>
          <p:nvPr/>
        </p:nvSpPr>
        <p:spPr>
          <a:xfrm>
            <a:off x="3409454" y="3742707"/>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내용 조직·</a:t>
            </a:r>
            <a:endParaRPr lang="en-US" sz="1100" dirty="0"/>
          </a:p>
          <a:p>
            <a:pPr indent="0" marL="0">
              <a:buNone/>
            </a:pPr>
            <a:r>
              <a:rPr lang="en-US" sz="1100" b="1" dirty="0">
                <a:solidFill>
                  <a:srgbClr val="33413A"/>
                </a:solidFill>
                <a:latin typeface="Malgun Gothic" pitchFamily="34" charset="0"/>
                <a:ea typeface="Malgun Gothic" pitchFamily="34" charset="-122"/>
                <a:cs typeface="Malgun Gothic" pitchFamily="34" charset="-120"/>
              </a:rPr>
              <a:t>교수방법 결정</a:t>
            </a:r>
            <a:endParaRPr lang="en-US" sz="1100" dirty="0"/>
          </a:p>
        </p:txBody>
      </p:sp>
      <p:sp>
        <p:nvSpPr>
          <p:cNvPr id="19" name="Shape 17"/>
          <p:cNvSpPr/>
          <p:nvPr/>
        </p:nvSpPr>
        <p:spPr>
          <a:xfrm>
            <a:off x="1071106" y="3742707"/>
            <a:ext cx="1554480" cy="603504"/>
          </a:xfrm>
          <a:prstGeom prst="roundRect">
            <a:avLst>
              <a:gd name="adj" fmla="val 22727"/>
            </a:avLst>
          </a:prstGeom>
          <a:solidFill>
            <a:srgbClr val="FFFFFF"/>
          </a:solidFill>
          <a:ln w="25400">
            <a:solidFill>
              <a:srgbClr val="E8A1A8"/>
            </a:solidFill>
            <a:prstDash val="solid"/>
          </a:ln>
        </p:spPr>
      </p:sp>
      <p:sp>
        <p:nvSpPr>
          <p:cNvPr id="20" name="Shape 18"/>
          <p:cNvSpPr/>
          <p:nvPr/>
        </p:nvSpPr>
        <p:spPr>
          <a:xfrm>
            <a:off x="1162546" y="3898155"/>
            <a:ext cx="292608" cy="292608"/>
          </a:xfrm>
          <a:prstGeom prst="ellipse">
            <a:avLst/>
          </a:prstGeom>
          <a:solidFill>
            <a:srgbClr val="E8A1A8"/>
          </a:solidFill>
          <a:ln/>
        </p:spPr>
      </p:sp>
      <p:sp>
        <p:nvSpPr>
          <p:cNvPr id="21" name="Text 19"/>
          <p:cNvSpPr txBox="1"/>
          <p:nvPr/>
        </p:nvSpPr>
        <p:spPr>
          <a:xfrm>
            <a:off x="1162546" y="3898155"/>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2" name="Text 20"/>
          <p:cNvSpPr txBox="1"/>
          <p:nvPr/>
        </p:nvSpPr>
        <p:spPr>
          <a:xfrm>
            <a:off x="1528306" y="3742707"/>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평가</a:t>
            </a:r>
            <a:endParaRPr lang="en-US" sz="1100" dirty="0"/>
          </a:p>
        </p:txBody>
      </p:sp>
      <p:sp>
        <p:nvSpPr>
          <p:cNvPr id="23" name="Shape 21"/>
          <p:cNvSpPr/>
          <p:nvPr/>
        </p:nvSpPr>
        <p:spPr>
          <a:xfrm>
            <a:off x="489799" y="2260329"/>
            <a:ext cx="1554480" cy="603504"/>
          </a:xfrm>
          <a:prstGeom prst="roundRect">
            <a:avLst>
              <a:gd name="adj" fmla="val 22727"/>
            </a:avLst>
          </a:prstGeom>
          <a:solidFill>
            <a:srgbClr val="FFFFFF"/>
          </a:solidFill>
          <a:ln w="25400">
            <a:solidFill>
              <a:srgbClr val="A9CBB0"/>
            </a:solidFill>
            <a:prstDash val="solid"/>
          </a:ln>
        </p:spPr>
      </p:sp>
      <p:sp>
        <p:nvSpPr>
          <p:cNvPr id="24" name="Shape 22"/>
          <p:cNvSpPr/>
          <p:nvPr/>
        </p:nvSpPr>
        <p:spPr>
          <a:xfrm>
            <a:off x="581239" y="2415777"/>
            <a:ext cx="292608" cy="292608"/>
          </a:xfrm>
          <a:prstGeom prst="ellipse">
            <a:avLst/>
          </a:prstGeom>
          <a:solidFill>
            <a:srgbClr val="A9CBB0"/>
          </a:solidFill>
          <a:ln/>
        </p:spPr>
      </p:sp>
      <p:sp>
        <p:nvSpPr>
          <p:cNvPr id="25" name="Text 23"/>
          <p:cNvSpPr txBox="1"/>
          <p:nvPr/>
        </p:nvSpPr>
        <p:spPr>
          <a:xfrm>
            <a:off x="581239" y="2415777"/>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26" name="Text 24"/>
          <p:cNvSpPr txBox="1"/>
          <p:nvPr/>
        </p:nvSpPr>
        <p:spPr>
          <a:xfrm>
            <a:off x="946999" y="2260329"/>
            <a:ext cx="1005840" cy="603504"/>
          </a:xfrm>
          <a:prstGeom prst="rect">
            <a:avLst/>
          </a:prstGeom>
          <a:noFill/>
          <a:ln/>
        </p:spPr>
        <p:txBody>
          <a:bodyPr wrap="square" lIns="0" tIns="0" rIns="0" bIns="0" rtlCol="0" anchor="ctr"/>
          <a:lstStyle/>
          <a:p>
            <a:pPr indent="0" marL="0">
              <a:buNone/>
            </a:pPr>
            <a:r>
              <a:rPr lang="en-US" sz="1100" b="1" dirty="0">
                <a:solidFill>
                  <a:srgbClr val="33413A"/>
                </a:solidFill>
                <a:latin typeface="Malgun Gothic" pitchFamily="34" charset="0"/>
                <a:ea typeface="Malgun Gothic" pitchFamily="34" charset="-122"/>
                <a:cs typeface="Malgun Gothic" pitchFamily="34" charset="-120"/>
              </a:rPr>
              <a:t>차기 교육계획</a:t>
            </a:r>
            <a:endParaRPr lang="en-US" sz="1100" dirty="0"/>
          </a:p>
          <a:p>
            <a:pPr indent="0" marL="0">
              <a:buNone/>
            </a:pPr>
            <a:r>
              <a:rPr lang="en-US" sz="1100" b="1" dirty="0">
                <a:solidFill>
                  <a:srgbClr val="33413A"/>
                </a:solidFill>
                <a:latin typeface="Malgun Gothic" pitchFamily="34" charset="0"/>
                <a:ea typeface="Malgun Gothic" pitchFamily="34" charset="-122"/>
                <a:cs typeface="Malgun Gothic" pitchFamily="34" charset="-120"/>
              </a:rPr>
              <a:t>수립에 반영</a:t>
            </a:r>
            <a:endParaRPr lang="en-US" sz="1100" dirty="0"/>
          </a:p>
        </p:txBody>
      </p:sp>
      <p:sp>
        <p:nvSpPr>
          <p:cNvPr id="27" name="Shape 25"/>
          <p:cNvSpPr/>
          <p:nvPr/>
        </p:nvSpPr>
        <p:spPr>
          <a:xfrm>
            <a:off x="5394960" y="1280160"/>
            <a:ext cx="3291840" cy="1463040"/>
          </a:xfrm>
          <a:prstGeom prst="roundRect">
            <a:avLst>
              <a:gd name="adj" fmla="val 9375"/>
            </a:avLst>
          </a:prstGeom>
          <a:solidFill>
            <a:srgbClr val="DCEBDD"/>
          </a:solidFill>
          <a:ln/>
        </p:spPr>
      </p:sp>
      <p:sp>
        <p:nvSpPr>
          <p:cNvPr id="28" name="Text 26"/>
          <p:cNvSpPr txBox="1"/>
          <p:nvPr/>
        </p:nvSpPr>
        <p:spPr>
          <a:xfrm>
            <a:off x="5577840" y="1371600"/>
            <a:ext cx="292608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구성요소이자 실행 순서</a:t>
            </a:r>
            <a:endParaRPr lang="en-US" sz="1400" dirty="0"/>
          </a:p>
        </p:txBody>
      </p:sp>
      <p:sp>
        <p:nvSpPr>
          <p:cNvPr id="29" name="Text 27"/>
          <p:cNvSpPr txBox="1"/>
          <p:nvPr/>
        </p:nvSpPr>
        <p:spPr>
          <a:xfrm>
            <a:off x="5577840" y="1691640"/>
            <a:ext cx="3017520" cy="10058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각 기관의 철학에 부합하는 교육목표의 설정</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교육목표 달성에 반드시 필요한 교육내용의 선정</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교육내용의 조직 및 영유아의 발달과 흥미에 적합한 교수방법의 결정</a:t>
            </a:r>
            <a:endParaRPr lang="en-US" sz="1050" dirty="0"/>
          </a:p>
        </p:txBody>
      </p:sp>
      <p:sp>
        <p:nvSpPr>
          <p:cNvPr id="30" name="Shape 28"/>
          <p:cNvSpPr/>
          <p:nvPr/>
        </p:nvSpPr>
        <p:spPr>
          <a:xfrm>
            <a:off x="5394960" y="2926080"/>
            <a:ext cx="3291840" cy="1417320"/>
          </a:xfrm>
          <a:prstGeom prst="roundRect">
            <a:avLst>
              <a:gd name="adj" fmla="val 9677"/>
            </a:avLst>
          </a:prstGeom>
          <a:solidFill>
            <a:srgbClr val="FDF3D6"/>
          </a:solidFill>
          <a:ln/>
        </p:spPr>
      </p:sp>
      <p:sp>
        <p:nvSpPr>
          <p:cNvPr id="31" name="Text 29"/>
          <p:cNvSpPr txBox="1"/>
          <p:nvPr/>
        </p:nvSpPr>
        <p:spPr>
          <a:xfrm>
            <a:off x="5577840" y="3017520"/>
            <a:ext cx="2926080" cy="320040"/>
          </a:xfrm>
          <a:prstGeom prst="rect">
            <a:avLst/>
          </a:prstGeom>
          <a:noFill/>
          <a:ln/>
        </p:spPr>
        <p:txBody>
          <a:bodyPr wrap="square" lIns="0" tIns="0" rIns="0" bIns="0" rtlCol="0" anchor="ctr"/>
          <a:lstStyle/>
          <a:p>
            <a:pPr indent="0" marL="0">
              <a:buNone/>
            </a:pPr>
            <a:r>
              <a:rPr lang="en-US" sz="1400" b="1" dirty="0">
                <a:solidFill>
                  <a:srgbClr val="B08A2E"/>
                </a:solidFill>
                <a:latin typeface="Malgun Gothic" pitchFamily="34" charset="0"/>
                <a:ea typeface="Malgun Gothic" pitchFamily="34" charset="-122"/>
                <a:cs typeface="Malgun Gothic" pitchFamily="34" charset="-120"/>
              </a:rPr>
              <a:t>타일러 모형의 영향</a:t>
            </a:r>
            <a:endParaRPr lang="en-US" sz="1400" dirty="0"/>
          </a:p>
        </p:txBody>
      </p:sp>
      <p:sp>
        <p:nvSpPr>
          <p:cNvPr id="32" name="Text 30"/>
          <p:cNvSpPr txBox="1"/>
          <p:nvPr/>
        </p:nvSpPr>
        <p:spPr>
          <a:xfrm>
            <a:off x="5577840" y="3364992"/>
            <a:ext cx="2971800" cy="91440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타일러의 교육과정 모형에 대해 비판하면서도 우리나라 초·중·고등학교 교육과정은 타일러의 교육과정 체제에 의존해 왔으며, 교육과정을 개념화하는 데도 많은 영향을 미침</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12</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구성의 특징 ①  ②</a:t>
            </a:r>
            <a:endParaRPr lang="en-US" sz="2800" dirty="0"/>
          </a:p>
        </p:txBody>
      </p:sp>
      <p:sp>
        <p:nvSpPr>
          <p:cNvPr id="5" name="Shape 3"/>
          <p:cNvSpPr/>
          <p:nvPr/>
        </p:nvSpPr>
        <p:spPr>
          <a:xfrm>
            <a:off x="457200" y="1097280"/>
            <a:ext cx="4023360" cy="3611880"/>
          </a:xfrm>
          <a:prstGeom prst="roundRect">
            <a:avLst>
              <a:gd name="adj" fmla="val 3797"/>
            </a:avLst>
          </a:prstGeom>
          <a:solidFill>
            <a:srgbClr val="FCE4D8"/>
          </a:solidFill>
          <a:ln/>
        </p:spPr>
      </p:sp>
      <p:sp>
        <p:nvSpPr>
          <p:cNvPr id="6" name="Text 4"/>
          <p:cNvSpPr txBox="1"/>
          <p:nvPr/>
        </p:nvSpPr>
        <p:spPr>
          <a:xfrm>
            <a:off x="640080" y="1188720"/>
            <a:ext cx="365760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① 교육내용 간의 통합</a:t>
            </a:r>
            <a:endParaRPr lang="en-US" sz="1600" dirty="0"/>
          </a:p>
        </p:txBody>
      </p:sp>
      <p:sp>
        <p:nvSpPr>
          <p:cNvPr id="7" name="Text 5"/>
          <p:cNvSpPr txBox="1"/>
          <p:nvPr/>
        </p:nvSpPr>
        <p:spPr>
          <a:xfrm>
            <a:off x="640080" y="1554480"/>
            <a:ext cx="365760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분리된 교과별 학습보다 통합된 경험으로 더 잘 배운다</a:t>
            </a:r>
            <a:endParaRPr lang="en-US" sz="1100" dirty="0"/>
          </a:p>
        </p:txBody>
      </p:sp>
      <p:sp>
        <p:nvSpPr>
          <p:cNvPr id="8" name="Shape 6"/>
          <p:cNvSpPr/>
          <p:nvPr/>
        </p:nvSpPr>
        <p:spPr>
          <a:xfrm>
            <a:off x="1280160" y="2240280"/>
            <a:ext cx="1188720" cy="868680"/>
          </a:xfrm>
          <a:prstGeom prst="line">
            <a:avLst/>
          </a:prstGeom>
          <a:noFill/>
          <a:ln w="25400">
            <a:solidFill>
              <a:srgbClr val="F2A27E"/>
            </a:solidFill>
            <a:prstDash val="solid"/>
          </a:ln>
        </p:spPr>
      </p:sp>
      <p:sp>
        <p:nvSpPr>
          <p:cNvPr id="9" name="Shape 7"/>
          <p:cNvSpPr/>
          <p:nvPr/>
        </p:nvSpPr>
        <p:spPr>
          <a:xfrm flipH="1">
            <a:off x="2468880" y="2240280"/>
            <a:ext cx="1188720" cy="868680"/>
          </a:xfrm>
          <a:prstGeom prst="line">
            <a:avLst/>
          </a:prstGeom>
          <a:noFill/>
          <a:ln w="25400">
            <a:solidFill>
              <a:srgbClr val="F2A27E"/>
            </a:solidFill>
            <a:prstDash val="solid"/>
          </a:ln>
        </p:spPr>
      </p:sp>
      <p:sp>
        <p:nvSpPr>
          <p:cNvPr id="10" name="Shape 8"/>
          <p:cNvSpPr/>
          <p:nvPr/>
        </p:nvSpPr>
        <p:spPr>
          <a:xfrm>
            <a:off x="2468880" y="3108960"/>
            <a:ext cx="0" cy="1051560"/>
          </a:xfrm>
          <a:prstGeom prst="line">
            <a:avLst/>
          </a:prstGeom>
          <a:noFill/>
          <a:ln w="25400">
            <a:solidFill>
              <a:srgbClr val="F2A27E"/>
            </a:solidFill>
            <a:prstDash val="solid"/>
          </a:ln>
        </p:spPr>
      </p:sp>
      <p:sp>
        <p:nvSpPr>
          <p:cNvPr id="11" name="Shape 9"/>
          <p:cNvSpPr/>
          <p:nvPr/>
        </p:nvSpPr>
        <p:spPr>
          <a:xfrm>
            <a:off x="1920240" y="2697480"/>
            <a:ext cx="1097280" cy="822960"/>
          </a:xfrm>
          <a:prstGeom prst="ellipse">
            <a:avLst/>
          </a:prstGeom>
          <a:solidFill>
            <a:srgbClr val="F2A27E"/>
          </a:solidFill>
          <a:ln/>
        </p:spPr>
      </p:sp>
      <p:sp>
        <p:nvSpPr>
          <p:cNvPr id="12" name="Text 10"/>
          <p:cNvSpPr txBox="1"/>
          <p:nvPr/>
        </p:nvSpPr>
        <p:spPr>
          <a:xfrm>
            <a:off x="1920240" y="2697480"/>
            <a:ext cx="109728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주제</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'가을'</a:t>
            </a:r>
            <a:endParaRPr lang="en-US" sz="1300" dirty="0"/>
          </a:p>
        </p:txBody>
      </p:sp>
      <p:sp>
        <p:nvSpPr>
          <p:cNvPr id="13" name="Shape 11"/>
          <p:cNvSpPr/>
          <p:nvPr/>
        </p:nvSpPr>
        <p:spPr>
          <a:xfrm>
            <a:off x="640080" y="1965960"/>
            <a:ext cx="1280160" cy="548640"/>
          </a:xfrm>
          <a:prstGeom prst="roundRect">
            <a:avLst>
              <a:gd name="adj" fmla="val 20000"/>
            </a:avLst>
          </a:prstGeom>
          <a:solidFill>
            <a:srgbClr val="FFFFFF"/>
          </a:solidFill>
          <a:ln w="19050">
            <a:solidFill>
              <a:srgbClr val="F2A27E"/>
            </a:solidFill>
            <a:prstDash val="solid"/>
          </a:ln>
        </p:spPr>
      </p:sp>
      <p:sp>
        <p:nvSpPr>
          <p:cNvPr id="14" name="Text 12"/>
          <p:cNvSpPr txBox="1"/>
          <p:nvPr/>
        </p:nvSpPr>
        <p:spPr>
          <a:xfrm>
            <a:off x="640080" y="196596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가을 과일</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만들기</a:t>
            </a:r>
            <a:endParaRPr lang="en-US" sz="1100" dirty="0"/>
          </a:p>
        </p:txBody>
      </p:sp>
      <p:sp>
        <p:nvSpPr>
          <p:cNvPr id="15" name="Shape 13"/>
          <p:cNvSpPr/>
          <p:nvPr/>
        </p:nvSpPr>
        <p:spPr>
          <a:xfrm>
            <a:off x="3017520" y="1965960"/>
            <a:ext cx="1280160" cy="548640"/>
          </a:xfrm>
          <a:prstGeom prst="roundRect">
            <a:avLst>
              <a:gd name="adj" fmla="val 20000"/>
            </a:avLst>
          </a:prstGeom>
          <a:solidFill>
            <a:srgbClr val="FFFFFF"/>
          </a:solidFill>
          <a:ln w="19050">
            <a:solidFill>
              <a:srgbClr val="F2A27E"/>
            </a:solidFill>
            <a:prstDash val="solid"/>
          </a:ln>
        </p:spPr>
      </p:sp>
      <p:sp>
        <p:nvSpPr>
          <p:cNvPr id="16" name="Text 14"/>
          <p:cNvSpPr txBox="1"/>
          <p:nvPr/>
        </p:nvSpPr>
        <p:spPr>
          <a:xfrm>
            <a:off x="3017520" y="196596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과일가게</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놀이</a:t>
            </a:r>
            <a:endParaRPr lang="en-US" sz="1100" dirty="0"/>
          </a:p>
        </p:txBody>
      </p:sp>
      <p:sp>
        <p:nvSpPr>
          <p:cNvPr id="17" name="Shape 15"/>
          <p:cNvSpPr/>
          <p:nvPr/>
        </p:nvSpPr>
        <p:spPr>
          <a:xfrm>
            <a:off x="1828800" y="3886200"/>
            <a:ext cx="1280160" cy="548640"/>
          </a:xfrm>
          <a:prstGeom prst="roundRect">
            <a:avLst>
              <a:gd name="adj" fmla="val 20000"/>
            </a:avLst>
          </a:prstGeom>
          <a:solidFill>
            <a:srgbClr val="FFFFFF"/>
          </a:solidFill>
          <a:ln w="19050">
            <a:solidFill>
              <a:srgbClr val="F2A27E"/>
            </a:solidFill>
            <a:prstDash val="solid"/>
          </a:ln>
        </p:spPr>
      </p:sp>
      <p:sp>
        <p:nvSpPr>
          <p:cNvPr id="18" name="Text 16"/>
          <p:cNvSpPr txBox="1"/>
          <p:nvPr/>
        </p:nvSpPr>
        <p:spPr>
          <a:xfrm>
            <a:off x="1828800" y="3886200"/>
            <a:ext cx="1280160" cy="548640"/>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간판·가격표</a:t>
            </a:r>
            <a:endParaRPr lang="en-US" sz="1100" dirty="0"/>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쓰기</a:t>
            </a:r>
            <a:endParaRPr lang="en-US" sz="1100" dirty="0"/>
          </a:p>
        </p:txBody>
      </p:sp>
      <p:sp>
        <p:nvSpPr>
          <p:cNvPr id="19" name="Shape 17"/>
          <p:cNvSpPr/>
          <p:nvPr/>
        </p:nvSpPr>
        <p:spPr>
          <a:xfrm>
            <a:off x="4663440" y="1097280"/>
            <a:ext cx="4023360" cy="3611880"/>
          </a:xfrm>
          <a:prstGeom prst="roundRect">
            <a:avLst>
              <a:gd name="adj" fmla="val 3797"/>
            </a:avLst>
          </a:prstGeom>
          <a:solidFill>
            <a:srgbClr val="DCEBDD"/>
          </a:solidFill>
          <a:ln/>
        </p:spPr>
      </p:sp>
      <p:sp>
        <p:nvSpPr>
          <p:cNvPr id="20" name="Text 18"/>
          <p:cNvSpPr txBox="1"/>
          <p:nvPr/>
        </p:nvSpPr>
        <p:spPr>
          <a:xfrm>
            <a:off x="4846320" y="1188720"/>
            <a:ext cx="365760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② 놀이 중심 교육과정으로 운영</a:t>
            </a:r>
            <a:endParaRPr lang="en-US" sz="1600" dirty="0"/>
          </a:p>
        </p:txBody>
      </p:sp>
      <p:sp>
        <p:nvSpPr>
          <p:cNvPr id="21" name="Text 19"/>
          <p:cNvSpPr txBox="1"/>
          <p:nvPr/>
        </p:nvSpPr>
        <p:spPr>
          <a:xfrm>
            <a:off x="4846320" y="1554480"/>
            <a:ext cx="365760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유아와 놀이를 최우선으로 존중</a:t>
            </a:r>
            <a:endParaRPr lang="en-US" sz="1100" dirty="0"/>
          </a:p>
        </p:txBody>
      </p:sp>
      <p:sp>
        <p:nvSpPr>
          <p:cNvPr id="22" name="Shape 20"/>
          <p:cNvSpPr/>
          <p:nvPr/>
        </p:nvSpPr>
        <p:spPr>
          <a:xfrm>
            <a:off x="4892040" y="2011680"/>
            <a:ext cx="457200" cy="457200"/>
          </a:xfrm>
          <a:prstGeom prst="ellipse">
            <a:avLst/>
          </a:prstGeom>
          <a:solidFill>
            <a:srgbClr val="5E8C6A"/>
          </a:solidFill>
          <a:ln/>
        </p:spPr>
      </p:sp>
      <p:pic>
        <p:nvPicPr>
          <p:cNvPr id="23" name="Image 0" descr="preencoded.png">    </p:cNvPr>
          <p:cNvPicPr>
            <a:picLocks noChangeAspect="1"/>
          </p:cNvPicPr>
          <p:nvPr/>
        </p:nvPicPr>
        <p:blipFill>
          <a:blip r:embed="rId1"/>
          <a:stretch>
            <a:fillRect/>
          </a:stretch>
        </p:blipFill>
        <p:spPr>
          <a:xfrm>
            <a:off x="5006340" y="2125980"/>
            <a:ext cx="228600" cy="228600"/>
          </a:xfrm>
          <a:prstGeom prst="rect">
            <a:avLst/>
          </a:prstGeom>
        </p:spPr>
      </p:pic>
      <p:sp>
        <p:nvSpPr>
          <p:cNvPr id="24" name="Text 21"/>
          <p:cNvSpPr txBox="1"/>
          <p:nvPr/>
        </p:nvSpPr>
        <p:spPr>
          <a:xfrm>
            <a:off x="5486400" y="196596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충분한 놀이시간 확보</a:t>
            </a:r>
            <a:endParaRPr lang="en-US" sz="1200" dirty="0"/>
          </a:p>
        </p:txBody>
      </p:sp>
      <p:sp>
        <p:nvSpPr>
          <p:cNvPr id="25" name="Shape 22"/>
          <p:cNvSpPr/>
          <p:nvPr/>
        </p:nvSpPr>
        <p:spPr>
          <a:xfrm>
            <a:off x="4892040" y="2651760"/>
            <a:ext cx="457200" cy="457200"/>
          </a:xfrm>
          <a:prstGeom prst="ellipse">
            <a:avLst/>
          </a:prstGeom>
          <a:solidFill>
            <a:srgbClr val="5E8C6A"/>
          </a:solidFill>
          <a:ln/>
        </p:spPr>
      </p:sp>
      <p:pic>
        <p:nvPicPr>
          <p:cNvPr id="26" name="Image 1" descr="preencoded.png">    </p:cNvPr>
          <p:cNvPicPr>
            <a:picLocks noChangeAspect="1"/>
          </p:cNvPicPr>
          <p:nvPr/>
        </p:nvPicPr>
        <p:blipFill>
          <a:blip r:embed="rId2"/>
          <a:stretch>
            <a:fillRect/>
          </a:stretch>
        </p:blipFill>
        <p:spPr>
          <a:xfrm>
            <a:off x="5006340" y="2766060"/>
            <a:ext cx="228600" cy="228600"/>
          </a:xfrm>
          <a:prstGeom prst="rect">
            <a:avLst/>
          </a:prstGeom>
        </p:spPr>
      </p:pic>
      <p:sp>
        <p:nvSpPr>
          <p:cNvPr id="27" name="Text 23"/>
          <p:cNvSpPr txBox="1"/>
          <p:nvPr/>
        </p:nvSpPr>
        <p:spPr>
          <a:xfrm>
            <a:off x="5486400" y="260604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유아 스스로 놀이하는 과정에서 배움</a:t>
            </a:r>
            <a:endParaRPr lang="en-US" sz="1200" dirty="0"/>
          </a:p>
        </p:txBody>
      </p:sp>
      <p:sp>
        <p:nvSpPr>
          <p:cNvPr id="28" name="Shape 24"/>
          <p:cNvSpPr/>
          <p:nvPr/>
        </p:nvSpPr>
        <p:spPr>
          <a:xfrm>
            <a:off x="4892040" y="3291840"/>
            <a:ext cx="457200" cy="457200"/>
          </a:xfrm>
          <a:prstGeom prst="ellipse">
            <a:avLst/>
          </a:prstGeom>
          <a:solidFill>
            <a:srgbClr val="5E8C6A"/>
          </a:solidFill>
          <a:ln/>
        </p:spPr>
      </p:sp>
      <p:pic>
        <p:nvPicPr>
          <p:cNvPr id="29" name="Image 2" descr="preencoded.png">    </p:cNvPr>
          <p:cNvPicPr>
            <a:picLocks noChangeAspect="1"/>
          </p:cNvPicPr>
          <p:nvPr/>
        </p:nvPicPr>
        <p:blipFill>
          <a:blip r:embed="rId3"/>
          <a:stretch>
            <a:fillRect/>
          </a:stretch>
        </p:blipFill>
        <p:spPr>
          <a:xfrm>
            <a:off x="5006340" y="3406140"/>
            <a:ext cx="228600" cy="228600"/>
          </a:xfrm>
          <a:prstGeom prst="rect">
            <a:avLst/>
          </a:prstGeom>
        </p:spPr>
      </p:pic>
      <p:sp>
        <p:nvSpPr>
          <p:cNvPr id="30" name="Text 25"/>
          <p:cNvSpPr txBox="1"/>
          <p:nvPr/>
        </p:nvSpPr>
        <p:spPr>
          <a:xfrm>
            <a:off x="5486400" y="3246120"/>
            <a:ext cx="3063240" cy="548640"/>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충분한 바깥놀이, 친숙한 사물·</a:t>
            </a:r>
            <a:endParaRPr lang="en-US" sz="1200" dirty="0"/>
          </a:p>
          <a:p>
            <a:pPr indent="0" marL="0">
              <a:buNone/>
            </a:pPr>
            <a:r>
              <a:rPr lang="en-US" sz="1200" dirty="0">
                <a:solidFill>
                  <a:srgbClr val="33413A"/>
                </a:solidFill>
                <a:latin typeface="Malgun Gothic" pitchFamily="34" charset="0"/>
                <a:ea typeface="Malgun Gothic" pitchFamily="34" charset="-122"/>
                <a:cs typeface="Malgun Gothic" pitchFamily="34" charset="-120"/>
              </a:rPr>
              <a:t>자연물을 이용한 놀이 장려</a:t>
            </a:r>
            <a:endParaRPr lang="en-US" sz="1200" dirty="0"/>
          </a:p>
        </p:txBody>
      </p:sp>
      <p:sp>
        <p:nvSpPr>
          <p:cNvPr id="31" name="Shape 26"/>
          <p:cNvSpPr/>
          <p:nvPr/>
        </p:nvSpPr>
        <p:spPr>
          <a:xfrm>
            <a:off x="4892040" y="3931920"/>
            <a:ext cx="457200" cy="457200"/>
          </a:xfrm>
          <a:prstGeom prst="ellipse">
            <a:avLst/>
          </a:prstGeom>
          <a:solidFill>
            <a:srgbClr val="5E8C6A"/>
          </a:solidFill>
          <a:ln/>
        </p:spPr>
      </p:sp>
      <p:pic>
        <p:nvPicPr>
          <p:cNvPr id="32" name="Image 3" descr="preencoded.png">    </p:cNvPr>
          <p:cNvPicPr>
            <a:picLocks noChangeAspect="1"/>
          </p:cNvPicPr>
          <p:nvPr/>
        </p:nvPicPr>
        <p:blipFill>
          <a:blip r:embed="rId4"/>
          <a:stretch>
            <a:fillRect/>
          </a:stretch>
        </p:blipFill>
        <p:spPr>
          <a:xfrm>
            <a:off x="5006340" y="4046220"/>
            <a:ext cx="228600" cy="228600"/>
          </a:xfrm>
          <a:prstGeom prst="rect">
            <a:avLst/>
          </a:prstGeom>
        </p:spPr>
      </p:pic>
      <p:sp>
        <p:nvSpPr>
          <p:cNvPr id="33" name="Text 27"/>
          <p:cNvSpPr txBox="1"/>
          <p:nvPr/>
        </p:nvSpPr>
        <p:spPr>
          <a:xfrm>
            <a:off x="5486400" y="3886200"/>
            <a:ext cx="3063240" cy="548640"/>
          </a:xfrm>
          <a:prstGeom prst="rect">
            <a:avLst/>
          </a:prstGeom>
          <a:noFill/>
          <a:ln/>
        </p:spPr>
        <p:txBody>
          <a:bodyPr wrap="square" lIns="0" tIns="0" rIns="0" bIns="0" rtlCol="0" anchor="ctr"/>
          <a:lstStyle/>
          <a:p>
            <a:pPr indent="0" marL="0">
              <a:buNone/>
            </a:pPr>
            <a:r>
              <a:rPr lang="en-US" sz="1200" b="1" dirty="0">
                <a:solidFill>
                  <a:srgbClr val="33413A"/>
                </a:solidFill>
                <a:latin typeface="Malgun Gothic" pitchFamily="34" charset="0"/>
                <a:ea typeface="Malgun Gothic" pitchFamily="34" charset="-122"/>
                <a:cs typeface="Malgun Gothic" pitchFamily="34" charset="-120"/>
              </a:rPr>
              <a:t>교사 = 놀이지원자</a:t>
            </a:r>
            <a:endParaRPr lang="en-US" sz="1200" dirty="0"/>
          </a:p>
          <a:p>
            <a:pPr indent="0" marL="0">
              <a:buNone/>
            </a:pPr>
            <a:r>
              <a:rPr lang="en-US" sz="1200" b="1" dirty="0">
                <a:solidFill>
                  <a:srgbClr val="33413A"/>
                </a:solidFill>
                <a:latin typeface="Malgun Gothic" pitchFamily="34" charset="0"/>
                <a:ea typeface="Malgun Gothic" pitchFamily="34" charset="-122"/>
                <a:cs typeface="Malgun Gothic" pitchFamily="34" charset="-120"/>
              </a:rPr>
              <a:t>(관찰, 필요한 지원과 상호작용)</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13</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구성의 특징 ③  ④</a:t>
            </a:r>
            <a:endParaRPr lang="en-US" sz="2800" dirty="0"/>
          </a:p>
        </p:txBody>
      </p:sp>
      <p:sp>
        <p:nvSpPr>
          <p:cNvPr id="5" name="Shape 3"/>
          <p:cNvSpPr/>
          <p:nvPr/>
        </p:nvSpPr>
        <p:spPr>
          <a:xfrm>
            <a:off x="457200" y="1097280"/>
            <a:ext cx="4023360" cy="3611880"/>
          </a:xfrm>
          <a:prstGeom prst="roundRect">
            <a:avLst>
              <a:gd name="adj" fmla="val 3797"/>
            </a:avLst>
          </a:prstGeom>
          <a:solidFill>
            <a:srgbClr val="FDF3D6"/>
          </a:solidFill>
          <a:ln/>
        </p:spPr>
      </p:sp>
      <p:sp>
        <p:nvSpPr>
          <p:cNvPr id="6" name="Text 4"/>
          <p:cNvSpPr txBox="1"/>
          <p:nvPr/>
        </p:nvSpPr>
        <p:spPr>
          <a:xfrm>
            <a:off x="640080" y="1188720"/>
            <a:ext cx="374904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③ 흥미와 요구를 반영한 교육적 경험</a:t>
            </a:r>
            <a:endParaRPr lang="en-US" sz="1600" dirty="0"/>
          </a:p>
        </p:txBody>
      </p:sp>
      <p:sp>
        <p:nvSpPr>
          <p:cNvPr id="7" name="Shape 5"/>
          <p:cNvSpPr/>
          <p:nvPr/>
        </p:nvSpPr>
        <p:spPr>
          <a:xfrm>
            <a:off x="640080" y="1645920"/>
            <a:ext cx="3657600" cy="411480"/>
          </a:xfrm>
          <a:prstGeom prst="roundRect">
            <a:avLst>
              <a:gd name="adj" fmla="val 44444"/>
            </a:avLst>
          </a:prstGeom>
          <a:solidFill>
            <a:srgbClr val="FFFFFF"/>
          </a:solidFill>
          <a:ln w="19050">
            <a:solidFill>
              <a:srgbClr val="E8A1A8"/>
            </a:solidFill>
            <a:prstDash val="solid"/>
          </a:ln>
        </p:spPr>
      </p:sp>
      <p:sp>
        <p:nvSpPr>
          <p:cNvPr id="8" name="Text 6"/>
          <p:cNvSpPr txBox="1"/>
          <p:nvPr/>
        </p:nvSpPr>
        <p:spPr>
          <a:xfrm>
            <a:off x="640080" y="1645920"/>
            <a:ext cx="3657600" cy="411480"/>
          </a:xfrm>
          <a:prstGeom prst="rect">
            <a:avLst/>
          </a:prstGeom>
          <a:noFill/>
          <a:ln/>
        </p:spPr>
        <p:txBody>
          <a:bodyPr wrap="square" lIns="0" tIns="0" rIns="0" bIns="0" rtlCol="0" anchor="ctr"/>
          <a:lstStyle/>
          <a:p>
            <a:pPr algn="ctr" indent="0" marL="0">
              <a:buNone/>
            </a:pPr>
            <a:r>
              <a:rPr lang="en-US" sz="1100" b="1" dirty="0">
                <a:solidFill>
                  <a:srgbClr val="B45A64"/>
                </a:solidFill>
                <a:latin typeface="Malgun Gothic" pitchFamily="34" charset="0"/>
                <a:ea typeface="Malgun Gothic" pitchFamily="34" charset="-122"/>
                <a:cs typeface="Malgun Gothic" pitchFamily="34" charset="-120"/>
              </a:rPr>
              <a:t>유의: 흥미에 기초 ≠ 단순히 영유아가 좋아하는 것</a:t>
            </a:r>
            <a:endParaRPr lang="en-US" sz="1100" dirty="0"/>
          </a:p>
        </p:txBody>
      </p:sp>
      <p:sp>
        <p:nvSpPr>
          <p:cNvPr id="9" name="Shape 7"/>
          <p:cNvSpPr/>
          <p:nvPr/>
        </p:nvSpPr>
        <p:spPr>
          <a:xfrm>
            <a:off x="822960" y="2240280"/>
            <a:ext cx="3291840" cy="420624"/>
          </a:xfrm>
          <a:prstGeom prst="roundRect">
            <a:avLst>
              <a:gd name="adj" fmla="val 26087"/>
            </a:avLst>
          </a:prstGeom>
          <a:solidFill>
            <a:srgbClr val="FFFFFF"/>
          </a:solidFill>
          <a:ln/>
        </p:spPr>
      </p:sp>
      <p:sp>
        <p:nvSpPr>
          <p:cNvPr id="10" name="Text 8"/>
          <p:cNvSpPr txBox="1"/>
          <p:nvPr/>
        </p:nvSpPr>
        <p:spPr>
          <a:xfrm>
            <a:off x="822960" y="2240280"/>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흥미 존중 + 발달적 요구에 적합한 내용</a:t>
            </a:r>
            <a:endParaRPr lang="en-US" sz="1200" dirty="0"/>
          </a:p>
        </p:txBody>
      </p:sp>
      <p:sp>
        <p:nvSpPr>
          <p:cNvPr id="11" name="Text 9"/>
          <p:cNvSpPr txBox="1"/>
          <p:nvPr/>
        </p:nvSpPr>
        <p:spPr>
          <a:xfrm>
            <a:off x="822960" y="2660904"/>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2" name="Shape 10"/>
          <p:cNvSpPr/>
          <p:nvPr/>
        </p:nvSpPr>
        <p:spPr>
          <a:xfrm>
            <a:off x="822960" y="2843784"/>
            <a:ext cx="3291840" cy="420624"/>
          </a:xfrm>
          <a:prstGeom prst="roundRect">
            <a:avLst>
              <a:gd name="adj" fmla="val 26087"/>
            </a:avLst>
          </a:prstGeom>
          <a:solidFill>
            <a:srgbClr val="FFFFFF"/>
          </a:solidFill>
          <a:ln/>
        </p:spPr>
      </p:sp>
      <p:sp>
        <p:nvSpPr>
          <p:cNvPr id="13" name="Text 11"/>
          <p:cNvSpPr txBox="1"/>
          <p:nvPr/>
        </p:nvSpPr>
        <p:spPr>
          <a:xfrm>
            <a:off x="822960" y="2843784"/>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교사의 주의 깊은 관찰과 평가</a:t>
            </a:r>
            <a:endParaRPr lang="en-US" sz="1200" dirty="0"/>
          </a:p>
        </p:txBody>
      </p:sp>
      <p:sp>
        <p:nvSpPr>
          <p:cNvPr id="14" name="Text 12"/>
          <p:cNvSpPr txBox="1"/>
          <p:nvPr/>
        </p:nvSpPr>
        <p:spPr>
          <a:xfrm>
            <a:off x="822960" y="3264408"/>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5" name="Shape 13"/>
          <p:cNvSpPr/>
          <p:nvPr/>
        </p:nvSpPr>
        <p:spPr>
          <a:xfrm>
            <a:off x="822960" y="3447288"/>
            <a:ext cx="3291840" cy="420624"/>
          </a:xfrm>
          <a:prstGeom prst="roundRect">
            <a:avLst>
              <a:gd name="adj" fmla="val 26087"/>
            </a:avLst>
          </a:prstGeom>
          <a:solidFill>
            <a:srgbClr val="FFFFFF"/>
          </a:solidFill>
          <a:ln/>
        </p:spPr>
      </p:sp>
      <p:sp>
        <p:nvSpPr>
          <p:cNvPr id="16" name="Text 14"/>
          <p:cNvSpPr txBox="1"/>
          <p:nvPr/>
        </p:nvSpPr>
        <p:spPr>
          <a:xfrm>
            <a:off x="822960" y="3447288"/>
            <a:ext cx="3291840" cy="420624"/>
          </a:xfrm>
          <a:prstGeom prst="rect">
            <a:avLst/>
          </a:prstGeom>
          <a:noFill/>
          <a:ln/>
        </p:spPr>
        <p:txBody>
          <a:bodyPr wrap="square" lIns="0" tIns="0" rIns="0" bIns="0" rtlCol="0" anchor="ctr"/>
          <a:lstStyle/>
          <a:p>
            <a:pPr algn="ctr" indent="0" marL="0">
              <a:buNone/>
            </a:pPr>
            <a:r>
              <a:rPr lang="en-US" sz="1200" dirty="0">
                <a:solidFill>
                  <a:srgbClr val="33413A"/>
                </a:solidFill>
                <a:latin typeface="Malgun Gothic" pitchFamily="34" charset="0"/>
                <a:ea typeface="Malgun Gothic" pitchFamily="34" charset="-122"/>
                <a:cs typeface="Malgun Gothic" pitchFamily="34" charset="-120"/>
              </a:rPr>
              <a:t>의미 있는 주제나 놀이 선별</a:t>
            </a:r>
            <a:endParaRPr lang="en-US" sz="1200" dirty="0"/>
          </a:p>
        </p:txBody>
      </p:sp>
      <p:sp>
        <p:nvSpPr>
          <p:cNvPr id="17" name="Text 15"/>
          <p:cNvSpPr txBox="1"/>
          <p:nvPr/>
        </p:nvSpPr>
        <p:spPr>
          <a:xfrm>
            <a:off x="822960" y="3867912"/>
            <a:ext cx="3291840" cy="182880"/>
          </a:xfrm>
          <a:prstGeom prst="rect">
            <a:avLst/>
          </a:prstGeom>
          <a:noFill/>
          <a:ln/>
        </p:spPr>
        <p:txBody>
          <a:bodyPr wrap="square" lIns="0" tIns="0" rIns="0" bIns="0" rtlCol="0" anchor="ctr"/>
          <a:lstStyle/>
          <a:p>
            <a:pPr algn="ctr" indent="0" marL="0">
              <a:buNone/>
            </a:pPr>
            <a:r>
              <a:rPr lang="en-US" sz="800" dirty="0">
                <a:solidFill>
                  <a:srgbClr val="B08A2E"/>
                </a:solidFill>
                <a:latin typeface="Malgun Gothic" pitchFamily="34" charset="0"/>
                <a:ea typeface="Malgun Gothic" pitchFamily="34" charset="-122"/>
                <a:cs typeface="Malgun Gothic" pitchFamily="34" charset="-120"/>
              </a:rPr>
              <a:t>▼</a:t>
            </a:r>
            <a:endParaRPr lang="en-US" sz="800" dirty="0"/>
          </a:p>
        </p:txBody>
      </p:sp>
      <p:sp>
        <p:nvSpPr>
          <p:cNvPr id="18" name="Shape 16"/>
          <p:cNvSpPr/>
          <p:nvPr/>
        </p:nvSpPr>
        <p:spPr>
          <a:xfrm>
            <a:off x="822960" y="4050792"/>
            <a:ext cx="3291840" cy="420624"/>
          </a:xfrm>
          <a:prstGeom prst="roundRect">
            <a:avLst>
              <a:gd name="adj" fmla="val 26087"/>
            </a:avLst>
          </a:prstGeom>
          <a:solidFill>
            <a:srgbClr val="F5D07A"/>
          </a:solidFill>
          <a:ln/>
        </p:spPr>
      </p:sp>
      <p:sp>
        <p:nvSpPr>
          <p:cNvPr id="19" name="Text 17"/>
          <p:cNvSpPr txBox="1"/>
          <p:nvPr/>
        </p:nvSpPr>
        <p:spPr>
          <a:xfrm>
            <a:off x="822960" y="4050792"/>
            <a:ext cx="3291840" cy="420624"/>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교육적인 활동으로 연결</a:t>
            </a:r>
            <a:endParaRPr lang="en-US" sz="1200" dirty="0"/>
          </a:p>
        </p:txBody>
      </p:sp>
      <p:sp>
        <p:nvSpPr>
          <p:cNvPr id="20" name="Shape 18"/>
          <p:cNvSpPr/>
          <p:nvPr/>
        </p:nvSpPr>
        <p:spPr>
          <a:xfrm>
            <a:off x="4663440" y="1097280"/>
            <a:ext cx="4023360" cy="3611880"/>
          </a:xfrm>
          <a:prstGeom prst="roundRect">
            <a:avLst>
              <a:gd name="adj" fmla="val 3797"/>
            </a:avLst>
          </a:prstGeom>
          <a:solidFill>
            <a:srgbClr val="F9E1E3"/>
          </a:solidFill>
          <a:ln/>
        </p:spPr>
      </p:sp>
      <p:sp>
        <p:nvSpPr>
          <p:cNvPr id="21" name="Text 19"/>
          <p:cNvSpPr txBox="1"/>
          <p:nvPr/>
        </p:nvSpPr>
        <p:spPr>
          <a:xfrm>
            <a:off x="4846320" y="1188720"/>
            <a:ext cx="3749040" cy="36576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④ 개인차와 문화적 특성 등 다양성 반영</a:t>
            </a:r>
            <a:endParaRPr lang="en-US" sz="1600" dirty="0"/>
          </a:p>
        </p:txBody>
      </p:sp>
      <p:sp>
        <p:nvSpPr>
          <p:cNvPr id="22" name="Shape 20"/>
          <p:cNvSpPr/>
          <p:nvPr/>
        </p:nvSpPr>
        <p:spPr>
          <a:xfrm>
            <a:off x="4846320" y="1691640"/>
            <a:ext cx="868680" cy="347472"/>
          </a:xfrm>
          <a:prstGeom prst="roundRect">
            <a:avLst>
              <a:gd name="adj" fmla="val 50000"/>
            </a:avLst>
          </a:prstGeom>
          <a:solidFill>
            <a:srgbClr val="FFFFFF"/>
          </a:solidFill>
          <a:ln/>
        </p:spPr>
      </p:sp>
      <p:sp>
        <p:nvSpPr>
          <p:cNvPr id="23" name="Text 21"/>
          <p:cNvSpPr txBox="1"/>
          <p:nvPr/>
        </p:nvSpPr>
        <p:spPr>
          <a:xfrm>
            <a:off x="4846320" y="1691640"/>
            <a:ext cx="86868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발달 특성</a:t>
            </a:r>
            <a:endParaRPr lang="en-US" sz="1100" dirty="0"/>
          </a:p>
        </p:txBody>
      </p:sp>
      <p:sp>
        <p:nvSpPr>
          <p:cNvPr id="24" name="Shape 22"/>
          <p:cNvSpPr/>
          <p:nvPr/>
        </p:nvSpPr>
        <p:spPr>
          <a:xfrm>
            <a:off x="5806440" y="1691640"/>
            <a:ext cx="685800" cy="347472"/>
          </a:xfrm>
          <a:prstGeom prst="roundRect">
            <a:avLst>
              <a:gd name="adj" fmla="val 50000"/>
            </a:avLst>
          </a:prstGeom>
          <a:solidFill>
            <a:srgbClr val="FFFFFF"/>
          </a:solidFill>
          <a:ln/>
        </p:spPr>
      </p:sp>
      <p:sp>
        <p:nvSpPr>
          <p:cNvPr id="25" name="Text 23"/>
          <p:cNvSpPr txBox="1"/>
          <p:nvPr/>
        </p:nvSpPr>
        <p:spPr>
          <a:xfrm>
            <a:off x="5806440" y="1691640"/>
            <a:ext cx="68580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개인차</a:t>
            </a:r>
            <a:endParaRPr lang="en-US" sz="1100" dirty="0"/>
          </a:p>
        </p:txBody>
      </p:sp>
      <p:sp>
        <p:nvSpPr>
          <p:cNvPr id="26" name="Shape 24"/>
          <p:cNvSpPr/>
          <p:nvPr/>
        </p:nvSpPr>
        <p:spPr>
          <a:xfrm>
            <a:off x="6583680" y="1691640"/>
            <a:ext cx="548640" cy="347472"/>
          </a:xfrm>
          <a:prstGeom prst="roundRect">
            <a:avLst>
              <a:gd name="adj" fmla="val 50000"/>
            </a:avLst>
          </a:prstGeom>
          <a:solidFill>
            <a:srgbClr val="FFFFFF"/>
          </a:solidFill>
          <a:ln/>
        </p:spPr>
      </p:sp>
      <p:sp>
        <p:nvSpPr>
          <p:cNvPr id="27" name="Text 25"/>
          <p:cNvSpPr txBox="1"/>
          <p:nvPr/>
        </p:nvSpPr>
        <p:spPr>
          <a:xfrm>
            <a:off x="6583680" y="1691640"/>
            <a:ext cx="54864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기질</a:t>
            </a:r>
            <a:endParaRPr lang="en-US" sz="1100" dirty="0"/>
          </a:p>
        </p:txBody>
      </p:sp>
      <p:sp>
        <p:nvSpPr>
          <p:cNvPr id="28" name="Shape 26"/>
          <p:cNvSpPr/>
          <p:nvPr/>
        </p:nvSpPr>
        <p:spPr>
          <a:xfrm>
            <a:off x="7223760" y="1691640"/>
            <a:ext cx="1325880" cy="347472"/>
          </a:xfrm>
          <a:prstGeom prst="roundRect">
            <a:avLst>
              <a:gd name="adj" fmla="val 50000"/>
            </a:avLst>
          </a:prstGeom>
          <a:solidFill>
            <a:srgbClr val="FFFFFF"/>
          </a:solidFill>
          <a:ln/>
        </p:spPr>
      </p:sp>
      <p:sp>
        <p:nvSpPr>
          <p:cNvPr id="29" name="Text 27"/>
          <p:cNvSpPr txBox="1"/>
          <p:nvPr/>
        </p:nvSpPr>
        <p:spPr>
          <a:xfrm>
            <a:off x="7223760" y="1691640"/>
            <a:ext cx="1325880" cy="347472"/>
          </a:xfrm>
          <a:prstGeom prst="rect">
            <a:avLst/>
          </a:prstGeom>
          <a:noFill/>
          <a:ln/>
        </p:spPr>
        <p:txBody>
          <a:bodyPr wrap="square" lIns="0" tIns="0" rIns="0" bIns="0" rtlCol="0" anchor="ct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사회문화적 배경</a:t>
            </a:r>
            <a:endParaRPr lang="en-US" sz="1100" dirty="0"/>
          </a:p>
        </p:txBody>
      </p:sp>
      <p:sp>
        <p:nvSpPr>
          <p:cNvPr id="30" name="Shape 28"/>
          <p:cNvSpPr/>
          <p:nvPr/>
        </p:nvSpPr>
        <p:spPr>
          <a:xfrm>
            <a:off x="4892040" y="2331720"/>
            <a:ext cx="457200" cy="457200"/>
          </a:xfrm>
          <a:prstGeom prst="ellipse">
            <a:avLst/>
          </a:prstGeom>
          <a:solidFill>
            <a:srgbClr val="E8A1A8"/>
          </a:solidFill>
          <a:ln/>
        </p:spPr>
      </p:sp>
      <p:pic>
        <p:nvPicPr>
          <p:cNvPr id="31" name="Image 0" descr="preencoded.png">    </p:cNvPr>
          <p:cNvPicPr>
            <a:picLocks noChangeAspect="1"/>
          </p:cNvPicPr>
          <p:nvPr/>
        </p:nvPicPr>
        <p:blipFill>
          <a:blip r:embed="rId1"/>
          <a:stretch>
            <a:fillRect/>
          </a:stretch>
        </p:blipFill>
        <p:spPr>
          <a:xfrm>
            <a:off x="5006340" y="2446020"/>
            <a:ext cx="228600" cy="228600"/>
          </a:xfrm>
          <a:prstGeom prst="rect">
            <a:avLst/>
          </a:prstGeom>
        </p:spPr>
      </p:pic>
      <p:sp>
        <p:nvSpPr>
          <p:cNvPr id="32" name="Text 29"/>
          <p:cNvSpPr txBox="1"/>
          <p:nvPr/>
        </p:nvSpPr>
        <p:spPr>
          <a:xfrm>
            <a:off x="5486400" y="228600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영아기</a:t>
            </a:r>
            <a:endParaRPr lang="en-US" sz="1100" dirty="0"/>
          </a:p>
        </p:txBody>
      </p:sp>
      <p:sp>
        <p:nvSpPr>
          <p:cNvPr id="33" name="Text 30"/>
          <p:cNvSpPr txBox="1"/>
          <p:nvPr/>
        </p:nvSpPr>
        <p:spPr>
          <a:xfrm>
            <a:off x="5486400" y="254203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학급별 계획보다 개인별 보육계획</a:t>
            </a:r>
            <a:endParaRPr lang="en-US" sz="1150" dirty="0"/>
          </a:p>
        </p:txBody>
      </p:sp>
      <p:sp>
        <p:nvSpPr>
          <p:cNvPr id="34" name="Shape 31"/>
          <p:cNvSpPr/>
          <p:nvPr/>
        </p:nvSpPr>
        <p:spPr>
          <a:xfrm>
            <a:off x="4892040" y="3108960"/>
            <a:ext cx="457200" cy="457200"/>
          </a:xfrm>
          <a:prstGeom prst="ellipse">
            <a:avLst/>
          </a:prstGeom>
          <a:solidFill>
            <a:srgbClr val="E8A1A8"/>
          </a:solidFill>
          <a:ln/>
        </p:spPr>
      </p:sp>
      <p:pic>
        <p:nvPicPr>
          <p:cNvPr id="35" name="Image 1" descr="preencoded.png">    </p:cNvPr>
          <p:cNvPicPr>
            <a:picLocks noChangeAspect="1"/>
          </p:cNvPicPr>
          <p:nvPr/>
        </p:nvPicPr>
        <p:blipFill>
          <a:blip r:embed="rId2"/>
          <a:stretch>
            <a:fillRect/>
          </a:stretch>
        </p:blipFill>
        <p:spPr>
          <a:xfrm>
            <a:off x="5006340" y="3223260"/>
            <a:ext cx="228600" cy="228600"/>
          </a:xfrm>
          <a:prstGeom prst="rect">
            <a:avLst/>
          </a:prstGeom>
        </p:spPr>
      </p:pic>
      <p:sp>
        <p:nvSpPr>
          <p:cNvPr id="36" name="Text 32"/>
          <p:cNvSpPr txBox="1"/>
          <p:nvPr/>
        </p:nvSpPr>
        <p:spPr>
          <a:xfrm>
            <a:off x="5486400" y="306324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누리과정</a:t>
            </a:r>
            <a:endParaRPr lang="en-US" sz="1100" dirty="0"/>
          </a:p>
        </p:txBody>
      </p:sp>
      <p:sp>
        <p:nvSpPr>
          <p:cNvPr id="37" name="Text 33"/>
          <p:cNvSpPr txBox="1"/>
          <p:nvPr/>
        </p:nvSpPr>
        <p:spPr>
          <a:xfrm>
            <a:off x="5486400" y="331927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개인별 평가에 기초한 수준별 교육계획</a:t>
            </a:r>
            <a:endParaRPr lang="en-US" sz="1150" dirty="0"/>
          </a:p>
        </p:txBody>
      </p:sp>
      <p:sp>
        <p:nvSpPr>
          <p:cNvPr id="38" name="Shape 34"/>
          <p:cNvSpPr/>
          <p:nvPr/>
        </p:nvSpPr>
        <p:spPr>
          <a:xfrm>
            <a:off x="4892040" y="3886200"/>
            <a:ext cx="457200" cy="457200"/>
          </a:xfrm>
          <a:prstGeom prst="ellipse">
            <a:avLst/>
          </a:prstGeom>
          <a:solidFill>
            <a:srgbClr val="E8A1A8"/>
          </a:solidFill>
          <a:ln/>
        </p:spPr>
      </p:sp>
      <p:pic>
        <p:nvPicPr>
          <p:cNvPr id="39" name="Image 2" descr="preencoded.png">    </p:cNvPr>
          <p:cNvPicPr>
            <a:picLocks noChangeAspect="1"/>
          </p:cNvPicPr>
          <p:nvPr/>
        </p:nvPicPr>
        <p:blipFill>
          <a:blip r:embed="rId3"/>
          <a:stretch>
            <a:fillRect/>
          </a:stretch>
        </p:blipFill>
        <p:spPr>
          <a:xfrm>
            <a:off x="5006340" y="4000500"/>
            <a:ext cx="228600" cy="228600"/>
          </a:xfrm>
          <a:prstGeom prst="rect">
            <a:avLst/>
          </a:prstGeom>
        </p:spPr>
      </p:pic>
      <p:sp>
        <p:nvSpPr>
          <p:cNvPr id="40" name="Text 35"/>
          <p:cNvSpPr txBox="1"/>
          <p:nvPr/>
        </p:nvSpPr>
        <p:spPr>
          <a:xfrm>
            <a:off x="5486400" y="3840480"/>
            <a:ext cx="3017520" cy="274320"/>
          </a:xfrm>
          <a:prstGeom prst="rect">
            <a:avLst/>
          </a:prstGeom>
          <a:noFill/>
          <a:ln/>
        </p:spPr>
        <p:txBody>
          <a:bodyPr wrap="square" lIns="0" tIns="0" rIns="0" bIns="0" rtlCol="0" anchor="ctr"/>
          <a:lstStyle/>
          <a:p>
            <a:pPr indent="0" marL="0">
              <a:buNone/>
            </a:pPr>
            <a:r>
              <a:rPr lang="en-US" sz="1100" dirty="0">
                <a:solidFill>
                  <a:srgbClr val="6E7B73"/>
                </a:solidFill>
                <a:latin typeface="Malgun Gothic" pitchFamily="34" charset="0"/>
                <a:ea typeface="Malgun Gothic" pitchFamily="34" charset="-122"/>
                <a:cs typeface="Malgun Gothic" pitchFamily="34" charset="-120"/>
              </a:rPr>
              <a:t>다문화 사회</a:t>
            </a:r>
            <a:endParaRPr lang="en-US" sz="1100" dirty="0"/>
          </a:p>
        </p:txBody>
      </p:sp>
      <p:sp>
        <p:nvSpPr>
          <p:cNvPr id="41" name="Text 36"/>
          <p:cNvSpPr txBox="1"/>
          <p:nvPr/>
        </p:nvSpPr>
        <p:spPr>
          <a:xfrm>
            <a:off x="5486400" y="4096512"/>
            <a:ext cx="3108960" cy="320040"/>
          </a:xfrm>
          <a:prstGeom prst="rect">
            <a:avLst/>
          </a:prstGeom>
          <a:noFill/>
          <a:ln/>
        </p:spPr>
        <p:txBody>
          <a:bodyPr wrap="square" lIns="0" tIns="0" rIns="0" bIns="0" rtlCol="0" anchor="ctr"/>
          <a:lstStyle/>
          <a:p>
            <a:pPr indent="0" marL="0">
              <a:buNone/>
            </a:pPr>
            <a:r>
              <a:rPr lang="en-US" sz="1150" b="1" dirty="0">
                <a:solidFill>
                  <a:srgbClr val="33413A"/>
                </a:solidFill>
                <a:latin typeface="Malgun Gothic" pitchFamily="34" charset="0"/>
                <a:ea typeface="Malgun Gothic" pitchFamily="34" charset="-122"/>
                <a:cs typeface="Malgun Gothic" pitchFamily="34" charset="-120"/>
              </a:rPr>
              <a:t>유아와 가정의 다양성을 반영한 다문화교육</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E8C6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한눈에 정리</a:t>
            </a:r>
            <a:endParaRPr lang="en-US" sz="3000" dirty="0"/>
          </a:p>
        </p:txBody>
      </p:sp>
      <p:sp>
        <p:nvSpPr>
          <p:cNvPr id="3" name="Text 1"/>
          <p:cNvSpPr txBox="1"/>
          <p:nvPr/>
        </p:nvSpPr>
        <p:spPr>
          <a:xfrm>
            <a:off x="457200" y="1143000"/>
            <a:ext cx="8229600" cy="320040"/>
          </a:xfrm>
          <a:prstGeom prst="rect">
            <a:avLst/>
          </a:prstGeom>
          <a:noFill/>
          <a:ln/>
        </p:spPr>
        <p:txBody>
          <a:bodyPr wrap="square" lIns="0" tIns="0" rIns="0" bIns="0" rtlCol="0" anchor="ctr"/>
          <a:lstStyle/>
          <a:p>
            <a:pPr indent="0" marL="0">
              <a:buNone/>
            </a:pPr>
            <a:r>
              <a:rPr lang="en-US" sz="1400" b="1" dirty="0">
                <a:solidFill>
                  <a:srgbClr val="FDF3D6"/>
                </a:solidFill>
                <a:latin typeface="Malgun Gothic" pitchFamily="34" charset="0"/>
                <a:ea typeface="Malgun Gothic" pitchFamily="34" charset="-122"/>
                <a:cs typeface="Malgun Gothic" pitchFamily="34" charset="-120"/>
              </a:rPr>
              <a:t>구성요소 (= 교육과정이 실행되는 순서)</a:t>
            </a:r>
            <a:endParaRPr lang="en-US" sz="1400" dirty="0"/>
          </a:p>
        </p:txBody>
      </p:sp>
      <p:sp>
        <p:nvSpPr>
          <p:cNvPr id="4" name="Shape 2"/>
          <p:cNvSpPr/>
          <p:nvPr/>
        </p:nvSpPr>
        <p:spPr>
          <a:xfrm>
            <a:off x="457200" y="1554480"/>
            <a:ext cx="1828800" cy="640080"/>
          </a:xfrm>
          <a:prstGeom prst="roundRect">
            <a:avLst>
              <a:gd name="adj" fmla="val 21429"/>
            </a:avLst>
          </a:prstGeom>
          <a:solidFill>
            <a:srgbClr val="DCEBDD"/>
          </a:solidFill>
          <a:ln/>
        </p:spPr>
      </p:sp>
      <p:sp>
        <p:nvSpPr>
          <p:cNvPr id="5" name="Text 3"/>
          <p:cNvSpPr txBox="1"/>
          <p:nvPr/>
        </p:nvSpPr>
        <p:spPr>
          <a:xfrm>
            <a:off x="45720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교육목표</a:t>
            </a:r>
            <a:endParaRPr lang="en-US" sz="1500" dirty="0"/>
          </a:p>
        </p:txBody>
      </p:sp>
      <p:sp>
        <p:nvSpPr>
          <p:cNvPr id="6" name="Text 4"/>
          <p:cNvSpPr txBox="1"/>
          <p:nvPr/>
        </p:nvSpPr>
        <p:spPr>
          <a:xfrm>
            <a:off x="228600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7" name="Shape 5"/>
          <p:cNvSpPr/>
          <p:nvPr/>
        </p:nvSpPr>
        <p:spPr>
          <a:xfrm>
            <a:off x="2560320" y="1554480"/>
            <a:ext cx="1828800" cy="640080"/>
          </a:xfrm>
          <a:prstGeom prst="roundRect">
            <a:avLst>
              <a:gd name="adj" fmla="val 21429"/>
            </a:avLst>
          </a:prstGeom>
          <a:solidFill>
            <a:srgbClr val="DCEBDD"/>
          </a:solidFill>
          <a:ln/>
        </p:spPr>
      </p:sp>
      <p:sp>
        <p:nvSpPr>
          <p:cNvPr id="8" name="Text 6"/>
          <p:cNvSpPr txBox="1"/>
          <p:nvPr/>
        </p:nvSpPr>
        <p:spPr>
          <a:xfrm>
            <a:off x="256032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교육내용</a:t>
            </a:r>
            <a:endParaRPr lang="en-US" sz="1500" dirty="0"/>
          </a:p>
        </p:txBody>
      </p:sp>
      <p:sp>
        <p:nvSpPr>
          <p:cNvPr id="9" name="Text 7"/>
          <p:cNvSpPr txBox="1"/>
          <p:nvPr/>
        </p:nvSpPr>
        <p:spPr>
          <a:xfrm>
            <a:off x="438912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0" name="Shape 8"/>
          <p:cNvSpPr/>
          <p:nvPr/>
        </p:nvSpPr>
        <p:spPr>
          <a:xfrm>
            <a:off x="4663440" y="1554480"/>
            <a:ext cx="1828800" cy="640080"/>
          </a:xfrm>
          <a:prstGeom prst="roundRect">
            <a:avLst>
              <a:gd name="adj" fmla="val 21429"/>
            </a:avLst>
          </a:prstGeom>
          <a:solidFill>
            <a:srgbClr val="DCEBDD"/>
          </a:solidFill>
          <a:ln/>
        </p:spPr>
      </p:sp>
      <p:sp>
        <p:nvSpPr>
          <p:cNvPr id="11" name="Text 9"/>
          <p:cNvSpPr txBox="1"/>
          <p:nvPr/>
        </p:nvSpPr>
        <p:spPr>
          <a:xfrm>
            <a:off x="466344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교수-학습 방법</a:t>
            </a:r>
            <a:endParaRPr lang="en-US" sz="1500" dirty="0"/>
          </a:p>
        </p:txBody>
      </p:sp>
      <p:sp>
        <p:nvSpPr>
          <p:cNvPr id="12" name="Text 10"/>
          <p:cNvSpPr txBox="1"/>
          <p:nvPr/>
        </p:nvSpPr>
        <p:spPr>
          <a:xfrm>
            <a:off x="6492240" y="1554480"/>
            <a:ext cx="2743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t>
            </a:r>
            <a:endParaRPr lang="en-US" sz="1400" dirty="0"/>
          </a:p>
        </p:txBody>
      </p:sp>
      <p:sp>
        <p:nvSpPr>
          <p:cNvPr id="13" name="Shape 11"/>
          <p:cNvSpPr/>
          <p:nvPr/>
        </p:nvSpPr>
        <p:spPr>
          <a:xfrm>
            <a:off x="6766560" y="1554480"/>
            <a:ext cx="1828800" cy="640080"/>
          </a:xfrm>
          <a:prstGeom prst="roundRect">
            <a:avLst>
              <a:gd name="adj" fmla="val 21429"/>
            </a:avLst>
          </a:prstGeom>
          <a:solidFill>
            <a:srgbClr val="DCEBDD"/>
          </a:solidFill>
          <a:ln/>
        </p:spPr>
      </p:sp>
      <p:sp>
        <p:nvSpPr>
          <p:cNvPr id="14" name="Text 12"/>
          <p:cNvSpPr txBox="1"/>
          <p:nvPr/>
        </p:nvSpPr>
        <p:spPr>
          <a:xfrm>
            <a:off x="6766560" y="155448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평가</a:t>
            </a:r>
            <a:endParaRPr lang="en-US" sz="1500" dirty="0"/>
          </a:p>
        </p:txBody>
      </p:sp>
      <p:sp>
        <p:nvSpPr>
          <p:cNvPr id="15" name="Text 13"/>
          <p:cNvSpPr txBox="1"/>
          <p:nvPr/>
        </p:nvSpPr>
        <p:spPr>
          <a:xfrm>
            <a:off x="457200" y="2468880"/>
            <a:ext cx="8229600" cy="320040"/>
          </a:xfrm>
          <a:prstGeom prst="rect">
            <a:avLst/>
          </a:prstGeom>
          <a:noFill/>
          <a:ln/>
        </p:spPr>
        <p:txBody>
          <a:bodyPr wrap="square" lIns="0" tIns="0" rIns="0" bIns="0" rtlCol="0" anchor="ctr"/>
          <a:lstStyle/>
          <a:p>
            <a:pPr indent="0" marL="0">
              <a:buNone/>
            </a:pPr>
            <a:r>
              <a:rPr lang="en-US" sz="1400" b="1" dirty="0">
                <a:solidFill>
                  <a:srgbClr val="FDF3D6"/>
                </a:solidFill>
                <a:latin typeface="Malgun Gothic" pitchFamily="34" charset="0"/>
                <a:ea typeface="Malgun Gothic" pitchFamily="34" charset="-122"/>
                <a:cs typeface="Malgun Gothic" pitchFamily="34" charset="-120"/>
              </a:rPr>
              <a:t>구성의 특징</a:t>
            </a:r>
            <a:endParaRPr lang="en-US" sz="1400" dirty="0"/>
          </a:p>
        </p:txBody>
      </p:sp>
      <p:sp>
        <p:nvSpPr>
          <p:cNvPr id="16" name="Shape 14"/>
          <p:cNvSpPr/>
          <p:nvPr/>
        </p:nvSpPr>
        <p:spPr>
          <a:xfrm>
            <a:off x="457200" y="2880360"/>
            <a:ext cx="1828800" cy="640080"/>
          </a:xfrm>
          <a:prstGeom prst="roundRect">
            <a:avLst>
              <a:gd name="adj" fmla="val 21429"/>
            </a:avLst>
          </a:prstGeom>
          <a:solidFill>
            <a:srgbClr val="FDF3D6"/>
          </a:solidFill>
          <a:ln/>
        </p:spPr>
      </p:sp>
      <p:sp>
        <p:nvSpPr>
          <p:cNvPr id="17" name="Text 15"/>
          <p:cNvSpPr txBox="1"/>
          <p:nvPr/>
        </p:nvSpPr>
        <p:spPr>
          <a:xfrm>
            <a:off x="45720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통합</a:t>
            </a:r>
            <a:endParaRPr lang="en-US" sz="1500" dirty="0"/>
          </a:p>
        </p:txBody>
      </p:sp>
      <p:sp>
        <p:nvSpPr>
          <p:cNvPr id="18" name="Shape 16"/>
          <p:cNvSpPr/>
          <p:nvPr/>
        </p:nvSpPr>
        <p:spPr>
          <a:xfrm>
            <a:off x="2560320" y="2880360"/>
            <a:ext cx="1828800" cy="640080"/>
          </a:xfrm>
          <a:prstGeom prst="roundRect">
            <a:avLst>
              <a:gd name="adj" fmla="val 21429"/>
            </a:avLst>
          </a:prstGeom>
          <a:solidFill>
            <a:srgbClr val="FDF3D6"/>
          </a:solidFill>
          <a:ln/>
        </p:spPr>
      </p:sp>
      <p:sp>
        <p:nvSpPr>
          <p:cNvPr id="19" name="Text 17"/>
          <p:cNvSpPr txBox="1"/>
          <p:nvPr/>
        </p:nvSpPr>
        <p:spPr>
          <a:xfrm>
            <a:off x="256032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놀이 중심</a:t>
            </a:r>
            <a:endParaRPr lang="en-US" sz="1500" dirty="0"/>
          </a:p>
        </p:txBody>
      </p:sp>
      <p:sp>
        <p:nvSpPr>
          <p:cNvPr id="20" name="Shape 18"/>
          <p:cNvSpPr/>
          <p:nvPr/>
        </p:nvSpPr>
        <p:spPr>
          <a:xfrm>
            <a:off x="4663440" y="2880360"/>
            <a:ext cx="1828800" cy="640080"/>
          </a:xfrm>
          <a:prstGeom prst="roundRect">
            <a:avLst>
              <a:gd name="adj" fmla="val 21429"/>
            </a:avLst>
          </a:prstGeom>
          <a:solidFill>
            <a:srgbClr val="FDF3D6"/>
          </a:solidFill>
          <a:ln/>
        </p:spPr>
      </p:sp>
      <p:sp>
        <p:nvSpPr>
          <p:cNvPr id="21" name="Text 19"/>
          <p:cNvSpPr txBox="1"/>
          <p:nvPr/>
        </p:nvSpPr>
        <p:spPr>
          <a:xfrm>
            <a:off x="466344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흥미·요구 반영</a:t>
            </a:r>
            <a:endParaRPr lang="en-US" sz="1500" dirty="0"/>
          </a:p>
        </p:txBody>
      </p:sp>
      <p:sp>
        <p:nvSpPr>
          <p:cNvPr id="22" name="Shape 20"/>
          <p:cNvSpPr/>
          <p:nvPr/>
        </p:nvSpPr>
        <p:spPr>
          <a:xfrm>
            <a:off x="6766560" y="2880360"/>
            <a:ext cx="1828800" cy="640080"/>
          </a:xfrm>
          <a:prstGeom prst="roundRect">
            <a:avLst>
              <a:gd name="adj" fmla="val 21429"/>
            </a:avLst>
          </a:prstGeom>
          <a:solidFill>
            <a:srgbClr val="FDF3D6"/>
          </a:solidFill>
          <a:ln/>
        </p:spPr>
      </p:sp>
      <p:sp>
        <p:nvSpPr>
          <p:cNvPr id="23" name="Text 21"/>
          <p:cNvSpPr txBox="1"/>
          <p:nvPr/>
        </p:nvSpPr>
        <p:spPr>
          <a:xfrm>
            <a:off x="6766560" y="2880360"/>
            <a:ext cx="1828800" cy="640080"/>
          </a:xfrm>
          <a:prstGeom prst="rect">
            <a:avLst/>
          </a:prstGeom>
          <a:noFill/>
          <a:ln/>
        </p:spPr>
        <p:txBody>
          <a:bodyPr wrap="square" lIns="0" tIns="0" rIns="0" bIns="0" rtlCol="0" anchor="ctr"/>
          <a:lstStyle/>
          <a:p>
            <a:pPr algn="ctr" indent="0" marL="0">
              <a:buNone/>
            </a:pPr>
            <a:r>
              <a:rPr lang="en-US" sz="1500" b="1" dirty="0">
                <a:solidFill>
                  <a:srgbClr val="33413A"/>
                </a:solidFill>
                <a:latin typeface="Malgun Gothic" pitchFamily="34" charset="0"/>
                <a:ea typeface="Malgun Gothic" pitchFamily="34" charset="-122"/>
                <a:cs typeface="Malgun Gothic" pitchFamily="34" charset="-120"/>
              </a:rPr>
              <a:t>다양성 반영</a:t>
            </a:r>
            <a:endParaRPr lang="en-US" sz="1500" dirty="0"/>
          </a:p>
        </p:txBody>
      </p:sp>
      <p:sp>
        <p:nvSpPr>
          <p:cNvPr id="24" name="Text 22"/>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평가 결과는 차기 교육계획 수립에 적절히 반영</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E8C6A"/>
        </a:solidFill>
      </p:bgPr>
    </p:bg>
    <p:spTree>
      <p:nvGrpSpPr>
        <p:cNvPr id="1" name=""/>
        <p:cNvGrpSpPr/>
        <p:nvPr/>
      </p:nvGrpSpPr>
      <p:grpSpPr>
        <a:xfrm>
          <a:off x="0" y="0"/>
          <a:ext cx="0" cy="0"/>
          <a:chOff x="0" y="0"/>
          <a:chExt cx="0" cy="0"/>
        </a:xfrm>
      </p:grpSpPr>
      <p:sp>
        <p:nvSpPr>
          <p:cNvPr id="2" name="Shape 0"/>
          <p:cNvSpPr/>
          <p:nvPr/>
        </p:nvSpPr>
        <p:spPr>
          <a:xfrm>
            <a:off x="6400800" y="-274320"/>
            <a:ext cx="2926080" cy="2926080"/>
          </a:xfrm>
          <a:prstGeom prst="ellipse">
            <a:avLst/>
          </a:prstGeom>
          <a:solidFill>
            <a:srgbClr val="7FA88A"/>
          </a:solidFill>
          <a:ln/>
        </p:spPr>
      </p:sp>
      <p:sp>
        <p:nvSpPr>
          <p:cNvPr id="3" name="Shape 1"/>
          <p:cNvSpPr/>
          <p:nvPr/>
        </p:nvSpPr>
        <p:spPr>
          <a:xfrm>
            <a:off x="6766560" y="91440"/>
            <a:ext cx="2194560" cy="2194560"/>
          </a:xfrm>
          <a:prstGeom prst="ellipse">
            <a:avLst/>
          </a:prstGeom>
          <a:solidFill>
            <a:srgbClr val="A9CBB0"/>
          </a:solidFill>
          <a:ln/>
        </p:spPr>
      </p:sp>
      <p:sp>
        <p:nvSpPr>
          <p:cNvPr id="4" name="Shape 2"/>
          <p:cNvSpPr/>
          <p:nvPr/>
        </p:nvSpPr>
        <p:spPr>
          <a:xfrm>
            <a:off x="7132320" y="457200"/>
            <a:ext cx="1463040" cy="1463040"/>
          </a:xfrm>
          <a:prstGeom prst="ellipse">
            <a:avLst/>
          </a:prstGeom>
          <a:solidFill>
            <a:srgbClr val="DCEBDD"/>
          </a:solidFill>
          <a:ln/>
        </p:spPr>
      </p:sp>
      <p:sp>
        <p:nvSpPr>
          <p:cNvPr id="5" name="Shape 3"/>
          <p:cNvSpPr/>
          <p:nvPr/>
        </p:nvSpPr>
        <p:spPr>
          <a:xfrm>
            <a:off x="7498080" y="822960"/>
            <a:ext cx="731520" cy="731520"/>
          </a:xfrm>
          <a:prstGeom prst="ellipse">
            <a:avLst/>
          </a:prstGeom>
          <a:solidFill>
            <a:srgbClr val="F5D07A"/>
          </a:solidFill>
          <a:ln/>
        </p:spPr>
      </p:sp>
      <p:sp>
        <p:nvSpPr>
          <p:cNvPr id="6" name="Shape 4"/>
          <p:cNvSpPr/>
          <p:nvPr/>
        </p:nvSpPr>
        <p:spPr>
          <a:xfrm>
            <a:off x="7863840" y="3566160"/>
            <a:ext cx="1463040" cy="1463040"/>
          </a:xfrm>
          <a:prstGeom prst="ellipse">
            <a:avLst/>
          </a:prstGeom>
          <a:solidFill>
            <a:srgbClr val="F2A27E"/>
          </a:solidFill>
          <a:ln/>
        </p:spPr>
      </p:sp>
      <p:sp>
        <p:nvSpPr>
          <p:cNvPr id="7" name="Shape 5"/>
          <p:cNvSpPr/>
          <p:nvPr/>
        </p:nvSpPr>
        <p:spPr>
          <a:xfrm>
            <a:off x="8107680" y="3810000"/>
            <a:ext cx="975360" cy="975360"/>
          </a:xfrm>
          <a:prstGeom prst="ellipse">
            <a:avLst/>
          </a:prstGeom>
          <a:solidFill>
            <a:srgbClr val="FCE4D8"/>
          </a:solidFill>
          <a:ln/>
        </p:spPr>
      </p:sp>
      <p:sp>
        <p:nvSpPr>
          <p:cNvPr id="8" name="Shape 6"/>
          <p:cNvSpPr/>
          <p:nvPr/>
        </p:nvSpPr>
        <p:spPr>
          <a:xfrm>
            <a:off x="8351520" y="4053840"/>
            <a:ext cx="487680" cy="487680"/>
          </a:xfrm>
          <a:prstGeom prst="ellipse">
            <a:avLst/>
          </a:prstGeom>
          <a:solidFill>
            <a:srgbClr val="F2A27E"/>
          </a:solidFill>
          <a:ln/>
        </p:spPr>
      </p:sp>
      <p:sp>
        <p:nvSpPr>
          <p:cNvPr id="9" name="Text 7"/>
          <p:cNvSpPr txBox="1"/>
          <p:nvPr/>
        </p:nvSpPr>
        <p:spPr>
          <a:xfrm>
            <a:off x="640080" y="1234440"/>
            <a:ext cx="5486400" cy="365760"/>
          </a:xfrm>
          <a:prstGeom prst="rect">
            <a:avLst/>
          </a:prstGeom>
          <a:noFill/>
          <a:ln/>
        </p:spPr>
        <p:txBody>
          <a:bodyPr wrap="square" lIns="0" tIns="0" rIns="0" bIns="0" rtlCol="0" anchor="ctr"/>
          <a:lstStyle/>
          <a:p>
            <a:pPr indent="0" marL="0">
              <a:buNone/>
            </a:pPr>
            <a:r>
              <a:rPr lang="en-US" sz="1600" b="1" dirty="0">
                <a:solidFill>
                  <a:srgbClr val="FDF3D6"/>
                </a:solidFill>
                <a:latin typeface="Malgun Gothic" pitchFamily="34" charset="0"/>
                <a:ea typeface="Malgun Gothic" pitchFamily="34" charset="-122"/>
                <a:cs typeface="Malgun Gothic" pitchFamily="34" charset="-120"/>
              </a:rPr>
              <a:t>PART 3</a:t>
            </a:r>
            <a:endParaRPr lang="en-US" sz="1600" dirty="0"/>
          </a:p>
        </p:txBody>
      </p:sp>
      <p:sp>
        <p:nvSpPr>
          <p:cNvPr id="10" name="Text 8"/>
          <p:cNvSpPr txBox="1"/>
          <p:nvPr/>
        </p:nvSpPr>
        <p:spPr>
          <a:xfrm>
            <a:off x="640080" y="1645920"/>
            <a:ext cx="6400800" cy="137160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영유아교육과정의</a:t>
            </a:r>
            <a:endParaRPr lang="en-US" sz="4000" dirty="0"/>
          </a:p>
          <a:p>
            <a:pPr indent="0" marL="0">
              <a:buNone/>
            </a:pPr>
            <a:r>
              <a:rPr lang="en-US" sz="4000" b="1" dirty="0">
                <a:solidFill>
                  <a:srgbClr val="FFFFFF"/>
                </a:solidFill>
                <a:latin typeface="Malgun Gothic" pitchFamily="34" charset="0"/>
                <a:ea typeface="Malgun Gothic" pitchFamily="34" charset="-122"/>
                <a:cs typeface="Malgun Gothic" pitchFamily="34" charset="-120"/>
              </a:rPr>
              <a:t>계획 및 운영</a:t>
            </a:r>
            <a:endParaRPr lang="en-US" sz="4000" dirty="0"/>
          </a:p>
        </p:txBody>
      </p:sp>
      <p:sp>
        <p:nvSpPr>
          <p:cNvPr id="11" name="Text 9"/>
          <p:cNvSpPr txBox="1"/>
          <p:nvPr/>
        </p:nvSpPr>
        <p:spPr>
          <a:xfrm>
            <a:off x="640080" y="3108960"/>
            <a:ext cx="6400800" cy="411480"/>
          </a:xfrm>
          <a:prstGeom prst="rect">
            <a:avLst/>
          </a:prstGeom>
          <a:noFill/>
          <a:ln/>
        </p:spPr>
        <p:txBody>
          <a:bodyPr wrap="square" lIns="0" tIns="0" rIns="0" bIns="0"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표준보육과정과 관련 지침 살펴보기</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16</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교육과정 계획·운영의 지침</a:t>
            </a:r>
            <a:endParaRPr lang="en-US" sz="2800" dirty="0"/>
          </a:p>
        </p:txBody>
      </p:sp>
      <p:sp>
        <p:nvSpPr>
          <p:cNvPr id="5" name="Text 3"/>
          <p:cNvSpPr txBox="1"/>
          <p:nvPr/>
        </p:nvSpPr>
        <p:spPr>
          <a:xfrm>
            <a:off x="457200" y="1097280"/>
            <a:ext cx="384048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전문적 지식 + 다음을 지침으로 운영</a:t>
            </a:r>
            <a:endParaRPr lang="en-US" sz="1400" dirty="0"/>
          </a:p>
        </p:txBody>
      </p:sp>
      <p:sp>
        <p:nvSpPr>
          <p:cNvPr id="6" name="Shape 4"/>
          <p:cNvSpPr/>
          <p:nvPr/>
        </p:nvSpPr>
        <p:spPr>
          <a:xfrm>
            <a:off x="457200" y="1554480"/>
            <a:ext cx="438912" cy="438912"/>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566928" y="1664208"/>
            <a:ext cx="219456" cy="219456"/>
          </a:xfrm>
          <a:prstGeom prst="rect">
            <a:avLst/>
          </a:prstGeom>
        </p:spPr>
      </p:pic>
      <p:sp>
        <p:nvSpPr>
          <p:cNvPr id="8" name="Text 5"/>
          <p:cNvSpPr txBox="1"/>
          <p:nvPr/>
        </p:nvSpPr>
        <p:spPr>
          <a:xfrm>
            <a:off x="1051560" y="1499616"/>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각 원이 추구하는 교육 방향</a:t>
            </a:r>
            <a:endParaRPr lang="en-US" sz="1300" dirty="0"/>
          </a:p>
        </p:txBody>
      </p:sp>
      <p:sp>
        <p:nvSpPr>
          <p:cNvPr id="9" name="Shape 6"/>
          <p:cNvSpPr/>
          <p:nvPr/>
        </p:nvSpPr>
        <p:spPr>
          <a:xfrm>
            <a:off x="457200" y="2157984"/>
            <a:ext cx="438912" cy="438912"/>
          </a:xfrm>
          <a:prstGeom prst="ellipse">
            <a:avLst/>
          </a:prstGeom>
          <a:solidFill>
            <a:srgbClr val="5E8C6A"/>
          </a:solidFill>
          <a:ln/>
        </p:spPr>
      </p:sp>
      <p:pic>
        <p:nvPicPr>
          <p:cNvPr id="10" name="Image 1" descr="preencoded.png">    </p:cNvPr>
          <p:cNvPicPr>
            <a:picLocks noChangeAspect="1"/>
          </p:cNvPicPr>
          <p:nvPr/>
        </p:nvPicPr>
        <p:blipFill>
          <a:blip r:embed="rId2"/>
          <a:stretch>
            <a:fillRect/>
          </a:stretch>
        </p:blipFill>
        <p:spPr>
          <a:xfrm>
            <a:off x="566928" y="2267712"/>
            <a:ext cx="219456" cy="219456"/>
          </a:xfrm>
          <a:prstGeom prst="rect">
            <a:avLst/>
          </a:prstGeom>
        </p:spPr>
      </p:pic>
      <p:sp>
        <p:nvSpPr>
          <p:cNvPr id="11" name="Text 7"/>
          <p:cNvSpPr txBox="1"/>
          <p:nvPr/>
        </p:nvSpPr>
        <p:spPr>
          <a:xfrm>
            <a:off x="1051560" y="2103120"/>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국가수준의 교육과정</a:t>
            </a:r>
            <a:endParaRPr lang="en-US" sz="1300" dirty="0"/>
          </a:p>
        </p:txBody>
      </p:sp>
      <p:sp>
        <p:nvSpPr>
          <p:cNvPr id="12" name="Shape 8"/>
          <p:cNvSpPr/>
          <p:nvPr/>
        </p:nvSpPr>
        <p:spPr>
          <a:xfrm>
            <a:off x="457200" y="2761488"/>
            <a:ext cx="438912" cy="438912"/>
          </a:xfrm>
          <a:prstGeom prst="ellipse">
            <a:avLst/>
          </a:prstGeom>
          <a:solidFill>
            <a:srgbClr val="F5D07A"/>
          </a:solidFill>
          <a:ln/>
        </p:spPr>
      </p:sp>
      <p:pic>
        <p:nvPicPr>
          <p:cNvPr id="13" name="Image 2" descr="preencoded.png">    </p:cNvPr>
          <p:cNvPicPr>
            <a:picLocks noChangeAspect="1"/>
          </p:cNvPicPr>
          <p:nvPr/>
        </p:nvPicPr>
        <p:blipFill>
          <a:blip r:embed="rId3"/>
          <a:stretch>
            <a:fillRect/>
          </a:stretch>
        </p:blipFill>
        <p:spPr>
          <a:xfrm>
            <a:off x="566928" y="2871216"/>
            <a:ext cx="219456" cy="219456"/>
          </a:xfrm>
          <a:prstGeom prst="rect">
            <a:avLst/>
          </a:prstGeom>
        </p:spPr>
      </p:pic>
      <p:sp>
        <p:nvSpPr>
          <p:cNvPr id="14" name="Text 9"/>
          <p:cNvSpPr txBox="1"/>
          <p:nvPr/>
        </p:nvSpPr>
        <p:spPr>
          <a:xfrm>
            <a:off x="1051560" y="2706624"/>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소속 지역의 유아교육 방향</a:t>
            </a:r>
            <a:endParaRPr lang="en-US" sz="1300" dirty="0"/>
          </a:p>
        </p:txBody>
      </p:sp>
      <p:sp>
        <p:nvSpPr>
          <p:cNvPr id="15" name="Shape 10"/>
          <p:cNvSpPr/>
          <p:nvPr/>
        </p:nvSpPr>
        <p:spPr>
          <a:xfrm>
            <a:off x="457200" y="3364992"/>
            <a:ext cx="438912" cy="438912"/>
          </a:xfrm>
          <a:prstGeom prst="ellipse">
            <a:avLst/>
          </a:prstGeom>
          <a:solidFill>
            <a:srgbClr val="E8A1A8"/>
          </a:solidFill>
          <a:ln/>
        </p:spPr>
      </p:sp>
      <p:pic>
        <p:nvPicPr>
          <p:cNvPr id="16" name="Image 3" descr="preencoded.png">    </p:cNvPr>
          <p:cNvPicPr>
            <a:picLocks noChangeAspect="1"/>
          </p:cNvPicPr>
          <p:nvPr/>
        </p:nvPicPr>
        <p:blipFill>
          <a:blip r:embed="rId4"/>
          <a:stretch>
            <a:fillRect/>
          </a:stretch>
        </p:blipFill>
        <p:spPr>
          <a:xfrm>
            <a:off x="566928" y="3474720"/>
            <a:ext cx="219456" cy="219456"/>
          </a:xfrm>
          <a:prstGeom prst="rect">
            <a:avLst/>
          </a:prstGeom>
        </p:spPr>
      </p:pic>
      <p:sp>
        <p:nvSpPr>
          <p:cNvPr id="17" name="Text 11"/>
          <p:cNvSpPr txBox="1"/>
          <p:nvPr/>
        </p:nvSpPr>
        <p:spPr>
          <a:xfrm>
            <a:off x="1051560" y="3310128"/>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해당 연도 유치원 교육과정</a:t>
            </a:r>
            <a:endParaRPr lang="en-US" sz="1300" dirty="0"/>
          </a:p>
          <a:p>
            <a:pPr indent="0" marL="0">
              <a:buNone/>
            </a:pPr>
            <a:r>
              <a:rPr lang="en-US" sz="1300" dirty="0">
                <a:solidFill>
                  <a:srgbClr val="33413A"/>
                </a:solidFill>
                <a:latin typeface="Malgun Gothic" pitchFamily="34" charset="0"/>
                <a:ea typeface="Malgun Gothic" pitchFamily="34" charset="-122"/>
                <a:cs typeface="Malgun Gothic" pitchFamily="34" charset="-120"/>
              </a:rPr>
              <a:t>편성·운영 지침</a:t>
            </a:r>
            <a:endParaRPr lang="en-US" sz="1300" dirty="0"/>
          </a:p>
        </p:txBody>
      </p:sp>
      <p:sp>
        <p:nvSpPr>
          <p:cNvPr id="18" name="Shape 12"/>
          <p:cNvSpPr/>
          <p:nvPr/>
        </p:nvSpPr>
        <p:spPr>
          <a:xfrm>
            <a:off x="457200" y="3968496"/>
            <a:ext cx="438912" cy="438912"/>
          </a:xfrm>
          <a:prstGeom prst="ellipse">
            <a:avLst/>
          </a:prstGeom>
          <a:solidFill>
            <a:srgbClr val="A9CBB0"/>
          </a:solidFill>
          <a:ln/>
        </p:spPr>
      </p:sp>
      <p:pic>
        <p:nvPicPr>
          <p:cNvPr id="19" name="Image 4" descr="preencoded.png">    </p:cNvPr>
          <p:cNvPicPr>
            <a:picLocks noChangeAspect="1"/>
          </p:cNvPicPr>
          <p:nvPr/>
        </p:nvPicPr>
        <p:blipFill>
          <a:blip r:embed="rId5"/>
          <a:stretch>
            <a:fillRect/>
          </a:stretch>
        </p:blipFill>
        <p:spPr>
          <a:xfrm>
            <a:off x="566928" y="4078224"/>
            <a:ext cx="219456" cy="219456"/>
          </a:xfrm>
          <a:prstGeom prst="rect">
            <a:avLst/>
          </a:prstGeom>
        </p:spPr>
      </p:pic>
      <p:sp>
        <p:nvSpPr>
          <p:cNvPr id="20" name="Text 13"/>
          <p:cNvSpPr txBox="1"/>
          <p:nvPr/>
        </p:nvSpPr>
        <p:spPr>
          <a:xfrm>
            <a:off x="1051560" y="3913632"/>
            <a:ext cx="3200400" cy="548640"/>
          </a:xfrm>
          <a:prstGeom prst="rect">
            <a:avLst/>
          </a:prstGeom>
          <a:noFill/>
          <a:ln/>
        </p:spPr>
        <p:txBody>
          <a:bodyPr wrap="square" lIns="0" tIns="0" rIns="0" bIns="0" rtlCol="0" anchor="ctr"/>
          <a:lstStyle/>
          <a:p>
            <a:pPr indent="0" marL="0">
              <a:buNone/>
            </a:pPr>
            <a:r>
              <a:rPr lang="en-US" sz="1300" dirty="0">
                <a:solidFill>
                  <a:srgbClr val="33413A"/>
                </a:solidFill>
                <a:latin typeface="Malgun Gothic" pitchFamily="34" charset="0"/>
                <a:ea typeface="Malgun Gothic" pitchFamily="34" charset="-122"/>
                <a:cs typeface="Malgun Gothic" pitchFamily="34" charset="-120"/>
              </a:rPr>
              <a:t>어린이집 보육사업안내</a:t>
            </a:r>
            <a:endParaRPr lang="en-US" sz="1300" dirty="0"/>
          </a:p>
        </p:txBody>
      </p:sp>
      <p:sp>
        <p:nvSpPr>
          <p:cNvPr id="21" name="Text 14"/>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200" b="1" dirty="0">
                <a:solidFill>
                  <a:srgbClr val="6E7B73"/>
                </a:solidFill>
                <a:latin typeface="Malgun Gothic" pitchFamily="34" charset="0"/>
                <a:ea typeface="Malgun Gothic" pitchFamily="34" charset="-122"/>
                <a:cs typeface="Malgun Gothic" pitchFamily="34" charset="-120"/>
              </a:rPr>
              <a:t>〈표 5-1〉 어린이집과 유치원의 국가수준 교육과정</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0" y="1463040"/>
          <a:ext cx="4114800" cy="914400"/>
        </p:xfrm>
        <a:graphic>
          <a:graphicData uri="http://schemas.openxmlformats.org/drawingml/2006/table">
            <a:tbl>
              <a:tblPr/>
              <a:tblGrid>
                <a:gridCol w="822960"/>
                <a:gridCol w="1645920"/>
                <a:gridCol w="1645920"/>
              </a:tblGrid>
              <a:tr h="36576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0~2세</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3~5세</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DCEBDD"/>
                    </a:solidFill>
                  </a:tcPr>
                </a:tc>
              </a:tr>
              <a:tr h="68580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어린이집</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4F7F4"/>
                    </a:solidFill>
                  </a:tcPr>
                </a:tc>
                <a:tc>
                  <a:txBody>
                    <a:bodyPr/>
                    <a:lstStyle/>
                    <a:p>
                      <a:pPr algn="ctr" indent="0" marL="0">
                        <a:buNone/>
                      </a:pPr>
                      <a:r>
                        <a:rPr lang="en-US" sz="1100" dirty="0">
                          <a:solidFill>
                            <a:srgbClr val="33413A"/>
                          </a:solidFill>
                          <a:latin typeface="Malgun Gothic" pitchFamily="34" charset="0"/>
                          <a:ea typeface="Malgun Gothic" pitchFamily="34" charset="-122"/>
                          <a:cs typeface="Malgun Gothic" pitchFamily="34" charset="-120"/>
                        </a:rPr>
                        <a:t>표준보육과정</a:t>
                      </a:r>
                      <a:endParaRPr lang="en-US" sz="1100" dirty="0">
                        <a:latin typeface="Malgun Gothic" charset="0"/>
                        <a:ea typeface="Malgun Gothic" charset="0"/>
                        <a:cs typeface="Malgun Gothic" charset="0"/>
                      </a:endParaRPr>
                    </a:p>
                    <a:p>
                      <a:pPr algn="ctr" indent="0" marL="0">
                        <a:buNone/>
                      </a:pPr>
                      <a:r>
                        <a:rPr lang="en-US" sz="1100" dirty="0">
                          <a:solidFill>
                            <a:srgbClr val="33413A"/>
                          </a:solidFill>
                          <a:latin typeface="Malgun Gothic" pitchFamily="34" charset="0"/>
                          <a:ea typeface="Malgun Gothic" pitchFamily="34" charset="-122"/>
                          <a:cs typeface="Malgun Gothic" pitchFamily="34" charset="-120"/>
                        </a:rPr>
                        <a:t>(0~1세, 2세 보육과정)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표준보육과정</a:t>
                      </a:r>
                      <a:endParaRPr lang="en-US" sz="1100" dirty="0">
                        <a:latin typeface="Malgun Gothic" charset="0"/>
                        <a:ea typeface="Malgun Gothic" charset="0"/>
                        <a:cs typeface="Malgun Gothic" charset="0"/>
                      </a:endParaRPr>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(3~5세 = 누리과정)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DF3D6"/>
                    </a:solidFill>
                  </a:tcPr>
                </a:tc>
              </a:tr>
              <a:tr h="685800">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유치원</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4F7F4"/>
                    </a:solidFill>
                  </a:tcPr>
                </a:tc>
                <a:tc>
                  <a:txBody>
                    <a:bodyPr/>
                    <a:lstStyle/>
                    <a:p>
                      <a:pPr algn="ctr" indent="0" marL="0">
                        <a:buNone/>
                      </a:pPr>
                      <a:r>
                        <a:rPr lang="en-US" sz="1100" dirty="0">
                          <a:solidFill>
                            <a:srgbClr val="6E7B73"/>
                          </a:solidFill>
                          <a:latin typeface="Malgun Gothic" pitchFamily="34" charset="0"/>
                          <a:ea typeface="Malgun Gothic" pitchFamily="34" charset="-122"/>
                          <a:cs typeface="Malgun Gothic" pitchFamily="34" charset="-120"/>
                        </a:rPr>
                        <a:t>–</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tcPr>
                </a:tc>
                <a:tc>
                  <a:txBody>
                    <a:bodyPr/>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유치원 교육과정</a:t>
                      </a:r>
                      <a:endParaRPr lang="en-US" sz="1100" dirty="0">
                        <a:latin typeface="Malgun Gothic" charset="0"/>
                        <a:ea typeface="Malgun Gothic" charset="0"/>
                        <a:cs typeface="Malgun Gothic" charset="0"/>
                      </a:endParaRPr>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(누리과정)</a:t>
                      </a:r>
                      <a:endParaRPr lang="en-US" sz="1100" dirty="0">
                        <a:latin typeface="Malgun Gothic" charset="0"/>
                        <a:ea typeface="Malgun Gothic" charset="0"/>
                        <a:cs typeface="Malgun Gothic" charset="0"/>
                      </a:endParaRPr>
                    </a:p>
                  </a:txBody>
                  <a:tcPr marL="45720" marR="45720" marT="45720" marB="45720" anchor="ctr">
                    <a:lnL w="12700" cap="flat" cmpd="sng" algn="ctr">
                      <a:solidFill>
                        <a:srgbClr val="C9D6CC"/>
                      </a:solidFill>
                      <a:prstDash val="solid"/>
                      <a:round/>
                      <a:headEnd type="none" w="med" len="med"/>
                      <a:tailEnd type="none" w="med" len="med"/>
                    </a:lnL>
                    <a:lnR w="12700" cap="flat" cmpd="sng" algn="ctr">
                      <a:solidFill>
                        <a:srgbClr val="C9D6CC"/>
                      </a:solidFill>
                      <a:prstDash val="solid"/>
                      <a:round/>
                      <a:headEnd type="none" w="med" len="med"/>
                      <a:tailEnd type="none" w="med" len="med"/>
                    </a:lnR>
                    <a:lnT w="12700" cap="flat" cmpd="sng" algn="ctr">
                      <a:solidFill>
                        <a:srgbClr val="C9D6CC"/>
                      </a:solidFill>
                      <a:prstDash val="solid"/>
                      <a:round/>
                      <a:headEnd type="none" w="med" len="med"/>
                      <a:tailEnd type="none" w="med" len="med"/>
                    </a:lnT>
                    <a:lnB w="12700" cap="flat" cmpd="sng" algn="ctr">
                      <a:solidFill>
                        <a:srgbClr val="C9D6CC"/>
                      </a:solidFill>
                      <a:prstDash val="solid"/>
                      <a:round/>
                      <a:headEnd type="none" w="med" len="med"/>
                      <a:tailEnd type="none" w="med" len="med"/>
                    </a:lnB>
                    <a:solidFill>
                      <a:srgbClr val="FDF3D6"/>
                    </a:solidFill>
                  </a:tcPr>
                </a:tc>
              </a:tr>
            </a:tbl>
          </a:graphicData>
        </a:graphic>
      </p:graphicFrame>
      <p:sp>
        <p:nvSpPr>
          <p:cNvPr id="23" name="Shape 15"/>
          <p:cNvSpPr/>
          <p:nvPr/>
        </p:nvSpPr>
        <p:spPr>
          <a:xfrm>
            <a:off x="4572000" y="3429000"/>
            <a:ext cx="4114800" cy="1143000"/>
          </a:xfrm>
          <a:prstGeom prst="roundRect">
            <a:avLst>
              <a:gd name="adj" fmla="val 12000"/>
            </a:avLst>
          </a:prstGeom>
          <a:solidFill>
            <a:srgbClr val="FDF3D6"/>
          </a:solidFill>
          <a:ln/>
        </p:spPr>
      </p:sp>
      <p:sp>
        <p:nvSpPr>
          <p:cNvPr id="24" name="Text 16"/>
          <p:cNvSpPr txBox="1"/>
          <p:nvPr/>
        </p:nvSpPr>
        <p:spPr>
          <a:xfrm>
            <a:off x="4754880" y="3520440"/>
            <a:ext cx="3749040" cy="960120"/>
          </a:xfrm>
          <a:prstGeom prst="rect">
            <a:avLst/>
          </a:prstGeom>
          <a:noFill/>
          <a:ln/>
        </p:spPr>
        <p:txBody>
          <a:bodyPr wrap="square" lIns="0" tIns="0" rIns="0" bIns="0" rtlCol="0" anchor="ctr"/>
          <a:lstStyle/>
          <a:p>
            <a:pPr indent="0" marL="0">
              <a:spcAft>
                <a:spcPts val="400"/>
              </a:spcAft>
              <a:buNone/>
            </a:pPr>
            <a:r>
              <a:rPr lang="en-US" sz="1200" b="1" dirty="0">
                <a:solidFill>
                  <a:srgbClr val="33413A"/>
                </a:solidFill>
                <a:latin typeface="Malgun Gothic" pitchFamily="34" charset="0"/>
                <a:ea typeface="Malgun Gothic" pitchFamily="34" charset="-122"/>
                <a:cs typeface="Malgun Gothic" pitchFamily="34" charset="-120"/>
              </a:rPr>
              <a:t>3~5세는 공통교육과정(누리과정)으로 내용이 동일</a:t>
            </a:r>
            <a:endParaRPr lang="en-US" sz="1200" dirty="0"/>
          </a:p>
          <a:p>
            <a:pPr indent="0" marL="0">
              <a:spcAft>
                <a:spcPts val="400"/>
              </a:spcAft>
              <a:buNone/>
            </a:pPr>
            <a:r>
              <a:rPr lang="en-US" sz="1200" dirty="0">
                <a:solidFill>
                  <a:srgbClr val="33413A"/>
                </a:solidFill>
                <a:latin typeface="Malgun Gothic" pitchFamily="34" charset="0"/>
                <a:ea typeface="Malgun Gothic" pitchFamily="34" charset="-122"/>
                <a:cs typeface="Malgun Gothic" pitchFamily="34" charset="-120"/>
              </a:rPr>
              <a:t>→ 교원이 함께 연구하고 각 기관의 교육에 어떻게 반영할지 협의</a:t>
            </a:r>
            <a:endParaRPr lang="en-US" sz="1200" dirty="0"/>
          </a:p>
          <a:p>
            <a:pPr indent="0" marL="0">
              <a:spcAft>
                <a:spcPts val="400"/>
              </a:spcAft>
              <a:buNone/>
            </a:pPr>
            <a:r>
              <a:rPr lang="en-US" sz="1050" dirty="0">
                <a:solidFill>
                  <a:srgbClr val="6E7B73"/>
                </a:solidFill>
                <a:latin typeface="Malgun Gothic" pitchFamily="34" charset="0"/>
                <a:ea typeface="Malgun Gothic" pitchFamily="34" charset="-122"/>
                <a:cs typeface="Malgun Gothic" pitchFamily="34" charset="-120"/>
              </a:rPr>
              <a:t>※ 제4차 표준보육과정(보건복지부 고시 제2020-75호) 중심</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17</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추구하는 인간상과 목표</a:t>
            </a:r>
            <a:endParaRPr lang="en-US" sz="2800" dirty="0"/>
          </a:p>
        </p:txBody>
      </p:sp>
      <p:sp>
        <p:nvSpPr>
          <p:cNvPr id="5" name="Text 3"/>
          <p:cNvSpPr txBox="1"/>
          <p:nvPr/>
        </p:nvSpPr>
        <p:spPr>
          <a:xfrm>
            <a:off x="457200" y="1005840"/>
            <a:ext cx="3657600" cy="274320"/>
          </a:xfrm>
          <a:prstGeom prst="rect">
            <a:avLst/>
          </a:prstGeom>
          <a:noFill/>
          <a:ln/>
        </p:spPr>
        <p:txBody>
          <a:bodyPr wrap="square" lIns="0" tIns="0" rIns="0" bIns="0" rtlCol="0" anchor="ctr"/>
          <a:lstStyle/>
          <a:p>
            <a:pPr indent="0" marL="0">
              <a:buNone/>
            </a:pPr>
            <a:r>
              <a:rPr lang="en-US" sz="1300" b="1" dirty="0">
                <a:solidFill>
                  <a:srgbClr val="5E8C6A"/>
                </a:solidFill>
                <a:latin typeface="Malgun Gothic" pitchFamily="34" charset="0"/>
                <a:ea typeface="Malgun Gothic" pitchFamily="34" charset="-122"/>
                <a:cs typeface="Malgun Gothic" pitchFamily="34" charset="-120"/>
              </a:rPr>
              <a:t>추구하는 인간상</a:t>
            </a:r>
            <a:endParaRPr lang="en-US" sz="1300" dirty="0"/>
          </a:p>
        </p:txBody>
      </p:sp>
      <p:sp>
        <p:nvSpPr>
          <p:cNvPr id="6" name="Shape 4"/>
          <p:cNvSpPr/>
          <p:nvPr/>
        </p:nvSpPr>
        <p:spPr>
          <a:xfrm>
            <a:off x="457200" y="1325880"/>
            <a:ext cx="1517904" cy="411480"/>
          </a:xfrm>
          <a:prstGeom prst="roundRect">
            <a:avLst>
              <a:gd name="adj" fmla="val 48889"/>
            </a:avLst>
          </a:prstGeom>
          <a:solidFill>
            <a:srgbClr val="FCE4D8"/>
          </a:solidFill>
          <a:ln/>
        </p:spPr>
      </p:sp>
      <p:sp>
        <p:nvSpPr>
          <p:cNvPr id="7" name="Text 5"/>
          <p:cNvSpPr txBox="1"/>
          <p:nvPr/>
        </p:nvSpPr>
        <p:spPr>
          <a:xfrm>
            <a:off x="457200"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건강한 사람</a:t>
            </a:r>
            <a:endParaRPr lang="en-US" sz="1200" dirty="0"/>
          </a:p>
        </p:txBody>
      </p:sp>
      <p:sp>
        <p:nvSpPr>
          <p:cNvPr id="8" name="Shape 6"/>
          <p:cNvSpPr/>
          <p:nvPr/>
        </p:nvSpPr>
        <p:spPr>
          <a:xfrm>
            <a:off x="2139696" y="1325880"/>
            <a:ext cx="1517904" cy="411480"/>
          </a:xfrm>
          <a:prstGeom prst="roundRect">
            <a:avLst>
              <a:gd name="adj" fmla="val 48889"/>
            </a:avLst>
          </a:prstGeom>
          <a:solidFill>
            <a:srgbClr val="FDF3D6"/>
          </a:solidFill>
          <a:ln/>
        </p:spPr>
      </p:sp>
      <p:sp>
        <p:nvSpPr>
          <p:cNvPr id="9" name="Text 7"/>
          <p:cNvSpPr txBox="1"/>
          <p:nvPr/>
        </p:nvSpPr>
        <p:spPr>
          <a:xfrm>
            <a:off x="2139696"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자주적인 사람</a:t>
            </a:r>
            <a:endParaRPr lang="en-US" sz="1200" dirty="0"/>
          </a:p>
        </p:txBody>
      </p:sp>
      <p:sp>
        <p:nvSpPr>
          <p:cNvPr id="10" name="Shape 8"/>
          <p:cNvSpPr/>
          <p:nvPr/>
        </p:nvSpPr>
        <p:spPr>
          <a:xfrm>
            <a:off x="3822192" y="1325880"/>
            <a:ext cx="1517904" cy="411480"/>
          </a:xfrm>
          <a:prstGeom prst="roundRect">
            <a:avLst>
              <a:gd name="adj" fmla="val 48889"/>
            </a:avLst>
          </a:prstGeom>
          <a:solidFill>
            <a:srgbClr val="DCEBDD"/>
          </a:solidFill>
          <a:ln/>
        </p:spPr>
      </p:sp>
      <p:sp>
        <p:nvSpPr>
          <p:cNvPr id="11" name="Text 9"/>
          <p:cNvSpPr txBox="1"/>
          <p:nvPr/>
        </p:nvSpPr>
        <p:spPr>
          <a:xfrm>
            <a:off x="3822192"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창의적인 사람</a:t>
            </a:r>
            <a:endParaRPr lang="en-US" sz="1200" dirty="0"/>
          </a:p>
        </p:txBody>
      </p:sp>
      <p:sp>
        <p:nvSpPr>
          <p:cNvPr id="12" name="Shape 10"/>
          <p:cNvSpPr/>
          <p:nvPr/>
        </p:nvSpPr>
        <p:spPr>
          <a:xfrm>
            <a:off x="5504688" y="1325880"/>
            <a:ext cx="1517904" cy="411480"/>
          </a:xfrm>
          <a:prstGeom prst="roundRect">
            <a:avLst>
              <a:gd name="adj" fmla="val 48889"/>
            </a:avLst>
          </a:prstGeom>
          <a:solidFill>
            <a:srgbClr val="F9E1E3"/>
          </a:solidFill>
          <a:ln/>
        </p:spPr>
      </p:sp>
      <p:sp>
        <p:nvSpPr>
          <p:cNvPr id="13" name="Text 11"/>
          <p:cNvSpPr txBox="1"/>
          <p:nvPr/>
        </p:nvSpPr>
        <p:spPr>
          <a:xfrm>
            <a:off x="5504688"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감성이 풍부한 사람</a:t>
            </a:r>
            <a:endParaRPr lang="en-US" sz="1200" dirty="0"/>
          </a:p>
        </p:txBody>
      </p:sp>
      <p:sp>
        <p:nvSpPr>
          <p:cNvPr id="14" name="Shape 12"/>
          <p:cNvSpPr/>
          <p:nvPr/>
        </p:nvSpPr>
        <p:spPr>
          <a:xfrm>
            <a:off x="7187184" y="1325880"/>
            <a:ext cx="1517904" cy="411480"/>
          </a:xfrm>
          <a:prstGeom prst="roundRect">
            <a:avLst>
              <a:gd name="adj" fmla="val 48889"/>
            </a:avLst>
          </a:prstGeom>
          <a:solidFill>
            <a:srgbClr val="EDE6F3"/>
          </a:solidFill>
          <a:ln/>
        </p:spPr>
      </p:sp>
      <p:sp>
        <p:nvSpPr>
          <p:cNvPr id="15" name="Text 13"/>
          <p:cNvSpPr txBox="1"/>
          <p:nvPr/>
        </p:nvSpPr>
        <p:spPr>
          <a:xfrm>
            <a:off x="7187184" y="1325880"/>
            <a:ext cx="1517904" cy="411480"/>
          </a:xfrm>
          <a:prstGeom prst="rect">
            <a:avLst/>
          </a:prstGeom>
          <a:noFill/>
          <a:ln/>
        </p:spPr>
        <p:txBody>
          <a:bodyPr wrap="square" lIns="0" tIns="0" rIns="0" bIns="0" rtlCol="0" anchor="ctr"/>
          <a:lstStyle/>
          <a:p>
            <a:pPr algn="ctr" indent="0" marL="0">
              <a:buNone/>
            </a:pPr>
            <a:r>
              <a:rPr lang="en-US" sz="1200" b="1" dirty="0">
                <a:solidFill>
                  <a:srgbClr val="33413A"/>
                </a:solidFill>
                <a:latin typeface="Malgun Gothic" pitchFamily="34" charset="0"/>
                <a:ea typeface="Malgun Gothic" pitchFamily="34" charset="-122"/>
                <a:cs typeface="Malgun Gothic" pitchFamily="34" charset="-120"/>
              </a:rPr>
              <a:t>더불어 사는 사람</a:t>
            </a:r>
            <a:endParaRPr lang="en-US" sz="1200" dirty="0"/>
          </a:p>
        </p:txBody>
      </p:sp>
      <p:sp>
        <p:nvSpPr>
          <p:cNvPr id="16" name="Shape 14"/>
          <p:cNvSpPr/>
          <p:nvPr/>
        </p:nvSpPr>
        <p:spPr>
          <a:xfrm>
            <a:off x="457200" y="1874520"/>
            <a:ext cx="8229600" cy="502920"/>
          </a:xfrm>
          <a:prstGeom prst="roundRect">
            <a:avLst>
              <a:gd name="adj" fmla="val 27273"/>
            </a:avLst>
          </a:prstGeom>
          <a:solidFill>
            <a:srgbClr val="F4F7F4"/>
          </a:solidFill>
          <a:ln/>
        </p:spPr>
      </p:sp>
      <p:sp>
        <p:nvSpPr>
          <p:cNvPr id="17" name="Text 15"/>
          <p:cNvSpPr txBox="1"/>
          <p:nvPr/>
        </p:nvSpPr>
        <p:spPr>
          <a:xfrm>
            <a:off x="640080" y="1874520"/>
            <a:ext cx="7863840" cy="502920"/>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목적  </a:t>
            </a:r>
            <a:pPr indent="0" marL="0">
              <a:buNone/>
            </a:pPr>
            <a:r>
              <a:rPr lang="en-US" sz="1200" dirty="0">
                <a:solidFill>
                  <a:srgbClr val="33413A"/>
                </a:solidFill>
                <a:latin typeface="Malgun Gothic" pitchFamily="34" charset="0"/>
                <a:ea typeface="Malgun Gothic" pitchFamily="34" charset="-122"/>
                <a:cs typeface="Malgun Gothic" pitchFamily="34" charset="-120"/>
              </a:rPr>
              <a:t>영유아가 놀이를 통해 심신의 건강과 조화로운 발달을 이루고, 바른 인성과 민주 시민의 기초를 형성</a:t>
            </a:r>
            <a:endParaRPr lang="en-US" sz="1200" dirty="0"/>
          </a:p>
        </p:txBody>
      </p:sp>
      <p:sp>
        <p:nvSpPr>
          <p:cNvPr id="18" name="Shape 16"/>
          <p:cNvSpPr/>
          <p:nvPr/>
        </p:nvSpPr>
        <p:spPr>
          <a:xfrm>
            <a:off x="457200" y="2514600"/>
            <a:ext cx="4023360" cy="2240280"/>
          </a:xfrm>
          <a:prstGeom prst="roundRect">
            <a:avLst>
              <a:gd name="adj" fmla="val 6122"/>
            </a:avLst>
          </a:prstGeom>
          <a:solidFill>
            <a:srgbClr val="FCE4D8"/>
          </a:solidFill>
          <a:ln/>
        </p:spPr>
      </p:sp>
      <p:sp>
        <p:nvSpPr>
          <p:cNvPr id="19" name="Text 17"/>
          <p:cNvSpPr txBox="1"/>
          <p:nvPr/>
        </p:nvSpPr>
        <p:spPr>
          <a:xfrm>
            <a:off x="640080" y="2587752"/>
            <a:ext cx="3657600" cy="320040"/>
          </a:xfrm>
          <a:prstGeom prst="rect">
            <a:avLst/>
          </a:prstGeom>
          <a:noFill/>
          <a:ln/>
        </p:spPr>
        <p:txBody>
          <a:bodyPr wrap="square" lIns="0" tIns="0" rIns="0" bIns="0" rtlCol="0" anchor="ctr"/>
          <a:lstStyle/>
          <a:p>
            <a:pPr indent="0" marL="0">
              <a:buNone/>
            </a:pPr>
            <a:r>
              <a:rPr lang="en-US" sz="1250" b="1" dirty="0">
                <a:solidFill>
                  <a:srgbClr val="C0643E"/>
                </a:solidFill>
                <a:latin typeface="Malgun Gothic" pitchFamily="34" charset="0"/>
                <a:ea typeface="Malgun Gothic" pitchFamily="34" charset="-122"/>
                <a:cs typeface="Malgun Gothic" pitchFamily="34" charset="-120"/>
              </a:rPr>
              <a:t>0~1세 보육과정 및 2세 보육과정 목표</a:t>
            </a:r>
            <a:endParaRPr lang="en-US" sz="1250" dirty="0"/>
          </a:p>
        </p:txBody>
      </p:sp>
      <p:sp>
        <p:nvSpPr>
          <p:cNvPr id="20" name="Text 18"/>
          <p:cNvSpPr txBox="1"/>
          <p:nvPr/>
        </p:nvSpPr>
        <p:spPr>
          <a:xfrm>
            <a:off x="640080" y="2926080"/>
            <a:ext cx="3703320" cy="17830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소중함을 알고, 건강하고 안전한 환경에서 즐겁게 생활한다.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일을 스스로 하고자 한다.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호기심을 가지고 탐색하며 상상력을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일상에서 아름다움에 관심을 가지고 감성을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사람과 자연을 존중하고 소통하는 데 관심을 가진다.</a:t>
            </a:r>
            <a:endParaRPr lang="en-US" sz="1050" dirty="0"/>
          </a:p>
        </p:txBody>
      </p:sp>
      <p:sp>
        <p:nvSpPr>
          <p:cNvPr id="21" name="Shape 19"/>
          <p:cNvSpPr/>
          <p:nvPr/>
        </p:nvSpPr>
        <p:spPr>
          <a:xfrm>
            <a:off x="4663440" y="2514600"/>
            <a:ext cx="4023360" cy="2240280"/>
          </a:xfrm>
          <a:prstGeom prst="roundRect">
            <a:avLst>
              <a:gd name="adj" fmla="val 6122"/>
            </a:avLst>
          </a:prstGeom>
          <a:solidFill>
            <a:srgbClr val="FDF3D6"/>
          </a:solidFill>
          <a:ln/>
        </p:spPr>
      </p:sp>
      <p:sp>
        <p:nvSpPr>
          <p:cNvPr id="22" name="Text 20"/>
          <p:cNvSpPr txBox="1"/>
          <p:nvPr/>
        </p:nvSpPr>
        <p:spPr>
          <a:xfrm>
            <a:off x="4846320" y="2587752"/>
            <a:ext cx="3657600" cy="320040"/>
          </a:xfrm>
          <a:prstGeom prst="rect">
            <a:avLst/>
          </a:prstGeom>
          <a:noFill/>
          <a:ln/>
        </p:spPr>
        <p:txBody>
          <a:bodyPr wrap="square" lIns="0" tIns="0" rIns="0" bIns="0" rtlCol="0" anchor="ctr"/>
          <a:lstStyle/>
          <a:p>
            <a:pPr indent="0" marL="0">
              <a:buNone/>
            </a:pPr>
            <a:r>
              <a:rPr lang="en-US" sz="1250" b="1" dirty="0">
                <a:solidFill>
                  <a:srgbClr val="B08A2E"/>
                </a:solidFill>
                <a:latin typeface="Malgun Gothic" pitchFamily="34" charset="0"/>
                <a:ea typeface="Malgun Gothic" pitchFamily="34" charset="-122"/>
                <a:cs typeface="Malgun Gothic" pitchFamily="34" charset="-120"/>
              </a:rPr>
              <a:t>3~5세 보육과정 목표</a:t>
            </a:r>
            <a:endParaRPr lang="en-US" sz="1250" dirty="0"/>
          </a:p>
        </p:txBody>
      </p:sp>
      <p:sp>
        <p:nvSpPr>
          <p:cNvPr id="23" name="Text 21"/>
          <p:cNvSpPr txBox="1"/>
          <p:nvPr/>
        </p:nvSpPr>
        <p:spPr>
          <a:xfrm>
            <a:off x="4846320" y="2926080"/>
            <a:ext cx="3703320" cy="17830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소중함을 알고, 건강하고 안전한 생활습관을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자신의 일을 스스로 해결하는 기초능력을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호기심과 탐구심을 가지고 상상력과 창의력을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일상에서 아름다움을 느끼고 문화적 감수성을 기른다.</a:t>
            </a:r>
            <a:endParaRPr lang="en-US" sz="1050" dirty="0"/>
          </a:p>
          <a:p>
            <a:pPr marL="342900" indent="-342900">
              <a:spcAft>
                <a:spcPts val="3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사람과 자연을 존중하고 배려하며 소통하는 태도를 기른다.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18</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표준보육과정 구성의 중점</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300" dirty="0">
                <a:solidFill>
                  <a:srgbClr val="6E7B73"/>
                </a:solidFill>
                <a:latin typeface="Malgun Gothic" pitchFamily="34" charset="0"/>
                <a:ea typeface="Malgun Gothic" pitchFamily="34" charset="-122"/>
                <a:cs typeface="Malgun Gothic" pitchFamily="34" charset="-120"/>
              </a:rPr>
              <a:t>전제: 영유아는 개별적인 특성을 지닌 고유한 존재</a:t>
            </a:r>
            <a:endParaRPr lang="en-US" sz="1300" dirty="0"/>
          </a:p>
        </p:txBody>
      </p:sp>
      <p:sp>
        <p:nvSpPr>
          <p:cNvPr id="6" name="Shape 4"/>
          <p:cNvSpPr/>
          <p:nvPr/>
        </p:nvSpPr>
        <p:spPr>
          <a:xfrm>
            <a:off x="457200" y="1417320"/>
            <a:ext cx="1517904" cy="1920240"/>
          </a:xfrm>
          <a:prstGeom prst="roundRect">
            <a:avLst>
              <a:gd name="adj" fmla="val 9036"/>
            </a:avLst>
          </a:prstGeom>
          <a:solidFill>
            <a:srgbClr val="FCE4D8"/>
          </a:solidFill>
          <a:ln/>
        </p:spPr>
      </p:sp>
      <p:sp>
        <p:nvSpPr>
          <p:cNvPr id="7" name="Shape 5"/>
          <p:cNvSpPr/>
          <p:nvPr/>
        </p:nvSpPr>
        <p:spPr>
          <a:xfrm>
            <a:off x="941832" y="1645920"/>
            <a:ext cx="548640" cy="548640"/>
          </a:xfrm>
          <a:prstGeom prst="ellipse">
            <a:avLst/>
          </a:prstGeom>
          <a:solidFill>
            <a:srgbClr val="F2A27E"/>
          </a:solidFill>
          <a:ln/>
        </p:spPr>
      </p:sp>
      <p:pic>
        <p:nvPicPr>
          <p:cNvPr id="8" name="Image 0" descr="preencoded.png">    </p:cNvPr>
          <p:cNvPicPr>
            <a:picLocks noChangeAspect="1"/>
          </p:cNvPicPr>
          <p:nvPr/>
        </p:nvPicPr>
        <p:blipFill>
          <a:blip r:embed="rId1"/>
          <a:stretch>
            <a:fillRect/>
          </a:stretch>
        </p:blipFill>
        <p:spPr>
          <a:xfrm>
            <a:off x="1078992" y="1783080"/>
            <a:ext cx="274320" cy="274320"/>
          </a:xfrm>
          <a:prstGeom prst="rect">
            <a:avLst/>
          </a:prstGeom>
        </p:spPr>
      </p:pic>
      <p:sp>
        <p:nvSpPr>
          <p:cNvPr id="9" name="Text 6"/>
          <p:cNvSpPr txBox="1"/>
          <p:nvPr/>
        </p:nvSpPr>
        <p:spPr>
          <a:xfrm>
            <a:off x="530352"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0~5세 모든 영유아에게</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적용할 수 있도록</a:t>
            </a:r>
            <a:endParaRPr lang="en-US" sz="1100" dirty="0"/>
          </a:p>
        </p:txBody>
      </p:sp>
      <p:sp>
        <p:nvSpPr>
          <p:cNvPr id="10" name="Shape 7"/>
          <p:cNvSpPr/>
          <p:nvPr/>
        </p:nvSpPr>
        <p:spPr>
          <a:xfrm>
            <a:off x="2139696" y="1417320"/>
            <a:ext cx="1517904" cy="1920240"/>
          </a:xfrm>
          <a:prstGeom prst="roundRect">
            <a:avLst>
              <a:gd name="adj" fmla="val 9036"/>
            </a:avLst>
          </a:prstGeom>
          <a:solidFill>
            <a:srgbClr val="FDF3D6"/>
          </a:solidFill>
          <a:ln/>
        </p:spPr>
      </p:sp>
      <p:sp>
        <p:nvSpPr>
          <p:cNvPr id="11" name="Shape 8"/>
          <p:cNvSpPr/>
          <p:nvPr/>
        </p:nvSpPr>
        <p:spPr>
          <a:xfrm>
            <a:off x="2624328" y="1645920"/>
            <a:ext cx="548640" cy="548640"/>
          </a:xfrm>
          <a:prstGeom prst="ellipse">
            <a:avLst/>
          </a:prstGeom>
          <a:solidFill>
            <a:srgbClr val="F5D07A"/>
          </a:solidFill>
          <a:ln/>
        </p:spPr>
      </p:sp>
      <p:pic>
        <p:nvPicPr>
          <p:cNvPr id="12" name="Image 1" descr="preencoded.png">    </p:cNvPr>
          <p:cNvPicPr>
            <a:picLocks noChangeAspect="1"/>
          </p:cNvPicPr>
          <p:nvPr/>
        </p:nvPicPr>
        <p:blipFill>
          <a:blip r:embed="rId2"/>
          <a:stretch>
            <a:fillRect/>
          </a:stretch>
        </p:blipFill>
        <p:spPr>
          <a:xfrm>
            <a:off x="2761488" y="1783080"/>
            <a:ext cx="274320" cy="274320"/>
          </a:xfrm>
          <a:prstGeom prst="rect">
            <a:avLst/>
          </a:prstGeom>
        </p:spPr>
      </p:pic>
      <p:sp>
        <p:nvSpPr>
          <p:cNvPr id="13" name="Text 9"/>
          <p:cNvSpPr txBox="1"/>
          <p:nvPr/>
        </p:nvSpPr>
        <p:spPr>
          <a:xfrm>
            <a:off x="2212848"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인간상 구현을 위한</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지식, 기능, 태도</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및 가치 반영</a:t>
            </a:r>
            <a:endParaRPr lang="en-US" sz="1100" dirty="0"/>
          </a:p>
        </p:txBody>
      </p:sp>
      <p:sp>
        <p:nvSpPr>
          <p:cNvPr id="14" name="Shape 10"/>
          <p:cNvSpPr/>
          <p:nvPr/>
        </p:nvSpPr>
        <p:spPr>
          <a:xfrm>
            <a:off x="3822192" y="1417320"/>
            <a:ext cx="1517904" cy="1920240"/>
          </a:xfrm>
          <a:prstGeom prst="roundRect">
            <a:avLst>
              <a:gd name="adj" fmla="val 9036"/>
            </a:avLst>
          </a:prstGeom>
          <a:solidFill>
            <a:srgbClr val="DCEBDD"/>
          </a:solidFill>
          <a:ln/>
        </p:spPr>
      </p:sp>
      <p:sp>
        <p:nvSpPr>
          <p:cNvPr id="15" name="Shape 11"/>
          <p:cNvSpPr/>
          <p:nvPr/>
        </p:nvSpPr>
        <p:spPr>
          <a:xfrm>
            <a:off x="4306824" y="1645920"/>
            <a:ext cx="548640" cy="548640"/>
          </a:xfrm>
          <a:prstGeom prst="ellipse">
            <a:avLst/>
          </a:prstGeom>
          <a:solidFill>
            <a:srgbClr val="5E8C6A"/>
          </a:solidFill>
          <a:ln/>
        </p:spPr>
      </p:sp>
      <p:pic>
        <p:nvPicPr>
          <p:cNvPr id="16" name="Image 2" descr="preencoded.png">    </p:cNvPr>
          <p:cNvPicPr>
            <a:picLocks noChangeAspect="1"/>
          </p:cNvPicPr>
          <p:nvPr/>
        </p:nvPicPr>
        <p:blipFill>
          <a:blip r:embed="rId3"/>
          <a:stretch>
            <a:fillRect/>
          </a:stretch>
        </p:blipFill>
        <p:spPr>
          <a:xfrm>
            <a:off x="4443984" y="1783080"/>
            <a:ext cx="274320" cy="274320"/>
          </a:xfrm>
          <a:prstGeom prst="rect">
            <a:avLst/>
          </a:prstGeom>
        </p:spPr>
      </p:pic>
      <p:sp>
        <p:nvSpPr>
          <p:cNvPr id="17" name="Text 12"/>
          <p:cNvSpPr txBox="1"/>
          <p:nvPr/>
        </p:nvSpPr>
        <p:spPr>
          <a:xfrm>
            <a:off x="3895344"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5개 영역 중심</a:t>
            </a:r>
            <a:endParaRPr lang="en-US" sz="1100" dirty="0"/>
          </a:p>
        </p:txBody>
      </p:sp>
      <p:sp>
        <p:nvSpPr>
          <p:cNvPr id="18" name="Shape 13"/>
          <p:cNvSpPr/>
          <p:nvPr/>
        </p:nvSpPr>
        <p:spPr>
          <a:xfrm>
            <a:off x="5504688" y="1417320"/>
            <a:ext cx="1517904" cy="1920240"/>
          </a:xfrm>
          <a:prstGeom prst="roundRect">
            <a:avLst>
              <a:gd name="adj" fmla="val 9036"/>
            </a:avLst>
          </a:prstGeom>
          <a:solidFill>
            <a:srgbClr val="F9E1E3"/>
          </a:solidFill>
          <a:ln/>
        </p:spPr>
      </p:sp>
      <p:sp>
        <p:nvSpPr>
          <p:cNvPr id="19" name="Shape 14"/>
          <p:cNvSpPr/>
          <p:nvPr/>
        </p:nvSpPr>
        <p:spPr>
          <a:xfrm>
            <a:off x="5989320" y="1645920"/>
            <a:ext cx="548640" cy="548640"/>
          </a:xfrm>
          <a:prstGeom prst="ellipse">
            <a:avLst/>
          </a:prstGeom>
          <a:solidFill>
            <a:srgbClr val="E8A1A8"/>
          </a:solidFill>
          <a:ln/>
        </p:spPr>
      </p:sp>
      <p:pic>
        <p:nvPicPr>
          <p:cNvPr id="20" name="Image 3" descr="preencoded.png">    </p:cNvPr>
          <p:cNvPicPr>
            <a:picLocks noChangeAspect="1"/>
          </p:cNvPicPr>
          <p:nvPr/>
        </p:nvPicPr>
        <p:blipFill>
          <a:blip r:embed="rId4"/>
          <a:stretch>
            <a:fillRect/>
          </a:stretch>
        </p:blipFill>
        <p:spPr>
          <a:xfrm>
            <a:off x="6126480" y="1783080"/>
            <a:ext cx="274320" cy="274320"/>
          </a:xfrm>
          <a:prstGeom prst="rect">
            <a:avLst/>
          </a:prstGeom>
        </p:spPr>
      </p:pic>
      <p:sp>
        <p:nvSpPr>
          <p:cNvPr id="21" name="Text 15"/>
          <p:cNvSpPr txBox="1"/>
          <p:nvPr/>
        </p:nvSpPr>
        <p:spPr>
          <a:xfrm>
            <a:off x="5577840"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0~5세 영유아가</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경험해야 할 내용</a:t>
            </a:r>
            <a:endParaRPr lang="en-US" sz="1100" dirty="0"/>
          </a:p>
        </p:txBody>
      </p:sp>
      <p:sp>
        <p:nvSpPr>
          <p:cNvPr id="22" name="Shape 16"/>
          <p:cNvSpPr/>
          <p:nvPr/>
        </p:nvSpPr>
        <p:spPr>
          <a:xfrm>
            <a:off x="7187184" y="1417320"/>
            <a:ext cx="1517904" cy="1920240"/>
          </a:xfrm>
          <a:prstGeom prst="roundRect">
            <a:avLst>
              <a:gd name="adj" fmla="val 9036"/>
            </a:avLst>
          </a:prstGeom>
          <a:solidFill>
            <a:srgbClr val="EEF4EF"/>
          </a:solidFill>
          <a:ln/>
        </p:spPr>
      </p:sp>
      <p:sp>
        <p:nvSpPr>
          <p:cNvPr id="23" name="Shape 17"/>
          <p:cNvSpPr/>
          <p:nvPr/>
        </p:nvSpPr>
        <p:spPr>
          <a:xfrm>
            <a:off x="7671816" y="1645920"/>
            <a:ext cx="548640" cy="548640"/>
          </a:xfrm>
          <a:prstGeom prst="ellipse">
            <a:avLst/>
          </a:prstGeom>
          <a:solidFill>
            <a:srgbClr val="A9CBB0"/>
          </a:solidFill>
          <a:ln/>
        </p:spPr>
      </p:sp>
      <p:pic>
        <p:nvPicPr>
          <p:cNvPr id="24" name="Image 4" descr="preencoded.png">    </p:cNvPr>
          <p:cNvPicPr>
            <a:picLocks noChangeAspect="1"/>
          </p:cNvPicPr>
          <p:nvPr/>
        </p:nvPicPr>
        <p:blipFill>
          <a:blip r:embed="rId5"/>
          <a:stretch>
            <a:fillRect/>
          </a:stretch>
        </p:blipFill>
        <p:spPr>
          <a:xfrm>
            <a:off x="7808976" y="1783080"/>
            <a:ext cx="274320" cy="274320"/>
          </a:xfrm>
          <a:prstGeom prst="rect">
            <a:avLst/>
          </a:prstGeom>
        </p:spPr>
      </p:pic>
      <p:sp>
        <p:nvSpPr>
          <p:cNvPr id="25" name="Text 18"/>
          <p:cNvSpPr txBox="1"/>
          <p:nvPr/>
        </p:nvSpPr>
        <p:spPr>
          <a:xfrm>
            <a:off x="7260336" y="2331720"/>
            <a:ext cx="1371600" cy="822960"/>
          </a:xfrm>
          <a:prstGeom prst="rect">
            <a:avLst/>
          </a:prstGeom>
          <a:noFill/>
          <a:ln/>
        </p:spPr>
        <p:txBody>
          <a:bodyPr wrap="square" lIns="0" tIns="0" rIns="0" bIns="0" rtlCol="0" anchor="t"/>
          <a:lstStyle/>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초등학교 교육과정</a:t>
            </a:r>
            <a:endParaRPr lang="en-US" sz="1100" dirty="0"/>
          </a:p>
          <a:p>
            <a:pPr algn="ctr" indent="0" marL="0">
              <a:buNone/>
            </a:pPr>
            <a:r>
              <a:rPr lang="en-US" sz="1100" b="1" dirty="0">
                <a:solidFill>
                  <a:srgbClr val="33413A"/>
                </a:solidFill>
                <a:latin typeface="Malgun Gothic" pitchFamily="34" charset="0"/>
                <a:ea typeface="Malgun Gothic" pitchFamily="34" charset="-122"/>
                <a:cs typeface="Malgun Gothic" pitchFamily="34" charset="-120"/>
              </a:rPr>
              <a:t>과의 연계성 고려</a:t>
            </a:r>
            <a:endParaRPr lang="en-US" sz="1100" dirty="0"/>
          </a:p>
        </p:txBody>
      </p:sp>
      <p:sp>
        <p:nvSpPr>
          <p:cNvPr id="26" name="Text 19"/>
          <p:cNvSpPr txBox="1"/>
          <p:nvPr/>
        </p:nvSpPr>
        <p:spPr>
          <a:xfrm>
            <a:off x="457200" y="3611880"/>
            <a:ext cx="8229600" cy="274320"/>
          </a:xfrm>
          <a:prstGeom prst="rect">
            <a:avLst/>
          </a:prstGeom>
          <a:noFill/>
          <a:ln/>
        </p:spPr>
        <p:txBody>
          <a:bodyPr wrap="square" lIns="0" tIns="0" rIns="0" bIns="0" rtlCol="0" anchor="ctr"/>
          <a:lstStyle/>
          <a:p>
            <a:pPr indent="0" marL="0">
              <a:buNone/>
            </a:pPr>
            <a:r>
              <a:rPr lang="en-US" sz="1300" b="1" dirty="0">
                <a:solidFill>
                  <a:srgbClr val="5E8C6A"/>
                </a:solidFill>
                <a:latin typeface="Malgun Gothic" pitchFamily="34" charset="0"/>
                <a:ea typeface="Malgun Gothic" pitchFamily="34" charset="-122"/>
                <a:cs typeface="Malgun Gothic" pitchFamily="34" charset="-120"/>
              </a:rPr>
              <a:t>5개 영역</a:t>
            </a:r>
            <a:endParaRPr lang="en-US" sz="1300" dirty="0"/>
          </a:p>
        </p:txBody>
      </p:sp>
      <p:sp>
        <p:nvSpPr>
          <p:cNvPr id="27" name="Shape 20"/>
          <p:cNvSpPr/>
          <p:nvPr/>
        </p:nvSpPr>
        <p:spPr>
          <a:xfrm>
            <a:off x="457200" y="3977640"/>
            <a:ext cx="1517904" cy="548640"/>
          </a:xfrm>
          <a:prstGeom prst="roundRect">
            <a:avLst>
              <a:gd name="adj" fmla="val 50000"/>
            </a:avLst>
          </a:prstGeom>
          <a:solidFill>
            <a:srgbClr val="F2A27E"/>
          </a:solidFill>
          <a:ln/>
        </p:spPr>
      </p:sp>
      <p:sp>
        <p:nvSpPr>
          <p:cNvPr id="28" name="Text 21"/>
          <p:cNvSpPr txBox="1"/>
          <p:nvPr/>
        </p:nvSpPr>
        <p:spPr>
          <a:xfrm>
            <a:off x="457200"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신체운동·건강</a:t>
            </a:r>
            <a:endParaRPr lang="en-US" sz="1300" dirty="0"/>
          </a:p>
        </p:txBody>
      </p:sp>
      <p:sp>
        <p:nvSpPr>
          <p:cNvPr id="29" name="Shape 22"/>
          <p:cNvSpPr/>
          <p:nvPr/>
        </p:nvSpPr>
        <p:spPr>
          <a:xfrm>
            <a:off x="2139696" y="3977640"/>
            <a:ext cx="1517904" cy="548640"/>
          </a:xfrm>
          <a:prstGeom prst="roundRect">
            <a:avLst>
              <a:gd name="adj" fmla="val 50000"/>
            </a:avLst>
          </a:prstGeom>
          <a:solidFill>
            <a:srgbClr val="F5D07A"/>
          </a:solidFill>
          <a:ln/>
        </p:spPr>
      </p:sp>
      <p:sp>
        <p:nvSpPr>
          <p:cNvPr id="30" name="Text 23"/>
          <p:cNvSpPr txBox="1"/>
          <p:nvPr/>
        </p:nvSpPr>
        <p:spPr>
          <a:xfrm>
            <a:off x="2139696" y="3977640"/>
            <a:ext cx="1517904" cy="54864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의사소통</a:t>
            </a:r>
            <a:endParaRPr lang="en-US" sz="1300" dirty="0"/>
          </a:p>
        </p:txBody>
      </p:sp>
      <p:sp>
        <p:nvSpPr>
          <p:cNvPr id="31" name="Shape 24"/>
          <p:cNvSpPr/>
          <p:nvPr/>
        </p:nvSpPr>
        <p:spPr>
          <a:xfrm>
            <a:off x="3822192" y="3977640"/>
            <a:ext cx="1517904" cy="548640"/>
          </a:xfrm>
          <a:prstGeom prst="roundRect">
            <a:avLst>
              <a:gd name="adj" fmla="val 50000"/>
            </a:avLst>
          </a:prstGeom>
          <a:solidFill>
            <a:srgbClr val="5E8C6A"/>
          </a:solidFill>
          <a:ln/>
        </p:spPr>
      </p:sp>
      <p:sp>
        <p:nvSpPr>
          <p:cNvPr id="32" name="Text 25"/>
          <p:cNvSpPr txBox="1"/>
          <p:nvPr/>
        </p:nvSpPr>
        <p:spPr>
          <a:xfrm>
            <a:off x="3822192"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사회관계</a:t>
            </a:r>
            <a:endParaRPr lang="en-US" sz="1300" dirty="0"/>
          </a:p>
        </p:txBody>
      </p:sp>
      <p:sp>
        <p:nvSpPr>
          <p:cNvPr id="33" name="Shape 26"/>
          <p:cNvSpPr/>
          <p:nvPr/>
        </p:nvSpPr>
        <p:spPr>
          <a:xfrm>
            <a:off x="5504688" y="3977640"/>
            <a:ext cx="1517904" cy="548640"/>
          </a:xfrm>
          <a:prstGeom prst="roundRect">
            <a:avLst>
              <a:gd name="adj" fmla="val 50000"/>
            </a:avLst>
          </a:prstGeom>
          <a:solidFill>
            <a:srgbClr val="E8A1A8"/>
          </a:solidFill>
          <a:ln/>
        </p:spPr>
      </p:sp>
      <p:sp>
        <p:nvSpPr>
          <p:cNvPr id="34" name="Text 27"/>
          <p:cNvSpPr txBox="1"/>
          <p:nvPr/>
        </p:nvSpPr>
        <p:spPr>
          <a:xfrm>
            <a:off x="5504688"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예술경험</a:t>
            </a:r>
            <a:endParaRPr lang="en-US" sz="1300" dirty="0"/>
          </a:p>
        </p:txBody>
      </p:sp>
      <p:sp>
        <p:nvSpPr>
          <p:cNvPr id="35" name="Shape 28"/>
          <p:cNvSpPr/>
          <p:nvPr/>
        </p:nvSpPr>
        <p:spPr>
          <a:xfrm>
            <a:off x="7187184" y="3977640"/>
            <a:ext cx="1517904" cy="548640"/>
          </a:xfrm>
          <a:prstGeom prst="roundRect">
            <a:avLst>
              <a:gd name="adj" fmla="val 50000"/>
            </a:avLst>
          </a:prstGeom>
          <a:solidFill>
            <a:srgbClr val="A9CBB0"/>
          </a:solidFill>
          <a:ln/>
        </p:spPr>
      </p:sp>
      <p:sp>
        <p:nvSpPr>
          <p:cNvPr id="36" name="Text 29"/>
          <p:cNvSpPr txBox="1"/>
          <p:nvPr/>
        </p:nvSpPr>
        <p:spPr>
          <a:xfrm>
            <a:off x="7187184" y="3977640"/>
            <a:ext cx="1517904"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자연탐구</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19</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표준보육과정의 운영</a:t>
            </a:r>
            <a:endParaRPr lang="en-US" sz="2800" dirty="0"/>
          </a:p>
        </p:txBody>
      </p:sp>
      <p:sp>
        <p:nvSpPr>
          <p:cNvPr id="5" name="Shape 3"/>
          <p:cNvSpPr/>
          <p:nvPr/>
        </p:nvSpPr>
        <p:spPr>
          <a:xfrm>
            <a:off x="457200" y="1097280"/>
            <a:ext cx="2615184" cy="3611880"/>
          </a:xfrm>
          <a:prstGeom prst="roundRect">
            <a:avLst>
              <a:gd name="adj" fmla="val 5245"/>
            </a:avLst>
          </a:prstGeom>
          <a:solidFill>
            <a:srgbClr val="FCE4D8"/>
          </a:solidFill>
          <a:ln/>
        </p:spPr>
      </p:sp>
      <p:sp>
        <p:nvSpPr>
          <p:cNvPr id="6" name="Shape 4"/>
          <p:cNvSpPr/>
          <p:nvPr/>
        </p:nvSpPr>
        <p:spPr>
          <a:xfrm>
            <a:off x="640080" y="1234440"/>
            <a:ext cx="457200" cy="457200"/>
          </a:xfrm>
          <a:prstGeom prst="ellipse">
            <a:avLst/>
          </a:prstGeom>
          <a:solidFill>
            <a:srgbClr val="F2A27E"/>
          </a:solidFill>
          <a:ln/>
        </p:spPr>
      </p:sp>
      <p:pic>
        <p:nvPicPr>
          <p:cNvPr id="7" name="Image 0" descr="preencoded.png">    </p:cNvPr>
          <p:cNvPicPr>
            <a:picLocks noChangeAspect="1"/>
          </p:cNvPicPr>
          <p:nvPr/>
        </p:nvPicPr>
        <p:blipFill>
          <a:blip r:embed="rId1"/>
          <a:stretch>
            <a:fillRect/>
          </a:stretch>
        </p:blipFill>
        <p:spPr>
          <a:xfrm>
            <a:off x="754380" y="1348740"/>
            <a:ext cx="228600" cy="228600"/>
          </a:xfrm>
          <a:prstGeom prst="rect">
            <a:avLst/>
          </a:prstGeom>
        </p:spPr>
      </p:pic>
      <p:sp>
        <p:nvSpPr>
          <p:cNvPr id="8" name="Text 5"/>
          <p:cNvSpPr txBox="1"/>
          <p:nvPr/>
        </p:nvSpPr>
        <p:spPr>
          <a:xfrm>
            <a:off x="1188720"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① 편성·운영</a:t>
            </a:r>
            <a:endParaRPr lang="en-US" sz="1600" dirty="0"/>
          </a:p>
        </p:txBody>
      </p:sp>
      <p:sp>
        <p:nvSpPr>
          <p:cNvPr id="9" name="Text 6"/>
          <p:cNvSpPr txBox="1"/>
          <p:nvPr/>
        </p:nvSpPr>
        <p:spPr>
          <a:xfrm>
            <a:off x="594360"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각 기관의 운영 시간에 맞추어 편성</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기관의 실정에 적합한 계획 수립</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바깥놀이를 포함하여 놀이가 충분히 이루어지도록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성, 신체적 특성, 장애, 종교, 가족 및 문화적 배경 등에 따른 차별이 없도록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발달과 장애 정도에 따라 조정</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가정과 지역사회와의 협력과 참여에 기반</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교사 연수를 통해 운영 개선</a:t>
            </a:r>
            <a:endParaRPr lang="en-US" sz="1050" dirty="0"/>
          </a:p>
        </p:txBody>
      </p:sp>
      <p:sp>
        <p:nvSpPr>
          <p:cNvPr id="10" name="Shape 7"/>
          <p:cNvSpPr/>
          <p:nvPr/>
        </p:nvSpPr>
        <p:spPr>
          <a:xfrm>
            <a:off x="3264408" y="1097280"/>
            <a:ext cx="2615184" cy="3611880"/>
          </a:xfrm>
          <a:prstGeom prst="roundRect">
            <a:avLst>
              <a:gd name="adj" fmla="val 5245"/>
            </a:avLst>
          </a:prstGeom>
          <a:solidFill>
            <a:srgbClr val="DCEBDD"/>
          </a:solidFill>
          <a:ln/>
        </p:spPr>
      </p:sp>
      <p:sp>
        <p:nvSpPr>
          <p:cNvPr id="11" name="Shape 8"/>
          <p:cNvSpPr/>
          <p:nvPr/>
        </p:nvSpPr>
        <p:spPr>
          <a:xfrm>
            <a:off x="3447288" y="1234440"/>
            <a:ext cx="457200" cy="457200"/>
          </a:xfrm>
          <a:prstGeom prst="ellipse">
            <a:avLst/>
          </a:prstGeom>
          <a:solidFill>
            <a:srgbClr val="5E8C6A"/>
          </a:solidFill>
          <a:ln/>
        </p:spPr>
      </p:sp>
      <p:pic>
        <p:nvPicPr>
          <p:cNvPr id="12" name="Image 1" descr="preencoded.png">    </p:cNvPr>
          <p:cNvPicPr>
            <a:picLocks noChangeAspect="1"/>
          </p:cNvPicPr>
          <p:nvPr/>
        </p:nvPicPr>
        <p:blipFill>
          <a:blip r:embed="rId2"/>
          <a:stretch>
            <a:fillRect/>
          </a:stretch>
        </p:blipFill>
        <p:spPr>
          <a:xfrm>
            <a:off x="3561588" y="1348740"/>
            <a:ext cx="228600" cy="228600"/>
          </a:xfrm>
          <a:prstGeom prst="rect">
            <a:avLst/>
          </a:prstGeom>
        </p:spPr>
      </p:pic>
      <p:sp>
        <p:nvSpPr>
          <p:cNvPr id="13" name="Text 9"/>
          <p:cNvSpPr txBox="1"/>
          <p:nvPr/>
        </p:nvSpPr>
        <p:spPr>
          <a:xfrm>
            <a:off x="3995928"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② 교수·학습</a:t>
            </a:r>
            <a:endParaRPr lang="en-US" sz="1600" dirty="0"/>
          </a:p>
        </p:txBody>
      </p:sp>
      <p:sp>
        <p:nvSpPr>
          <p:cNvPr id="14" name="Text 10"/>
          <p:cNvSpPr txBox="1"/>
          <p:nvPr/>
        </p:nvSpPr>
        <p:spPr>
          <a:xfrm>
            <a:off x="3401568"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흥미와 관심에 따라 놀이에 자유롭게 참여하고 즐기도록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놀이를 통해 배우도록</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다양한 놀이와 활동을 경험하도록 실내외 환경 구성</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영유아와 영유아·교사·환경 사이 능동적 상호작용</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5개 영역의 내용이 통합적으로 경험과 연계</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개별 요구에 따라 휴식과 일상생활이 원활히</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연령, 발달, 장애, 배경 등을 고려해 개별 특성에 적합한 방식으로</a:t>
            </a:r>
            <a:endParaRPr lang="en-US" sz="1050" dirty="0"/>
          </a:p>
        </p:txBody>
      </p:sp>
      <p:sp>
        <p:nvSpPr>
          <p:cNvPr id="15" name="Shape 11"/>
          <p:cNvSpPr/>
          <p:nvPr/>
        </p:nvSpPr>
        <p:spPr>
          <a:xfrm>
            <a:off x="6071616" y="1097280"/>
            <a:ext cx="2615184" cy="3611880"/>
          </a:xfrm>
          <a:prstGeom prst="roundRect">
            <a:avLst>
              <a:gd name="adj" fmla="val 5245"/>
            </a:avLst>
          </a:prstGeom>
          <a:solidFill>
            <a:srgbClr val="FDF3D6"/>
          </a:solidFill>
          <a:ln/>
        </p:spPr>
      </p:sp>
      <p:sp>
        <p:nvSpPr>
          <p:cNvPr id="16" name="Shape 12"/>
          <p:cNvSpPr/>
          <p:nvPr/>
        </p:nvSpPr>
        <p:spPr>
          <a:xfrm>
            <a:off x="6254496" y="1234440"/>
            <a:ext cx="457200" cy="457200"/>
          </a:xfrm>
          <a:prstGeom prst="ellipse">
            <a:avLst/>
          </a:prstGeom>
          <a:solidFill>
            <a:srgbClr val="F5D07A"/>
          </a:solidFill>
          <a:ln/>
        </p:spPr>
      </p:sp>
      <p:pic>
        <p:nvPicPr>
          <p:cNvPr id="17" name="Image 2" descr="preencoded.png">    </p:cNvPr>
          <p:cNvPicPr>
            <a:picLocks noChangeAspect="1"/>
          </p:cNvPicPr>
          <p:nvPr/>
        </p:nvPicPr>
        <p:blipFill>
          <a:blip r:embed="rId3"/>
          <a:stretch>
            <a:fillRect/>
          </a:stretch>
        </p:blipFill>
        <p:spPr>
          <a:xfrm>
            <a:off x="6368796" y="1348740"/>
            <a:ext cx="228600" cy="228600"/>
          </a:xfrm>
          <a:prstGeom prst="rect">
            <a:avLst/>
          </a:prstGeom>
        </p:spPr>
      </p:pic>
      <p:sp>
        <p:nvSpPr>
          <p:cNvPr id="18" name="Text 13"/>
          <p:cNvSpPr txBox="1"/>
          <p:nvPr/>
        </p:nvSpPr>
        <p:spPr>
          <a:xfrm>
            <a:off x="6803136" y="1234440"/>
            <a:ext cx="1737360" cy="457200"/>
          </a:xfrm>
          <a:prstGeom prst="rect">
            <a:avLst/>
          </a:prstGeom>
          <a:noFill/>
          <a:ln/>
        </p:spPr>
        <p:txBody>
          <a:bodyPr wrap="square" lIns="0" tIns="0" rIns="0" bIns="0" rtlCol="0" anchor="ctr"/>
          <a:lstStyle/>
          <a:p>
            <a:pPr indent="0" marL="0">
              <a:buNone/>
            </a:pPr>
            <a:r>
              <a:rPr lang="en-US" sz="1600" b="1" dirty="0">
                <a:solidFill>
                  <a:srgbClr val="33413A"/>
                </a:solidFill>
                <a:latin typeface="Malgun Gothic" pitchFamily="34" charset="0"/>
                <a:ea typeface="Malgun Gothic" pitchFamily="34" charset="-122"/>
                <a:cs typeface="Malgun Gothic" pitchFamily="34" charset="-120"/>
              </a:rPr>
              <a:t>③ 평가</a:t>
            </a:r>
            <a:endParaRPr lang="en-US" sz="1600" dirty="0"/>
          </a:p>
        </p:txBody>
      </p:sp>
      <p:sp>
        <p:nvSpPr>
          <p:cNvPr id="19" name="Text 14"/>
          <p:cNvSpPr txBox="1"/>
          <p:nvPr/>
        </p:nvSpPr>
        <p:spPr>
          <a:xfrm>
            <a:off x="6208776" y="1783080"/>
            <a:ext cx="2377440" cy="2880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운영의 질을 진단하고 개선하기 위해 평가를 계획하고 실시</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영유아의 특성 및 변화 정도와 표준보육과정의 운영을 평가</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평가의 목적에 따라 적합한 방법 사용</a:t>
            </a:r>
            <a:endParaRPr lang="en-US" sz="1050" dirty="0"/>
          </a:p>
          <a:p>
            <a:pPr marL="342900" indent="-342900">
              <a:spcAft>
                <a:spcPts val="400"/>
              </a:spcAft>
              <a:buSzPct val="100000"/>
              <a:buChar char="•"/>
            </a:pPr>
            <a:r>
              <a:rPr lang="en-US" sz="1050" dirty="0">
                <a:solidFill>
                  <a:srgbClr val="33413A"/>
                </a:solidFill>
                <a:latin typeface="Malgun Gothic" pitchFamily="34" charset="0"/>
                <a:ea typeface="Malgun Gothic" pitchFamily="34" charset="-122"/>
                <a:cs typeface="Malgun Gothic" pitchFamily="34" charset="-120"/>
              </a:rPr>
              <a:t>결과는 영유아에 대한 이해와 운영 개선을 위한 자료로 활용</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20</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연령별 목표 및 내용: 5개 영역과 내용범주</a:t>
            </a:r>
            <a:endParaRPr lang="en-US" sz="2800" dirty="0"/>
          </a:p>
        </p:txBody>
      </p:sp>
      <p:sp>
        <p:nvSpPr>
          <p:cNvPr id="5" name="Text 3"/>
          <p:cNvSpPr txBox="1"/>
          <p:nvPr/>
        </p:nvSpPr>
        <p:spPr>
          <a:xfrm>
            <a:off x="1097280" y="914400"/>
            <a:ext cx="7589520" cy="274320"/>
          </a:xfrm>
          <a:prstGeom prst="rect">
            <a:avLst/>
          </a:prstGeom>
          <a:noFill/>
          <a:ln/>
        </p:spPr>
        <p:txBody>
          <a:bodyPr wrap="square" lIns="0" tIns="0" rIns="0" bIns="0" rtlCol="0" anchor="ctr"/>
          <a:lstStyle/>
          <a:p>
            <a:pPr indent="0" marL="0">
              <a:buNone/>
            </a:pPr>
            <a:r>
              <a:rPr lang="en-US" sz="1200" dirty="0">
                <a:solidFill>
                  <a:srgbClr val="6E7B73"/>
                </a:solidFill>
                <a:latin typeface="Malgun Gothic" pitchFamily="34" charset="0"/>
                <a:ea typeface="Malgun Gothic" pitchFamily="34" charset="-122"/>
                <a:cs typeface="Malgun Gothic" pitchFamily="34" charset="-120"/>
              </a:rPr>
              <a:t>0~1세 · 2세 · 3~5세 모두 같은 5개 영역 (교육부고시 제2024-23호)</a:t>
            </a:r>
            <a:endParaRPr lang="en-US" sz="1200" dirty="0"/>
          </a:p>
        </p:txBody>
      </p:sp>
      <p:sp>
        <p:nvSpPr>
          <p:cNvPr id="6" name="Shape 4"/>
          <p:cNvSpPr/>
          <p:nvPr/>
        </p:nvSpPr>
        <p:spPr>
          <a:xfrm>
            <a:off x="457200" y="1325880"/>
            <a:ext cx="1517904" cy="457200"/>
          </a:xfrm>
          <a:prstGeom prst="roundRect">
            <a:avLst>
              <a:gd name="adj" fmla="val 24000"/>
            </a:avLst>
          </a:prstGeom>
          <a:solidFill>
            <a:srgbClr val="F2A27E"/>
          </a:solidFill>
          <a:ln/>
        </p:spPr>
      </p:sp>
      <p:sp>
        <p:nvSpPr>
          <p:cNvPr id="7" name="Text 5"/>
          <p:cNvSpPr txBox="1"/>
          <p:nvPr/>
        </p:nvSpPr>
        <p:spPr>
          <a:xfrm>
            <a:off x="457200"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신체운동·건강</a:t>
            </a:r>
            <a:endParaRPr lang="en-US" sz="1300" dirty="0"/>
          </a:p>
        </p:txBody>
      </p:sp>
      <p:sp>
        <p:nvSpPr>
          <p:cNvPr id="8" name="Shape 6"/>
          <p:cNvSpPr/>
          <p:nvPr/>
        </p:nvSpPr>
        <p:spPr>
          <a:xfrm>
            <a:off x="457200" y="1874520"/>
            <a:ext cx="1517904" cy="438912"/>
          </a:xfrm>
          <a:prstGeom prst="roundRect">
            <a:avLst>
              <a:gd name="adj" fmla="val 20833"/>
            </a:avLst>
          </a:prstGeom>
          <a:solidFill>
            <a:srgbClr val="F4F7F4"/>
          </a:solidFill>
          <a:ln/>
        </p:spPr>
      </p:sp>
      <p:sp>
        <p:nvSpPr>
          <p:cNvPr id="9" name="Text 7"/>
          <p:cNvSpPr txBox="1"/>
          <p:nvPr/>
        </p:nvSpPr>
        <p:spPr>
          <a:xfrm>
            <a:off x="502920"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신체활동 즐기기</a:t>
            </a:r>
            <a:endParaRPr lang="en-US" sz="1050" dirty="0"/>
          </a:p>
        </p:txBody>
      </p:sp>
      <p:sp>
        <p:nvSpPr>
          <p:cNvPr id="10" name="Shape 8"/>
          <p:cNvSpPr/>
          <p:nvPr/>
        </p:nvSpPr>
        <p:spPr>
          <a:xfrm>
            <a:off x="457200" y="2386584"/>
            <a:ext cx="1517904" cy="438912"/>
          </a:xfrm>
          <a:prstGeom prst="roundRect">
            <a:avLst>
              <a:gd name="adj" fmla="val 20833"/>
            </a:avLst>
          </a:prstGeom>
          <a:solidFill>
            <a:srgbClr val="F4F7F4"/>
          </a:solidFill>
          <a:ln/>
        </p:spPr>
      </p:sp>
      <p:sp>
        <p:nvSpPr>
          <p:cNvPr id="11" name="Text 9"/>
          <p:cNvSpPr txBox="1"/>
          <p:nvPr/>
        </p:nvSpPr>
        <p:spPr>
          <a:xfrm>
            <a:off x="502920"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건강하게 생활하기</a:t>
            </a:r>
            <a:endParaRPr lang="en-US" sz="1050" dirty="0"/>
          </a:p>
        </p:txBody>
      </p:sp>
      <p:sp>
        <p:nvSpPr>
          <p:cNvPr id="12" name="Shape 10"/>
          <p:cNvSpPr/>
          <p:nvPr/>
        </p:nvSpPr>
        <p:spPr>
          <a:xfrm>
            <a:off x="457200" y="2898648"/>
            <a:ext cx="1517904" cy="438912"/>
          </a:xfrm>
          <a:prstGeom prst="roundRect">
            <a:avLst>
              <a:gd name="adj" fmla="val 20833"/>
            </a:avLst>
          </a:prstGeom>
          <a:solidFill>
            <a:srgbClr val="F4F7F4"/>
          </a:solidFill>
          <a:ln/>
        </p:spPr>
      </p:sp>
      <p:sp>
        <p:nvSpPr>
          <p:cNvPr id="13" name="Text 11"/>
          <p:cNvSpPr txBox="1"/>
          <p:nvPr/>
        </p:nvSpPr>
        <p:spPr>
          <a:xfrm>
            <a:off x="502920"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안전하게 생활하기</a:t>
            </a:r>
            <a:endParaRPr lang="en-US" sz="1050" dirty="0"/>
          </a:p>
        </p:txBody>
      </p:sp>
      <p:sp>
        <p:nvSpPr>
          <p:cNvPr id="14" name="Shape 12"/>
          <p:cNvSpPr/>
          <p:nvPr/>
        </p:nvSpPr>
        <p:spPr>
          <a:xfrm>
            <a:off x="2139696" y="1325880"/>
            <a:ext cx="1517904" cy="457200"/>
          </a:xfrm>
          <a:prstGeom prst="roundRect">
            <a:avLst>
              <a:gd name="adj" fmla="val 24000"/>
            </a:avLst>
          </a:prstGeom>
          <a:solidFill>
            <a:srgbClr val="F5D07A"/>
          </a:solidFill>
          <a:ln/>
        </p:spPr>
      </p:sp>
      <p:sp>
        <p:nvSpPr>
          <p:cNvPr id="15" name="Text 13"/>
          <p:cNvSpPr txBox="1"/>
          <p:nvPr/>
        </p:nvSpPr>
        <p:spPr>
          <a:xfrm>
            <a:off x="2139696" y="1325880"/>
            <a:ext cx="1517904" cy="457200"/>
          </a:xfrm>
          <a:prstGeom prst="rect">
            <a:avLst/>
          </a:prstGeom>
          <a:noFill/>
          <a:ln/>
        </p:spPr>
        <p:txBody>
          <a:bodyPr wrap="square" lIns="0" tIns="0" rIns="0" bIns="0" rtlCol="0" anchor="ctr"/>
          <a:lstStyle/>
          <a:p>
            <a:pPr algn="ctr" indent="0" marL="0">
              <a:buNone/>
            </a:pPr>
            <a:r>
              <a:rPr lang="en-US" sz="1300" b="1" dirty="0">
                <a:solidFill>
                  <a:srgbClr val="33413A"/>
                </a:solidFill>
                <a:latin typeface="Malgun Gothic" pitchFamily="34" charset="0"/>
                <a:ea typeface="Malgun Gothic" pitchFamily="34" charset="-122"/>
                <a:cs typeface="Malgun Gothic" pitchFamily="34" charset="-120"/>
              </a:rPr>
              <a:t>의사소통</a:t>
            </a:r>
            <a:endParaRPr lang="en-US" sz="1300" dirty="0"/>
          </a:p>
        </p:txBody>
      </p:sp>
      <p:sp>
        <p:nvSpPr>
          <p:cNvPr id="16" name="Shape 14"/>
          <p:cNvSpPr/>
          <p:nvPr/>
        </p:nvSpPr>
        <p:spPr>
          <a:xfrm>
            <a:off x="2139696" y="1874520"/>
            <a:ext cx="1517904" cy="438912"/>
          </a:xfrm>
          <a:prstGeom prst="roundRect">
            <a:avLst>
              <a:gd name="adj" fmla="val 20833"/>
            </a:avLst>
          </a:prstGeom>
          <a:solidFill>
            <a:srgbClr val="F4F7F4"/>
          </a:solidFill>
          <a:ln/>
        </p:spPr>
      </p:sp>
      <p:sp>
        <p:nvSpPr>
          <p:cNvPr id="17" name="Text 15"/>
          <p:cNvSpPr txBox="1"/>
          <p:nvPr/>
        </p:nvSpPr>
        <p:spPr>
          <a:xfrm>
            <a:off x="2185416"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듣기와 말하기</a:t>
            </a:r>
            <a:endParaRPr lang="en-US" sz="1050" dirty="0"/>
          </a:p>
        </p:txBody>
      </p:sp>
      <p:sp>
        <p:nvSpPr>
          <p:cNvPr id="18" name="Shape 16"/>
          <p:cNvSpPr/>
          <p:nvPr/>
        </p:nvSpPr>
        <p:spPr>
          <a:xfrm>
            <a:off x="2139696" y="2386584"/>
            <a:ext cx="1517904" cy="438912"/>
          </a:xfrm>
          <a:prstGeom prst="roundRect">
            <a:avLst>
              <a:gd name="adj" fmla="val 20833"/>
            </a:avLst>
          </a:prstGeom>
          <a:solidFill>
            <a:srgbClr val="F4F7F4"/>
          </a:solidFill>
          <a:ln/>
        </p:spPr>
      </p:sp>
      <p:sp>
        <p:nvSpPr>
          <p:cNvPr id="19" name="Text 17"/>
          <p:cNvSpPr txBox="1"/>
          <p:nvPr/>
        </p:nvSpPr>
        <p:spPr>
          <a:xfrm>
            <a:off x="2185416"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읽기와 쓰기에</a:t>
            </a:r>
            <a:endParaRPr lang="en-US" sz="1050" dirty="0"/>
          </a:p>
          <a:p>
            <a:pPr algn="ctr" indent="0" marL="0">
              <a:buNone/>
            </a:pPr>
            <a:r>
              <a:rPr lang="en-US" sz="1050" dirty="0">
                <a:solidFill>
                  <a:srgbClr val="33413A"/>
                </a:solidFill>
                <a:latin typeface="Malgun Gothic" pitchFamily="34" charset="0"/>
                <a:ea typeface="Malgun Gothic" pitchFamily="34" charset="-122"/>
                <a:cs typeface="Malgun Gothic" pitchFamily="34" charset="-120"/>
              </a:rPr>
              <a:t>관심 가지기</a:t>
            </a:r>
            <a:endParaRPr lang="en-US" sz="1050" dirty="0"/>
          </a:p>
        </p:txBody>
      </p:sp>
      <p:sp>
        <p:nvSpPr>
          <p:cNvPr id="20" name="Shape 18"/>
          <p:cNvSpPr/>
          <p:nvPr/>
        </p:nvSpPr>
        <p:spPr>
          <a:xfrm>
            <a:off x="2139696" y="2898648"/>
            <a:ext cx="1517904" cy="438912"/>
          </a:xfrm>
          <a:prstGeom prst="roundRect">
            <a:avLst>
              <a:gd name="adj" fmla="val 20833"/>
            </a:avLst>
          </a:prstGeom>
          <a:solidFill>
            <a:srgbClr val="F4F7F4"/>
          </a:solidFill>
          <a:ln/>
        </p:spPr>
      </p:sp>
      <p:sp>
        <p:nvSpPr>
          <p:cNvPr id="21" name="Text 19"/>
          <p:cNvSpPr txBox="1"/>
          <p:nvPr/>
        </p:nvSpPr>
        <p:spPr>
          <a:xfrm>
            <a:off x="2185416"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책과 이야기 즐기기</a:t>
            </a:r>
            <a:endParaRPr lang="en-US" sz="1050" dirty="0"/>
          </a:p>
        </p:txBody>
      </p:sp>
      <p:sp>
        <p:nvSpPr>
          <p:cNvPr id="22" name="Shape 20"/>
          <p:cNvSpPr/>
          <p:nvPr/>
        </p:nvSpPr>
        <p:spPr>
          <a:xfrm>
            <a:off x="3822192" y="1325880"/>
            <a:ext cx="1517904" cy="457200"/>
          </a:xfrm>
          <a:prstGeom prst="roundRect">
            <a:avLst>
              <a:gd name="adj" fmla="val 24000"/>
            </a:avLst>
          </a:prstGeom>
          <a:solidFill>
            <a:srgbClr val="5E8C6A"/>
          </a:solidFill>
          <a:ln/>
        </p:spPr>
      </p:sp>
      <p:sp>
        <p:nvSpPr>
          <p:cNvPr id="23" name="Text 21"/>
          <p:cNvSpPr txBox="1"/>
          <p:nvPr/>
        </p:nvSpPr>
        <p:spPr>
          <a:xfrm>
            <a:off x="3822192"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사회관계</a:t>
            </a:r>
            <a:endParaRPr lang="en-US" sz="1300" dirty="0"/>
          </a:p>
        </p:txBody>
      </p:sp>
      <p:sp>
        <p:nvSpPr>
          <p:cNvPr id="24" name="Shape 22"/>
          <p:cNvSpPr/>
          <p:nvPr/>
        </p:nvSpPr>
        <p:spPr>
          <a:xfrm>
            <a:off x="3822192" y="1874520"/>
            <a:ext cx="1517904" cy="438912"/>
          </a:xfrm>
          <a:prstGeom prst="roundRect">
            <a:avLst>
              <a:gd name="adj" fmla="val 20833"/>
            </a:avLst>
          </a:prstGeom>
          <a:solidFill>
            <a:srgbClr val="F4F7F4"/>
          </a:solidFill>
          <a:ln/>
        </p:spPr>
      </p:sp>
      <p:sp>
        <p:nvSpPr>
          <p:cNvPr id="25" name="Text 23"/>
          <p:cNvSpPr txBox="1"/>
          <p:nvPr/>
        </p:nvSpPr>
        <p:spPr>
          <a:xfrm>
            <a:off x="3867912"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나를 알고 존중하기</a:t>
            </a:r>
            <a:endParaRPr lang="en-US" sz="1050" dirty="0"/>
          </a:p>
        </p:txBody>
      </p:sp>
      <p:sp>
        <p:nvSpPr>
          <p:cNvPr id="26" name="Shape 24"/>
          <p:cNvSpPr/>
          <p:nvPr/>
        </p:nvSpPr>
        <p:spPr>
          <a:xfrm>
            <a:off x="3822192" y="2386584"/>
            <a:ext cx="1517904" cy="438912"/>
          </a:xfrm>
          <a:prstGeom prst="roundRect">
            <a:avLst>
              <a:gd name="adj" fmla="val 20833"/>
            </a:avLst>
          </a:prstGeom>
          <a:solidFill>
            <a:srgbClr val="F4F7F4"/>
          </a:solidFill>
          <a:ln/>
        </p:spPr>
      </p:sp>
      <p:sp>
        <p:nvSpPr>
          <p:cNvPr id="27" name="Text 25"/>
          <p:cNvSpPr txBox="1"/>
          <p:nvPr/>
        </p:nvSpPr>
        <p:spPr>
          <a:xfrm>
            <a:off x="3867912"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더불어 생활하기</a:t>
            </a:r>
            <a:endParaRPr lang="en-US" sz="1050" dirty="0"/>
          </a:p>
        </p:txBody>
      </p:sp>
      <p:sp>
        <p:nvSpPr>
          <p:cNvPr id="28" name="Shape 26"/>
          <p:cNvSpPr/>
          <p:nvPr/>
        </p:nvSpPr>
        <p:spPr>
          <a:xfrm>
            <a:off x="3822192" y="2898648"/>
            <a:ext cx="1517904" cy="438912"/>
          </a:xfrm>
          <a:prstGeom prst="roundRect">
            <a:avLst>
              <a:gd name="adj" fmla="val 20833"/>
            </a:avLst>
          </a:prstGeom>
          <a:solidFill>
            <a:srgbClr val="FFFFFF"/>
          </a:solidFill>
          <a:ln w="15875">
            <a:solidFill>
              <a:srgbClr val="F2A27E"/>
            </a:solidFill>
            <a:prstDash val="dash"/>
          </a:ln>
        </p:spPr>
      </p:sp>
      <p:sp>
        <p:nvSpPr>
          <p:cNvPr id="29" name="Text 27"/>
          <p:cNvSpPr txBox="1"/>
          <p:nvPr/>
        </p:nvSpPr>
        <p:spPr>
          <a:xfrm>
            <a:off x="3867912" y="2898648"/>
            <a:ext cx="1426464" cy="438912"/>
          </a:xfrm>
          <a:prstGeom prst="rect">
            <a:avLst/>
          </a:prstGeom>
          <a:noFill/>
          <a:ln/>
        </p:spPr>
        <p:txBody>
          <a:bodyPr wrap="square" lIns="0" tIns="0" rIns="0" bIns="0" rtlCol="0" anchor="ctr"/>
          <a:lstStyle/>
          <a:p>
            <a:pPr algn="ctr" indent="0" marL="0">
              <a:buNone/>
            </a:pPr>
            <a:r>
              <a:rPr lang="en-US" sz="1050" dirty="0">
                <a:solidFill>
                  <a:srgbClr val="C0643E"/>
                </a:solidFill>
                <a:latin typeface="Malgun Gothic" pitchFamily="34" charset="0"/>
                <a:ea typeface="Malgun Gothic" pitchFamily="34" charset="-122"/>
                <a:cs typeface="Malgun Gothic" pitchFamily="34" charset="-120"/>
              </a:rPr>
              <a:t>사회에 관심 가지기</a:t>
            </a:r>
            <a:endParaRPr lang="en-US" sz="1050" dirty="0"/>
          </a:p>
        </p:txBody>
      </p:sp>
      <p:sp>
        <p:nvSpPr>
          <p:cNvPr id="30" name="Shape 28"/>
          <p:cNvSpPr/>
          <p:nvPr/>
        </p:nvSpPr>
        <p:spPr>
          <a:xfrm>
            <a:off x="5504688" y="1325880"/>
            <a:ext cx="1517904" cy="457200"/>
          </a:xfrm>
          <a:prstGeom prst="roundRect">
            <a:avLst>
              <a:gd name="adj" fmla="val 24000"/>
            </a:avLst>
          </a:prstGeom>
          <a:solidFill>
            <a:srgbClr val="E8A1A8"/>
          </a:solidFill>
          <a:ln/>
        </p:spPr>
      </p:sp>
      <p:sp>
        <p:nvSpPr>
          <p:cNvPr id="31" name="Text 29"/>
          <p:cNvSpPr txBox="1"/>
          <p:nvPr/>
        </p:nvSpPr>
        <p:spPr>
          <a:xfrm>
            <a:off x="5504688"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예술경험</a:t>
            </a:r>
            <a:endParaRPr lang="en-US" sz="1300" dirty="0"/>
          </a:p>
        </p:txBody>
      </p:sp>
      <p:sp>
        <p:nvSpPr>
          <p:cNvPr id="32" name="Shape 30"/>
          <p:cNvSpPr/>
          <p:nvPr/>
        </p:nvSpPr>
        <p:spPr>
          <a:xfrm>
            <a:off x="5504688" y="1874520"/>
            <a:ext cx="1517904" cy="438912"/>
          </a:xfrm>
          <a:prstGeom prst="roundRect">
            <a:avLst>
              <a:gd name="adj" fmla="val 20833"/>
            </a:avLst>
          </a:prstGeom>
          <a:solidFill>
            <a:srgbClr val="F4F7F4"/>
          </a:solidFill>
          <a:ln/>
        </p:spPr>
      </p:sp>
      <p:sp>
        <p:nvSpPr>
          <p:cNvPr id="33" name="Text 31"/>
          <p:cNvSpPr txBox="1"/>
          <p:nvPr/>
        </p:nvSpPr>
        <p:spPr>
          <a:xfrm>
            <a:off x="5550408"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아름다움 찾아보기</a:t>
            </a:r>
            <a:endParaRPr lang="en-US" sz="1050" dirty="0"/>
          </a:p>
        </p:txBody>
      </p:sp>
      <p:sp>
        <p:nvSpPr>
          <p:cNvPr id="34" name="Shape 32"/>
          <p:cNvSpPr/>
          <p:nvPr/>
        </p:nvSpPr>
        <p:spPr>
          <a:xfrm>
            <a:off x="5504688" y="2386584"/>
            <a:ext cx="1517904" cy="438912"/>
          </a:xfrm>
          <a:prstGeom prst="roundRect">
            <a:avLst>
              <a:gd name="adj" fmla="val 20833"/>
            </a:avLst>
          </a:prstGeom>
          <a:solidFill>
            <a:srgbClr val="F4F7F4"/>
          </a:solidFill>
          <a:ln/>
        </p:spPr>
      </p:sp>
      <p:sp>
        <p:nvSpPr>
          <p:cNvPr id="35" name="Text 33"/>
          <p:cNvSpPr txBox="1"/>
          <p:nvPr/>
        </p:nvSpPr>
        <p:spPr>
          <a:xfrm>
            <a:off x="5550408"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창의적으로 표현하기</a:t>
            </a:r>
            <a:endParaRPr lang="en-US" sz="1050" dirty="0"/>
          </a:p>
        </p:txBody>
      </p:sp>
      <p:sp>
        <p:nvSpPr>
          <p:cNvPr id="36" name="Shape 34"/>
          <p:cNvSpPr/>
          <p:nvPr/>
        </p:nvSpPr>
        <p:spPr>
          <a:xfrm>
            <a:off x="5504688" y="2898648"/>
            <a:ext cx="1517904" cy="438912"/>
          </a:xfrm>
          <a:prstGeom prst="roundRect">
            <a:avLst>
              <a:gd name="adj" fmla="val 20833"/>
            </a:avLst>
          </a:prstGeom>
          <a:solidFill>
            <a:srgbClr val="FFFFFF"/>
          </a:solidFill>
          <a:ln w="15875">
            <a:solidFill>
              <a:srgbClr val="F2A27E"/>
            </a:solidFill>
            <a:prstDash val="dash"/>
          </a:ln>
        </p:spPr>
      </p:sp>
      <p:sp>
        <p:nvSpPr>
          <p:cNvPr id="37" name="Text 35"/>
          <p:cNvSpPr txBox="1"/>
          <p:nvPr/>
        </p:nvSpPr>
        <p:spPr>
          <a:xfrm>
            <a:off x="5550408" y="2898648"/>
            <a:ext cx="1426464" cy="438912"/>
          </a:xfrm>
          <a:prstGeom prst="rect">
            <a:avLst/>
          </a:prstGeom>
          <a:noFill/>
          <a:ln/>
        </p:spPr>
        <p:txBody>
          <a:bodyPr wrap="square" lIns="0" tIns="0" rIns="0" bIns="0" rtlCol="0" anchor="ctr"/>
          <a:lstStyle/>
          <a:p>
            <a:pPr algn="ctr" indent="0" marL="0">
              <a:buNone/>
            </a:pPr>
            <a:r>
              <a:rPr lang="en-US" sz="1050" dirty="0">
                <a:solidFill>
                  <a:srgbClr val="C0643E"/>
                </a:solidFill>
                <a:latin typeface="Malgun Gothic" pitchFamily="34" charset="0"/>
                <a:ea typeface="Malgun Gothic" pitchFamily="34" charset="-122"/>
                <a:cs typeface="Malgun Gothic" pitchFamily="34" charset="-120"/>
              </a:rPr>
              <a:t>예술 감상하기</a:t>
            </a:r>
            <a:endParaRPr lang="en-US" sz="1050" dirty="0"/>
          </a:p>
        </p:txBody>
      </p:sp>
      <p:sp>
        <p:nvSpPr>
          <p:cNvPr id="38" name="Shape 36"/>
          <p:cNvSpPr/>
          <p:nvPr/>
        </p:nvSpPr>
        <p:spPr>
          <a:xfrm>
            <a:off x="7187184" y="1325880"/>
            <a:ext cx="1517904" cy="457200"/>
          </a:xfrm>
          <a:prstGeom prst="roundRect">
            <a:avLst>
              <a:gd name="adj" fmla="val 24000"/>
            </a:avLst>
          </a:prstGeom>
          <a:solidFill>
            <a:srgbClr val="A9CBB0"/>
          </a:solidFill>
          <a:ln/>
        </p:spPr>
      </p:sp>
      <p:sp>
        <p:nvSpPr>
          <p:cNvPr id="39" name="Text 37"/>
          <p:cNvSpPr txBox="1"/>
          <p:nvPr/>
        </p:nvSpPr>
        <p:spPr>
          <a:xfrm>
            <a:off x="7187184" y="1325880"/>
            <a:ext cx="15179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자연탐구</a:t>
            </a:r>
            <a:endParaRPr lang="en-US" sz="1300" dirty="0"/>
          </a:p>
        </p:txBody>
      </p:sp>
      <p:sp>
        <p:nvSpPr>
          <p:cNvPr id="40" name="Shape 38"/>
          <p:cNvSpPr/>
          <p:nvPr/>
        </p:nvSpPr>
        <p:spPr>
          <a:xfrm>
            <a:off x="7187184" y="1874520"/>
            <a:ext cx="1517904" cy="438912"/>
          </a:xfrm>
          <a:prstGeom prst="roundRect">
            <a:avLst>
              <a:gd name="adj" fmla="val 20833"/>
            </a:avLst>
          </a:prstGeom>
          <a:solidFill>
            <a:srgbClr val="F4F7F4"/>
          </a:solidFill>
          <a:ln/>
        </p:spPr>
      </p:sp>
      <p:sp>
        <p:nvSpPr>
          <p:cNvPr id="41" name="Text 39"/>
          <p:cNvSpPr txBox="1"/>
          <p:nvPr/>
        </p:nvSpPr>
        <p:spPr>
          <a:xfrm>
            <a:off x="7232904" y="1874520"/>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탐구 과정 즐기기</a:t>
            </a:r>
            <a:endParaRPr lang="en-US" sz="1050" dirty="0"/>
          </a:p>
        </p:txBody>
      </p:sp>
      <p:sp>
        <p:nvSpPr>
          <p:cNvPr id="42" name="Shape 40"/>
          <p:cNvSpPr/>
          <p:nvPr/>
        </p:nvSpPr>
        <p:spPr>
          <a:xfrm>
            <a:off x="7187184" y="2386584"/>
            <a:ext cx="1517904" cy="438912"/>
          </a:xfrm>
          <a:prstGeom prst="roundRect">
            <a:avLst>
              <a:gd name="adj" fmla="val 20833"/>
            </a:avLst>
          </a:prstGeom>
          <a:solidFill>
            <a:srgbClr val="F4F7F4"/>
          </a:solidFill>
          <a:ln/>
        </p:spPr>
      </p:sp>
      <p:sp>
        <p:nvSpPr>
          <p:cNvPr id="43" name="Text 41"/>
          <p:cNvSpPr txBox="1"/>
          <p:nvPr/>
        </p:nvSpPr>
        <p:spPr>
          <a:xfrm>
            <a:off x="7232904" y="2386584"/>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생활 속에서 탐구하기</a:t>
            </a:r>
            <a:endParaRPr lang="en-US" sz="1050" dirty="0"/>
          </a:p>
        </p:txBody>
      </p:sp>
      <p:sp>
        <p:nvSpPr>
          <p:cNvPr id="44" name="Shape 42"/>
          <p:cNvSpPr/>
          <p:nvPr/>
        </p:nvSpPr>
        <p:spPr>
          <a:xfrm>
            <a:off x="7187184" y="2898648"/>
            <a:ext cx="1517904" cy="438912"/>
          </a:xfrm>
          <a:prstGeom prst="roundRect">
            <a:avLst>
              <a:gd name="adj" fmla="val 20833"/>
            </a:avLst>
          </a:prstGeom>
          <a:solidFill>
            <a:srgbClr val="F4F7F4"/>
          </a:solidFill>
          <a:ln/>
        </p:spPr>
      </p:sp>
      <p:sp>
        <p:nvSpPr>
          <p:cNvPr id="45" name="Text 43"/>
          <p:cNvSpPr txBox="1"/>
          <p:nvPr/>
        </p:nvSpPr>
        <p:spPr>
          <a:xfrm>
            <a:off x="7232904" y="2898648"/>
            <a:ext cx="1426464" cy="438912"/>
          </a:xfrm>
          <a:prstGeom prst="rect">
            <a:avLst/>
          </a:prstGeom>
          <a:noFill/>
          <a:ln/>
        </p:spPr>
        <p:txBody>
          <a:bodyPr wrap="square" lIns="0" tIns="0" rIns="0" bIns="0" rtlCol="0" anchor="ctr"/>
          <a:lstStyle/>
          <a:p>
            <a:pPr algn="ctr" indent="0" marL="0">
              <a:buNone/>
            </a:pPr>
            <a:r>
              <a:rPr lang="en-US" sz="1050" dirty="0">
                <a:solidFill>
                  <a:srgbClr val="33413A"/>
                </a:solidFill>
                <a:latin typeface="Malgun Gothic" pitchFamily="34" charset="0"/>
                <a:ea typeface="Malgun Gothic" pitchFamily="34" charset="-122"/>
                <a:cs typeface="Malgun Gothic" pitchFamily="34" charset="-120"/>
              </a:rPr>
              <a:t>자연과 더불어 살기</a:t>
            </a:r>
            <a:endParaRPr lang="en-US" sz="1050" dirty="0"/>
          </a:p>
        </p:txBody>
      </p:sp>
      <p:sp>
        <p:nvSpPr>
          <p:cNvPr id="46" name="Text 44"/>
          <p:cNvSpPr txBox="1"/>
          <p:nvPr/>
        </p:nvSpPr>
        <p:spPr>
          <a:xfrm>
            <a:off x="457200" y="3429000"/>
            <a:ext cx="8229600" cy="228600"/>
          </a:xfrm>
          <a:prstGeom prst="rect">
            <a:avLst/>
          </a:prstGeom>
          <a:noFill/>
          <a:ln/>
        </p:spPr>
        <p:txBody>
          <a:bodyPr wrap="square" lIns="0" tIns="0" rIns="0" bIns="0" rtlCol="0" anchor="ctr"/>
          <a:lstStyle/>
          <a:p>
            <a:pPr algn="r" indent="0" marL="0">
              <a:buNone/>
            </a:pPr>
            <a:r>
              <a:rPr lang="en-US" sz="1000" dirty="0">
                <a:solidFill>
                  <a:srgbClr val="C0643E"/>
                </a:solidFill>
                <a:latin typeface="Malgun Gothic" pitchFamily="34" charset="0"/>
                <a:ea typeface="Malgun Gothic" pitchFamily="34" charset="-122"/>
                <a:cs typeface="Malgun Gothic" pitchFamily="34" charset="-120"/>
              </a:rPr>
              <a:t>점선 = 3~5세에 추가되는 내용범주</a:t>
            </a:r>
            <a:endParaRPr lang="en-US" sz="1000" dirty="0"/>
          </a:p>
        </p:txBody>
      </p:sp>
      <p:sp>
        <p:nvSpPr>
          <p:cNvPr id="47" name="Shape 45"/>
          <p:cNvSpPr/>
          <p:nvPr/>
        </p:nvSpPr>
        <p:spPr>
          <a:xfrm>
            <a:off x="457200" y="3703320"/>
            <a:ext cx="8229600" cy="1051560"/>
          </a:xfrm>
          <a:prstGeom prst="roundRect">
            <a:avLst>
              <a:gd name="adj" fmla="val 13043"/>
            </a:avLst>
          </a:prstGeom>
          <a:solidFill>
            <a:srgbClr val="FDF3D6"/>
          </a:solidFill>
          <a:ln/>
        </p:spPr>
      </p:sp>
      <p:sp>
        <p:nvSpPr>
          <p:cNvPr id="48" name="Text 46"/>
          <p:cNvSpPr txBox="1"/>
          <p:nvPr/>
        </p:nvSpPr>
        <p:spPr>
          <a:xfrm>
            <a:off x="640080" y="3767328"/>
            <a:ext cx="2743200" cy="274320"/>
          </a:xfrm>
          <a:prstGeom prst="rect">
            <a:avLst/>
          </a:prstGeom>
          <a:noFill/>
          <a:ln/>
        </p:spPr>
        <p:txBody>
          <a:bodyPr wrap="square" lIns="0" tIns="0" rIns="0" bIns="0" rtlCol="0" anchor="ctr"/>
          <a:lstStyle/>
          <a:p>
            <a:pPr indent="0" marL="0">
              <a:buNone/>
            </a:pPr>
            <a:r>
              <a:rPr lang="en-US" sz="1200" b="1" dirty="0">
                <a:solidFill>
                  <a:srgbClr val="B08A2E"/>
                </a:solidFill>
                <a:latin typeface="Malgun Gothic" pitchFamily="34" charset="0"/>
                <a:ea typeface="Malgun Gothic" pitchFamily="34" charset="-122"/>
                <a:cs typeface="Malgun Gothic" pitchFamily="34" charset="-120"/>
              </a:rPr>
              <a:t>예) '안전하게 생활하기'</a:t>
            </a:r>
            <a:endParaRPr lang="en-US" sz="1200" dirty="0"/>
          </a:p>
        </p:txBody>
      </p:sp>
      <p:sp>
        <p:nvSpPr>
          <p:cNvPr id="49" name="Text 47"/>
          <p:cNvSpPr txBox="1"/>
          <p:nvPr/>
        </p:nvSpPr>
        <p:spPr>
          <a:xfrm>
            <a:off x="64008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0~1세</a:t>
            </a:r>
            <a:endParaRPr lang="en-US" sz="1200" dirty="0"/>
          </a:p>
        </p:txBody>
      </p:sp>
      <p:sp>
        <p:nvSpPr>
          <p:cNvPr id="50" name="Text 48"/>
          <p:cNvSpPr txBox="1"/>
          <p:nvPr/>
        </p:nvSpPr>
        <p:spPr>
          <a:xfrm>
            <a:off x="64008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위험하다는 말에 주의한다</a:t>
            </a:r>
            <a:endParaRPr lang="en-US" sz="1050" dirty="0"/>
          </a:p>
        </p:txBody>
      </p:sp>
      <p:sp>
        <p:nvSpPr>
          <p:cNvPr id="51" name="Text 49"/>
          <p:cNvSpPr txBox="1"/>
          <p:nvPr/>
        </p:nvSpPr>
        <p:spPr>
          <a:xfrm>
            <a:off x="2971800" y="4114800"/>
            <a:ext cx="320040" cy="457200"/>
          </a:xfrm>
          <a:prstGeom prst="rect">
            <a:avLst/>
          </a:prstGeom>
          <a:noFill/>
          <a:ln/>
        </p:spPr>
        <p:txBody>
          <a:bodyPr wrap="square" lIns="0" tIns="0" rIns="0" bIns="0" rtlCol="0" anchor="ctr"/>
          <a:lstStyle/>
          <a:p>
            <a:pPr algn="ctr" indent="0" marL="0">
              <a:buNone/>
            </a:pPr>
            <a:r>
              <a:rPr lang="en-US" sz="1600" b="1" dirty="0">
                <a:solidFill>
                  <a:srgbClr val="B08A2E"/>
                </a:solidFill>
                <a:latin typeface="Malgun Gothic" pitchFamily="34" charset="0"/>
                <a:ea typeface="Malgun Gothic" pitchFamily="34" charset="-122"/>
                <a:cs typeface="Malgun Gothic" pitchFamily="34" charset="-120"/>
              </a:rPr>
              <a:t>→</a:t>
            </a:r>
            <a:endParaRPr lang="en-US" sz="1600" dirty="0"/>
          </a:p>
        </p:txBody>
      </p:sp>
      <p:sp>
        <p:nvSpPr>
          <p:cNvPr id="52" name="Text 50"/>
          <p:cNvSpPr txBox="1"/>
          <p:nvPr/>
        </p:nvSpPr>
        <p:spPr>
          <a:xfrm>
            <a:off x="333756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2세</a:t>
            </a:r>
            <a:endParaRPr lang="en-US" sz="1200" dirty="0"/>
          </a:p>
        </p:txBody>
      </p:sp>
      <p:sp>
        <p:nvSpPr>
          <p:cNvPr id="53" name="Text 51"/>
          <p:cNvSpPr txBox="1"/>
          <p:nvPr/>
        </p:nvSpPr>
        <p:spPr>
          <a:xfrm>
            <a:off x="333756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위험한 상황에 대처하는</a:t>
            </a:r>
            <a:endParaRPr lang="en-US" sz="1050" dirty="0"/>
          </a:p>
          <a:p>
            <a:pPr indent="0" marL="0">
              <a:buNone/>
            </a:pPr>
            <a:r>
              <a:rPr lang="en-US" sz="1050" dirty="0">
                <a:solidFill>
                  <a:srgbClr val="33413A"/>
                </a:solidFill>
                <a:latin typeface="Malgun Gothic" pitchFamily="34" charset="0"/>
                <a:ea typeface="Malgun Gothic" pitchFamily="34" charset="-122"/>
                <a:cs typeface="Malgun Gothic" pitchFamily="34" charset="-120"/>
              </a:rPr>
              <a:t>방법을 경험한다</a:t>
            </a:r>
            <a:endParaRPr lang="en-US" sz="1050" dirty="0"/>
          </a:p>
        </p:txBody>
      </p:sp>
      <p:sp>
        <p:nvSpPr>
          <p:cNvPr id="54" name="Text 52"/>
          <p:cNvSpPr txBox="1"/>
          <p:nvPr/>
        </p:nvSpPr>
        <p:spPr>
          <a:xfrm>
            <a:off x="5669280" y="4114800"/>
            <a:ext cx="320040" cy="457200"/>
          </a:xfrm>
          <a:prstGeom prst="rect">
            <a:avLst/>
          </a:prstGeom>
          <a:noFill/>
          <a:ln/>
        </p:spPr>
        <p:txBody>
          <a:bodyPr wrap="square" lIns="0" tIns="0" rIns="0" bIns="0" rtlCol="0" anchor="ctr"/>
          <a:lstStyle/>
          <a:p>
            <a:pPr algn="ctr" indent="0" marL="0">
              <a:buNone/>
            </a:pPr>
            <a:r>
              <a:rPr lang="en-US" sz="1600" b="1" dirty="0">
                <a:solidFill>
                  <a:srgbClr val="B08A2E"/>
                </a:solidFill>
                <a:latin typeface="Malgun Gothic" pitchFamily="34" charset="0"/>
                <a:ea typeface="Malgun Gothic" pitchFamily="34" charset="-122"/>
                <a:cs typeface="Malgun Gothic" pitchFamily="34" charset="-120"/>
              </a:rPr>
              <a:t>→</a:t>
            </a:r>
            <a:endParaRPr lang="en-US" sz="1600" dirty="0"/>
          </a:p>
        </p:txBody>
      </p:sp>
      <p:sp>
        <p:nvSpPr>
          <p:cNvPr id="55" name="Text 53"/>
          <p:cNvSpPr txBox="1"/>
          <p:nvPr/>
        </p:nvSpPr>
        <p:spPr>
          <a:xfrm>
            <a:off x="6035040" y="4041648"/>
            <a:ext cx="2286000" cy="237744"/>
          </a:xfrm>
          <a:prstGeom prst="rect">
            <a:avLst/>
          </a:prstGeom>
          <a:noFill/>
          <a:ln/>
        </p:spPr>
        <p:txBody>
          <a:bodyPr wrap="square" lIns="0" tIns="0" rIns="0" bIns="0" rtlCol="0" anchor="ctr"/>
          <a:lstStyle/>
          <a:p>
            <a:pPr indent="0" marL="0">
              <a:buNone/>
            </a:pPr>
            <a:r>
              <a:rPr lang="en-US" sz="1200" b="1" dirty="0">
                <a:solidFill>
                  <a:srgbClr val="5E8C6A"/>
                </a:solidFill>
                <a:latin typeface="Malgun Gothic" pitchFamily="34" charset="0"/>
                <a:ea typeface="Malgun Gothic" pitchFamily="34" charset="-122"/>
                <a:cs typeface="Malgun Gothic" pitchFamily="34" charset="-120"/>
              </a:rPr>
              <a:t>3~5세</a:t>
            </a:r>
            <a:endParaRPr lang="en-US" sz="1200" dirty="0"/>
          </a:p>
        </p:txBody>
      </p:sp>
      <p:sp>
        <p:nvSpPr>
          <p:cNvPr id="56" name="Text 54"/>
          <p:cNvSpPr txBox="1"/>
          <p:nvPr/>
        </p:nvSpPr>
        <p:spPr>
          <a:xfrm>
            <a:off x="6035040" y="4297680"/>
            <a:ext cx="2331720" cy="411480"/>
          </a:xfrm>
          <a:prstGeom prst="rect">
            <a:avLst/>
          </a:prstGeom>
          <a:noFill/>
          <a:ln/>
        </p:spPr>
        <p:txBody>
          <a:bodyPr wrap="square" lIns="0" tIns="0" rIns="0" bIns="0" rtlCol="0" anchor="t"/>
          <a:lstStyle/>
          <a:p>
            <a:pPr indent="0" marL="0">
              <a:buNone/>
            </a:pPr>
            <a:r>
              <a:rPr lang="en-US" sz="1050" dirty="0">
                <a:solidFill>
                  <a:srgbClr val="33413A"/>
                </a:solidFill>
                <a:latin typeface="Malgun Gothic" pitchFamily="34" charset="0"/>
                <a:ea typeface="Malgun Gothic" pitchFamily="34" charset="-122"/>
                <a:cs typeface="Malgun Gothic" pitchFamily="34" charset="-120"/>
              </a:rPr>
              <a:t>안전사고·화재·재난·학대·유괴 등에</a:t>
            </a:r>
            <a:endParaRPr lang="en-US" sz="1050" dirty="0"/>
          </a:p>
          <a:p>
            <a:pPr indent="0" marL="0">
              <a:buNone/>
            </a:pPr>
            <a:r>
              <a:rPr lang="en-US" sz="1050" dirty="0">
                <a:solidFill>
                  <a:srgbClr val="33413A"/>
                </a:solidFill>
                <a:latin typeface="Malgun Gothic" pitchFamily="34" charset="0"/>
                <a:ea typeface="Malgun Gothic" pitchFamily="34" charset="-122"/>
                <a:cs typeface="Malgun Gothic" pitchFamily="34" charset="-120"/>
              </a:rPr>
              <a:t>대처하는 방법을 경험한다</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02920" cy="502920"/>
          </a:xfrm>
          <a:prstGeom prst="ellipse">
            <a:avLst/>
          </a:prstGeom>
          <a:solidFill>
            <a:srgbClr val="5E8C6A"/>
          </a:solidFill>
          <a:ln/>
        </p:spPr>
      </p:sp>
      <p:sp>
        <p:nvSpPr>
          <p:cNvPr id="3" name="Text 1"/>
          <p:cNvSpPr txBox="1"/>
          <p:nvPr/>
        </p:nvSpPr>
        <p:spPr>
          <a:xfrm>
            <a:off x="457200" y="3840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21</a:t>
            </a:r>
            <a:endParaRPr lang="en-US" sz="1400" dirty="0"/>
          </a:p>
        </p:txBody>
      </p:sp>
      <p:sp>
        <p:nvSpPr>
          <p:cNvPr id="4" name="Text 2"/>
          <p:cNvSpPr txBox="1"/>
          <p:nvPr/>
        </p:nvSpPr>
        <p:spPr>
          <a:xfrm>
            <a:off x="1097280" y="320040"/>
            <a:ext cx="7589520" cy="640080"/>
          </a:xfrm>
          <a:prstGeom prst="rect">
            <a:avLst/>
          </a:prstGeom>
          <a:noFill/>
          <a:ln/>
        </p:spPr>
        <p:txBody>
          <a:bodyPr wrap="square" lIns="0" tIns="0" rIns="0" bIns="0" rtlCol="0" anchor="ctr"/>
          <a:lstStyle/>
          <a:p>
            <a:pPr indent="0" marL="0">
              <a:buNone/>
            </a:pPr>
            <a:r>
              <a:rPr lang="en-US" sz="2800" b="1" dirty="0">
                <a:solidFill>
                  <a:srgbClr val="33413A"/>
                </a:solidFill>
                <a:latin typeface="Malgun Gothic" pitchFamily="34" charset="0"/>
                <a:ea typeface="Malgun Gothic" pitchFamily="34" charset="-122"/>
                <a:cs typeface="Malgun Gothic" pitchFamily="34" charset="-120"/>
              </a:rPr>
              <a:t>관련 법규와 지침의 이해</a:t>
            </a:r>
            <a:endParaRPr lang="en-US" sz="2800" dirty="0"/>
          </a:p>
        </p:txBody>
      </p:sp>
      <p:sp>
        <p:nvSpPr>
          <p:cNvPr id="5" name="Text 3"/>
          <p:cNvSpPr txBox="1"/>
          <p:nvPr/>
        </p:nvSpPr>
        <p:spPr>
          <a:xfrm>
            <a:off x="457200" y="1097280"/>
            <a:ext cx="411480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사전에 교육청의 지침 파악, 필수 교육 내용은 교육과정에 반영</a:t>
            </a:r>
            <a:endParaRPr lang="en-US" sz="1150" dirty="0"/>
          </a:p>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교육청이 정하는 내용은 교육청마다 다를 수 있음 → 소속 교육청의 계획서와 지침 참조</a:t>
            </a:r>
            <a:endParaRPr lang="en-US" sz="1150" dirty="0"/>
          </a:p>
          <a:p>
            <a:pPr marL="342900" indent="-342900">
              <a:spcAft>
                <a:spcPts val="400"/>
              </a:spcAft>
              <a:buSzPct val="100000"/>
              <a:buChar char="•"/>
            </a:pPr>
            <a:r>
              <a:rPr lang="en-US" sz="1150" dirty="0">
                <a:solidFill>
                  <a:srgbClr val="33413A"/>
                </a:solidFill>
                <a:latin typeface="Malgun Gothic" pitchFamily="34" charset="0"/>
                <a:ea typeface="Malgun Gothic" pitchFamily="34" charset="-122"/>
                <a:cs typeface="Malgun Gothic" pitchFamily="34" charset="-120"/>
              </a:rPr>
              <a:t>운영계획서 작성, 연간 학사일정 결정 시에도 소속청의 지침 숙지·반영</a:t>
            </a:r>
            <a:endParaRPr lang="en-US" sz="1150" dirty="0"/>
          </a:p>
        </p:txBody>
      </p:sp>
      <p:sp>
        <p:nvSpPr>
          <p:cNvPr id="6" name="Shape 4"/>
          <p:cNvSpPr/>
          <p:nvPr/>
        </p:nvSpPr>
        <p:spPr>
          <a:xfrm>
            <a:off x="457200" y="2423160"/>
            <a:ext cx="1965960" cy="1417320"/>
          </a:xfrm>
          <a:prstGeom prst="roundRect">
            <a:avLst>
              <a:gd name="adj" fmla="val 9677"/>
            </a:avLst>
          </a:prstGeom>
          <a:solidFill>
            <a:srgbClr val="FCE4D8"/>
          </a:solidFill>
          <a:ln/>
        </p:spPr>
      </p:sp>
      <p:sp>
        <p:nvSpPr>
          <p:cNvPr id="7" name="Text 5"/>
          <p:cNvSpPr txBox="1"/>
          <p:nvPr/>
        </p:nvSpPr>
        <p:spPr>
          <a:xfrm>
            <a:off x="594360" y="2514600"/>
            <a:ext cx="1737360" cy="320040"/>
          </a:xfrm>
          <a:prstGeom prst="rect">
            <a:avLst/>
          </a:prstGeom>
          <a:noFill/>
          <a:ln/>
        </p:spPr>
        <p:txBody>
          <a:bodyPr wrap="square" lIns="0" tIns="0" rIns="0" bIns="0" rtlCol="0" anchor="ctr"/>
          <a:lstStyle/>
          <a:p>
            <a:pPr indent="0" marL="0">
              <a:buNone/>
            </a:pPr>
            <a:r>
              <a:rPr lang="en-US" sz="1400" b="1" dirty="0">
                <a:solidFill>
                  <a:srgbClr val="C0643E"/>
                </a:solidFill>
                <a:latin typeface="Malgun Gothic" pitchFamily="34" charset="0"/>
                <a:ea typeface="Malgun Gothic" pitchFamily="34" charset="-122"/>
                <a:cs typeface="Malgun Gothic" pitchFamily="34" charset="-120"/>
              </a:rPr>
              <a:t>유치원</a:t>
            </a:r>
            <a:endParaRPr lang="en-US" sz="1400" dirty="0"/>
          </a:p>
        </p:txBody>
      </p:sp>
      <p:sp>
        <p:nvSpPr>
          <p:cNvPr id="8" name="Text 6"/>
          <p:cNvSpPr txBox="1"/>
          <p:nvPr/>
        </p:nvSpPr>
        <p:spPr>
          <a:xfrm>
            <a:off x="594360" y="2834640"/>
            <a:ext cx="1737360" cy="914400"/>
          </a:xfrm>
          <a:prstGeom prst="rect">
            <a:avLst/>
          </a:prstGeom>
          <a:noFill/>
          <a:ln/>
        </p:spPr>
        <p:txBody>
          <a:bodyPr wrap="square" lIns="0" tIns="0" rIns="0" bIns="0" rtlCol="0" anchor="t"/>
          <a:lstStyle/>
          <a:p>
            <a:pPr indent="0" marL="0">
              <a:buNone/>
            </a:pPr>
            <a:r>
              <a:rPr lang="en-US" sz="1100" dirty="0">
                <a:solidFill>
                  <a:srgbClr val="33413A"/>
                </a:solidFill>
                <a:latin typeface="Malgun Gothic" pitchFamily="34" charset="0"/>
                <a:ea typeface="Malgun Gothic" pitchFamily="34" charset="-122"/>
                <a:cs typeface="Malgun Gothic" pitchFamily="34" charset="-120"/>
              </a:rPr>
              <a:t>교육청별 유치원 교육과정 편성·운영 지침</a:t>
            </a:r>
            <a:endParaRPr lang="en-US" sz="1100" dirty="0"/>
          </a:p>
          <a:p>
            <a:pPr indent="0" marL="0">
              <a:buNone/>
            </a:pPr>
            <a:r>
              <a:rPr lang="en-US" sz="1100" dirty="0">
                <a:solidFill>
                  <a:srgbClr val="33413A"/>
                </a:solidFill>
                <a:latin typeface="Malgun Gothic" pitchFamily="34" charset="0"/>
                <a:ea typeface="Malgun Gothic" pitchFamily="34" charset="-122"/>
                <a:cs typeface="Malgun Gothic" pitchFamily="34" charset="-120"/>
              </a:rPr>
              <a:t>유아교육계획</a:t>
            </a:r>
            <a:endParaRPr lang="en-US" sz="1100" dirty="0"/>
          </a:p>
        </p:txBody>
      </p:sp>
      <p:sp>
        <p:nvSpPr>
          <p:cNvPr id="9" name="Shape 7"/>
          <p:cNvSpPr/>
          <p:nvPr/>
        </p:nvSpPr>
        <p:spPr>
          <a:xfrm>
            <a:off x="2560320" y="2423160"/>
            <a:ext cx="1965960" cy="1417320"/>
          </a:xfrm>
          <a:prstGeom prst="roundRect">
            <a:avLst>
              <a:gd name="adj" fmla="val 9677"/>
            </a:avLst>
          </a:prstGeom>
          <a:solidFill>
            <a:srgbClr val="DCEBDD"/>
          </a:solidFill>
          <a:ln/>
        </p:spPr>
      </p:sp>
      <p:sp>
        <p:nvSpPr>
          <p:cNvPr id="10" name="Text 8"/>
          <p:cNvSpPr txBox="1"/>
          <p:nvPr/>
        </p:nvSpPr>
        <p:spPr>
          <a:xfrm>
            <a:off x="2697480" y="2514600"/>
            <a:ext cx="1737360" cy="320040"/>
          </a:xfrm>
          <a:prstGeom prst="rect">
            <a:avLst/>
          </a:prstGeom>
          <a:noFill/>
          <a:ln/>
        </p:spPr>
        <p:txBody>
          <a:bodyPr wrap="square" lIns="0" tIns="0" rIns="0" bIns="0" rtlCol="0" anchor="ctr"/>
          <a:lstStyle/>
          <a:p>
            <a:pPr indent="0" marL="0">
              <a:buNone/>
            </a:pPr>
            <a:r>
              <a:rPr lang="en-US" sz="1400" b="1" dirty="0">
                <a:solidFill>
                  <a:srgbClr val="5E8C6A"/>
                </a:solidFill>
                <a:latin typeface="Malgun Gothic" pitchFamily="34" charset="0"/>
                <a:ea typeface="Malgun Gothic" pitchFamily="34" charset="-122"/>
                <a:cs typeface="Malgun Gothic" pitchFamily="34" charset="-120"/>
              </a:rPr>
              <a:t>어린이집</a:t>
            </a:r>
            <a:endParaRPr lang="en-US" sz="1400" dirty="0"/>
          </a:p>
        </p:txBody>
      </p:sp>
      <p:sp>
        <p:nvSpPr>
          <p:cNvPr id="11" name="Text 9"/>
          <p:cNvSpPr txBox="1"/>
          <p:nvPr/>
        </p:nvSpPr>
        <p:spPr>
          <a:xfrm>
            <a:off x="2697480" y="2834640"/>
            <a:ext cx="1737360" cy="914400"/>
          </a:xfrm>
          <a:prstGeom prst="rect">
            <a:avLst/>
          </a:prstGeom>
          <a:noFill/>
          <a:ln/>
        </p:spPr>
        <p:txBody>
          <a:bodyPr wrap="square" lIns="0" tIns="0" rIns="0" bIns="0" rtlCol="0" anchor="t"/>
          <a:lstStyle/>
          <a:p>
            <a:pPr indent="0" marL="0">
              <a:buNone/>
            </a:pPr>
            <a:r>
              <a:rPr lang="en-US" sz="1100" dirty="0">
                <a:solidFill>
                  <a:srgbClr val="33413A"/>
                </a:solidFill>
                <a:latin typeface="Malgun Gothic" pitchFamily="34" charset="0"/>
                <a:ea typeface="Malgun Gothic" pitchFamily="34" charset="-122"/>
                <a:cs typeface="Malgun Gothic" pitchFamily="34" charset="-120"/>
              </a:rPr>
              <a:t>보육사업안내서</a:t>
            </a:r>
            <a:endParaRPr lang="en-US" sz="1100" dirty="0"/>
          </a:p>
          <a:p>
            <a:pPr indent="0" marL="0">
              <a:buNone/>
            </a:pPr>
            <a:r>
              <a:rPr lang="en-US" sz="1100" dirty="0">
                <a:solidFill>
                  <a:srgbClr val="33413A"/>
                </a:solidFill>
                <a:latin typeface="Malgun Gothic" pitchFamily="34" charset="0"/>
                <a:ea typeface="Malgun Gothic" pitchFamily="34" charset="-122"/>
                <a:cs typeface="Malgun Gothic" pitchFamily="34" charset="-120"/>
              </a:rPr>
              <a:t>업무별 매뉴얼</a:t>
            </a:r>
            <a:endParaRPr lang="en-US" sz="1100" dirty="0"/>
          </a:p>
        </p:txBody>
      </p:sp>
      <p:sp>
        <p:nvSpPr>
          <p:cNvPr id="12" name="Shape 10"/>
          <p:cNvSpPr/>
          <p:nvPr/>
        </p:nvSpPr>
        <p:spPr>
          <a:xfrm>
            <a:off x="4754880" y="1097280"/>
            <a:ext cx="3931920" cy="2743200"/>
          </a:xfrm>
          <a:prstGeom prst="roundRect">
            <a:avLst>
              <a:gd name="adj" fmla="val 5000"/>
            </a:avLst>
          </a:prstGeom>
          <a:solidFill>
            <a:srgbClr val="F4F7F4"/>
          </a:solidFill>
          <a:ln/>
        </p:spPr>
      </p:sp>
      <p:sp>
        <p:nvSpPr>
          <p:cNvPr id="13" name="Text 11"/>
          <p:cNvSpPr txBox="1"/>
          <p:nvPr/>
        </p:nvSpPr>
        <p:spPr>
          <a:xfrm>
            <a:off x="4937760" y="1188720"/>
            <a:ext cx="3566160" cy="548640"/>
          </a:xfrm>
          <a:prstGeom prst="rect">
            <a:avLst/>
          </a:prstGeom>
          <a:noFill/>
          <a:ln/>
        </p:spPr>
        <p:txBody>
          <a:bodyPr wrap="square" lIns="0" tIns="0" rIns="0" bIns="0" rtlCol="0" anchor="ctr"/>
          <a:lstStyle/>
          <a:p>
            <a:pPr indent="0" marL="0">
              <a:buNone/>
            </a:pPr>
            <a:r>
              <a:rPr lang="en-US" sz="1200" b="1" dirty="0">
                <a:solidFill>
                  <a:srgbClr val="6E7B73"/>
                </a:solidFill>
                <a:latin typeface="Malgun Gothic" pitchFamily="34" charset="0"/>
                <a:ea typeface="Malgun Gothic" pitchFamily="34" charset="-122"/>
                <a:cs typeface="Malgun Gothic" pitchFamily="34" charset="-120"/>
              </a:rPr>
              <a:t>〈표 5-5〉 2025학년도 경기도 유치원</a:t>
            </a:r>
            <a:endParaRPr lang="en-US" sz="1200" dirty="0"/>
          </a:p>
          <a:p>
            <a:pPr indent="0" marL="0">
              <a:buNone/>
            </a:pPr>
            <a:r>
              <a:rPr lang="en-US" sz="1200" b="1" dirty="0">
                <a:solidFill>
                  <a:srgbClr val="6E7B73"/>
                </a:solidFill>
                <a:latin typeface="Malgun Gothic" pitchFamily="34" charset="0"/>
                <a:ea typeface="Malgun Gothic" pitchFamily="34" charset="-122"/>
                <a:cs typeface="Malgun Gothic" pitchFamily="34" charset="-120"/>
              </a:rPr>
              <a:t>교육과정 편성·운영 지침 구성</a:t>
            </a:r>
            <a:endParaRPr lang="en-US" sz="1200" dirty="0"/>
          </a:p>
        </p:txBody>
      </p:sp>
      <p:sp>
        <p:nvSpPr>
          <p:cNvPr id="14" name="Shape 12"/>
          <p:cNvSpPr/>
          <p:nvPr/>
        </p:nvSpPr>
        <p:spPr>
          <a:xfrm>
            <a:off x="4937760" y="1828800"/>
            <a:ext cx="685800" cy="292608"/>
          </a:xfrm>
          <a:prstGeom prst="roundRect">
            <a:avLst>
              <a:gd name="adj" fmla="val 50000"/>
            </a:avLst>
          </a:prstGeom>
          <a:solidFill>
            <a:srgbClr val="5E8C6A"/>
          </a:solidFill>
          <a:ln/>
        </p:spPr>
      </p:sp>
      <p:sp>
        <p:nvSpPr>
          <p:cNvPr id="15" name="Text 13"/>
          <p:cNvSpPr txBox="1"/>
          <p:nvPr/>
        </p:nvSpPr>
        <p:spPr>
          <a:xfrm>
            <a:off x="4937760" y="1828800"/>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제1부</a:t>
            </a:r>
            <a:endParaRPr lang="en-US" sz="1050" dirty="0"/>
          </a:p>
        </p:txBody>
      </p:sp>
      <p:sp>
        <p:nvSpPr>
          <p:cNvPr id="16" name="Text 14"/>
          <p:cNvSpPr txBox="1"/>
          <p:nvPr/>
        </p:nvSpPr>
        <p:spPr>
          <a:xfrm>
            <a:off x="5760720" y="1828800"/>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경기교육의 방향</a:t>
            </a:r>
            <a:endParaRPr lang="en-US" sz="1200" dirty="0"/>
          </a:p>
        </p:txBody>
      </p:sp>
      <p:sp>
        <p:nvSpPr>
          <p:cNvPr id="17" name="Shape 15"/>
          <p:cNvSpPr/>
          <p:nvPr/>
        </p:nvSpPr>
        <p:spPr>
          <a:xfrm>
            <a:off x="4937760" y="2212848"/>
            <a:ext cx="685800" cy="292608"/>
          </a:xfrm>
          <a:prstGeom prst="roundRect">
            <a:avLst>
              <a:gd name="adj" fmla="val 50000"/>
            </a:avLst>
          </a:prstGeom>
          <a:solidFill>
            <a:srgbClr val="5E8C6A"/>
          </a:solidFill>
          <a:ln/>
        </p:spPr>
      </p:sp>
      <p:sp>
        <p:nvSpPr>
          <p:cNvPr id="18" name="Text 16"/>
          <p:cNvSpPr txBox="1"/>
          <p:nvPr/>
        </p:nvSpPr>
        <p:spPr>
          <a:xfrm>
            <a:off x="4937760" y="2212848"/>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제2부</a:t>
            </a:r>
            <a:endParaRPr lang="en-US" sz="1050" dirty="0"/>
          </a:p>
        </p:txBody>
      </p:sp>
      <p:sp>
        <p:nvSpPr>
          <p:cNvPr id="19" name="Text 17"/>
          <p:cNvSpPr txBox="1"/>
          <p:nvPr/>
        </p:nvSpPr>
        <p:spPr>
          <a:xfrm>
            <a:off x="5760720" y="2212848"/>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경기유아교육의 방향</a:t>
            </a:r>
            <a:endParaRPr lang="en-US" sz="1200" dirty="0"/>
          </a:p>
        </p:txBody>
      </p:sp>
      <p:sp>
        <p:nvSpPr>
          <p:cNvPr id="20" name="Shape 18"/>
          <p:cNvSpPr/>
          <p:nvPr/>
        </p:nvSpPr>
        <p:spPr>
          <a:xfrm>
            <a:off x="4937760" y="2596896"/>
            <a:ext cx="685800" cy="292608"/>
          </a:xfrm>
          <a:prstGeom prst="roundRect">
            <a:avLst>
              <a:gd name="adj" fmla="val 50000"/>
            </a:avLst>
          </a:prstGeom>
          <a:solidFill>
            <a:srgbClr val="5E8C6A"/>
          </a:solidFill>
          <a:ln/>
        </p:spPr>
      </p:sp>
      <p:sp>
        <p:nvSpPr>
          <p:cNvPr id="21" name="Text 19"/>
          <p:cNvSpPr txBox="1"/>
          <p:nvPr/>
        </p:nvSpPr>
        <p:spPr>
          <a:xfrm>
            <a:off x="4937760" y="2596896"/>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제3부</a:t>
            </a:r>
            <a:endParaRPr lang="en-US" sz="1050" dirty="0"/>
          </a:p>
        </p:txBody>
      </p:sp>
      <p:sp>
        <p:nvSpPr>
          <p:cNvPr id="22" name="Text 20"/>
          <p:cNvSpPr txBox="1"/>
          <p:nvPr/>
        </p:nvSpPr>
        <p:spPr>
          <a:xfrm>
            <a:off x="5760720" y="2596896"/>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교육과정 편성·운영</a:t>
            </a:r>
            <a:endParaRPr lang="en-US" sz="1200" dirty="0"/>
          </a:p>
        </p:txBody>
      </p:sp>
      <p:sp>
        <p:nvSpPr>
          <p:cNvPr id="23" name="Shape 21"/>
          <p:cNvSpPr/>
          <p:nvPr/>
        </p:nvSpPr>
        <p:spPr>
          <a:xfrm>
            <a:off x="4937760" y="2980944"/>
            <a:ext cx="685800" cy="292608"/>
          </a:xfrm>
          <a:prstGeom prst="roundRect">
            <a:avLst>
              <a:gd name="adj" fmla="val 50000"/>
            </a:avLst>
          </a:prstGeom>
          <a:solidFill>
            <a:srgbClr val="5E8C6A"/>
          </a:solidFill>
          <a:ln/>
        </p:spPr>
      </p:sp>
      <p:sp>
        <p:nvSpPr>
          <p:cNvPr id="24" name="Text 22"/>
          <p:cNvSpPr txBox="1"/>
          <p:nvPr/>
        </p:nvSpPr>
        <p:spPr>
          <a:xfrm>
            <a:off x="4937760" y="2980944"/>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제4부</a:t>
            </a:r>
            <a:endParaRPr lang="en-US" sz="1050" dirty="0"/>
          </a:p>
        </p:txBody>
      </p:sp>
      <p:sp>
        <p:nvSpPr>
          <p:cNvPr id="25" name="Text 23"/>
          <p:cNvSpPr txBox="1"/>
          <p:nvPr/>
        </p:nvSpPr>
        <p:spPr>
          <a:xfrm>
            <a:off x="5760720" y="2980944"/>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영역별 목표 및 내용</a:t>
            </a:r>
            <a:endParaRPr lang="en-US" sz="1200" dirty="0"/>
          </a:p>
        </p:txBody>
      </p:sp>
      <p:sp>
        <p:nvSpPr>
          <p:cNvPr id="26" name="Shape 24"/>
          <p:cNvSpPr/>
          <p:nvPr/>
        </p:nvSpPr>
        <p:spPr>
          <a:xfrm>
            <a:off x="4937760" y="3364992"/>
            <a:ext cx="685800" cy="292608"/>
          </a:xfrm>
          <a:prstGeom prst="roundRect">
            <a:avLst>
              <a:gd name="adj" fmla="val 50000"/>
            </a:avLst>
          </a:prstGeom>
          <a:solidFill>
            <a:srgbClr val="5E8C6A"/>
          </a:solidFill>
          <a:ln/>
        </p:spPr>
      </p:sp>
      <p:sp>
        <p:nvSpPr>
          <p:cNvPr id="27" name="Text 25"/>
          <p:cNvSpPr txBox="1"/>
          <p:nvPr/>
        </p:nvSpPr>
        <p:spPr>
          <a:xfrm>
            <a:off x="4937760" y="3364992"/>
            <a:ext cx="6858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제5부</a:t>
            </a:r>
            <a:endParaRPr lang="en-US" sz="1050" dirty="0"/>
          </a:p>
        </p:txBody>
      </p:sp>
      <p:sp>
        <p:nvSpPr>
          <p:cNvPr id="28" name="Text 26"/>
          <p:cNvSpPr txBox="1"/>
          <p:nvPr/>
        </p:nvSpPr>
        <p:spPr>
          <a:xfrm>
            <a:off x="5760720" y="3364992"/>
            <a:ext cx="2834640" cy="292608"/>
          </a:xfrm>
          <a:prstGeom prst="rect">
            <a:avLst/>
          </a:prstGeom>
          <a:noFill/>
          <a:ln/>
        </p:spPr>
        <p:txBody>
          <a:bodyPr wrap="square" lIns="0" tIns="0" rIns="0" bIns="0" rtlCol="0" anchor="ctr"/>
          <a:lstStyle/>
          <a:p>
            <a:pPr indent="0" marL="0">
              <a:buNone/>
            </a:pPr>
            <a:r>
              <a:rPr lang="en-US" sz="1200" dirty="0">
                <a:solidFill>
                  <a:srgbClr val="33413A"/>
                </a:solidFill>
                <a:latin typeface="Malgun Gothic" pitchFamily="34" charset="0"/>
                <a:ea typeface="Malgun Gothic" pitchFamily="34" charset="-122"/>
                <a:cs typeface="Malgun Gothic" pitchFamily="34" charset="-120"/>
              </a:rPr>
              <a:t>교육과정 편성·운영 지원</a:t>
            </a:r>
            <a:endParaRPr lang="en-US" sz="1200" dirty="0"/>
          </a:p>
        </p:txBody>
      </p:sp>
      <p:sp>
        <p:nvSpPr>
          <p:cNvPr id="29" name="Shape 27"/>
          <p:cNvSpPr/>
          <p:nvPr/>
        </p:nvSpPr>
        <p:spPr>
          <a:xfrm>
            <a:off x="457200" y="4069080"/>
            <a:ext cx="8229600" cy="640080"/>
          </a:xfrm>
          <a:prstGeom prst="roundRect">
            <a:avLst>
              <a:gd name="adj" fmla="val 50000"/>
            </a:avLst>
          </a:prstGeom>
          <a:solidFill>
            <a:srgbClr val="5E8C6A"/>
          </a:solidFill>
          <a:ln/>
        </p:spPr>
      </p:sp>
      <p:sp>
        <p:nvSpPr>
          <p:cNvPr id="30" name="Text 28"/>
          <p:cNvSpPr txBox="1"/>
          <p:nvPr/>
        </p:nvSpPr>
        <p:spPr>
          <a:xfrm>
            <a:off x="457200" y="4069080"/>
            <a:ext cx="82296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반드시 소속 교육청의 계획서와 지침을 참조</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교육과정의 계획과 운영</dc:title>
  <dc:subject>PptxGenJS Presentation</dc:subject>
  <dc:creator>PptxGenJS</dc:creator>
  <cp:lastModifiedBy>PptxGenJS</cp:lastModifiedBy>
  <cp:revision>1</cp:revision>
  <dcterms:created xsi:type="dcterms:W3CDTF">2026-09-27T12:41:27Z</dcterms:created>
  <dcterms:modified xsi:type="dcterms:W3CDTF">2026-09-27T12:41:27Z</dcterms:modified>
</cp:coreProperties>
</file>