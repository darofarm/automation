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오늘은 5장 '교육과정의 계획과 운영'을 세 부분으로 나눠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 순서입니다.
첫째, 교육과정이 무엇이고 어떻게 바뀌어 왔는지 알아보는 '영유아교육과정의 이해'.
둘째, 교육과정이 무엇으로 이루어져 있고 어떤 특징을 가져야 하는지 보는 '영유아교육과정의 구성'.
셋째, 실제로 어떻게 계획하고 운영하는지 보는 '영유아교육과정의 계획 및 운영'입니다.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첫 번째 부분, '영유아교육과정의 이해'입니다.
유치원과 어린이집에서 아이들에게 '무엇을, 어떻게 가르칠지' 정해 놓은 계획, 즉 교육과정이 무슨 뜻인지 알아보고, 어떻게 바뀌어 왔는지, 요즘 누리과정은 어떤 방향인지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교육과정이라는 말, 많이 들어 보셨죠? 간단히 말하면 '무엇을, 어떤 순서로 가르치고 배울지 정리한 것'입니다.
그런데 누구 입장에서 보느냐에 따라 뜻이 조금 달라져요. 선생님 입장에서 보면 '가르칠 내용과 계획'이고, 학생 입장에서 보면 '실제로 배우고 경험한 것'입니다(이귀윤, 1990).
오른쪽 그림을 보시면, 넓게 보면 학생이 경험하는 모든 것이 교육과정이고, 좁게 보면 미리 짜 놓은 과목이나 수업 계획만을 말합니다.
방인옥 등(1999)은 교육과정을 '아이가 몸과 마음 모두 골고루 자라도록 돕기 위해, 가르치고 배우는 경험을 잘 짜 놓은 설계도'라고 했습니다. 집을 지을 때 설계도가 필요하듯이, 교육에도 설계도가 필요하다는 뜻이에요.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유치원 교육과정은 어떻게 바뀌어 왔을까요?
우리나라 유치원 교육과정은 1969년에 처음 만들어졌고, 2007년까지 모두 여섯 번 고쳐졌습니다.
그런데 예전에는 유치원은 유치원 교육과정, 어린이집은 표준보육과정, 이렇게 따로따로였어요. 같은 나이의 아이인데도 다니는 곳에 따라 배우는 내용이 달랐던 거죠.
그래서 둘을 하나로 합친 것이 바로 '누리과정'입니다. 목적은 두 가지예요. 첫째, 초등학교에 들어가기 전 교육의 질을 높이는 것. 둘째, 어디에 다니든 모든 아이가 같은 출발선에서 시작할 수 있게 하는 것입니다.
누리과정은 2013년부터 만 3~5세 아이들에게 적용되었고, 2020년부터는 '아이 중심, 놀이 중심'으로 바뀐 개정 누리과정을 쓰고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어린이집의 표준보육과정입니다. 표준보육과정은 어린이집에서 아이들이 배우고 경험해야 할 것을 나라에서 정해 놓은 기준이에요.
왜 필요해졌을까요? 1990년대 후반부터 어린이집이 크게 늘었습니다. 핵가족이 많아지고, 일하는 엄마들도 계속 늘었고, 어릴 때의 경험이 아이 발달에 아주 중요하다는 생각도 커졌기 때문이에요.
이제 어린이집은 일부 가정만 보내는 곳이 아니라, 누구나 다니는 곳이 되었습니다. 그러다 보니 '어린이집마다 제각각 하지 말고, 나라에서 공통 기준을 정해 주자'는 필요가 생긴 거죠.
그래서 2004년 영유아보육법에 '표준보육과정을 만들어 보급해야 한다'는 내용이 들어갔고, 2007년에 처음 발표되었습니다. 이후 2013년에 3차, 2020년에 4차로 바뀌었고, 2025년에는 0~2세 아이들을 위한 2024 개정 표준보육과정이 나왔습니다.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지금 쓰고 있는 2019 개정 누리과정은 무엇이 달라졌을까요? 모든 아이가 같은 출발선에서 시작하게 하자는 교육부의 계획(교육부, 2017)에 따라 바뀌었고, 크게 세 가지가 달라졌습니다.
첫째, 초등학교 공부를 미리 준비시키는 대신, 아이 한 명 한 명의 특성을 살피도록 했습니다.
둘째, 선생님이 짜 놓은 계획대로 가르치기보다 아이들이 자유롭게 놀게 하고, 선생님은 옆에서 잘 지켜보고 기록하면서 함께하도록 했습니다.
셋째, 예전에는 5개 영역, 주제, 소주제처럼 너무 자세하게 정해져 있었는데, 이것을 줄여서 현장 선생님들이 상황에 맞게 판단할 수 있게 했습니다.
한마디로 '아이 중심, 놀이 중심'이고, 2020년부터 유치원과 어린이집 모두에서 쓰이고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정리하겠습니다. 지금 0~2세 아이들은 어린이집 표준보육과정을, 3~5세 아이들은 유치원이든 어린이집이든 똑같이 누리과정을 따릅니다.
세 가지만 기억해 주세요.
하나, 교육과정은 아이가 골고루 자라도록 돕는 교육의 설계도입니다.
둘, 누리과정은 따로 있던 유치원과 어린이집의 교육과정을 하나로 합친 것입니다.
셋, 2019 개정 누리과정의 핵심은 아이 중심, 놀이 중심입니다.
다음으로, 이런 교육과정이 무엇으로 이루어져 있는지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부분은 '영유아교육과정의 구성'입니다.
교육과정이 무엇으로 이루어져 있는지, 그리고 영유아를 위한 교육과정은 어떤 특징을 가져야 하는지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교육과정의 구성 요소는 학자마다 조금씩 다르게 말하지만, 가장 많이 쓰는 네 가지는 교육목적, 교육내용, 교육방법, 교육평가입니다.
이 네 가지는 타일러(Tyler)라는 학자가 던진 네 가지 질문과 연결됩니다. 타일러는 교육과정을 짤 때 이 네 가지를 꼭 물어봐야 한다고 했어요.
첫째, 무엇을 목표로 할까? 이것이 교육목표입니다.
둘째, 목표를 이루려면 어떤 경험을 줘야 할까? 이것이 교육내용입니다.
셋째, 그 경험을 어떻게 짜야 가장 효과적일까? 이것이 교수-학습 방법입니다.
넷째, 목표를 이뤘는지 어떻게 알 수 있을까? 이것이 평가입니다.
여행 계획에 비유하면, 어디로 갈지 정하고, 무엇을 볼지 고르고, 어떤 순서로 다닐지 짜고, 다녀와서 어땠는지 돌아보는 것과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네 가지 요소는 그냥 나열된 것이 아니라, 교육과정이 실제로 진행되는 순서이기도 합니다.
먼저 우리 기관의 생각과 철학에 맞는 교육목표를 세웁니다. 다음으로 그 목표를 이루는 데 꼭 필요한 교육내용을 고릅니다. 그리고 고른 내용을 잘 정리하고, 아이들의 발달과 흥미에 맞는 가르치는 방법을 정합니다. 그다음 평가를 하고, 평가 결과를 다음 교육계획에 반영합니다.
그래서 그림처럼 한 바퀴 돌고 나면 다시 처음으로 이어지는 구조예요.
타일러의 모형은 비판도 받지만, 우리나라 초·중·고 교육과정은 이 틀을 바탕으로 만들어져 왔습니다. 영유아교육과정도 마찬가지로 이 네 가지 요소를 담고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영유아교육과정을 짤 때 어떤 특징이 있어야 하는지 네 가지로 살펴보겠습니다. 먼저 두 가지입니다.
첫째, 교육내용 간의 통합입니다. 아이들은 국어, 과학, 미술처럼 과목을 나눠서 배우는 것보다, 여러 가지가 섞인 경험을 통해 더 잘 배웁니다. 예를 들어 '가을'이라는 주제로 놀면, 가을 과일을 만들고, 과일가게 놀이를 하고, 간판과 가격표도 쓰면서 여러 영역을 한꺼번에 자연스럽게 배우게 됩니다.
둘째, 놀이 중심으로 운영하는 것입니다. 선생님이 지식을 가르치려고 하기보다, 아이가 스스로 놀면서 배우도록 해야 합니다. 그래서 놀이 시간을 충분히 주고, 바깥놀이나 익숙한 물건, 자연물을 이용한 놀이도 권장합니다.
이때 선생님은 놀이를 이끄는 사람이 아니라, 아이를 잘 지켜보고 필요할 때 도와주는 '놀이지원자'입니다.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두 가지 특징입니다.
셋째, 흥미와 요구를 반영하는 것입니다. 교육과정은 아이들의 흥미를 최대한 존중하면서 발달에 맞는 내용을 골라야 해요. 그런데 주의할 점이 있습니다. 흥미를 반영한다는 것이 '아이가 좋아하는 것이면 다 좋은 교육과정'이라는 뜻은 아니에요. 선생님이 아이들을 잘 관찰하고 평가해서, 의미 있는 주제나 놀이를 골라 교육적인 활동으로 이어 줘야 합니다.
넷째, 다양성을 반영하는 것입니다. 아이들마다 발달 속도, 기질, 자라 온 문화적 배경이 모두 다릅니다. 특히 영아는 한 명 한 명의 차이가 크고 몇 개월 차이로도 많이 달라서, 반 전체 계획보다 개인별 보육계획이 더 알맞습니다. 누리과정도 나이별로 되어 있지만, 실제로 쓸 때는 아이 한 명 한 명을 평가해서 수준에 맞는 계획을 세우는 것이 좋습니다.
또 우리 사회가 다문화 사회가 된 만큼, 아이와 가정의 다양성을 담은 다문화교육도 계획해야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교육과정은 목표, 내용, 방법, 평가의 네 가지 요소로 이루어지고, 이것은 교육이 진행되는 순서이기도 합니다.
그리고 영유아교육과정은 네 가지 특징을 가져야 합니다. 여러 내용을 통합하고, 놀이를 중심으로 하고, 아이의 흥미와 요구를 반영하고, 아이마다 다른 다양성을 반영하는 것입니다.
한마디로, 아이가 놀이 속에서 자연스럽게 배우도록 짜는 것이 영유아교육과정 구성의 핵심입니다.
그럼 마지막으로, 실제로 교육과정을 어떻게 계획하고 운영하는지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세 번째 부분은 '영유아교육과정의 계획 및 운영'입니다.
어린이집과 유치원이 교육과정을 계획하고 운영할 때 무엇을 기준으로 삼는지, 그리고 나라에서 정한 표준보육과정에는 어떤 내용이 담겨 있는지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어린이집과 유치원이 교육과정을 계획할 때는 교육과정에 대한 전문 지식만 있으면 되는 게 아닙니다. 여러 가지 기준을 함께 살펴봐야 해요.
우리 원이 추구하는 교육 방향, 나라에서 정한 교육과정, 우리 지역의 유아교육 방향, 그해의 유치원 교육과정 편성·운영 지침, 어린이집 보육사업안내 등을 모두 참고합니다.
오른쪽 표를 보시면, 나라에서 정한 교육과정은 이렇게 나뉩니다. 0~2세는 어린이집의 표준보육과정만 있고, 3~5세는 어린이집이든 유치원이든 누리과정으로 내용이 같습니다.
그래서 선생님들이 함께 이 교육과정을 공부하고, 우리 기관에 어떻게 반영할지 의논하는 것이 중요합니다. 오늘은 어린이집의 표준보육과정을 중심으로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표준보육과정이 어떤 사람으로 키우고 싶은지, 즉 '추구하는 인간상'입니다. 건강한 사람, 자주적인 사람, 창의적인 사람, 감성이 풍부한 사람, 더불어 사는 사람, 이렇게 다섯 가지예요.
표준보육과정의 목적은 아이들이 놀이를 통해 몸과 마음이 건강하게 골고루 자라고, 바른 인성과 민주 시민의 기초를 기르는 것입니다.
목표는 0~2세와 3~5세로 나뉘는데, 다섯 가지 목표를 인간상과 나란히 놓고 보면 서로 짝을 이루는 것을 볼 수 있어요.
차이를 보면, 0~2세는 '관심을 가진다', '스스로 하고자 한다'처럼 시작하는 단계이고, 3~5세는 '생활습관을 기른다', '해결하는 능력을 기른다', '태도를 기른다'처럼 한 단계 더 나아갑니다. 나이에 맞게 목표가 조금씩 깊어지는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표준보육과정을 만들 때 중요하게 생각한 점, '구성의 중점'입니다. 기본 전제는 아이 한 명 한 명이 저마다의 특성을 가진 소중한 존재라는 것이에요.
첫째, 0~5세 모든 아이에게 적용할 수 있게 만들었습니다.
둘째, 앞에서 본 인간상을 이루기 위한 지식, 기능, 태도와 가치를 담았습니다.
셋째, 신체운동·건강, 의사소통, 사회관계, 예술경험, 자연탐구의 5개 영역을 중심으로 구성했습니다.
넷째, 0~5세 아이들이 꼭 경험해야 할 내용으로 채웠습니다.
다섯째, 초등학교 교육과정과 자연스럽게 이어지도록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운영할까요? 편성·운영, 교수·학습, 평가 세 부분으로 나눠 볼게요.
편성·운영에서는 기관의 운영 시간과 형편에 맞게 계획을 세우고, 하루 일과에 바깥놀이를 넣어 충분히 놀 수 있게 합니다. 성별, 장애, 종교, 가족이나 문화 배경 때문에 차별받지 않도록 하고, 아이의 발달과 장애 정도에 맞게 조정합니다. 가정, 지역사회와 함께하고, 교사 연수를 통해 계속 더 좋아지도록 합니다.
교수·학습에서는 아이가 흥미에 따라 자유롭게 놀고, 놀이를 통해 배우도록 합니다. 실내외 환경을 다양하게 꾸미고, 아이와 친구, 아이와 선생님, 아이와 환경이 활발하게 주고받도록 합니다. 5개 영역이 아이의 경험 속에서 자연스럽게 합쳐지게 하고, 쉬는 것과 일상생활, 배우는 방식도 아이마다 맞춰 줍니다.
평가는 운영이 잘 되고 있는지 점검하고 더 좋게 만들기 위해 합니다. 아이의 특성과 변화, 그리고 운영이 잘 되었는지를 평가하고, 목적에 맞는 방법을 씁니다. 평가 결과는 아이를 더 잘 이해하고 운영을 고치는 자료로 활용합니다.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연령별 목표와 내용입니다. 교재에는 0~1세, 2세, 3~5세로 나눈 자세한 표가 있는데요(교육부고시 제2024-23호), 오늘은 큰 틀만 보겠습니다.
모든 연령이 똑같이 5개 영역으로 되어 있고, 각 영역 안에 '내용범주'가 있습니다.
신체운동·건강은 신체활동 즐기기, 건강하게 생활하기, 안전하게 생활하기.
의사소통은 듣기와 말하기, 읽기와 쓰기에 관심 가지기, 책과 이야기 즐기기.
사회관계는 나를 알고 존중하기, 더불어 생활하기.
예술경험은 아름다움 찾아보기, 창의적으로 표현하기.
자연탐구는 탐구 과정 즐기기, 생활 속에서 탐구하기, 자연과 더불어 살기입니다.
3~5세가 되면 사회관계에 '사회에 관심 가지기', 예술경험에 '예술 감상하기'가 더해집니다.
같은 범주라도 나이에 따라 내용이 깊어져요. 예를 들어 '안전하게 생활하기'를 보면, 0~1세는 '위험하다는 말에 주의한다', 2세는 '위험한 상황에 대처하는 방법을 경험한다', 3~5세는 '안전사고, 화재, 재난, 학대, 유괴 등에 대처하는 방법을 경험한다'로 점점 넓어집니다.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관련 법규와 지침입니다. 교육과정을 계획할 때는 먼저 교육청의 지침을 확인하고, 꼭 가르쳐야 하는 내용이 있으면 반드시 넣어야 합니다. 교육청 지침에는 바뀐 법의 내용과 지역 교육청, 지방자치단체의 지침이 담겨 있기 때문이에요.
유치원은 매년 교육청별 유치원 교육과정 편성·운영 지침과 유아교육계획을, 어린이집은 보육사업안내서와 업무별 매뉴얼을 참고하면 됩니다. 교육청마다 내용이 다를 수 있으니 꼭 우리 교육청 자료를 봐야 하고, 운영계획서나 1년 학사일정을 짤 때도 마찬가지입니다.
오른쪽은 예시로 2025학년도 경기도 유치원 교육과정 편성·운영 지침의 목차입니다(경기도교육청, 2025). 경기교육의 방향부터 영역별 목표와 내용, 운영 지원까지 다섯 부분으로 되어 있어요.
정리하면, 교육과정을 잘 운영하려면 나라의 교육과정을 이해하고, 지역과 기관의 지침까지 함께 살펴야 한다는 것입니다.
오늘 발표를 한 줄로 정리하면, 교육과정은 아이가 골고루 자라도록 돕는 설계도이고, 놀이를 중심으로 구성하며, 나라와 지역의 기준을 바탕으로 우리 기관에 맞게 운영한다는 것입니다.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교육과정의 계획과 운영</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영유아교육과정의 이해 · 구성 · 계획 및 운영</a:t>
            </a:r>
            <a:endParaRPr lang="en-US" sz="1800" dirty="0"/>
          </a:p>
        </p:txBody>
      </p:sp>
      <p:sp>
        <p:nvSpPr>
          <p:cNvPr id="12" name="Text 10"/>
          <p:cNvSpPr txBox="1"/>
          <p:nvPr/>
        </p:nvSpPr>
        <p:spPr>
          <a:xfrm>
            <a:off x="640080" y="393192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목차</a:t>
            </a:r>
            <a:endParaRPr lang="en-US" sz="2800" dirty="0"/>
          </a:p>
        </p:txBody>
      </p:sp>
      <p:sp>
        <p:nvSpPr>
          <p:cNvPr id="5" name="Shape 3"/>
          <p:cNvSpPr/>
          <p:nvPr/>
        </p:nvSpPr>
        <p:spPr>
          <a:xfrm>
            <a:off x="457200" y="1188720"/>
            <a:ext cx="2615184" cy="3474720"/>
          </a:xfrm>
          <a:prstGeom prst="roundRect">
            <a:avLst>
              <a:gd name="adj" fmla="val 5245"/>
            </a:avLst>
          </a:prstGeom>
          <a:solidFill>
            <a:srgbClr val="FCE4D8"/>
          </a:solidFill>
          <a:ln/>
        </p:spPr>
      </p:sp>
      <p:sp>
        <p:nvSpPr>
          <p:cNvPr id="6" name="Shape 4"/>
          <p:cNvSpPr/>
          <p:nvPr/>
        </p:nvSpPr>
        <p:spPr>
          <a:xfrm>
            <a:off x="685800" y="1417320"/>
            <a:ext cx="640080" cy="64008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845820" y="1577340"/>
            <a:ext cx="320040" cy="320040"/>
          </a:xfrm>
          <a:prstGeom prst="rect">
            <a:avLst/>
          </a:prstGeom>
        </p:spPr>
      </p:pic>
      <p:sp>
        <p:nvSpPr>
          <p:cNvPr id="8" name="Text 5"/>
          <p:cNvSpPr txBox="1"/>
          <p:nvPr/>
        </p:nvSpPr>
        <p:spPr>
          <a:xfrm>
            <a:off x="1463040" y="1463040"/>
            <a:ext cx="1463040" cy="548640"/>
          </a:xfrm>
          <a:prstGeom prst="rect">
            <a:avLst/>
          </a:prstGeom>
          <a:noFill/>
          <a:ln/>
        </p:spPr>
        <p:txBody>
          <a:bodyPr wrap="square" lIns="0" tIns="0" rIns="0" bIns="0" rtlCol="0" anchor="ctr"/>
          <a:lstStyle/>
          <a:p>
            <a:pPr indent="0" marL="0">
              <a:buNone/>
            </a:pPr>
            <a:r>
              <a:rPr lang="en-US" sz="1600" b="1" dirty="0">
                <a:solidFill>
                  <a:srgbClr val="C0643E"/>
                </a:solidFill>
                <a:latin typeface="Malgun Gothic" pitchFamily="34" charset="0"/>
                <a:ea typeface="Malgun Gothic" pitchFamily="34" charset="-122"/>
                <a:cs typeface="Malgun Gothic" pitchFamily="34" charset="-120"/>
              </a:rPr>
              <a:t>PART 1</a:t>
            </a:r>
            <a:endParaRPr lang="en-US" sz="1600" dirty="0"/>
          </a:p>
        </p:txBody>
      </p:sp>
      <p:sp>
        <p:nvSpPr>
          <p:cNvPr id="9" name="Text 6"/>
          <p:cNvSpPr txBox="1"/>
          <p:nvPr/>
        </p:nvSpPr>
        <p:spPr>
          <a:xfrm>
            <a:off x="685800" y="2240280"/>
            <a:ext cx="2194560" cy="777240"/>
          </a:xfrm>
          <a:prstGeom prst="rect">
            <a:avLst/>
          </a:prstGeom>
          <a:noFill/>
          <a:ln/>
        </p:spPr>
        <p:txBody>
          <a:bodyPr wrap="square" lIns="0" tIns="0" rIns="0" bIns="0" rtlCol="0" anchor="t"/>
          <a:lstStyle/>
          <a:p>
            <a:pPr indent="0" marL="0">
              <a:buNone/>
            </a:pPr>
            <a:r>
              <a:rPr lang="en-US" sz="1700" b="1" dirty="0">
                <a:solidFill>
                  <a:srgbClr val="33413A"/>
                </a:solidFill>
                <a:latin typeface="Malgun Gothic" pitchFamily="34" charset="0"/>
                <a:ea typeface="Malgun Gothic" pitchFamily="34" charset="-122"/>
                <a:cs typeface="Malgun Gothic" pitchFamily="34" charset="-120"/>
              </a:rPr>
              <a:t>영유아교육과정의 이해</a:t>
            </a:r>
            <a:endParaRPr lang="en-US" sz="1700" dirty="0"/>
          </a:p>
        </p:txBody>
      </p:sp>
      <p:sp>
        <p:nvSpPr>
          <p:cNvPr id="10" name="Text 7"/>
          <p:cNvSpPr txBox="1"/>
          <p:nvPr/>
        </p:nvSpPr>
        <p:spPr>
          <a:xfrm>
            <a:off x="685800" y="3108960"/>
            <a:ext cx="224028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교육과정의 정의</a:t>
            </a:r>
            <a:endParaRPr lang="en-US" sz="1200" dirty="0"/>
          </a:p>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누리과정·표준보육과정의 변천</a:t>
            </a:r>
            <a:endParaRPr lang="en-US" sz="1200" dirty="0"/>
          </a:p>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2019 개정 누리과정</a:t>
            </a:r>
            <a:endParaRPr lang="en-US" sz="1200" dirty="0"/>
          </a:p>
        </p:txBody>
      </p:sp>
      <p:sp>
        <p:nvSpPr>
          <p:cNvPr id="11" name="Shape 8"/>
          <p:cNvSpPr/>
          <p:nvPr/>
        </p:nvSpPr>
        <p:spPr>
          <a:xfrm>
            <a:off x="3264408" y="1188720"/>
            <a:ext cx="2615184" cy="3474720"/>
          </a:xfrm>
          <a:prstGeom prst="roundRect">
            <a:avLst>
              <a:gd name="adj" fmla="val 5245"/>
            </a:avLst>
          </a:prstGeom>
          <a:solidFill>
            <a:srgbClr val="FDF3D6"/>
          </a:solidFill>
          <a:ln/>
        </p:spPr>
      </p:sp>
      <p:sp>
        <p:nvSpPr>
          <p:cNvPr id="12" name="Shape 9"/>
          <p:cNvSpPr/>
          <p:nvPr/>
        </p:nvSpPr>
        <p:spPr>
          <a:xfrm>
            <a:off x="3493008" y="1417320"/>
            <a:ext cx="640080" cy="640080"/>
          </a:xfrm>
          <a:prstGeom prst="ellipse">
            <a:avLst/>
          </a:prstGeom>
          <a:solidFill>
            <a:srgbClr val="F5D07A"/>
          </a:solidFill>
          <a:ln/>
        </p:spPr>
      </p:sp>
      <p:pic>
        <p:nvPicPr>
          <p:cNvPr id="13" name="Image 1" descr="preencoded.png">    </p:cNvPr>
          <p:cNvPicPr>
            <a:picLocks noChangeAspect="1"/>
          </p:cNvPicPr>
          <p:nvPr/>
        </p:nvPicPr>
        <p:blipFill>
          <a:blip r:embed="rId2"/>
          <a:stretch>
            <a:fillRect/>
          </a:stretch>
        </p:blipFill>
        <p:spPr>
          <a:xfrm>
            <a:off x="3653028" y="1577340"/>
            <a:ext cx="320040" cy="320040"/>
          </a:xfrm>
          <a:prstGeom prst="rect">
            <a:avLst/>
          </a:prstGeom>
        </p:spPr>
      </p:pic>
      <p:sp>
        <p:nvSpPr>
          <p:cNvPr id="14" name="Text 10"/>
          <p:cNvSpPr txBox="1"/>
          <p:nvPr/>
        </p:nvSpPr>
        <p:spPr>
          <a:xfrm>
            <a:off x="4270248" y="1463040"/>
            <a:ext cx="1463040" cy="548640"/>
          </a:xfrm>
          <a:prstGeom prst="rect">
            <a:avLst/>
          </a:prstGeom>
          <a:noFill/>
          <a:ln/>
        </p:spPr>
        <p:txBody>
          <a:bodyPr wrap="square" lIns="0" tIns="0" rIns="0" bIns="0" rtlCol="0" anchor="ctr"/>
          <a:lstStyle/>
          <a:p>
            <a:pPr indent="0" marL="0">
              <a:buNone/>
            </a:pPr>
            <a:r>
              <a:rPr lang="en-US" sz="1600" b="1" dirty="0">
                <a:solidFill>
                  <a:srgbClr val="B08A2E"/>
                </a:solidFill>
                <a:latin typeface="Malgun Gothic" pitchFamily="34" charset="0"/>
                <a:ea typeface="Malgun Gothic" pitchFamily="34" charset="-122"/>
                <a:cs typeface="Malgun Gothic" pitchFamily="34" charset="-120"/>
              </a:rPr>
              <a:t>PART 2</a:t>
            </a:r>
            <a:endParaRPr lang="en-US" sz="1600" dirty="0"/>
          </a:p>
        </p:txBody>
      </p:sp>
      <p:sp>
        <p:nvSpPr>
          <p:cNvPr id="15" name="Text 11"/>
          <p:cNvSpPr txBox="1"/>
          <p:nvPr/>
        </p:nvSpPr>
        <p:spPr>
          <a:xfrm>
            <a:off x="3493008" y="2240280"/>
            <a:ext cx="2194560" cy="777240"/>
          </a:xfrm>
          <a:prstGeom prst="rect">
            <a:avLst/>
          </a:prstGeom>
          <a:noFill/>
          <a:ln/>
        </p:spPr>
        <p:txBody>
          <a:bodyPr wrap="square" lIns="0" tIns="0" rIns="0" bIns="0" rtlCol="0" anchor="t"/>
          <a:lstStyle/>
          <a:p>
            <a:pPr indent="0" marL="0">
              <a:buNone/>
            </a:pPr>
            <a:r>
              <a:rPr lang="en-US" sz="1700" b="1" dirty="0">
                <a:solidFill>
                  <a:srgbClr val="33413A"/>
                </a:solidFill>
                <a:latin typeface="Malgun Gothic" pitchFamily="34" charset="0"/>
                <a:ea typeface="Malgun Gothic" pitchFamily="34" charset="-122"/>
                <a:cs typeface="Malgun Gothic" pitchFamily="34" charset="-120"/>
              </a:rPr>
              <a:t>영유아교육과정의 구성</a:t>
            </a:r>
            <a:endParaRPr lang="en-US" sz="1700" dirty="0"/>
          </a:p>
        </p:txBody>
      </p:sp>
      <p:sp>
        <p:nvSpPr>
          <p:cNvPr id="16" name="Text 12"/>
          <p:cNvSpPr txBox="1"/>
          <p:nvPr/>
        </p:nvSpPr>
        <p:spPr>
          <a:xfrm>
            <a:off x="3493008" y="3108960"/>
            <a:ext cx="224028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구성 요소(목표·내용·방법·평가)</a:t>
            </a:r>
            <a:endParaRPr lang="en-US" sz="1200" dirty="0"/>
          </a:p>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실행 순서</a:t>
            </a:r>
            <a:endParaRPr lang="en-US" sz="1200" dirty="0"/>
          </a:p>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구성의 네 가지 특징</a:t>
            </a:r>
            <a:endParaRPr lang="en-US" sz="1200" dirty="0"/>
          </a:p>
        </p:txBody>
      </p:sp>
      <p:sp>
        <p:nvSpPr>
          <p:cNvPr id="17" name="Shape 13"/>
          <p:cNvSpPr/>
          <p:nvPr/>
        </p:nvSpPr>
        <p:spPr>
          <a:xfrm>
            <a:off x="6071616" y="1188720"/>
            <a:ext cx="2615184" cy="3474720"/>
          </a:xfrm>
          <a:prstGeom prst="roundRect">
            <a:avLst>
              <a:gd name="adj" fmla="val 5245"/>
            </a:avLst>
          </a:prstGeom>
          <a:solidFill>
            <a:srgbClr val="DCEBDD"/>
          </a:solidFill>
          <a:ln/>
        </p:spPr>
      </p:sp>
      <p:sp>
        <p:nvSpPr>
          <p:cNvPr id="18" name="Shape 14"/>
          <p:cNvSpPr/>
          <p:nvPr/>
        </p:nvSpPr>
        <p:spPr>
          <a:xfrm>
            <a:off x="6300216" y="1417320"/>
            <a:ext cx="640080" cy="640080"/>
          </a:xfrm>
          <a:prstGeom prst="ellipse">
            <a:avLst/>
          </a:prstGeom>
          <a:solidFill>
            <a:srgbClr val="5E8C6A"/>
          </a:solidFill>
          <a:ln/>
        </p:spPr>
      </p:sp>
      <p:pic>
        <p:nvPicPr>
          <p:cNvPr id="19" name="Image 2" descr="preencoded.png">    </p:cNvPr>
          <p:cNvPicPr>
            <a:picLocks noChangeAspect="1"/>
          </p:cNvPicPr>
          <p:nvPr/>
        </p:nvPicPr>
        <p:blipFill>
          <a:blip r:embed="rId3"/>
          <a:stretch>
            <a:fillRect/>
          </a:stretch>
        </p:blipFill>
        <p:spPr>
          <a:xfrm>
            <a:off x="6460236" y="1577340"/>
            <a:ext cx="320040" cy="320040"/>
          </a:xfrm>
          <a:prstGeom prst="rect">
            <a:avLst/>
          </a:prstGeom>
        </p:spPr>
      </p:pic>
      <p:sp>
        <p:nvSpPr>
          <p:cNvPr id="20" name="Text 15"/>
          <p:cNvSpPr txBox="1"/>
          <p:nvPr/>
        </p:nvSpPr>
        <p:spPr>
          <a:xfrm>
            <a:off x="7077456" y="1463040"/>
            <a:ext cx="1463040" cy="54864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PART 3</a:t>
            </a:r>
            <a:endParaRPr lang="en-US" sz="1600" dirty="0"/>
          </a:p>
        </p:txBody>
      </p:sp>
      <p:sp>
        <p:nvSpPr>
          <p:cNvPr id="21" name="Text 16"/>
          <p:cNvSpPr txBox="1"/>
          <p:nvPr/>
        </p:nvSpPr>
        <p:spPr>
          <a:xfrm>
            <a:off x="6300216" y="2240280"/>
            <a:ext cx="2194560" cy="777240"/>
          </a:xfrm>
          <a:prstGeom prst="rect">
            <a:avLst/>
          </a:prstGeom>
          <a:noFill/>
          <a:ln/>
        </p:spPr>
        <p:txBody>
          <a:bodyPr wrap="square" lIns="0" tIns="0" rIns="0" bIns="0" rtlCol="0" anchor="t"/>
          <a:lstStyle/>
          <a:p>
            <a:pPr indent="0" marL="0">
              <a:buNone/>
            </a:pPr>
            <a:r>
              <a:rPr lang="en-US" sz="1700" b="1" dirty="0">
                <a:solidFill>
                  <a:srgbClr val="33413A"/>
                </a:solidFill>
                <a:latin typeface="Malgun Gothic" pitchFamily="34" charset="0"/>
                <a:ea typeface="Malgun Gothic" pitchFamily="34" charset="-122"/>
                <a:cs typeface="Malgun Gothic" pitchFamily="34" charset="-120"/>
              </a:rPr>
              <a:t>영유아교육과정의 계획 및 운영</a:t>
            </a:r>
            <a:endParaRPr lang="en-US" sz="1700" dirty="0"/>
          </a:p>
        </p:txBody>
      </p:sp>
      <p:sp>
        <p:nvSpPr>
          <p:cNvPr id="22" name="Text 17"/>
          <p:cNvSpPr txBox="1"/>
          <p:nvPr/>
        </p:nvSpPr>
        <p:spPr>
          <a:xfrm>
            <a:off x="6300216" y="3108960"/>
            <a:ext cx="224028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계획·운영의 기준</a:t>
            </a:r>
            <a:endParaRPr lang="en-US" sz="1200" dirty="0"/>
          </a:p>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표준보육과정 총론과 운영</a:t>
            </a:r>
            <a:endParaRPr lang="en-US" sz="1200" dirty="0"/>
          </a:p>
          <a:p>
            <a:pPr marL="342900" indent="-342900">
              <a:spcAft>
                <a:spcPts val="600"/>
              </a:spcAft>
              <a:buSzPct val="100000"/>
              <a:buChar char="•"/>
            </a:pPr>
            <a:r>
              <a:rPr lang="en-US" sz="1200" dirty="0">
                <a:solidFill>
                  <a:srgbClr val="4A5750"/>
                </a:solidFill>
                <a:latin typeface="Malgun Gothic" pitchFamily="34" charset="0"/>
                <a:ea typeface="Malgun Gothic" pitchFamily="34" charset="-122"/>
                <a:cs typeface="Malgun Gothic" pitchFamily="34" charset="-120"/>
              </a:rPr>
              <a:t>관련 법규와 지침</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b="1" dirty="0">
                <a:solidFill>
                  <a:srgbClr val="FDF3D6"/>
                </a:solidFill>
                <a:latin typeface="Malgun Gothic" pitchFamily="34" charset="0"/>
                <a:ea typeface="Malgun Gothic" pitchFamily="34" charset="-122"/>
                <a:cs typeface="Malgun Gothic" pitchFamily="34" charset="-120"/>
              </a:rPr>
              <a:t>PART 1</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이해</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교육과정의 정의부터 누리과정·표준보육과정까지</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교육과정이란?</a:t>
            </a:r>
            <a:endParaRPr lang="en-US" sz="2800" dirty="0"/>
          </a:p>
        </p:txBody>
      </p:sp>
      <p:sp>
        <p:nvSpPr>
          <p:cNvPr id="5" name="Shape 3"/>
          <p:cNvSpPr/>
          <p:nvPr/>
        </p:nvSpPr>
        <p:spPr>
          <a:xfrm>
            <a:off x="457200" y="1188720"/>
            <a:ext cx="4206240" cy="960120"/>
          </a:xfrm>
          <a:prstGeom prst="roundRect">
            <a:avLst>
              <a:gd name="adj" fmla="val 14286"/>
            </a:avLst>
          </a:prstGeom>
          <a:solidFill>
            <a:srgbClr val="FCE4D8"/>
          </a:solidFill>
          <a:ln/>
        </p:spPr>
      </p:sp>
      <p:sp>
        <p:nvSpPr>
          <p:cNvPr id="6" name="Shape 4"/>
          <p:cNvSpPr/>
          <p:nvPr/>
        </p:nvSpPr>
        <p:spPr>
          <a:xfrm>
            <a:off x="640080" y="1371600"/>
            <a:ext cx="594360" cy="59436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77240" y="1508760"/>
            <a:ext cx="320040" cy="320040"/>
          </a:xfrm>
          <a:prstGeom prst="rect">
            <a:avLst/>
          </a:prstGeom>
        </p:spPr>
      </p:pic>
      <p:sp>
        <p:nvSpPr>
          <p:cNvPr id="8" name="Text 5"/>
          <p:cNvSpPr txBox="1"/>
          <p:nvPr/>
        </p:nvSpPr>
        <p:spPr>
          <a:xfrm>
            <a:off x="1417320" y="1325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교사 중심으로 보면</a:t>
            </a:r>
            <a:endParaRPr lang="en-US" sz="1300" dirty="0"/>
          </a:p>
        </p:txBody>
      </p:sp>
      <p:sp>
        <p:nvSpPr>
          <p:cNvPr id="9" name="Text 6"/>
          <p:cNvSpPr txBox="1"/>
          <p:nvPr/>
        </p:nvSpPr>
        <p:spPr>
          <a:xfrm>
            <a:off x="1417320" y="1645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가르치는 내용 · 교과 · 의도적 계획</a:t>
            </a:r>
            <a:endParaRPr lang="en-US" sz="1400" dirty="0"/>
          </a:p>
        </p:txBody>
      </p:sp>
      <p:sp>
        <p:nvSpPr>
          <p:cNvPr id="10" name="Shape 7"/>
          <p:cNvSpPr/>
          <p:nvPr/>
        </p:nvSpPr>
        <p:spPr>
          <a:xfrm>
            <a:off x="457200" y="2331720"/>
            <a:ext cx="4206240" cy="960120"/>
          </a:xfrm>
          <a:prstGeom prst="roundRect">
            <a:avLst>
              <a:gd name="adj" fmla="val 14286"/>
            </a:avLst>
          </a:prstGeom>
          <a:solidFill>
            <a:srgbClr val="DCEBDD"/>
          </a:solidFill>
          <a:ln/>
        </p:spPr>
      </p:sp>
      <p:sp>
        <p:nvSpPr>
          <p:cNvPr id="11" name="Shape 8"/>
          <p:cNvSpPr/>
          <p:nvPr/>
        </p:nvSpPr>
        <p:spPr>
          <a:xfrm>
            <a:off x="640080" y="2514600"/>
            <a:ext cx="594360" cy="59436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777240" y="2651760"/>
            <a:ext cx="320040" cy="320040"/>
          </a:xfrm>
          <a:prstGeom prst="rect">
            <a:avLst/>
          </a:prstGeom>
        </p:spPr>
      </p:pic>
      <p:sp>
        <p:nvSpPr>
          <p:cNvPr id="13" name="Text 9"/>
          <p:cNvSpPr txBox="1"/>
          <p:nvPr/>
        </p:nvSpPr>
        <p:spPr>
          <a:xfrm>
            <a:off x="1417320" y="2468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학생 중심으로 보면</a:t>
            </a:r>
            <a:endParaRPr lang="en-US" sz="1300" dirty="0"/>
          </a:p>
        </p:txBody>
      </p:sp>
      <p:sp>
        <p:nvSpPr>
          <p:cNvPr id="14" name="Text 10"/>
          <p:cNvSpPr txBox="1"/>
          <p:nvPr/>
        </p:nvSpPr>
        <p:spPr>
          <a:xfrm>
            <a:off x="1417320" y="2788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학습경험 · 학습 결과</a:t>
            </a:r>
            <a:endParaRPr lang="en-US" sz="1400" dirty="0"/>
          </a:p>
        </p:txBody>
      </p:sp>
      <p:sp>
        <p:nvSpPr>
          <p:cNvPr id="15" name="Text 11"/>
          <p:cNvSpPr txBox="1"/>
          <p:nvPr/>
        </p:nvSpPr>
        <p:spPr>
          <a:xfrm>
            <a:off x="457200" y="3364992"/>
            <a:ext cx="4206240" cy="228600"/>
          </a:xfrm>
          <a:prstGeom prst="rect">
            <a:avLst/>
          </a:prstGeom>
          <a:noFill/>
          <a:ln/>
        </p:spPr>
        <p:txBody>
          <a:bodyPr wrap="square" lIns="0" tIns="0" rIns="0" bIns="0" rtlCol="0" anchor="ctr"/>
          <a:lstStyle/>
          <a:p>
            <a:pPr algn="r" indent="0" marL="0">
              <a:buNone/>
            </a:pPr>
            <a:r>
              <a:rPr lang="en-US" sz="1000" dirty="0">
                <a:solidFill>
                  <a:srgbClr val="6E7B73"/>
                </a:solidFill>
                <a:latin typeface="Malgun Gothic" pitchFamily="34" charset="0"/>
                <a:ea typeface="Malgun Gothic" pitchFamily="34" charset="-122"/>
                <a:cs typeface="Malgun Gothic" pitchFamily="34" charset="-120"/>
              </a:rPr>
              <a:t>(이귀윤, 1990)</a:t>
            </a:r>
            <a:endParaRPr lang="en-US" sz="1000" dirty="0"/>
          </a:p>
        </p:txBody>
      </p:sp>
      <p:sp>
        <p:nvSpPr>
          <p:cNvPr id="16" name="Shape 12"/>
          <p:cNvSpPr/>
          <p:nvPr/>
        </p:nvSpPr>
        <p:spPr>
          <a:xfrm>
            <a:off x="5074920" y="1051560"/>
            <a:ext cx="3566160" cy="2651760"/>
          </a:xfrm>
          <a:prstGeom prst="ellipse">
            <a:avLst/>
          </a:prstGeom>
          <a:solidFill>
            <a:srgbClr val="FDF3D6"/>
          </a:solidFill>
          <a:ln w="19050">
            <a:solidFill>
              <a:srgbClr val="F5D07A"/>
            </a:solidFill>
            <a:prstDash val="solid"/>
          </a:ln>
        </p:spPr>
      </p:sp>
      <p:sp>
        <p:nvSpPr>
          <p:cNvPr id="17" name="Text 13"/>
          <p:cNvSpPr txBox="1"/>
          <p:nvPr/>
        </p:nvSpPr>
        <p:spPr>
          <a:xfrm>
            <a:off x="5074920" y="1234440"/>
            <a:ext cx="3566160" cy="274320"/>
          </a:xfrm>
          <a:prstGeom prst="rect">
            <a:avLst/>
          </a:prstGeom>
          <a:noFill/>
          <a:ln/>
        </p:spPr>
        <p:txBody>
          <a:bodyPr wrap="square" lIns="0" tIns="0" rIns="0" bIns="0" rtlCol="0" anchor="ctr"/>
          <a:lstStyle/>
          <a:p>
            <a:pPr algn="ctr" indent="0" marL="0">
              <a:buNone/>
            </a:pPr>
            <a:r>
              <a:rPr lang="en-US" sz="1300" b="1" dirty="0">
                <a:solidFill>
                  <a:srgbClr val="B08A2E"/>
                </a:solidFill>
                <a:latin typeface="Malgun Gothic" pitchFamily="34" charset="0"/>
                <a:ea typeface="Malgun Gothic" pitchFamily="34" charset="-122"/>
                <a:cs typeface="Malgun Gothic" pitchFamily="34" charset="-120"/>
              </a:rPr>
              <a:t>넓은 의미</a:t>
            </a:r>
            <a:endParaRPr lang="en-US" sz="1300" dirty="0"/>
          </a:p>
        </p:txBody>
      </p:sp>
      <p:sp>
        <p:nvSpPr>
          <p:cNvPr id="18" name="Text 14"/>
          <p:cNvSpPr txBox="1"/>
          <p:nvPr/>
        </p:nvSpPr>
        <p:spPr>
          <a:xfrm>
            <a:off x="5074920" y="1508760"/>
            <a:ext cx="3566160" cy="274320"/>
          </a:xfrm>
          <a:prstGeom prst="rect">
            <a:avLst/>
          </a:prstGeom>
          <a:noFill/>
          <a:ln/>
        </p:spPr>
        <p:txBody>
          <a:bodyPr wrap="square" lIns="0" tIns="0" rIns="0" bIns="0" rtlCol="0" anchor="ctr"/>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"학생이 경험하는 모든 것"</a:t>
            </a:r>
            <a:endParaRPr lang="en-US" sz="1300" dirty="0"/>
          </a:p>
        </p:txBody>
      </p:sp>
      <p:sp>
        <p:nvSpPr>
          <p:cNvPr id="19" name="Shape 15"/>
          <p:cNvSpPr/>
          <p:nvPr/>
        </p:nvSpPr>
        <p:spPr>
          <a:xfrm>
            <a:off x="5897880" y="2011680"/>
            <a:ext cx="1920240" cy="1417320"/>
          </a:xfrm>
          <a:prstGeom prst="ellipse">
            <a:avLst/>
          </a:prstGeom>
          <a:solidFill>
            <a:srgbClr val="F9E1E3"/>
          </a:solidFill>
          <a:ln w="19050">
            <a:solidFill>
              <a:srgbClr val="E8A1A8"/>
            </a:solidFill>
            <a:prstDash val="solid"/>
          </a:ln>
        </p:spPr>
      </p:sp>
      <p:sp>
        <p:nvSpPr>
          <p:cNvPr id="20" name="Text 16"/>
          <p:cNvSpPr txBox="1"/>
          <p:nvPr/>
        </p:nvSpPr>
        <p:spPr>
          <a:xfrm>
            <a:off x="5897880" y="2240280"/>
            <a:ext cx="1920240" cy="274320"/>
          </a:xfrm>
          <a:prstGeom prst="rect">
            <a:avLst/>
          </a:prstGeom>
          <a:noFill/>
          <a:ln/>
        </p:spPr>
        <p:txBody>
          <a:bodyPr wrap="square" lIns="0" tIns="0" rIns="0" bIns="0" rtlCol="0" anchor="ctr"/>
          <a:lstStyle/>
          <a:p>
            <a:pPr algn="ctr" indent="0" marL="0">
              <a:buNone/>
            </a:pPr>
            <a:r>
              <a:rPr lang="en-US" sz="1300" b="1" dirty="0">
                <a:solidFill>
                  <a:srgbClr val="B45A64"/>
                </a:solidFill>
                <a:latin typeface="Malgun Gothic" pitchFamily="34" charset="0"/>
                <a:ea typeface="Malgun Gothic" pitchFamily="34" charset="-122"/>
                <a:cs typeface="Malgun Gothic" pitchFamily="34" charset="-120"/>
              </a:rPr>
              <a:t>좁은 의미</a:t>
            </a:r>
            <a:endParaRPr lang="en-US" sz="1300" dirty="0"/>
          </a:p>
        </p:txBody>
      </p:sp>
      <p:sp>
        <p:nvSpPr>
          <p:cNvPr id="21" name="Text 17"/>
          <p:cNvSpPr txBox="1"/>
          <p:nvPr/>
        </p:nvSpPr>
        <p:spPr>
          <a:xfrm>
            <a:off x="5897880" y="2560320"/>
            <a:ext cx="1920240" cy="548640"/>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계획된 교과목</a:t>
            </a:r>
            <a:endParaRPr lang="en-US" sz="1200" dirty="0"/>
          </a:p>
          <a:p>
            <a:pPr algn="ctr" indent="0" marL="0">
              <a:buNone/>
            </a:pPr>
            <a:r>
              <a:rPr lang="en-US" sz="1200" dirty="0">
                <a:solidFill>
                  <a:srgbClr val="33413A"/>
                </a:solidFill>
                <a:latin typeface="Malgun Gothic" pitchFamily="34" charset="0"/>
                <a:ea typeface="Malgun Gothic" pitchFamily="34" charset="-122"/>
                <a:cs typeface="Malgun Gothic" pitchFamily="34" charset="-120"/>
              </a:rPr>
              <a:t>또는 교수요목</a:t>
            </a:r>
            <a:endParaRPr lang="en-US" sz="1200" dirty="0"/>
          </a:p>
        </p:txBody>
      </p:sp>
      <p:sp>
        <p:nvSpPr>
          <p:cNvPr id="22" name="Shape 18"/>
          <p:cNvSpPr/>
          <p:nvPr/>
        </p:nvSpPr>
        <p:spPr>
          <a:xfrm>
            <a:off x="457200" y="3840480"/>
            <a:ext cx="8229600" cy="868680"/>
          </a:xfrm>
          <a:prstGeom prst="roundRect">
            <a:avLst>
              <a:gd name="adj" fmla="val 12632"/>
            </a:avLst>
          </a:prstGeom>
          <a:solidFill>
            <a:srgbClr val="F4F7F4"/>
          </a:solidFill>
          <a:ln/>
        </p:spPr>
      </p:sp>
      <p:sp>
        <p:nvSpPr>
          <p:cNvPr id="23" name="Text 19"/>
          <p:cNvSpPr txBox="1"/>
          <p:nvPr/>
        </p:nvSpPr>
        <p:spPr>
          <a:xfrm>
            <a:off x="685800" y="3931920"/>
            <a:ext cx="7772400" cy="41148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교육과정 = </a:t>
            </a:r>
            <a:pPr indent="0" marL="0">
              <a:buNone/>
            </a:pPr>
            <a:r>
              <a:rPr lang="en-US" sz="1600" dirty="0">
                <a:solidFill>
                  <a:srgbClr val="33413A"/>
                </a:solidFill>
                <a:latin typeface="Malgun Gothic" pitchFamily="34" charset="0"/>
                <a:ea typeface="Malgun Gothic" pitchFamily="34" charset="-122"/>
                <a:cs typeface="Malgun Gothic" pitchFamily="34" charset="-120"/>
              </a:rPr>
              <a:t>전인적 성장·발달을 돕는 교수-학습 경험의 체계적 </a:t>
            </a:r>
            <a:pPr indent="0" marL="0">
              <a:buNone/>
            </a:pPr>
            <a:r>
              <a:rPr lang="en-US" sz="1600" b="1" dirty="0">
                <a:solidFill>
                  <a:srgbClr val="5E8C6A"/>
                </a:solidFill>
                <a:latin typeface="Malgun Gothic" pitchFamily="34" charset="0"/>
                <a:ea typeface="Malgun Gothic" pitchFamily="34" charset="-122"/>
                <a:cs typeface="Malgun Gothic" pitchFamily="34" charset="-120"/>
              </a:rPr>
              <a:t>설계도</a:t>
            </a:r>
            <a:endParaRPr lang="en-US" sz="1600" dirty="0"/>
          </a:p>
        </p:txBody>
      </p:sp>
      <p:sp>
        <p:nvSpPr>
          <p:cNvPr id="24" name="Text 20"/>
          <p:cNvSpPr txBox="1"/>
          <p:nvPr/>
        </p:nvSpPr>
        <p:spPr>
          <a:xfrm>
            <a:off x="685800" y="4343400"/>
            <a:ext cx="77724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방인옥 등(1999)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유치원교육과정에서 누리과정으로</a:t>
            </a:r>
            <a:endParaRPr lang="en-US" sz="2800" dirty="0"/>
          </a:p>
        </p:txBody>
      </p:sp>
      <p:sp>
        <p:nvSpPr>
          <p:cNvPr id="5" name="Shape 3"/>
          <p:cNvSpPr/>
          <p:nvPr/>
        </p:nvSpPr>
        <p:spPr>
          <a:xfrm>
            <a:off x="1188720" y="1691640"/>
            <a:ext cx="6766560" cy="0"/>
          </a:xfrm>
          <a:prstGeom prst="line">
            <a:avLst/>
          </a:prstGeom>
          <a:noFill/>
          <a:ln w="38100">
            <a:solidFill>
              <a:srgbClr val="C9D6CC"/>
            </a:solidFill>
            <a:prstDash val="solid"/>
          </a:ln>
        </p:spPr>
      </p:sp>
      <p:sp>
        <p:nvSpPr>
          <p:cNvPr id="6" name="Shape 4"/>
          <p:cNvSpPr/>
          <p:nvPr/>
        </p:nvSpPr>
        <p:spPr>
          <a:xfrm>
            <a:off x="1005840" y="1508760"/>
            <a:ext cx="365760" cy="365760"/>
          </a:xfrm>
          <a:prstGeom prst="ellipse">
            <a:avLst/>
          </a:prstGeom>
          <a:solidFill>
            <a:srgbClr val="A9CBB0"/>
          </a:solidFill>
          <a:ln w="38100">
            <a:solidFill>
              <a:srgbClr val="FFFFFF"/>
            </a:solidFill>
            <a:prstDash val="solid"/>
          </a:ln>
        </p:spPr>
      </p:sp>
      <p:sp>
        <p:nvSpPr>
          <p:cNvPr id="7" name="Text 5"/>
          <p:cNvSpPr txBox="1"/>
          <p:nvPr/>
        </p:nvSpPr>
        <p:spPr>
          <a:xfrm>
            <a:off x="182880" y="1097280"/>
            <a:ext cx="2011680" cy="365760"/>
          </a:xfrm>
          <a:prstGeom prst="rect">
            <a:avLst/>
          </a:prstGeom>
          <a:noFill/>
          <a:ln/>
        </p:spPr>
        <p:txBody>
          <a:bodyPr wrap="square" lIns="0" tIns="0" rIns="0" bIns="0" rtlCol="0" anchor="ctr"/>
          <a:lstStyle/>
          <a:p>
            <a:pPr algn="ctr" indent="0" marL="0">
              <a:buNone/>
            </a:pPr>
            <a:r>
              <a:rPr lang="en-US" sz="2000" b="1" dirty="0">
                <a:solidFill>
                  <a:srgbClr val="A9CBB0"/>
                </a:solidFill>
                <a:latin typeface="Malgun Gothic" pitchFamily="34" charset="0"/>
                <a:ea typeface="Malgun Gothic" pitchFamily="34" charset="-122"/>
                <a:cs typeface="Malgun Gothic" pitchFamily="34" charset="-120"/>
              </a:rPr>
              <a:t>1969</a:t>
            </a:r>
            <a:endParaRPr lang="en-US" sz="2000" dirty="0"/>
          </a:p>
        </p:txBody>
      </p:sp>
      <p:sp>
        <p:nvSpPr>
          <p:cNvPr id="8" name="Text 6"/>
          <p:cNvSpPr txBox="1"/>
          <p:nvPr/>
        </p:nvSpPr>
        <p:spPr>
          <a:xfrm>
            <a:off x="18288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유치원교육과정</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처음 제정</a:t>
            </a:r>
            <a:endParaRPr lang="en-US" sz="1300" dirty="0"/>
          </a:p>
        </p:txBody>
      </p:sp>
      <p:sp>
        <p:nvSpPr>
          <p:cNvPr id="9" name="Shape 7"/>
          <p:cNvSpPr/>
          <p:nvPr/>
        </p:nvSpPr>
        <p:spPr>
          <a:xfrm>
            <a:off x="3261360" y="1508760"/>
            <a:ext cx="365760" cy="365760"/>
          </a:xfrm>
          <a:prstGeom prst="ellipse">
            <a:avLst/>
          </a:prstGeom>
          <a:solidFill>
            <a:srgbClr val="F5D07A"/>
          </a:solidFill>
          <a:ln w="38100">
            <a:solidFill>
              <a:srgbClr val="FFFFFF"/>
            </a:solidFill>
            <a:prstDash val="solid"/>
          </a:ln>
        </p:spPr>
      </p:sp>
      <p:sp>
        <p:nvSpPr>
          <p:cNvPr id="10" name="Text 8"/>
          <p:cNvSpPr txBox="1"/>
          <p:nvPr/>
        </p:nvSpPr>
        <p:spPr>
          <a:xfrm>
            <a:off x="2438400" y="1097280"/>
            <a:ext cx="2011680" cy="365760"/>
          </a:xfrm>
          <a:prstGeom prst="rect">
            <a:avLst/>
          </a:prstGeom>
          <a:noFill/>
          <a:ln/>
        </p:spPr>
        <p:txBody>
          <a:bodyPr wrap="square" lIns="0" tIns="0" rIns="0" bIns="0" rtlCol="0" anchor="ctr"/>
          <a:lstStyle/>
          <a:p>
            <a:pPr algn="ctr" indent="0" marL="0">
              <a:buNone/>
            </a:pPr>
            <a:r>
              <a:rPr lang="en-US" sz="2000" b="1" dirty="0">
                <a:solidFill>
                  <a:srgbClr val="B08A2E"/>
                </a:solidFill>
                <a:latin typeface="Malgun Gothic" pitchFamily="34" charset="0"/>
                <a:ea typeface="Malgun Gothic" pitchFamily="34" charset="-122"/>
                <a:cs typeface="Malgun Gothic" pitchFamily="34" charset="-120"/>
              </a:rPr>
              <a:t>~2007</a:t>
            </a:r>
            <a:endParaRPr lang="en-US" sz="2000" dirty="0"/>
          </a:p>
        </p:txBody>
      </p:sp>
      <p:sp>
        <p:nvSpPr>
          <p:cNvPr id="11" name="Text 9"/>
          <p:cNvSpPr txBox="1"/>
          <p:nvPr/>
        </p:nvSpPr>
        <p:spPr>
          <a:xfrm>
            <a:off x="243840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여섯 차례</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a:t>
            </a:r>
            <a:endParaRPr lang="en-US" sz="1300" dirty="0"/>
          </a:p>
        </p:txBody>
      </p:sp>
      <p:sp>
        <p:nvSpPr>
          <p:cNvPr id="12" name="Shape 10"/>
          <p:cNvSpPr/>
          <p:nvPr/>
        </p:nvSpPr>
        <p:spPr>
          <a:xfrm>
            <a:off x="5516880" y="1508760"/>
            <a:ext cx="365760" cy="365760"/>
          </a:xfrm>
          <a:prstGeom prst="ellipse">
            <a:avLst/>
          </a:prstGeom>
          <a:solidFill>
            <a:srgbClr val="F2A27E"/>
          </a:solidFill>
          <a:ln w="38100">
            <a:solidFill>
              <a:srgbClr val="FFFFFF"/>
            </a:solidFill>
            <a:prstDash val="solid"/>
          </a:ln>
        </p:spPr>
      </p:sp>
      <p:sp>
        <p:nvSpPr>
          <p:cNvPr id="13" name="Text 11"/>
          <p:cNvSpPr txBox="1"/>
          <p:nvPr/>
        </p:nvSpPr>
        <p:spPr>
          <a:xfrm>
            <a:off x="4693920" y="1097280"/>
            <a:ext cx="2011680" cy="365760"/>
          </a:xfrm>
          <a:prstGeom prst="rect">
            <a:avLst/>
          </a:prstGeom>
          <a:noFill/>
          <a:ln/>
        </p:spPr>
        <p:txBody>
          <a:bodyPr wrap="square" lIns="0" tIns="0" rIns="0" bIns="0" rtlCol="0" anchor="ctr"/>
          <a:lstStyle/>
          <a:p>
            <a:pPr algn="ctr" indent="0" marL="0">
              <a:buNone/>
            </a:pPr>
            <a:r>
              <a:rPr lang="en-US" sz="2000" b="1" dirty="0">
                <a:solidFill>
                  <a:srgbClr val="F2A27E"/>
                </a:solidFill>
                <a:latin typeface="Malgun Gothic" pitchFamily="34" charset="0"/>
                <a:ea typeface="Malgun Gothic" pitchFamily="34" charset="-122"/>
                <a:cs typeface="Malgun Gothic" pitchFamily="34" charset="-120"/>
              </a:rPr>
              <a:t>2013</a:t>
            </a:r>
            <a:endParaRPr lang="en-US" sz="2000" dirty="0"/>
          </a:p>
        </p:txBody>
      </p:sp>
      <p:sp>
        <p:nvSpPr>
          <p:cNvPr id="14" name="Text 12"/>
          <p:cNvSpPr txBox="1"/>
          <p:nvPr/>
        </p:nvSpPr>
        <p:spPr>
          <a:xfrm>
            <a:off x="469392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만 3~5세</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누리과정 시행</a:t>
            </a:r>
            <a:endParaRPr lang="en-US" sz="1300" dirty="0"/>
          </a:p>
        </p:txBody>
      </p:sp>
      <p:sp>
        <p:nvSpPr>
          <p:cNvPr id="15" name="Shape 13"/>
          <p:cNvSpPr/>
          <p:nvPr/>
        </p:nvSpPr>
        <p:spPr>
          <a:xfrm>
            <a:off x="7772400" y="1508760"/>
            <a:ext cx="365760" cy="365760"/>
          </a:xfrm>
          <a:prstGeom prst="ellipse">
            <a:avLst/>
          </a:prstGeom>
          <a:solidFill>
            <a:srgbClr val="5E8C6A"/>
          </a:solidFill>
          <a:ln w="38100">
            <a:solidFill>
              <a:srgbClr val="FFFFFF"/>
            </a:solidFill>
            <a:prstDash val="solid"/>
          </a:ln>
        </p:spPr>
      </p:sp>
      <p:sp>
        <p:nvSpPr>
          <p:cNvPr id="16" name="Text 14"/>
          <p:cNvSpPr txBox="1"/>
          <p:nvPr/>
        </p:nvSpPr>
        <p:spPr>
          <a:xfrm>
            <a:off x="6949440" y="1097280"/>
            <a:ext cx="2011680" cy="365760"/>
          </a:xfrm>
          <a:prstGeom prst="rect">
            <a:avLst/>
          </a:prstGeom>
          <a:noFill/>
          <a:ln/>
        </p:spPr>
        <p:txBody>
          <a:bodyPr wrap="square" lIns="0" tIns="0" rIns="0" bIns="0" rtlCol="0" anchor="ctr"/>
          <a:lstStyle/>
          <a:p>
            <a:pPr algn="ctr" indent="0" marL="0">
              <a:buNone/>
            </a:pPr>
            <a:r>
              <a:rPr lang="en-US" sz="2000" b="1" dirty="0">
                <a:solidFill>
                  <a:srgbClr val="5E8C6A"/>
                </a:solidFill>
                <a:latin typeface="Malgun Gothic" pitchFamily="34" charset="0"/>
                <a:ea typeface="Malgun Gothic" pitchFamily="34" charset="-122"/>
                <a:cs typeface="Malgun Gothic" pitchFamily="34" charset="-120"/>
              </a:rPr>
              <a:t>2020</a:t>
            </a:r>
            <a:endParaRPr lang="en-US" sz="2000" dirty="0"/>
          </a:p>
        </p:txBody>
      </p:sp>
      <p:sp>
        <p:nvSpPr>
          <p:cNvPr id="17" name="Text 15"/>
          <p:cNvSpPr txBox="1"/>
          <p:nvPr/>
        </p:nvSpPr>
        <p:spPr>
          <a:xfrm>
            <a:off x="694944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 누리과정 적용</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(유아중심·놀이중심)</a:t>
            </a:r>
            <a:endParaRPr lang="en-US" sz="1300" dirty="0"/>
          </a:p>
        </p:txBody>
      </p:sp>
      <p:sp>
        <p:nvSpPr>
          <p:cNvPr id="18" name="Shape 16"/>
          <p:cNvSpPr/>
          <p:nvPr/>
        </p:nvSpPr>
        <p:spPr>
          <a:xfrm>
            <a:off x="457200" y="2971800"/>
            <a:ext cx="2377440" cy="685800"/>
          </a:xfrm>
          <a:prstGeom prst="roundRect">
            <a:avLst>
              <a:gd name="adj" fmla="val 16000"/>
            </a:avLst>
          </a:prstGeom>
          <a:solidFill>
            <a:srgbClr val="FCE4D8"/>
          </a:solidFill>
          <a:ln/>
        </p:spPr>
      </p:sp>
      <p:sp>
        <p:nvSpPr>
          <p:cNvPr id="19" name="Text 17"/>
          <p:cNvSpPr txBox="1"/>
          <p:nvPr/>
        </p:nvSpPr>
        <p:spPr>
          <a:xfrm>
            <a:off x="457200" y="297180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유치원교육과정</a:t>
            </a:r>
            <a:endParaRPr lang="en-US" sz="1500" dirty="0"/>
          </a:p>
        </p:txBody>
      </p:sp>
      <p:sp>
        <p:nvSpPr>
          <p:cNvPr id="20" name="Shape 18"/>
          <p:cNvSpPr/>
          <p:nvPr/>
        </p:nvSpPr>
        <p:spPr>
          <a:xfrm>
            <a:off x="457200" y="3840480"/>
            <a:ext cx="2377440" cy="685800"/>
          </a:xfrm>
          <a:prstGeom prst="roundRect">
            <a:avLst>
              <a:gd name="adj" fmla="val 16000"/>
            </a:avLst>
          </a:prstGeom>
          <a:solidFill>
            <a:srgbClr val="DCEBDD"/>
          </a:solidFill>
          <a:ln/>
        </p:spPr>
      </p:sp>
      <p:sp>
        <p:nvSpPr>
          <p:cNvPr id="21" name="Text 19"/>
          <p:cNvSpPr txBox="1"/>
          <p:nvPr/>
        </p:nvSpPr>
        <p:spPr>
          <a:xfrm>
            <a:off x="457200" y="384048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어린이집 표준보육과정</a:t>
            </a:r>
            <a:endParaRPr lang="en-US" sz="1500" dirty="0"/>
          </a:p>
        </p:txBody>
      </p:sp>
      <p:sp>
        <p:nvSpPr>
          <p:cNvPr id="22" name="Shape 20"/>
          <p:cNvSpPr/>
          <p:nvPr/>
        </p:nvSpPr>
        <p:spPr>
          <a:xfrm>
            <a:off x="3017520" y="3474720"/>
            <a:ext cx="731520" cy="548640"/>
          </a:xfrm>
          <a:prstGeom prst="rightArrow">
            <a:avLst/>
          </a:prstGeom>
          <a:solidFill>
            <a:srgbClr val="F5D07A"/>
          </a:solidFill>
          <a:ln/>
        </p:spPr>
      </p:sp>
      <p:sp>
        <p:nvSpPr>
          <p:cNvPr id="23" name="Text 21"/>
          <p:cNvSpPr txBox="1"/>
          <p:nvPr/>
        </p:nvSpPr>
        <p:spPr>
          <a:xfrm>
            <a:off x="2834640" y="3108960"/>
            <a:ext cx="1097280" cy="320040"/>
          </a:xfrm>
          <a:prstGeom prst="rect">
            <a:avLst/>
          </a:prstGeom>
          <a:noFill/>
          <a:ln/>
        </p:spPr>
        <p:txBody>
          <a:bodyPr wrap="square" lIns="0" tIns="0" rIns="0" bIns="0" rtlCol="0" anchor="ctr"/>
          <a:lstStyle/>
          <a:p>
            <a:pPr algn="ctr" indent="0" marL="0">
              <a:buNone/>
            </a:pPr>
            <a:r>
              <a:rPr lang="en-US" sz="1200" b="1" dirty="0">
                <a:solidFill>
                  <a:srgbClr val="B08A2E"/>
                </a:solidFill>
                <a:latin typeface="Malgun Gothic" pitchFamily="34" charset="0"/>
                <a:ea typeface="Malgun Gothic" pitchFamily="34" charset="-122"/>
                <a:cs typeface="Malgun Gothic" pitchFamily="34" charset="-120"/>
              </a:rPr>
              <a:t>일원화</a:t>
            </a:r>
            <a:endParaRPr lang="en-US" sz="1200" dirty="0"/>
          </a:p>
        </p:txBody>
      </p:sp>
      <p:sp>
        <p:nvSpPr>
          <p:cNvPr id="24" name="Shape 22"/>
          <p:cNvSpPr/>
          <p:nvPr/>
        </p:nvSpPr>
        <p:spPr>
          <a:xfrm>
            <a:off x="3931920" y="2971800"/>
            <a:ext cx="4754880" cy="1554480"/>
          </a:xfrm>
          <a:prstGeom prst="roundRect">
            <a:avLst>
              <a:gd name="adj" fmla="val 8824"/>
            </a:avLst>
          </a:prstGeom>
          <a:solidFill>
            <a:srgbClr val="FDF3D6"/>
          </a:solidFill>
          <a:ln/>
        </p:spPr>
      </p:sp>
      <p:sp>
        <p:nvSpPr>
          <p:cNvPr id="25" name="Text 23"/>
          <p:cNvSpPr txBox="1"/>
          <p:nvPr/>
        </p:nvSpPr>
        <p:spPr>
          <a:xfrm>
            <a:off x="4160520" y="3108960"/>
            <a:ext cx="4389120" cy="365760"/>
          </a:xfrm>
          <a:prstGeom prst="rect">
            <a:avLst/>
          </a:prstGeom>
          <a:noFill/>
          <a:ln/>
        </p:spPr>
        <p:txBody>
          <a:bodyPr wrap="square" lIns="0" tIns="0" rIns="0" bIns="0" rtlCol="0" anchor="ctr"/>
          <a:lstStyle/>
          <a:p>
            <a:pPr indent="0" marL="0">
              <a:buNone/>
            </a:pPr>
            <a:r>
              <a:rPr lang="en-US" sz="1700" b="1" dirty="0">
                <a:solidFill>
                  <a:srgbClr val="5E8C6A"/>
                </a:solidFill>
                <a:latin typeface="Malgun Gothic" pitchFamily="34" charset="0"/>
                <a:ea typeface="Malgun Gothic" pitchFamily="34" charset="-122"/>
                <a:cs typeface="Malgun Gothic" pitchFamily="34" charset="-120"/>
              </a:rPr>
              <a:t>누리과정 (만 3~5세 공통교육과정)</a:t>
            </a:r>
            <a:endParaRPr lang="en-US" sz="1700" dirty="0"/>
          </a:p>
        </p:txBody>
      </p:sp>
      <p:sp>
        <p:nvSpPr>
          <p:cNvPr id="26" name="Text 24"/>
          <p:cNvSpPr txBox="1"/>
          <p:nvPr/>
        </p:nvSpPr>
        <p:spPr>
          <a:xfrm>
            <a:off x="4160520" y="3566160"/>
            <a:ext cx="4389120" cy="7315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취학 전 교육의 질 제고</a:t>
            </a:r>
            <a:endParaRPr lang="en-US" sz="1500" dirty="0"/>
          </a:p>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생애초기 출발점 평등 보장</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06</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어린이집 표준보육과정</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500" b="1" dirty="0">
                <a:solidFill>
                  <a:srgbClr val="5E8C6A"/>
                </a:solidFill>
                <a:latin typeface="Malgun Gothic" pitchFamily="34" charset="0"/>
                <a:ea typeface="Malgun Gothic" pitchFamily="34" charset="-122"/>
                <a:cs typeface="Malgun Gothic" pitchFamily="34" charset="-120"/>
              </a:rPr>
              <a:t>왜 필요해졌을까?</a:t>
            </a:r>
            <a:endParaRPr lang="en-US" sz="15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554480"/>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핵가족화</a:t>
            </a:r>
            <a:endParaRPr lang="en-US" sz="1500" dirty="0"/>
          </a:p>
        </p:txBody>
      </p:sp>
      <p:sp>
        <p:nvSpPr>
          <p:cNvPr id="9" name="Shape 6"/>
          <p:cNvSpPr/>
          <p:nvPr/>
        </p:nvSpPr>
        <p:spPr>
          <a:xfrm>
            <a:off x="457200" y="2121408"/>
            <a:ext cx="438912" cy="438912"/>
          </a:xfrm>
          <a:prstGeom prst="ellipse">
            <a:avLst/>
          </a:prstGeom>
          <a:solidFill>
            <a:srgbClr val="F5D07A"/>
          </a:solidFill>
          <a:ln/>
        </p:spPr>
      </p:sp>
      <p:pic>
        <p:nvPicPr>
          <p:cNvPr id="10" name="Image 1" descr="preencoded.png">    </p:cNvPr>
          <p:cNvPicPr>
            <a:picLocks noChangeAspect="1"/>
          </p:cNvPicPr>
          <p:nvPr/>
        </p:nvPicPr>
        <p:blipFill>
          <a:blip r:embed="rId2"/>
          <a:stretch>
            <a:fillRect/>
          </a:stretch>
        </p:blipFill>
        <p:spPr>
          <a:xfrm>
            <a:off x="566928" y="2231136"/>
            <a:ext cx="219456" cy="219456"/>
          </a:xfrm>
          <a:prstGeom prst="rect">
            <a:avLst/>
          </a:prstGeom>
        </p:spPr>
      </p:pic>
      <p:sp>
        <p:nvSpPr>
          <p:cNvPr id="11" name="Text 7"/>
          <p:cNvSpPr txBox="1"/>
          <p:nvPr/>
        </p:nvSpPr>
        <p:spPr>
          <a:xfrm>
            <a:off x="1051560" y="2121408"/>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취업모의 지속적 증가</a:t>
            </a:r>
            <a:endParaRPr lang="en-US" sz="1500" dirty="0"/>
          </a:p>
        </p:txBody>
      </p:sp>
      <p:sp>
        <p:nvSpPr>
          <p:cNvPr id="12" name="Shape 8"/>
          <p:cNvSpPr/>
          <p:nvPr/>
        </p:nvSpPr>
        <p:spPr>
          <a:xfrm>
            <a:off x="457200" y="2688336"/>
            <a:ext cx="438912" cy="438912"/>
          </a:xfrm>
          <a:prstGeom prst="ellipse">
            <a:avLst/>
          </a:prstGeom>
          <a:solidFill>
            <a:srgbClr val="5E8C6A"/>
          </a:solidFill>
          <a:ln/>
        </p:spPr>
      </p:sp>
      <p:pic>
        <p:nvPicPr>
          <p:cNvPr id="13" name="Image 2" descr="preencoded.png">    </p:cNvPr>
          <p:cNvPicPr>
            <a:picLocks noChangeAspect="1"/>
          </p:cNvPicPr>
          <p:nvPr/>
        </p:nvPicPr>
        <p:blipFill>
          <a:blip r:embed="rId3"/>
          <a:stretch>
            <a:fillRect/>
          </a:stretch>
        </p:blipFill>
        <p:spPr>
          <a:xfrm>
            <a:off x="566928" y="2798064"/>
            <a:ext cx="219456" cy="219456"/>
          </a:xfrm>
          <a:prstGeom prst="rect">
            <a:avLst/>
          </a:prstGeom>
        </p:spPr>
      </p:pic>
      <p:sp>
        <p:nvSpPr>
          <p:cNvPr id="14" name="Text 9"/>
          <p:cNvSpPr txBox="1"/>
          <p:nvPr/>
        </p:nvSpPr>
        <p:spPr>
          <a:xfrm>
            <a:off x="1051560" y="2688336"/>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조기 경험의 중요성 부각</a:t>
            </a:r>
            <a:endParaRPr lang="en-US" sz="1500" dirty="0"/>
          </a:p>
        </p:txBody>
      </p:sp>
      <p:sp>
        <p:nvSpPr>
          <p:cNvPr id="15" name="Shape 10"/>
          <p:cNvSpPr/>
          <p:nvPr/>
        </p:nvSpPr>
        <p:spPr>
          <a:xfrm>
            <a:off x="457200" y="3337560"/>
            <a:ext cx="3749040" cy="1234440"/>
          </a:xfrm>
          <a:prstGeom prst="roundRect">
            <a:avLst>
              <a:gd name="adj" fmla="val 8889"/>
            </a:avLst>
          </a:prstGeom>
          <a:solidFill>
            <a:srgbClr val="DCEBDD"/>
          </a:solidFill>
          <a:ln/>
        </p:spPr>
      </p:sp>
      <p:sp>
        <p:nvSpPr>
          <p:cNvPr id="16" name="Text 11"/>
          <p:cNvSpPr txBox="1"/>
          <p:nvPr/>
        </p:nvSpPr>
        <p:spPr>
          <a:xfrm>
            <a:off x="640080" y="3429000"/>
            <a:ext cx="3474720" cy="1051560"/>
          </a:xfrm>
          <a:prstGeom prst="rect">
            <a:avLst/>
          </a:prstGeom>
          <a:noFill/>
          <a:ln/>
        </p:spPr>
        <p:txBody>
          <a:bodyPr wrap="square" lIns="0" tIns="0" rIns="0" bIns="0" rtlCol="0" anchor="ctr"/>
          <a:lstStyle/>
          <a:p>
            <a:pPr indent="0" marL="0">
              <a:spcAft>
                <a:spcPts val="400"/>
              </a:spcAft>
              <a:buNone/>
            </a:pPr>
            <a:r>
              <a:rPr lang="en-US" sz="1300" b="1" dirty="0">
                <a:solidFill>
                  <a:srgbClr val="33413A"/>
                </a:solidFill>
                <a:latin typeface="Malgun Gothic" pitchFamily="34" charset="0"/>
                <a:ea typeface="Malgun Gothic" pitchFamily="34" charset="-122"/>
                <a:cs typeface="Malgun Gothic" pitchFamily="34" charset="-120"/>
              </a:rPr>
              <a:t>어린이집 이용의 보편화</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언제, 무엇을 목표로, 어떤 경험을 줄지</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 </a:t>
            </a:r>
            <a:pPr indent="0" marL="0">
              <a:spcAft>
                <a:spcPts val="400"/>
              </a:spcAft>
              <a:buNone/>
            </a:pPr>
            <a:r>
              <a:rPr lang="en-US" sz="1300" b="1" dirty="0">
                <a:solidFill>
                  <a:srgbClr val="5E8C6A"/>
                </a:solidFill>
                <a:latin typeface="Malgun Gothic" pitchFamily="34" charset="0"/>
                <a:ea typeface="Malgun Gothic" pitchFamily="34" charset="-122"/>
                <a:cs typeface="Malgun Gothic" pitchFamily="34" charset="-120"/>
              </a:rPr>
              <a:t>국가수준의 지침</a:t>
            </a:r>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이 필요해짐</a:t>
            </a:r>
            <a:endParaRPr lang="en-US" sz="1300" dirty="0"/>
          </a:p>
        </p:txBody>
      </p:sp>
      <p:sp>
        <p:nvSpPr>
          <p:cNvPr id="17" name="Shape 12"/>
          <p:cNvSpPr/>
          <p:nvPr/>
        </p:nvSpPr>
        <p:spPr>
          <a:xfrm>
            <a:off x="5074920" y="1234440"/>
            <a:ext cx="0" cy="3246120"/>
          </a:xfrm>
          <a:prstGeom prst="line">
            <a:avLst/>
          </a:prstGeom>
          <a:noFill/>
          <a:ln w="31750">
            <a:solidFill>
              <a:srgbClr val="C9D6CC"/>
            </a:solidFill>
            <a:prstDash val="solid"/>
          </a:ln>
        </p:spPr>
      </p:sp>
      <p:sp>
        <p:nvSpPr>
          <p:cNvPr id="18" name="Shape 13"/>
          <p:cNvSpPr/>
          <p:nvPr/>
        </p:nvSpPr>
        <p:spPr>
          <a:xfrm>
            <a:off x="4965192" y="1170432"/>
            <a:ext cx="219456" cy="219456"/>
          </a:xfrm>
          <a:prstGeom prst="ellipse">
            <a:avLst/>
          </a:prstGeom>
          <a:solidFill>
            <a:srgbClr val="5E8C6A"/>
          </a:solidFill>
          <a:ln/>
        </p:spPr>
      </p:sp>
      <p:sp>
        <p:nvSpPr>
          <p:cNvPr id="19" name="Text 14"/>
          <p:cNvSpPr txBox="1"/>
          <p:nvPr/>
        </p:nvSpPr>
        <p:spPr>
          <a:xfrm>
            <a:off x="5349240" y="1097280"/>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2004</a:t>
            </a:r>
            <a:endParaRPr lang="en-US" sz="1600" dirty="0"/>
          </a:p>
        </p:txBody>
      </p:sp>
      <p:sp>
        <p:nvSpPr>
          <p:cNvPr id="20" name="Text 15"/>
          <p:cNvSpPr txBox="1"/>
          <p:nvPr/>
        </p:nvSpPr>
        <p:spPr>
          <a:xfrm>
            <a:off x="6126480" y="1115568"/>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영유아보육법 제29조 제2항 개정</a:t>
            </a:r>
            <a:endParaRPr lang="en-US" sz="1200" dirty="0"/>
          </a:p>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개발·보급 명시</a:t>
            </a:r>
            <a:endParaRPr lang="en-US" sz="1200" dirty="0"/>
          </a:p>
        </p:txBody>
      </p:sp>
      <p:sp>
        <p:nvSpPr>
          <p:cNvPr id="21" name="Shape 16"/>
          <p:cNvSpPr/>
          <p:nvPr/>
        </p:nvSpPr>
        <p:spPr>
          <a:xfrm>
            <a:off x="4965192" y="1883664"/>
            <a:ext cx="219456" cy="219456"/>
          </a:xfrm>
          <a:prstGeom prst="ellipse">
            <a:avLst/>
          </a:prstGeom>
          <a:solidFill>
            <a:srgbClr val="5E8C6A"/>
          </a:solidFill>
          <a:ln/>
        </p:spPr>
      </p:sp>
      <p:sp>
        <p:nvSpPr>
          <p:cNvPr id="22" name="Text 17"/>
          <p:cNvSpPr txBox="1"/>
          <p:nvPr/>
        </p:nvSpPr>
        <p:spPr>
          <a:xfrm>
            <a:off x="5349240" y="1810512"/>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2007</a:t>
            </a:r>
            <a:endParaRPr lang="en-US" sz="1600" dirty="0"/>
          </a:p>
        </p:txBody>
      </p:sp>
      <p:sp>
        <p:nvSpPr>
          <p:cNvPr id="23" name="Text 18"/>
          <p:cNvSpPr txBox="1"/>
          <p:nvPr/>
        </p:nvSpPr>
        <p:spPr>
          <a:xfrm>
            <a:off x="6126480" y="1828800"/>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공포</a:t>
            </a:r>
            <a:endParaRPr lang="en-US" sz="1200" dirty="0"/>
          </a:p>
        </p:txBody>
      </p:sp>
      <p:sp>
        <p:nvSpPr>
          <p:cNvPr id="24" name="Shape 19"/>
          <p:cNvSpPr/>
          <p:nvPr/>
        </p:nvSpPr>
        <p:spPr>
          <a:xfrm>
            <a:off x="4965192" y="2596896"/>
            <a:ext cx="219456" cy="219456"/>
          </a:xfrm>
          <a:prstGeom prst="ellipse">
            <a:avLst/>
          </a:prstGeom>
          <a:solidFill>
            <a:srgbClr val="5E8C6A"/>
          </a:solidFill>
          <a:ln/>
        </p:spPr>
      </p:sp>
      <p:sp>
        <p:nvSpPr>
          <p:cNvPr id="25" name="Text 20"/>
          <p:cNvSpPr txBox="1"/>
          <p:nvPr/>
        </p:nvSpPr>
        <p:spPr>
          <a:xfrm>
            <a:off x="5349240" y="2523744"/>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2013</a:t>
            </a:r>
            <a:endParaRPr lang="en-US" sz="1600" dirty="0"/>
          </a:p>
        </p:txBody>
      </p:sp>
      <p:sp>
        <p:nvSpPr>
          <p:cNvPr id="26" name="Text 21"/>
          <p:cNvSpPr txBox="1"/>
          <p:nvPr/>
        </p:nvSpPr>
        <p:spPr>
          <a:xfrm>
            <a:off x="6126480" y="2542032"/>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제3차 표준보육과정 개정</a:t>
            </a:r>
            <a:endParaRPr lang="en-US" sz="1200" dirty="0"/>
          </a:p>
        </p:txBody>
      </p:sp>
      <p:sp>
        <p:nvSpPr>
          <p:cNvPr id="27" name="Shape 22"/>
          <p:cNvSpPr/>
          <p:nvPr/>
        </p:nvSpPr>
        <p:spPr>
          <a:xfrm>
            <a:off x="4965192" y="3310128"/>
            <a:ext cx="219456" cy="219456"/>
          </a:xfrm>
          <a:prstGeom prst="ellipse">
            <a:avLst/>
          </a:prstGeom>
          <a:solidFill>
            <a:srgbClr val="5E8C6A"/>
          </a:solidFill>
          <a:ln/>
        </p:spPr>
      </p:sp>
      <p:sp>
        <p:nvSpPr>
          <p:cNvPr id="28" name="Text 23"/>
          <p:cNvSpPr txBox="1"/>
          <p:nvPr/>
        </p:nvSpPr>
        <p:spPr>
          <a:xfrm>
            <a:off x="5349240" y="3236976"/>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2020</a:t>
            </a:r>
            <a:endParaRPr lang="en-US" sz="1600" dirty="0"/>
          </a:p>
        </p:txBody>
      </p:sp>
      <p:sp>
        <p:nvSpPr>
          <p:cNvPr id="29" name="Text 24"/>
          <p:cNvSpPr txBox="1"/>
          <p:nvPr/>
        </p:nvSpPr>
        <p:spPr>
          <a:xfrm>
            <a:off x="6126480" y="3255264"/>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제4차 표준보육과정 고시</a:t>
            </a:r>
            <a:endParaRPr lang="en-US" sz="1200" dirty="0"/>
          </a:p>
        </p:txBody>
      </p:sp>
      <p:sp>
        <p:nvSpPr>
          <p:cNvPr id="30" name="Shape 25"/>
          <p:cNvSpPr/>
          <p:nvPr/>
        </p:nvSpPr>
        <p:spPr>
          <a:xfrm>
            <a:off x="4965192" y="4023360"/>
            <a:ext cx="219456" cy="219456"/>
          </a:xfrm>
          <a:prstGeom prst="ellipse">
            <a:avLst/>
          </a:prstGeom>
          <a:solidFill>
            <a:srgbClr val="F2A27E"/>
          </a:solidFill>
          <a:ln/>
        </p:spPr>
      </p:sp>
      <p:sp>
        <p:nvSpPr>
          <p:cNvPr id="31" name="Text 26"/>
          <p:cNvSpPr txBox="1"/>
          <p:nvPr/>
        </p:nvSpPr>
        <p:spPr>
          <a:xfrm>
            <a:off x="5349240" y="3950208"/>
            <a:ext cx="731520" cy="365760"/>
          </a:xfrm>
          <a:prstGeom prst="rect">
            <a:avLst/>
          </a:prstGeom>
          <a:noFill/>
          <a:ln/>
        </p:spPr>
        <p:txBody>
          <a:bodyPr wrap="square" lIns="0" tIns="0" rIns="0" bIns="0" rtlCol="0" anchor="ctr"/>
          <a:lstStyle/>
          <a:p>
            <a:pPr indent="0" marL="0">
              <a:buNone/>
            </a:pPr>
            <a:r>
              <a:rPr lang="en-US" sz="1600" b="1" dirty="0">
                <a:solidFill>
                  <a:srgbClr val="D07A55"/>
                </a:solidFill>
                <a:latin typeface="Malgun Gothic" pitchFamily="34" charset="0"/>
                <a:ea typeface="Malgun Gothic" pitchFamily="34" charset="-122"/>
                <a:cs typeface="Malgun Gothic" pitchFamily="34" charset="-120"/>
              </a:rPr>
              <a:t>2025</a:t>
            </a:r>
            <a:endParaRPr lang="en-US" sz="1600" dirty="0"/>
          </a:p>
        </p:txBody>
      </p:sp>
      <p:sp>
        <p:nvSpPr>
          <p:cNvPr id="32" name="Text 27"/>
          <p:cNvSpPr txBox="1"/>
          <p:nvPr/>
        </p:nvSpPr>
        <p:spPr>
          <a:xfrm>
            <a:off x="6126480" y="3968496"/>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2024 개정 표준보육과정(0~2세) 고시</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07</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2019 개정 누리과정의 혁신 방향</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출발선 평등 실현을 위한 '유아교육 혁신방안'에 의거 (교육부, 2017)</a:t>
            </a:r>
            <a:endParaRPr lang="en-US" sz="1200" dirty="0"/>
          </a:p>
        </p:txBody>
      </p:sp>
      <p:sp>
        <p:nvSpPr>
          <p:cNvPr id="6" name="Shape 4"/>
          <p:cNvSpPr/>
          <p:nvPr/>
        </p:nvSpPr>
        <p:spPr>
          <a:xfrm>
            <a:off x="457200" y="1371600"/>
            <a:ext cx="2560320" cy="2514600"/>
          </a:xfrm>
          <a:prstGeom prst="roundRect">
            <a:avLst>
              <a:gd name="adj" fmla="val 5455"/>
            </a:avLst>
          </a:prstGeom>
          <a:solidFill>
            <a:srgbClr val="FCE4D8"/>
          </a:solidFill>
          <a:ln/>
        </p:spPr>
      </p:sp>
      <p:sp>
        <p:nvSpPr>
          <p:cNvPr id="7" name="Shape 5"/>
          <p:cNvSpPr/>
          <p:nvPr/>
        </p:nvSpPr>
        <p:spPr>
          <a:xfrm>
            <a:off x="640080" y="155448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777240" y="1691640"/>
            <a:ext cx="274320" cy="274320"/>
          </a:xfrm>
          <a:prstGeom prst="rect">
            <a:avLst/>
          </a:prstGeom>
        </p:spPr>
      </p:pic>
      <p:sp>
        <p:nvSpPr>
          <p:cNvPr id="9" name="Text 6"/>
          <p:cNvSpPr txBox="1"/>
          <p:nvPr/>
        </p:nvSpPr>
        <p:spPr>
          <a:xfrm>
            <a:off x="132588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첫째</a:t>
            </a:r>
            <a:endParaRPr lang="en-US" sz="1800" dirty="0"/>
          </a:p>
        </p:txBody>
      </p:sp>
      <p:sp>
        <p:nvSpPr>
          <p:cNvPr id="10" name="Text 7"/>
          <p:cNvSpPr txBox="1"/>
          <p:nvPr/>
        </p:nvSpPr>
        <p:spPr>
          <a:xfrm>
            <a:off x="64008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초등학교 준비 위주 학습</a:t>
            </a:r>
            <a:endParaRPr lang="en-US" sz="1100" dirty="0"/>
          </a:p>
        </p:txBody>
      </p:sp>
      <p:sp>
        <p:nvSpPr>
          <p:cNvPr id="11" name="Text 8"/>
          <p:cNvSpPr txBox="1"/>
          <p:nvPr/>
        </p:nvSpPr>
        <p:spPr>
          <a:xfrm>
            <a:off x="640080" y="2743200"/>
            <a:ext cx="2194560" cy="228600"/>
          </a:xfrm>
          <a:prstGeom prst="rect">
            <a:avLst/>
          </a:prstGeom>
          <a:noFill/>
          <a:ln/>
        </p:spPr>
        <p:txBody>
          <a:bodyPr wrap="square" lIns="0" tIns="0" rIns="0" bIns="0" rtlCol="0" anchor="ctr"/>
          <a:lstStyle/>
          <a:p>
            <a:pPr indent="0" marL="0">
              <a:buNone/>
            </a:pPr>
            <a:r>
              <a:rPr lang="en-US" sz="1000" dirty="0">
                <a:solidFill>
                  <a:srgbClr val="F2A27E"/>
                </a:solidFill>
                <a:latin typeface="Malgun Gothic" pitchFamily="34" charset="0"/>
                <a:ea typeface="Malgun Gothic" pitchFamily="34" charset="-122"/>
                <a:cs typeface="Malgun Gothic" pitchFamily="34" charset="-120"/>
              </a:rPr>
              <a:t>▼</a:t>
            </a:r>
            <a:endParaRPr lang="en-US" sz="1000" dirty="0"/>
          </a:p>
        </p:txBody>
      </p:sp>
      <p:sp>
        <p:nvSpPr>
          <p:cNvPr id="12" name="Text 9"/>
          <p:cNvSpPr txBox="1"/>
          <p:nvPr/>
        </p:nvSpPr>
        <p:spPr>
          <a:xfrm>
            <a:off x="64008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개별 유아의 다양한 특성 고려</a:t>
            </a:r>
            <a:endParaRPr lang="en-US" sz="1400" dirty="0"/>
          </a:p>
        </p:txBody>
      </p:sp>
      <p:sp>
        <p:nvSpPr>
          <p:cNvPr id="13" name="Shape 10"/>
          <p:cNvSpPr/>
          <p:nvPr/>
        </p:nvSpPr>
        <p:spPr>
          <a:xfrm>
            <a:off x="3291840" y="1371600"/>
            <a:ext cx="2560320" cy="2514600"/>
          </a:xfrm>
          <a:prstGeom prst="roundRect">
            <a:avLst>
              <a:gd name="adj" fmla="val 5455"/>
            </a:avLst>
          </a:prstGeom>
          <a:solidFill>
            <a:srgbClr val="FDF3D6"/>
          </a:solidFill>
          <a:ln/>
        </p:spPr>
      </p:sp>
      <p:sp>
        <p:nvSpPr>
          <p:cNvPr id="14" name="Shape 11"/>
          <p:cNvSpPr/>
          <p:nvPr/>
        </p:nvSpPr>
        <p:spPr>
          <a:xfrm>
            <a:off x="3474720" y="1554480"/>
            <a:ext cx="548640" cy="548640"/>
          </a:xfrm>
          <a:prstGeom prst="ellipse">
            <a:avLst/>
          </a:prstGeom>
          <a:solidFill>
            <a:srgbClr val="F5D07A"/>
          </a:solidFill>
          <a:ln/>
        </p:spPr>
      </p:sp>
      <p:pic>
        <p:nvPicPr>
          <p:cNvPr id="15" name="Image 1" descr="preencoded.png">    </p:cNvPr>
          <p:cNvPicPr>
            <a:picLocks noChangeAspect="1"/>
          </p:cNvPicPr>
          <p:nvPr/>
        </p:nvPicPr>
        <p:blipFill>
          <a:blip r:embed="rId2"/>
          <a:stretch>
            <a:fillRect/>
          </a:stretch>
        </p:blipFill>
        <p:spPr>
          <a:xfrm>
            <a:off x="3611880" y="1691640"/>
            <a:ext cx="274320" cy="274320"/>
          </a:xfrm>
          <a:prstGeom prst="rect">
            <a:avLst/>
          </a:prstGeom>
        </p:spPr>
      </p:pic>
      <p:sp>
        <p:nvSpPr>
          <p:cNvPr id="16" name="Text 12"/>
          <p:cNvSpPr txBox="1"/>
          <p:nvPr/>
        </p:nvSpPr>
        <p:spPr>
          <a:xfrm>
            <a:off x="416052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둘째</a:t>
            </a:r>
            <a:endParaRPr lang="en-US" sz="1800" dirty="0"/>
          </a:p>
        </p:txBody>
      </p:sp>
      <p:sp>
        <p:nvSpPr>
          <p:cNvPr id="17" name="Text 13"/>
          <p:cNvSpPr txBox="1"/>
          <p:nvPr/>
        </p:nvSpPr>
        <p:spPr>
          <a:xfrm>
            <a:off x="347472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교사계획서·학습 위주 교육</a:t>
            </a:r>
            <a:endParaRPr lang="en-US" sz="1100" dirty="0"/>
          </a:p>
        </p:txBody>
      </p:sp>
      <p:sp>
        <p:nvSpPr>
          <p:cNvPr id="18" name="Text 14"/>
          <p:cNvSpPr txBox="1"/>
          <p:nvPr/>
        </p:nvSpPr>
        <p:spPr>
          <a:xfrm>
            <a:off x="3474720" y="2743200"/>
            <a:ext cx="2194560" cy="228600"/>
          </a:xfrm>
          <a:prstGeom prst="rect">
            <a:avLst/>
          </a:prstGeom>
          <a:noFill/>
          <a:ln/>
        </p:spPr>
        <p:txBody>
          <a:bodyPr wrap="square" lIns="0" tIns="0" rIns="0" bIns="0" rtlCol="0" anchor="ctr"/>
          <a:lstStyle/>
          <a:p>
            <a:pPr indent="0" marL="0">
              <a:buNone/>
            </a:pPr>
            <a:r>
              <a:rPr lang="en-US" sz="1000" dirty="0">
                <a:solidFill>
                  <a:srgbClr val="B08A2E"/>
                </a:solidFill>
                <a:latin typeface="Malgun Gothic" pitchFamily="34" charset="0"/>
                <a:ea typeface="Malgun Gothic" pitchFamily="34" charset="-122"/>
                <a:cs typeface="Malgun Gothic" pitchFamily="34" charset="-120"/>
              </a:rPr>
              <a:t>▼</a:t>
            </a:r>
            <a:endParaRPr lang="en-US" sz="1000" dirty="0"/>
          </a:p>
        </p:txBody>
      </p:sp>
      <p:sp>
        <p:nvSpPr>
          <p:cNvPr id="19" name="Text 15"/>
          <p:cNvSpPr txBox="1"/>
          <p:nvPr/>
        </p:nvSpPr>
        <p:spPr>
          <a:xfrm>
            <a:off x="347472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자유놀이 권장</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관찰·기록 등 상호작용 강조</a:t>
            </a:r>
            <a:endParaRPr lang="en-US" sz="1400" dirty="0"/>
          </a:p>
        </p:txBody>
      </p:sp>
      <p:sp>
        <p:nvSpPr>
          <p:cNvPr id="20" name="Shape 16"/>
          <p:cNvSpPr/>
          <p:nvPr/>
        </p:nvSpPr>
        <p:spPr>
          <a:xfrm>
            <a:off x="6126480" y="1371600"/>
            <a:ext cx="2560320" cy="2514600"/>
          </a:xfrm>
          <a:prstGeom prst="roundRect">
            <a:avLst>
              <a:gd name="adj" fmla="val 5455"/>
            </a:avLst>
          </a:prstGeom>
          <a:solidFill>
            <a:srgbClr val="DCEBDD"/>
          </a:solidFill>
          <a:ln/>
        </p:spPr>
      </p:sp>
      <p:sp>
        <p:nvSpPr>
          <p:cNvPr id="21" name="Shape 17"/>
          <p:cNvSpPr/>
          <p:nvPr/>
        </p:nvSpPr>
        <p:spPr>
          <a:xfrm>
            <a:off x="6309360" y="1554480"/>
            <a:ext cx="548640" cy="548640"/>
          </a:xfrm>
          <a:prstGeom prst="ellipse">
            <a:avLst/>
          </a:prstGeom>
          <a:solidFill>
            <a:srgbClr val="5E8C6A"/>
          </a:solidFill>
          <a:ln/>
        </p:spPr>
      </p:sp>
      <p:pic>
        <p:nvPicPr>
          <p:cNvPr id="22" name="Image 2" descr="preencoded.png">    </p:cNvPr>
          <p:cNvPicPr>
            <a:picLocks noChangeAspect="1"/>
          </p:cNvPicPr>
          <p:nvPr/>
        </p:nvPicPr>
        <p:blipFill>
          <a:blip r:embed="rId3"/>
          <a:stretch>
            <a:fillRect/>
          </a:stretch>
        </p:blipFill>
        <p:spPr>
          <a:xfrm>
            <a:off x="6446520" y="1691640"/>
            <a:ext cx="274320" cy="274320"/>
          </a:xfrm>
          <a:prstGeom prst="rect">
            <a:avLst/>
          </a:prstGeom>
        </p:spPr>
      </p:pic>
      <p:sp>
        <p:nvSpPr>
          <p:cNvPr id="23" name="Text 18"/>
          <p:cNvSpPr txBox="1"/>
          <p:nvPr/>
        </p:nvSpPr>
        <p:spPr>
          <a:xfrm>
            <a:off x="699516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셋째</a:t>
            </a:r>
            <a:endParaRPr lang="en-US" sz="1800" dirty="0"/>
          </a:p>
        </p:txBody>
      </p:sp>
      <p:sp>
        <p:nvSpPr>
          <p:cNvPr id="24" name="Text 19"/>
          <p:cNvSpPr txBox="1"/>
          <p:nvPr/>
        </p:nvSpPr>
        <p:spPr>
          <a:xfrm>
            <a:off x="630936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5개 영역, 주제-소주제의</a:t>
            </a:r>
            <a:endParaRPr lang="en-US" sz="1100" dirty="0"/>
          </a:p>
          <a:p>
            <a:pPr indent="0" marL="0">
              <a:buNone/>
            </a:pPr>
            <a:r>
              <a:rPr lang="en-US" sz="1100" dirty="0">
                <a:solidFill>
                  <a:srgbClr val="6E7B73"/>
                </a:solidFill>
                <a:latin typeface="Malgun Gothic" pitchFamily="34" charset="0"/>
                <a:ea typeface="Malgun Gothic" pitchFamily="34" charset="-122"/>
                <a:cs typeface="Malgun Gothic" pitchFamily="34" charset="-120"/>
              </a:rPr>
              <a:t>지나치게 세부적인 구성</a:t>
            </a:r>
            <a:endParaRPr lang="en-US" sz="1100" dirty="0"/>
          </a:p>
        </p:txBody>
      </p:sp>
      <p:sp>
        <p:nvSpPr>
          <p:cNvPr id="25" name="Text 20"/>
          <p:cNvSpPr txBox="1"/>
          <p:nvPr/>
        </p:nvSpPr>
        <p:spPr>
          <a:xfrm>
            <a:off x="6309360" y="2743200"/>
            <a:ext cx="2194560" cy="228600"/>
          </a:xfrm>
          <a:prstGeom prst="rect">
            <a:avLst/>
          </a:prstGeom>
          <a:noFill/>
          <a:ln/>
        </p:spPr>
        <p:txBody>
          <a:bodyPr wrap="square" lIns="0" tIns="0" rIns="0" bIns="0" rtlCol="0" anchor="ctr"/>
          <a:lstStyle/>
          <a:p>
            <a:pPr indent="0" marL="0">
              <a:buNone/>
            </a:pPr>
            <a:r>
              <a:rPr lang="en-US" sz="1000" dirty="0">
                <a:solidFill>
                  <a:srgbClr val="5E8C6A"/>
                </a:solidFill>
                <a:latin typeface="Malgun Gothic" pitchFamily="34" charset="0"/>
                <a:ea typeface="Malgun Gothic" pitchFamily="34" charset="-122"/>
                <a:cs typeface="Malgun Gothic" pitchFamily="34" charset="-120"/>
              </a:rPr>
              <a:t>▼</a:t>
            </a:r>
            <a:endParaRPr lang="en-US" sz="1000" dirty="0"/>
          </a:p>
        </p:txBody>
      </p:sp>
      <p:sp>
        <p:nvSpPr>
          <p:cNvPr id="26" name="Text 21"/>
          <p:cNvSpPr txBox="1"/>
          <p:nvPr/>
        </p:nvSpPr>
        <p:spPr>
          <a:xfrm>
            <a:off x="630936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세부내용 삭제로</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현장의 자율성 존중</a:t>
            </a:r>
            <a:endParaRPr lang="en-US" sz="1400" dirty="0"/>
          </a:p>
        </p:txBody>
      </p:sp>
      <p:sp>
        <p:nvSpPr>
          <p:cNvPr id="27" name="Shape 22"/>
          <p:cNvSpPr/>
          <p:nvPr/>
        </p:nvSpPr>
        <p:spPr>
          <a:xfrm>
            <a:off x="457200" y="4069080"/>
            <a:ext cx="8229600" cy="640080"/>
          </a:xfrm>
          <a:prstGeom prst="roundRect">
            <a:avLst>
              <a:gd name="adj" fmla="val 50000"/>
            </a:avLst>
          </a:prstGeom>
          <a:solidFill>
            <a:srgbClr val="5E8C6A"/>
          </a:solidFill>
          <a:ln/>
        </p:spPr>
      </p:sp>
      <p:sp>
        <p:nvSpPr>
          <p:cNvPr id="28" name="Text 23"/>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유아 중심 · 놀이 중심 교육과정  →  2020년부터 유치원·어린이집 공통 적용</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Shape 1"/>
          <p:cNvSpPr/>
          <p:nvPr/>
        </p:nvSpPr>
        <p:spPr>
          <a:xfrm>
            <a:off x="457200" y="1508760"/>
            <a:ext cx="3291840" cy="1005840"/>
          </a:xfrm>
          <a:prstGeom prst="roundRect">
            <a:avLst>
              <a:gd name="adj" fmla="val 13636"/>
            </a:avLst>
          </a:prstGeom>
          <a:solidFill>
            <a:srgbClr val="DCEBDD"/>
          </a:solidFill>
          <a:ln/>
        </p:spPr>
      </p:sp>
      <p:sp>
        <p:nvSpPr>
          <p:cNvPr id="4" name="Text 2"/>
          <p:cNvSpPr txBox="1"/>
          <p:nvPr/>
        </p:nvSpPr>
        <p:spPr>
          <a:xfrm>
            <a:off x="640080" y="1600200"/>
            <a:ext cx="2926080" cy="411480"/>
          </a:xfrm>
          <a:prstGeom prst="rect">
            <a:avLst/>
          </a:prstGeom>
          <a:noFill/>
          <a:ln/>
        </p:spPr>
        <p:txBody>
          <a:bodyPr wrap="square" lIns="0" tIns="0" rIns="0" bIns="0" rtlCol="0" anchor="ctr"/>
          <a:lstStyle/>
          <a:p>
            <a:pPr indent="0" marL="0">
              <a:buNone/>
            </a:pPr>
            <a:r>
              <a:rPr lang="en-US" sz="1800" b="1" dirty="0">
                <a:solidFill>
                  <a:srgbClr val="5E8C6A"/>
                </a:solidFill>
                <a:latin typeface="Malgun Gothic" pitchFamily="34" charset="0"/>
                <a:ea typeface="Malgun Gothic" pitchFamily="34" charset="-122"/>
                <a:cs typeface="Malgun Gothic" pitchFamily="34" charset="-120"/>
              </a:rPr>
              <a:t>표준보육과정</a:t>
            </a:r>
            <a:endParaRPr lang="en-US" sz="1800" dirty="0"/>
          </a:p>
        </p:txBody>
      </p:sp>
      <p:sp>
        <p:nvSpPr>
          <p:cNvPr id="5" name="Text 3"/>
          <p:cNvSpPr txBox="1"/>
          <p:nvPr/>
        </p:nvSpPr>
        <p:spPr>
          <a:xfrm>
            <a:off x="640080" y="2011680"/>
            <a:ext cx="292608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0~2세 · 어린이집</a:t>
            </a:r>
            <a:endParaRPr lang="en-US" sz="1300" dirty="0"/>
          </a:p>
        </p:txBody>
      </p:sp>
      <p:sp>
        <p:nvSpPr>
          <p:cNvPr id="6" name="Shape 4"/>
          <p:cNvSpPr/>
          <p:nvPr/>
        </p:nvSpPr>
        <p:spPr>
          <a:xfrm>
            <a:off x="3931920" y="1508760"/>
            <a:ext cx="4754880" cy="1005840"/>
          </a:xfrm>
          <a:prstGeom prst="roundRect">
            <a:avLst>
              <a:gd name="adj" fmla="val 13636"/>
            </a:avLst>
          </a:prstGeom>
          <a:solidFill>
            <a:srgbClr val="FDF3D6"/>
          </a:solidFill>
          <a:ln/>
        </p:spPr>
      </p:sp>
      <p:sp>
        <p:nvSpPr>
          <p:cNvPr id="7" name="Text 5"/>
          <p:cNvSpPr txBox="1"/>
          <p:nvPr/>
        </p:nvSpPr>
        <p:spPr>
          <a:xfrm>
            <a:off x="4114800" y="1600200"/>
            <a:ext cx="4389120" cy="411480"/>
          </a:xfrm>
          <a:prstGeom prst="rect">
            <a:avLst/>
          </a:prstGeom>
          <a:noFill/>
          <a:ln/>
        </p:spPr>
        <p:txBody>
          <a:bodyPr wrap="square" lIns="0" tIns="0" rIns="0" bIns="0" rtlCol="0" anchor="ctr"/>
          <a:lstStyle/>
          <a:p>
            <a:pPr indent="0" marL="0">
              <a:buNone/>
            </a:pPr>
            <a:r>
              <a:rPr lang="en-US" sz="1800" b="1" dirty="0">
                <a:solidFill>
                  <a:srgbClr val="B08A2E"/>
                </a:solidFill>
                <a:latin typeface="Malgun Gothic" pitchFamily="34" charset="0"/>
                <a:ea typeface="Malgun Gothic" pitchFamily="34" charset="-122"/>
                <a:cs typeface="Malgun Gothic" pitchFamily="34" charset="-120"/>
              </a:rPr>
              <a:t>누리과정</a:t>
            </a:r>
            <a:endParaRPr lang="en-US" sz="1800" dirty="0"/>
          </a:p>
        </p:txBody>
      </p:sp>
      <p:sp>
        <p:nvSpPr>
          <p:cNvPr id="8" name="Text 6"/>
          <p:cNvSpPr txBox="1"/>
          <p:nvPr/>
        </p:nvSpPr>
        <p:spPr>
          <a:xfrm>
            <a:off x="4114800" y="2011680"/>
            <a:ext cx="438912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3~5세 · 유치원과 어린이집 공통</a:t>
            </a:r>
            <a:endParaRPr lang="en-US" sz="1300" dirty="0"/>
          </a:p>
        </p:txBody>
      </p:sp>
      <p:sp>
        <p:nvSpPr>
          <p:cNvPr id="9" name="Shape 7"/>
          <p:cNvSpPr/>
          <p:nvPr/>
        </p:nvSpPr>
        <p:spPr>
          <a:xfrm>
            <a:off x="457200" y="2880360"/>
            <a:ext cx="365760" cy="365760"/>
          </a:xfrm>
          <a:prstGeom prst="ellipse">
            <a:avLst/>
          </a:prstGeom>
          <a:solidFill>
            <a:srgbClr val="F5D07A"/>
          </a:solidFill>
          <a:ln/>
        </p:spPr>
      </p:sp>
      <p:sp>
        <p:nvSpPr>
          <p:cNvPr id="10" name="Text 8"/>
          <p:cNvSpPr txBox="1"/>
          <p:nvPr/>
        </p:nvSpPr>
        <p:spPr>
          <a:xfrm>
            <a:off x="457200" y="2880360"/>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1</a:t>
            </a:r>
            <a:endParaRPr lang="en-US" sz="1300" dirty="0"/>
          </a:p>
        </p:txBody>
      </p:sp>
      <p:sp>
        <p:nvSpPr>
          <p:cNvPr id="11" name="Text 9"/>
          <p:cNvSpPr txBox="1"/>
          <p:nvPr/>
        </p:nvSpPr>
        <p:spPr>
          <a:xfrm>
            <a:off x="1005840" y="2834640"/>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교육과정</a:t>
            </a:r>
            <a:endParaRPr lang="en-US" sz="1500" dirty="0"/>
          </a:p>
        </p:txBody>
      </p:sp>
      <p:sp>
        <p:nvSpPr>
          <p:cNvPr id="12" name="Text 10"/>
          <p:cNvSpPr txBox="1"/>
          <p:nvPr/>
        </p:nvSpPr>
        <p:spPr>
          <a:xfrm>
            <a:off x="2468880" y="2834640"/>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학습자의 전인적 성장·발달을 위한 교수-학습 경험의 설계도</a:t>
            </a:r>
            <a:endParaRPr lang="en-US" sz="1400" dirty="0"/>
          </a:p>
        </p:txBody>
      </p:sp>
      <p:sp>
        <p:nvSpPr>
          <p:cNvPr id="13" name="Shape 11"/>
          <p:cNvSpPr/>
          <p:nvPr/>
        </p:nvSpPr>
        <p:spPr>
          <a:xfrm>
            <a:off x="457200" y="3447288"/>
            <a:ext cx="365760" cy="365760"/>
          </a:xfrm>
          <a:prstGeom prst="ellipse">
            <a:avLst/>
          </a:prstGeom>
          <a:solidFill>
            <a:srgbClr val="F5D07A"/>
          </a:solidFill>
          <a:ln/>
        </p:spPr>
      </p:sp>
      <p:sp>
        <p:nvSpPr>
          <p:cNvPr id="14" name="Text 12"/>
          <p:cNvSpPr txBox="1"/>
          <p:nvPr/>
        </p:nvSpPr>
        <p:spPr>
          <a:xfrm>
            <a:off x="457200" y="3447288"/>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2</a:t>
            </a:r>
            <a:endParaRPr lang="en-US" sz="1300" dirty="0"/>
          </a:p>
        </p:txBody>
      </p:sp>
      <p:sp>
        <p:nvSpPr>
          <p:cNvPr id="15" name="Text 13"/>
          <p:cNvSpPr txBox="1"/>
          <p:nvPr/>
        </p:nvSpPr>
        <p:spPr>
          <a:xfrm>
            <a:off x="1005840" y="3401568"/>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누리과정</a:t>
            </a:r>
            <a:endParaRPr lang="en-US" sz="1500" dirty="0"/>
          </a:p>
        </p:txBody>
      </p:sp>
      <p:sp>
        <p:nvSpPr>
          <p:cNvPr id="16" name="Text 14"/>
          <p:cNvSpPr txBox="1"/>
          <p:nvPr/>
        </p:nvSpPr>
        <p:spPr>
          <a:xfrm>
            <a:off x="2468880" y="3401568"/>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이원화된 과정을 일원화해 교육의 질과 출발점 평등을 보장</a:t>
            </a:r>
            <a:endParaRPr lang="en-US" sz="1400" dirty="0"/>
          </a:p>
        </p:txBody>
      </p:sp>
      <p:sp>
        <p:nvSpPr>
          <p:cNvPr id="17" name="Shape 15"/>
          <p:cNvSpPr/>
          <p:nvPr/>
        </p:nvSpPr>
        <p:spPr>
          <a:xfrm>
            <a:off x="457200" y="4014216"/>
            <a:ext cx="365760" cy="365760"/>
          </a:xfrm>
          <a:prstGeom prst="ellipse">
            <a:avLst/>
          </a:prstGeom>
          <a:solidFill>
            <a:srgbClr val="F5D07A"/>
          </a:solidFill>
          <a:ln/>
        </p:spPr>
      </p:sp>
      <p:sp>
        <p:nvSpPr>
          <p:cNvPr id="18" name="Text 16"/>
          <p:cNvSpPr txBox="1"/>
          <p:nvPr/>
        </p:nvSpPr>
        <p:spPr>
          <a:xfrm>
            <a:off x="457200" y="4014216"/>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3</a:t>
            </a:r>
            <a:endParaRPr lang="en-US" sz="1300" dirty="0"/>
          </a:p>
        </p:txBody>
      </p:sp>
      <p:sp>
        <p:nvSpPr>
          <p:cNvPr id="19" name="Text 17"/>
          <p:cNvSpPr txBox="1"/>
          <p:nvPr/>
        </p:nvSpPr>
        <p:spPr>
          <a:xfrm>
            <a:off x="1005840" y="3968496"/>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2019 개정</a:t>
            </a:r>
            <a:endParaRPr lang="en-US" sz="1500" dirty="0"/>
          </a:p>
        </p:txBody>
      </p:sp>
      <p:sp>
        <p:nvSpPr>
          <p:cNvPr id="20" name="Text 18"/>
          <p:cNvSpPr txBox="1"/>
          <p:nvPr/>
        </p:nvSpPr>
        <p:spPr>
          <a:xfrm>
            <a:off x="2468880" y="3968496"/>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유아 중심·놀이 중심, 현장의 자율성 존중</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b="1" dirty="0">
                <a:solidFill>
                  <a:srgbClr val="FDF3D6"/>
                </a:solidFill>
                <a:latin typeface="Malgun Gothic" pitchFamily="34" charset="0"/>
                <a:ea typeface="Malgun Gothic" pitchFamily="34" charset="-122"/>
                <a:cs typeface="Malgun Gothic" pitchFamily="34" charset="-120"/>
              </a:rPr>
              <a:t>PART 2</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구성</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구성 요소와 구성의 네 가지 특징</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10</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교육과정의 구성 요소</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타일러(Tyler)가 제시한 네 가지 질문</a:t>
            </a:r>
            <a:endParaRPr lang="en-US" sz="1300" dirty="0"/>
          </a:p>
        </p:txBody>
      </p:sp>
      <p:sp>
        <p:nvSpPr>
          <p:cNvPr id="6" name="Shape 4"/>
          <p:cNvSpPr/>
          <p:nvPr/>
        </p:nvSpPr>
        <p:spPr>
          <a:xfrm>
            <a:off x="457200" y="1371600"/>
            <a:ext cx="1920240" cy="2834640"/>
          </a:xfrm>
          <a:prstGeom prst="roundRect">
            <a:avLst>
              <a:gd name="adj" fmla="val 7143"/>
            </a:avLst>
          </a:prstGeom>
          <a:solidFill>
            <a:srgbClr val="FCE4D8"/>
          </a:solidFill>
          <a:ln/>
        </p:spPr>
      </p:sp>
      <p:sp>
        <p:nvSpPr>
          <p:cNvPr id="7" name="Shape 5"/>
          <p:cNvSpPr/>
          <p:nvPr/>
        </p:nvSpPr>
        <p:spPr>
          <a:xfrm>
            <a:off x="1097280" y="1600200"/>
            <a:ext cx="640080" cy="64008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1257300" y="1760220"/>
            <a:ext cx="320040" cy="320040"/>
          </a:xfrm>
          <a:prstGeom prst="rect">
            <a:avLst/>
          </a:prstGeom>
        </p:spPr>
      </p:pic>
      <p:sp>
        <p:nvSpPr>
          <p:cNvPr id="9" name="Text 6"/>
          <p:cNvSpPr txBox="1"/>
          <p:nvPr/>
        </p:nvSpPr>
        <p:spPr>
          <a:xfrm>
            <a:off x="59436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학교가 성취해야 할</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교육목표는 무엇인가?</a:t>
            </a:r>
            <a:endParaRPr lang="en-US" sz="1200" dirty="0"/>
          </a:p>
        </p:txBody>
      </p:sp>
      <p:sp>
        <p:nvSpPr>
          <p:cNvPr id="10" name="Text 7"/>
          <p:cNvSpPr txBox="1"/>
          <p:nvPr/>
        </p:nvSpPr>
        <p:spPr>
          <a:xfrm>
            <a:off x="594360" y="3200400"/>
            <a:ext cx="1645920" cy="274320"/>
          </a:xfrm>
          <a:prstGeom prst="rect">
            <a:avLst/>
          </a:prstGeom>
          <a:noFill/>
          <a:ln/>
        </p:spPr>
        <p:txBody>
          <a:bodyPr wrap="square" lIns="0" tIns="0" rIns="0" bIns="0" rtlCol="0" anchor="ctr"/>
          <a:lstStyle/>
          <a:p>
            <a:pPr algn="ctr" indent="0" marL="0">
              <a:buNone/>
            </a:pPr>
            <a:r>
              <a:rPr lang="en-US" sz="1100" dirty="0">
                <a:solidFill>
                  <a:srgbClr val="F2A27E"/>
                </a:solidFill>
                <a:latin typeface="Malgun Gothic" pitchFamily="34" charset="0"/>
                <a:ea typeface="Malgun Gothic" pitchFamily="34" charset="-122"/>
                <a:cs typeface="Malgun Gothic" pitchFamily="34" charset="-120"/>
              </a:rPr>
              <a:t>▼</a:t>
            </a:r>
            <a:endParaRPr lang="en-US" sz="1100" dirty="0"/>
          </a:p>
        </p:txBody>
      </p:sp>
      <p:sp>
        <p:nvSpPr>
          <p:cNvPr id="11" name="Text 8"/>
          <p:cNvSpPr txBox="1"/>
          <p:nvPr/>
        </p:nvSpPr>
        <p:spPr>
          <a:xfrm>
            <a:off x="54864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교육목표</a:t>
            </a:r>
            <a:endParaRPr lang="en-US" sz="1700" dirty="0"/>
          </a:p>
        </p:txBody>
      </p:sp>
      <p:sp>
        <p:nvSpPr>
          <p:cNvPr id="12" name="Shape 9"/>
          <p:cNvSpPr/>
          <p:nvPr/>
        </p:nvSpPr>
        <p:spPr>
          <a:xfrm>
            <a:off x="2560320" y="1371600"/>
            <a:ext cx="1920240" cy="2834640"/>
          </a:xfrm>
          <a:prstGeom prst="roundRect">
            <a:avLst>
              <a:gd name="adj" fmla="val 7143"/>
            </a:avLst>
          </a:prstGeom>
          <a:solidFill>
            <a:srgbClr val="FDF3D6"/>
          </a:solidFill>
          <a:ln/>
        </p:spPr>
      </p:sp>
      <p:sp>
        <p:nvSpPr>
          <p:cNvPr id="13" name="Shape 10"/>
          <p:cNvSpPr/>
          <p:nvPr/>
        </p:nvSpPr>
        <p:spPr>
          <a:xfrm>
            <a:off x="3200400" y="1600200"/>
            <a:ext cx="640080" cy="640080"/>
          </a:xfrm>
          <a:prstGeom prst="ellipse">
            <a:avLst/>
          </a:prstGeom>
          <a:solidFill>
            <a:srgbClr val="F5D07A"/>
          </a:solidFill>
          <a:ln/>
        </p:spPr>
      </p:sp>
      <p:pic>
        <p:nvPicPr>
          <p:cNvPr id="14" name="Image 1" descr="preencoded.png">    </p:cNvPr>
          <p:cNvPicPr>
            <a:picLocks noChangeAspect="1"/>
          </p:cNvPicPr>
          <p:nvPr/>
        </p:nvPicPr>
        <p:blipFill>
          <a:blip r:embed="rId2"/>
          <a:stretch>
            <a:fillRect/>
          </a:stretch>
        </p:blipFill>
        <p:spPr>
          <a:xfrm>
            <a:off x="3360420" y="1760220"/>
            <a:ext cx="320040" cy="320040"/>
          </a:xfrm>
          <a:prstGeom prst="rect">
            <a:avLst/>
          </a:prstGeom>
        </p:spPr>
      </p:pic>
      <p:sp>
        <p:nvSpPr>
          <p:cNvPr id="15" name="Text 11"/>
          <p:cNvSpPr txBox="1"/>
          <p:nvPr/>
        </p:nvSpPr>
        <p:spPr>
          <a:xfrm>
            <a:off x="269748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목표 달성을 위해 어떤</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교육적 경험을 제공할까?</a:t>
            </a:r>
            <a:endParaRPr lang="en-US" sz="1200" dirty="0"/>
          </a:p>
        </p:txBody>
      </p:sp>
      <p:sp>
        <p:nvSpPr>
          <p:cNvPr id="16" name="Text 12"/>
          <p:cNvSpPr txBox="1"/>
          <p:nvPr/>
        </p:nvSpPr>
        <p:spPr>
          <a:xfrm>
            <a:off x="2697480" y="3200400"/>
            <a:ext cx="1645920" cy="274320"/>
          </a:xfrm>
          <a:prstGeom prst="rect">
            <a:avLst/>
          </a:prstGeom>
          <a:noFill/>
          <a:ln/>
        </p:spPr>
        <p:txBody>
          <a:bodyPr wrap="square" lIns="0" tIns="0" rIns="0" bIns="0" rtlCol="0" anchor="ctr"/>
          <a:lstStyle/>
          <a:p>
            <a:pPr algn="ctr" indent="0" marL="0">
              <a:buNone/>
            </a:pPr>
            <a:r>
              <a:rPr lang="en-US" sz="1100" dirty="0">
                <a:solidFill>
                  <a:srgbClr val="B08A2E"/>
                </a:solidFill>
                <a:latin typeface="Malgun Gothic" pitchFamily="34" charset="0"/>
                <a:ea typeface="Malgun Gothic" pitchFamily="34" charset="-122"/>
                <a:cs typeface="Malgun Gothic" pitchFamily="34" charset="-120"/>
              </a:rPr>
              <a:t>▼</a:t>
            </a:r>
            <a:endParaRPr lang="en-US" sz="1100" dirty="0"/>
          </a:p>
        </p:txBody>
      </p:sp>
      <p:sp>
        <p:nvSpPr>
          <p:cNvPr id="17" name="Text 13"/>
          <p:cNvSpPr txBox="1"/>
          <p:nvPr/>
        </p:nvSpPr>
        <p:spPr>
          <a:xfrm>
            <a:off x="265176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교육내용</a:t>
            </a:r>
            <a:endParaRPr lang="en-US" sz="1700" dirty="0"/>
          </a:p>
        </p:txBody>
      </p:sp>
      <p:sp>
        <p:nvSpPr>
          <p:cNvPr id="18" name="Shape 14"/>
          <p:cNvSpPr/>
          <p:nvPr/>
        </p:nvSpPr>
        <p:spPr>
          <a:xfrm>
            <a:off x="4663440" y="1371600"/>
            <a:ext cx="1920240" cy="2834640"/>
          </a:xfrm>
          <a:prstGeom prst="roundRect">
            <a:avLst>
              <a:gd name="adj" fmla="val 7143"/>
            </a:avLst>
          </a:prstGeom>
          <a:solidFill>
            <a:srgbClr val="DCEBDD"/>
          </a:solidFill>
          <a:ln/>
        </p:spPr>
      </p:sp>
      <p:sp>
        <p:nvSpPr>
          <p:cNvPr id="19" name="Shape 15"/>
          <p:cNvSpPr/>
          <p:nvPr/>
        </p:nvSpPr>
        <p:spPr>
          <a:xfrm>
            <a:off x="5303520" y="1600200"/>
            <a:ext cx="640080" cy="640080"/>
          </a:xfrm>
          <a:prstGeom prst="ellipse">
            <a:avLst/>
          </a:prstGeom>
          <a:solidFill>
            <a:srgbClr val="5E8C6A"/>
          </a:solidFill>
          <a:ln/>
        </p:spPr>
      </p:sp>
      <p:pic>
        <p:nvPicPr>
          <p:cNvPr id="20" name="Image 2" descr="preencoded.png">    </p:cNvPr>
          <p:cNvPicPr>
            <a:picLocks noChangeAspect="1"/>
          </p:cNvPicPr>
          <p:nvPr/>
        </p:nvPicPr>
        <p:blipFill>
          <a:blip r:embed="rId3"/>
          <a:stretch>
            <a:fillRect/>
          </a:stretch>
        </p:blipFill>
        <p:spPr>
          <a:xfrm>
            <a:off x="5463540" y="1760220"/>
            <a:ext cx="320040" cy="320040"/>
          </a:xfrm>
          <a:prstGeom prst="rect">
            <a:avLst/>
          </a:prstGeom>
        </p:spPr>
      </p:pic>
      <p:sp>
        <p:nvSpPr>
          <p:cNvPr id="21" name="Text 16"/>
          <p:cNvSpPr txBox="1"/>
          <p:nvPr/>
        </p:nvSpPr>
        <p:spPr>
          <a:xfrm>
            <a:off x="480060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교육적 경험을 어떻게</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효과적으로 조직할까?</a:t>
            </a:r>
            <a:endParaRPr lang="en-US" sz="1200" dirty="0"/>
          </a:p>
        </p:txBody>
      </p:sp>
      <p:sp>
        <p:nvSpPr>
          <p:cNvPr id="22" name="Text 17"/>
          <p:cNvSpPr txBox="1"/>
          <p:nvPr/>
        </p:nvSpPr>
        <p:spPr>
          <a:xfrm>
            <a:off x="4800600" y="3200400"/>
            <a:ext cx="1645920" cy="274320"/>
          </a:xfrm>
          <a:prstGeom prst="rect">
            <a:avLst/>
          </a:prstGeom>
          <a:noFill/>
          <a:ln/>
        </p:spPr>
        <p:txBody>
          <a:bodyPr wrap="square" lIns="0" tIns="0" rIns="0" bIns="0" rtlCol="0" anchor="ctr"/>
          <a:lstStyle/>
          <a:p>
            <a:pPr algn="ctr" indent="0" marL="0">
              <a:buNone/>
            </a:pPr>
            <a:r>
              <a:rPr lang="en-US" sz="1100" dirty="0">
                <a:solidFill>
                  <a:srgbClr val="5E8C6A"/>
                </a:solidFill>
                <a:latin typeface="Malgun Gothic" pitchFamily="34" charset="0"/>
                <a:ea typeface="Malgun Gothic" pitchFamily="34" charset="-122"/>
                <a:cs typeface="Malgun Gothic" pitchFamily="34" charset="-120"/>
              </a:rPr>
              <a:t>▼</a:t>
            </a:r>
            <a:endParaRPr lang="en-US" sz="1100" dirty="0"/>
          </a:p>
        </p:txBody>
      </p:sp>
      <p:sp>
        <p:nvSpPr>
          <p:cNvPr id="23" name="Text 18"/>
          <p:cNvSpPr txBox="1"/>
          <p:nvPr/>
        </p:nvSpPr>
        <p:spPr>
          <a:xfrm>
            <a:off x="475488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교수-학습 방법</a:t>
            </a:r>
            <a:endParaRPr lang="en-US" sz="1700" dirty="0"/>
          </a:p>
        </p:txBody>
      </p:sp>
      <p:sp>
        <p:nvSpPr>
          <p:cNvPr id="24" name="Shape 19"/>
          <p:cNvSpPr/>
          <p:nvPr/>
        </p:nvSpPr>
        <p:spPr>
          <a:xfrm>
            <a:off x="6766560" y="1371600"/>
            <a:ext cx="1920240" cy="2834640"/>
          </a:xfrm>
          <a:prstGeom prst="roundRect">
            <a:avLst>
              <a:gd name="adj" fmla="val 7143"/>
            </a:avLst>
          </a:prstGeom>
          <a:solidFill>
            <a:srgbClr val="F9E1E3"/>
          </a:solidFill>
          <a:ln/>
        </p:spPr>
      </p:sp>
      <p:sp>
        <p:nvSpPr>
          <p:cNvPr id="25" name="Shape 20"/>
          <p:cNvSpPr/>
          <p:nvPr/>
        </p:nvSpPr>
        <p:spPr>
          <a:xfrm>
            <a:off x="7406640" y="1600200"/>
            <a:ext cx="640080" cy="640080"/>
          </a:xfrm>
          <a:prstGeom prst="ellipse">
            <a:avLst/>
          </a:prstGeom>
          <a:solidFill>
            <a:srgbClr val="E8A1A8"/>
          </a:solidFill>
          <a:ln/>
        </p:spPr>
      </p:sp>
      <p:pic>
        <p:nvPicPr>
          <p:cNvPr id="26" name="Image 3" descr="preencoded.png">    </p:cNvPr>
          <p:cNvPicPr>
            <a:picLocks noChangeAspect="1"/>
          </p:cNvPicPr>
          <p:nvPr/>
        </p:nvPicPr>
        <p:blipFill>
          <a:blip r:embed="rId4"/>
          <a:stretch>
            <a:fillRect/>
          </a:stretch>
        </p:blipFill>
        <p:spPr>
          <a:xfrm>
            <a:off x="7566660" y="1760220"/>
            <a:ext cx="320040" cy="320040"/>
          </a:xfrm>
          <a:prstGeom prst="rect">
            <a:avLst/>
          </a:prstGeom>
        </p:spPr>
      </p:pic>
      <p:sp>
        <p:nvSpPr>
          <p:cNvPr id="27" name="Text 21"/>
          <p:cNvSpPr txBox="1"/>
          <p:nvPr/>
        </p:nvSpPr>
        <p:spPr>
          <a:xfrm>
            <a:off x="690372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목표가 달성되었는지</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어떻게 알 수 있을까?</a:t>
            </a:r>
            <a:endParaRPr lang="en-US" sz="1200" dirty="0"/>
          </a:p>
        </p:txBody>
      </p:sp>
      <p:sp>
        <p:nvSpPr>
          <p:cNvPr id="28" name="Text 22"/>
          <p:cNvSpPr txBox="1"/>
          <p:nvPr/>
        </p:nvSpPr>
        <p:spPr>
          <a:xfrm>
            <a:off x="6903720" y="3200400"/>
            <a:ext cx="1645920" cy="274320"/>
          </a:xfrm>
          <a:prstGeom prst="rect">
            <a:avLst/>
          </a:prstGeom>
          <a:noFill/>
          <a:ln/>
        </p:spPr>
        <p:txBody>
          <a:bodyPr wrap="square" lIns="0" tIns="0" rIns="0" bIns="0" rtlCol="0" anchor="ctr"/>
          <a:lstStyle/>
          <a:p>
            <a:pPr algn="ctr" indent="0" marL="0">
              <a:buNone/>
            </a:pPr>
            <a:r>
              <a:rPr lang="en-US" sz="1100" dirty="0">
                <a:solidFill>
                  <a:srgbClr val="E8A1A8"/>
                </a:solidFill>
                <a:latin typeface="Malgun Gothic" pitchFamily="34" charset="0"/>
                <a:ea typeface="Malgun Gothic" pitchFamily="34" charset="-122"/>
                <a:cs typeface="Malgun Gothic" pitchFamily="34" charset="-120"/>
              </a:rPr>
              <a:t>▼</a:t>
            </a:r>
            <a:endParaRPr lang="en-US" sz="1100" dirty="0"/>
          </a:p>
        </p:txBody>
      </p:sp>
      <p:sp>
        <p:nvSpPr>
          <p:cNvPr id="29" name="Text 23"/>
          <p:cNvSpPr txBox="1"/>
          <p:nvPr/>
        </p:nvSpPr>
        <p:spPr>
          <a:xfrm>
            <a:off x="685800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평가</a:t>
            </a:r>
            <a:endParaRPr lang="en-US" sz="1700" dirty="0"/>
          </a:p>
        </p:txBody>
      </p:sp>
      <p:sp>
        <p:nvSpPr>
          <p:cNvPr id="30" name="Text 24"/>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 우리나라 영유아교육과정에도 이 네 가지 요소가 포함된다</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11</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 요소 = 교육과정의 실행 순서</a:t>
            </a:r>
            <a:endParaRPr lang="en-US" sz="2800" dirty="0"/>
          </a:p>
        </p:txBody>
      </p:sp>
      <p:sp>
        <p:nvSpPr>
          <p:cNvPr id="5" name="Shape 3"/>
          <p:cNvSpPr/>
          <p:nvPr/>
        </p:nvSpPr>
        <p:spPr>
          <a:xfrm>
            <a:off x="1188720" y="1645920"/>
            <a:ext cx="3200400" cy="2651760"/>
          </a:xfrm>
          <a:prstGeom prst="ellipse">
            <a:avLst/>
          </a:prstGeom>
          <a:noFill/>
          <a:ln w="38100">
            <a:solidFill>
              <a:srgbClr val="C9D6CC"/>
            </a:solidFill>
            <a:prstDash val="dash"/>
          </a:ln>
        </p:spPr>
      </p:sp>
      <p:sp>
        <p:nvSpPr>
          <p:cNvPr id="6" name="Text 4"/>
          <p:cNvSpPr txBox="1"/>
          <p:nvPr/>
        </p:nvSpPr>
        <p:spPr>
          <a:xfrm>
            <a:off x="2240280" y="2651760"/>
            <a:ext cx="1097280" cy="640080"/>
          </a:xfrm>
          <a:prstGeom prst="rect">
            <a:avLst/>
          </a:prstGeom>
          <a:noFill/>
          <a:ln/>
        </p:spPr>
        <p:txBody>
          <a:bodyPr wrap="square" lIns="0" tIns="0" rIns="0" bIns="0" rtlCol="0" anchor="ctr"/>
          <a:lstStyle/>
          <a:p>
            <a:pPr algn="ctr" indent="0" marL="0">
              <a:buNone/>
            </a:pPr>
            <a:r>
              <a:rPr lang="en-US" sz="1400" b="1" dirty="0">
                <a:solidFill>
                  <a:srgbClr val="6E7B73"/>
                </a:solidFill>
                <a:latin typeface="Malgun Gothic" pitchFamily="34" charset="0"/>
                <a:ea typeface="Malgun Gothic" pitchFamily="34" charset="-122"/>
                <a:cs typeface="Malgun Gothic" pitchFamily="34" charset="-120"/>
              </a:rPr>
              <a:t>계속</a:t>
            </a:r>
            <a:endParaRPr lang="en-US" sz="1400" dirty="0"/>
          </a:p>
          <a:p>
            <a:pPr algn="ctr" indent="0" marL="0">
              <a:buNone/>
            </a:pPr>
            <a:r>
              <a:rPr lang="en-US" sz="1400" b="1" dirty="0">
                <a:solidFill>
                  <a:srgbClr val="6E7B73"/>
                </a:solidFill>
                <a:latin typeface="Malgun Gothic" pitchFamily="34" charset="0"/>
                <a:ea typeface="Malgun Gothic" pitchFamily="34" charset="-122"/>
                <a:cs typeface="Malgun Gothic" pitchFamily="34" charset="-120"/>
              </a:rPr>
              <a:t>순환</a:t>
            </a:r>
            <a:endParaRPr lang="en-US" sz="1400" dirty="0"/>
          </a:p>
        </p:txBody>
      </p:sp>
      <p:sp>
        <p:nvSpPr>
          <p:cNvPr id="7" name="Shape 5"/>
          <p:cNvSpPr/>
          <p:nvPr/>
        </p:nvSpPr>
        <p:spPr>
          <a:xfrm>
            <a:off x="2011680" y="1344168"/>
            <a:ext cx="1554480" cy="603504"/>
          </a:xfrm>
          <a:prstGeom prst="roundRect">
            <a:avLst>
              <a:gd name="adj" fmla="val 22727"/>
            </a:avLst>
          </a:prstGeom>
          <a:solidFill>
            <a:srgbClr val="FFFFFF"/>
          </a:solidFill>
          <a:ln w="25400">
            <a:solidFill>
              <a:srgbClr val="F2A27E"/>
            </a:solidFill>
            <a:prstDash val="solid"/>
          </a:ln>
        </p:spPr>
      </p:sp>
      <p:sp>
        <p:nvSpPr>
          <p:cNvPr id="8" name="Shape 6"/>
          <p:cNvSpPr/>
          <p:nvPr/>
        </p:nvSpPr>
        <p:spPr>
          <a:xfrm>
            <a:off x="2103120" y="1499616"/>
            <a:ext cx="292608" cy="292608"/>
          </a:xfrm>
          <a:prstGeom prst="ellipse">
            <a:avLst/>
          </a:prstGeom>
          <a:solidFill>
            <a:srgbClr val="F2A27E"/>
          </a:solidFill>
          <a:ln/>
        </p:spPr>
      </p:sp>
      <p:sp>
        <p:nvSpPr>
          <p:cNvPr id="9" name="Text 7"/>
          <p:cNvSpPr txBox="1"/>
          <p:nvPr/>
        </p:nvSpPr>
        <p:spPr>
          <a:xfrm>
            <a:off x="2103120" y="149961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1</a:t>
            </a:r>
            <a:endParaRPr lang="en-US" sz="1100" dirty="0"/>
          </a:p>
        </p:txBody>
      </p:sp>
      <p:sp>
        <p:nvSpPr>
          <p:cNvPr id="10" name="Text 8"/>
          <p:cNvSpPr txBox="1"/>
          <p:nvPr/>
        </p:nvSpPr>
        <p:spPr>
          <a:xfrm>
            <a:off x="2468880" y="1344168"/>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교육목표 설정</a:t>
            </a:r>
            <a:endParaRPr lang="en-US" sz="1100" dirty="0"/>
          </a:p>
        </p:txBody>
      </p:sp>
      <p:sp>
        <p:nvSpPr>
          <p:cNvPr id="11" name="Shape 9"/>
          <p:cNvSpPr/>
          <p:nvPr/>
        </p:nvSpPr>
        <p:spPr>
          <a:xfrm>
            <a:off x="3533561" y="2260329"/>
            <a:ext cx="1554480" cy="603504"/>
          </a:xfrm>
          <a:prstGeom prst="roundRect">
            <a:avLst>
              <a:gd name="adj" fmla="val 22727"/>
            </a:avLst>
          </a:prstGeom>
          <a:solidFill>
            <a:srgbClr val="FFFFFF"/>
          </a:solidFill>
          <a:ln w="25400">
            <a:solidFill>
              <a:srgbClr val="F5D07A"/>
            </a:solidFill>
            <a:prstDash val="solid"/>
          </a:ln>
        </p:spPr>
      </p:sp>
      <p:sp>
        <p:nvSpPr>
          <p:cNvPr id="12" name="Shape 10"/>
          <p:cNvSpPr/>
          <p:nvPr/>
        </p:nvSpPr>
        <p:spPr>
          <a:xfrm>
            <a:off x="3625001" y="2415777"/>
            <a:ext cx="292608" cy="292608"/>
          </a:xfrm>
          <a:prstGeom prst="ellipse">
            <a:avLst/>
          </a:prstGeom>
          <a:solidFill>
            <a:srgbClr val="F5D07A"/>
          </a:solidFill>
          <a:ln/>
        </p:spPr>
      </p:sp>
      <p:sp>
        <p:nvSpPr>
          <p:cNvPr id="13" name="Text 11"/>
          <p:cNvSpPr txBox="1"/>
          <p:nvPr/>
        </p:nvSpPr>
        <p:spPr>
          <a:xfrm>
            <a:off x="3625001" y="2415777"/>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2</a:t>
            </a:r>
            <a:endParaRPr lang="en-US" sz="1100" dirty="0"/>
          </a:p>
        </p:txBody>
      </p:sp>
      <p:sp>
        <p:nvSpPr>
          <p:cNvPr id="14" name="Text 12"/>
          <p:cNvSpPr txBox="1"/>
          <p:nvPr/>
        </p:nvSpPr>
        <p:spPr>
          <a:xfrm>
            <a:off x="3990761" y="2260329"/>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교육내용 선정</a:t>
            </a:r>
            <a:endParaRPr lang="en-US" sz="1100" dirty="0"/>
          </a:p>
        </p:txBody>
      </p:sp>
      <p:sp>
        <p:nvSpPr>
          <p:cNvPr id="15" name="Shape 13"/>
          <p:cNvSpPr/>
          <p:nvPr/>
        </p:nvSpPr>
        <p:spPr>
          <a:xfrm>
            <a:off x="2952254" y="3742707"/>
            <a:ext cx="1554480" cy="603504"/>
          </a:xfrm>
          <a:prstGeom prst="roundRect">
            <a:avLst>
              <a:gd name="adj" fmla="val 22727"/>
            </a:avLst>
          </a:prstGeom>
          <a:solidFill>
            <a:srgbClr val="FFFFFF"/>
          </a:solidFill>
          <a:ln w="25400">
            <a:solidFill>
              <a:srgbClr val="5E8C6A"/>
            </a:solidFill>
            <a:prstDash val="solid"/>
          </a:ln>
        </p:spPr>
      </p:sp>
      <p:sp>
        <p:nvSpPr>
          <p:cNvPr id="16" name="Shape 14"/>
          <p:cNvSpPr/>
          <p:nvPr/>
        </p:nvSpPr>
        <p:spPr>
          <a:xfrm>
            <a:off x="3043694" y="3898155"/>
            <a:ext cx="292608" cy="292608"/>
          </a:xfrm>
          <a:prstGeom prst="ellipse">
            <a:avLst/>
          </a:prstGeom>
          <a:solidFill>
            <a:srgbClr val="5E8C6A"/>
          </a:solidFill>
          <a:ln/>
        </p:spPr>
      </p:sp>
      <p:sp>
        <p:nvSpPr>
          <p:cNvPr id="17" name="Text 15"/>
          <p:cNvSpPr txBox="1"/>
          <p:nvPr/>
        </p:nvSpPr>
        <p:spPr>
          <a:xfrm>
            <a:off x="3043694" y="389815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3</a:t>
            </a:r>
            <a:endParaRPr lang="en-US" sz="1100" dirty="0"/>
          </a:p>
        </p:txBody>
      </p:sp>
      <p:sp>
        <p:nvSpPr>
          <p:cNvPr id="18" name="Text 16"/>
          <p:cNvSpPr txBox="1"/>
          <p:nvPr/>
        </p:nvSpPr>
        <p:spPr>
          <a:xfrm>
            <a:off x="3409454" y="3742707"/>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내용 조직·</a:t>
            </a:r>
            <a:endParaRPr lang="en-US" sz="1100" dirty="0"/>
          </a:p>
          <a:p>
            <a:pPr indent="0" marL="0">
              <a:buNone/>
            </a:pPr>
            <a:r>
              <a:rPr lang="en-US" sz="1100" b="1" dirty="0">
                <a:solidFill>
                  <a:srgbClr val="33413A"/>
                </a:solidFill>
                <a:latin typeface="Malgun Gothic" pitchFamily="34" charset="0"/>
                <a:ea typeface="Malgun Gothic" pitchFamily="34" charset="-122"/>
                <a:cs typeface="Malgun Gothic" pitchFamily="34" charset="-120"/>
              </a:rPr>
              <a:t>교수방법 결정</a:t>
            </a:r>
            <a:endParaRPr lang="en-US" sz="1100" dirty="0"/>
          </a:p>
        </p:txBody>
      </p:sp>
      <p:sp>
        <p:nvSpPr>
          <p:cNvPr id="19" name="Shape 17"/>
          <p:cNvSpPr/>
          <p:nvPr/>
        </p:nvSpPr>
        <p:spPr>
          <a:xfrm>
            <a:off x="1071106" y="3742707"/>
            <a:ext cx="1554480" cy="603504"/>
          </a:xfrm>
          <a:prstGeom prst="roundRect">
            <a:avLst>
              <a:gd name="adj" fmla="val 22727"/>
            </a:avLst>
          </a:prstGeom>
          <a:solidFill>
            <a:srgbClr val="FFFFFF"/>
          </a:solidFill>
          <a:ln w="25400">
            <a:solidFill>
              <a:srgbClr val="E8A1A8"/>
            </a:solidFill>
            <a:prstDash val="solid"/>
          </a:ln>
        </p:spPr>
      </p:sp>
      <p:sp>
        <p:nvSpPr>
          <p:cNvPr id="20" name="Shape 18"/>
          <p:cNvSpPr/>
          <p:nvPr/>
        </p:nvSpPr>
        <p:spPr>
          <a:xfrm>
            <a:off x="1162546" y="3898155"/>
            <a:ext cx="292608" cy="292608"/>
          </a:xfrm>
          <a:prstGeom prst="ellipse">
            <a:avLst/>
          </a:prstGeom>
          <a:solidFill>
            <a:srgbClr val="E8A1A8"/>
          </a:solidFill>
          <a:ln/>
        </p:spPr>
      </p:sp>
      <p:sp>
        <p:nvSpPr>
          <p:cNvPr id="21" name="Text 19"/>
          <p:cNvSpPr txBox="1"/>
          <p:nvPr/>
        </p:nvSpPr>
        <p:spPr>
          <a:xfrm>
            <a:off x="1162546" y="389815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4</a:t>
            </a:r>
            <a:endParaRPr lang="en-US" sz="1100" dirty="0"/>
          </a:p>
        </p:txBody>
      </p:sp>
      <p:sp>
        <p:nvSpPr>
          <p:cNvPr id="22" name="Text 20"/>
          <p:cNvSpPr txBox="1"/>
          <p:nvPr/>
        </p:nvSpPr>
        <p:spPr>
          <a:xfrm>
            <a:off x="1528306" y="3742707"/>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평가</a:t>
            </a:r>
            <a:endParaRPr lang="en-US" sz="1100" dirty="0"/>
          </a:p>
        </p:txBody>
      </p:sp>
      <p:sp>
        <p:nvSpPr>
          <p:cNvPr id="23" name="Shape 21"/>
          <p:cNvSpPr/>
          <p:nvPr/>
        </p:nvSpPr>
        <p:spPr>
          <a:xfrm>
            <a:off x="489799" y="2260329"/>
            <a:ext cx="1554480" cy="603504"/>
          </a:xfrm>
          <a:prstGeom prst="roundRect">
            <a:avLst>
              <a:gd name="adj" fmla="val 22727"/>
            </a:avLst>
          </a:prstGeom>
          <a:solidFill>
            <a:srgbClr val="FFFFFF"/>
          </a:solidFill>
          <a:ln w="25400">
            <a:solidFill>
              <a:srgbClr val="A9CBB0"/>
            </a:solidFill>
            <a:prstDash val="solid"/>
          </a:ln>
        </p:spPr>
      </p:sp>
      <p:sp>
        <p:nvSpPr>
          <p:cNvPr id="24" name="Shape 22"/>
          <p:cNvSpPr/>
          <p:nvPr/>
        </p:nvSpPr>
        <p:spPr>
          <a:xfrm>
            <a:off x="581239" y="2415777"/>
            <a:ext cx="292608" cy="292608"/>
          </a:xfrm>
          <a:prstGeom prst="ellipse">
            <a:avLst/>
          </a:prstGeom>
          <a:solidFill>
            <a:srgbClr val="A9CBB0"/>
          </a:solidFill>
          <a:ln/>
        </p:spPr>
      </p:sp>
      <p:sp>
        <p:nvSpPr>
          <p:cNvPr id="25" name="Text 23"/>
          <p:cNvSpPr txBox="1"/>
          <p:nvPr/>
        </p:nvSpPr>
        <p:spPr>
          <a:xfrm>
            <a:off x="581239" y="2415777"/>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5</a:t>
            </a:r>
            <a:endParaRPr lang="en-US" sz="1100" dirty="0"/>
          </a:p>
        </p:txBody>
      </p:sp>
      <p:sp>
        <p:nvSpPr>
          <p:cNvPr id="26" name="Text 24"/>
          <p:cNvSpPr txBox="1"/>
          <p:nvPr/>
        </p:nvSpPr>
        <p:spPr>
          <a:xfrm>
            <a:off x="946999" y="2260329"/>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다음 계획에</a:t>
            </a:r>
            <a:endParaRPr lang="en-US" sz="1100" dirty="0"/>
          </a:p>
          <a:p>
            <a:pPr indent="0" marL="0">
              <a:buNone/>
            </a:pPr>
            <a:r>
              <a:rPr lang="en-US" sz="1100" b="1" dirty="0">
                <a:solidFill>
                  <a:srgbClr val="33413A"/>
                </a:solidFill>
                <a:latin typeface="Malgun Gothic" pitchFamily="34" charset="0"/>
                <a:ea typeface="Malgun Gothic" pitchFamily="34" charset="-122"/>
                <a:cs typeface="Malgun Gothic" pitchFamily="34" charset="-120"/>
              </a:rPr>
              <a:t>반영</a:t>
            </a:r>
            <a:endParaRPr lang="en-US" sz="1100" dirty="0"/>
          </a:p>
        </p:txBody>
      </p:sp>
      <p:sp>
        <p:nvSpPr>
          <p:cNvPr id="27" name="Shape 25"/>
          <p:cNvSpPr/>
          <p:nvPr/>
        </p:nvSpPr>
        <p:spPr>
          <a:xfrm>
            <a:off x="5394960" y="1280160"/>
            <a:ext cx="3291840" cy="1463040"/>
          </a:xfrm>
          <a:prstGeom prst="roundRect">
            <a:avLst>
              <a:gd name="adj" fmla="val 9375"/>
            </a:avLst>
          </a:prstGeom>
          <a:solidFill>
            <a:srgbClr val="DCEBDD"/>
          </a:solidFill>
          <a:ln/>
        </p:spPr>
      </p:sp>
      <p:sp>
        <p:nvSpPr>
          <p:cNvPr id="28" name="Text 26"/>
          <p:cNvSpPr txBox="1"/>
          <p:nvPr/>
        </p:nvSpPr>
        <p:spPr>
          <a:xfrm>
            <a:off x="5577840" y="1371600"/>
            <a:ext cx="292608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각 단계의 기준</a:t>
            </a:r>
            <a:endParaRPr lang="en-US" sz="1400" dirty="0"/>
          </a:p>
        </p:txBody>
      </p:sp>
      <p:sp>
        <p:nvSpPr>
          <p:cNvPr id="29" name="Text 27"/>
          <p:cNvSpPr txBox="1"/>
          <p:nvPr/>
        </p:nvSpPr>
        <p:spPr>
          <a:xfrm>
            <a:off x="5577840" y="1737360"/>
            <a:ext cx="3017520" cy="91440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목표: 기관의 철학에 부합</a:t>
            </a:r>
            <a:endParaRPr lang="en-US" sz="1200" dirty="0"/>
          </a:p>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내용: 목표 달성에 꼭 필요한 것</a:t>
            </a:r>
            <a:endParaRPr lang="en-US" sz="1200" dirty="0"/>
          </a:p>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방법: 영유아의 발달과 흥미에 적합</a:t>
            </a:r>
            <a:endParaRPr lang="en-US" sz="1200" dirty="0"/>
          </a:p>
        </p:txBody>
      </p:sp>
      <p:sp>
        <p:nvSpPr>
          <p:cNvPr id="30" name="Shape 28"/>
          <p:cNvSpPr/>
          <p:nvPr/>
        </p:nvSpPr>
        <p:spPr>
          <a:xfrm>
            <a:off x="5394960" y="2926080"/>
            <a:ext cx="3291840" cy="1417320"/>
          </a:xfrm>
          <a:prstGeom prst="roundRect">
            <a:avLst>
              <a:gd name="adj" fmla="val 9677"/>
            </a:avLst>
          </a:prstGeom>
          <a:solidFill>
            <a:srgbClr val="FDF3D6"/>
          </a:solidFill>
          <a:ln/>
        </p:spPr>
      </p:sp>
      <p:sp>
        <p:nvSpPr>
          <p:cNvPr id="31" name="Text 29"/>
          <p:cNvSpPr txBox="1"/>
          <p:nvPr/>
        </p:nvSpPr>
        <p:spPr>
          <a:xfrm>
            <a:off x="5577840" y="3017520"/>
            <a:ext cx="2926080" cy="320040"/>
          </a:xfrm>
          <a:prstGeom prst="rect">
            <a:avLst/>
          </a:prstGeom>
          <a:noFill/>
          <a:ln/>
        </p:spPr>
        <p:txBody>
          <a:bodyPr wrap="square" lIns="0" tIns="0" rIns="0" bIns="0" rtlCol="0" anchor="ctr"/>
          <a:lstStyle/>
          <a:p>
            <a:pPr indent="0" marL="0">
              <a:buNone/>
            </a:pPr>
            <a:r>
              <a:rPr lang="en-US" sz="1400" b="1" dirty="0">
                <a:solidFill>
                  <a:srgbClr val="B08A2E"/>
                </a:solidFill>
                <a:latin typeface="Malgun Gothic" pitchFamily="34" charset="0"/>
                <a:ea typeface="Malgun Gothic" pitchFamily="34" charset="-122"/>
                <a:cs typeface="Malgun Gothic" pitchFamily="34" charset="-120"/>
              </a:rPr>
              <a:t>타일러 모형의 영향</a:t>
            </a:r>
            <a:endParaRPr lang="en-US" sz="1400" dirty="0"/>
          </a:p>
        </p:txBody>
      </p:sp>
      <p:sp>
        <p:nvSpPr>
          <p:cNvPr id="32" name="Text 30"/>
          <p:cNvSpPr txBox="1"/>
          <p:nvPr/>
        </p:nvSpPr>
        <p:spPr>
          <a:xfrm>
            <a:off x="5577840" y="3383280"/>
            <a:ext cx="2971800" cy="8686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비판을 받으면서도 우리나라 초·중·고 교육과정의 기본 틀이 되었고, 교육과정 개념화에도 큰 영향을 미침</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구성의 특징 ①  ②</a:t>
            </a:r>
            <a:endParaRPr lang="en-US" sz="2800" dirty="0"/>
          </a:p>
        </p:txBody>
      </p:sp>
      <p:sp>
        <p:nvSpPr>
          <p:cNvPr id="5" name="Shape 3"/>
          <p:cNvSpPr/>
          <p:nvPr/>
        </p:nvSpPr>
        <p:spPr>
          <a:xfrm>
            <a:off x="457200" y="1097280"/>
            <a:ext cx="4023360" cy="3611880"/>
          </a:xfrm>
          <a:prstGeom prst="roundRect">
            <a:avLst>
              <a:gd name="adj" fmla="val 3797"/>
            </a:avLst>
          </a:prstGeom>
          <a:solidFill>
            <a:srgbClr val="FCE4D8"/>
          </a:solidFill>
          <a:ln/>
        </p:spPr>
      </p:sp>
      <p:sp>
        <p:nvSpPr>
          <p:cNvPr id="6" name="Text 4"/>
          <p:cNvSpPr txBox="1"/>
          <p:nvPr/>
        </p:nvSpPr>
        <p:spPr>
          <a:xfrm>
            <a:off x="640080" y="1188720"/>
            <a:ext cx="365760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① 교육내용 간의 통합</a:t>
            </a:r>
            <a:endParaRPr lang="en-US" sz="1600" dirty="0"/>
          </a:p>
        </p:txBody>
      </p:sp>
      <p:sp>
        <p:nvSpPr>
          <p:cNvPr id="7" name="Text 5"/>
          <p:cNvSpPr txBox="1"/>
          <p:nvPr/>
        </p:nvSpPr>
        <p:spPr>
          <a:xfrm>
            <a:off x="640080" y="1554480"/>
            <a:ext cx="36576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분리된 교과별 학습보다 통합된 경험으로 더 잘 배운다</a:t>
            </a:r>
            <a:endParaRPr lang="en-US" sz="1100" dirty="0"/>
          </a:p>
        </p:txBody>
      </p:sp>
      <p:sp>
        <p:nvSpPr>
          <p:cNvPr id="8" name="Shape 6"/>
          <p:cNvSpPr/>
          <p:nvPr/>
        </p:nvSpPr>
        <p:spPr>
          <a:xfrm>
            <a:off x="1280160" y="2240280"/>
            <a:ext cx="1188720" cy="868680"/>
          </a:xfrm>
          <a:prstGeom prst="line">
            <a:avLst/>
          </a:prstGeom>
          <a:noFill/>
          <a:ln w="25400">
            <a:solidFill>
              <a:srgbClr val="F2A27E"/>
            </a:solidFill>
            <a:prstDash val="solid"/>
          </a:ln>
        </p:spPr>
      </p:sp>
      <p:sp>
        <p:nvSpPr>
          <p:cNvPr id="9" name="Shape 7"/>
          <p:cNvSpPr/>
          <p:nvPr/>
        </p:nvSpPr>
        <p:spPr>
          <a:xfrm flipH="1">
            <a:off x="2468880" y="2240280"/>
            <a:ext cx="1188720" cy="868680"/>
          </a:xfrm>
          <a:prstGeom prst="line">
            <a:avLst/>
          </a:prstGeom>
          <a:noFill/>
          <a:ln w="25400">
            <a:solidFill>
              <a:srgbClr val="F2A27E"/>
            </a:solidFill>
            <a:prstDash val="solid"/>
          </a:ln>
        </p:spPr>
      </p:sp>
      <p:sp>
        <p:nvSpPr>
          <p:cNvPr id="10" name="Shape 8"/>
          <p:cNvSpPr/>
          <p:nvPr/>
        </p:nvSpPr>
        <p:spPr>
          <a:xfrm>
            <a:off x="2468880" y="3108960"/>
            <a:ext cx="0" cy="1051560"/>
          </a:xfrm>
          <a:prstGeom prst="line">
            <a:avLst/>
          </a:prstGeom>
          <a:noFill/>
          <a:ln w="25400">
            <a:solidFill>
              <a:srgbClr val="F2A27E"/>
            </a:solidFill>
            <a:prstDash val="solid"/>
          </a:ln>
        </p:spPr>
      </p:sp>
      <p:sp>
        <p:nvSpPr>
          <p:cNvPr id="11" name="Shape 9"/>
          <p:cNvSpPr/>
          <p:nvPr/>
        </p:nvSpPr>
        <p:spPr>
          <a:xfrm>
            <a:off x="1920240" y="2697480"/>
            <a:ext cx="1097280" cy="822960"/>
          </a:xfrm>
          <a:prstGeom prst="ellipse">
            <a:avLst/>
          </a:prstGeom>
          <a:solidFill>
            <a:srgbClr val="F2A27E"/>
          </a:solidFill>
          <a:ln/>
        </p:spPr>
      </p:sp>
      <p:sp>
        <p:nvSpPr>
          <p:cNvPr id="12" name="Text 10"/>
          <p:cNvSpPr txBox="1"/>
          <p:nvPr/>
        </p:nvSpPr>
        <p:spPr>
          <a:xfrm>
            <a:off x="1920240" y="2697480"/>
            <a:ext cx="1097280"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주제</a:t>
            </a:r>
            <a:endParaRPr lang="en-US" sz="1300" dirty="0"/>
          </a:p>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'가을'</a:t>
            </a:r>
            <a:endParaRPr lang="en-US" sz="1300" dirty="0"/>
          </a:p>
        </p:txBody>
      </p:sp>
      <p:sp>
        <p:nvSpPr>
          <p:cNvPr id="13" name="Shape 11"/>
          <p:cNvSpPr/>
          <p:nvPr/>
        </p:nvSpPr>
        <p:spPr>
          <a:xfrm>
            <a:off x="640080" y="1965960"/>
            <a:ext cx="1280160" cy="548640"/>
          </a:xfrm>
          <a:prstGeom prst="roundRect">
            <a:avLst>
              <a:gd name="adj" fmla="val 20000"/>
            </a:avLst>
          </a:prstGeom>
          <a:solidFill>
            <a:srgbClr val="FFFFFF"/>
          </a:solidFill>
          <a:ln w="19050">
            <a:solidFill>
              <a:srgbClr val="F2A27E"/>
            </a:solidFill>
            <a:prstDash val="solid"/>
          </a:ln>
        </p:spPr>
      </p:sp>
      <p:sp>
        <p:nvSpPr>
          <p:cNvPr id="14" name="Text 12"/>
          <p:cNvSpPr txBox="1"/>
          <p:nvPr/>
        </p:nvSpPr>
        <p:spPr>
          <a:xfrm>
            <a:off x="640080" y="196596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가을 과일</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만들기</a:t>
            </a:r>
            <a:endParaRPr lang="en-US" sz="1100" dirty="0"/>
          </a:p>
        </p:txBody>
      </p:sp>
      <p:sp>
        <p:nvSpPr>
          <p:cNvPr id="15" name="Shape 13"/>
          <p:cNvSpPr/>
          <p:nvPr/>
        </p:nvSpPr>
        <p:spPr>
          <a:xfrm>
            <a:off x="3017520" y="1965960"/>
            <a:ext cx="1280160" cy="548640"/>
          </a:xfrm>
          <a:prstGeom prst="roundRect">
            <a:avLst>
              <a:gd name="adj" fmla="val 20000"/>
            </a:avLst>
          </a:prstGeom>
          <a:solidFill>
            <a:srgbClr val="FFFFFF"/>
          </a:solidFill>
          <a:ln w="19050">
            <a:solidFill>
              <a:srgbClr val="F2A27E"/>
            </a:solidFill>
            <a:prstDash val="solid"/>
          </a:ln>
        </p:spPr>
      </p:sp>
      <p:sp>
        <p:nvSpPr>
          <p:cNvPr id="16" name="Text 14"/>
          <p:cNvSpPr txBox="1"/>
          <p:nvPr/>
        </p:nvSpPr>
        <p:spPr>
          <a:xfrm>
            <a:off x="3017520" y="196596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과일가게</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놀이</a:t>
            </a:r>
            <a:endParaRPr lang="en-US" sz="1100" dirty="0"/>
          </a:p>
        </p:txBody>
      </p:sp>
      <p:sp>
        <p:nvSpPr>
          <p:cNvPr id="17" name="Shape 15"/>
          <p:cNvSpPr/>
          <p:nvPr/>
        </p:nvSpPr>
        <p:spPr>
          <a:xfrm>
            <a:off x="1828800" y="3886200"/>
            <a:ext cx="1280160" cy="548640"/>
          </a:xfrm>
          <a:prstGeom prst="roundRect">
            <a:avLst>
              <a:gd name="adj" fmla="val 20000"/>
            </a:avLst>
          </a:prstGeom>
          <a:solidFill>
            <a:srgbClr val="FFFFFF"/>
          </a:solidFill>
          <a:ln w="19050">
            <a:solidFill>
              <a:srgbClr val="F2A27E"/>
            </a:solidFill>
            <a:prstDash val="solid"/>
          </a:ln>
        </p:spPr>
      </p:sp>
      <p:sp>
        <p:nvSpPr>
          <p:cNvPr id="18" name="Text 16"/>
          <p:cNvSpPr txBox="1"/>
          <p:nvPr/>
        </p:nvSpPr>
        <p:spPr>
          <a:xfrm>
            <a:off x="1828800" y="388620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간판·가격표</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쓰기</a:t>
            </a:r>
            <a:endParaRPr lang="en-US" sz="1100" dirty="0"/>
          </a:p>
        </p:txBody>
      </p:sp>
      <p:sp>
        <p:nvSpPr>
          <p:cNvPr id="19" name="Shape 17"/>
          <p:cNvSpPr/>
          <p:nvPr/>
        </p:nvSpPr>
        <p:spPr>
          <a:xfrm>
            <a:off x="4663440" y="1097280"/>
            <a:ext cx="4023360" cy="3611880"/>
          </a:xfrm>
          <a:prstGeom prst="roundRect">
            <a:avLst>
              <a:gd name="adj" fmla="val 3797"/>
            </a:avLst>
          </a:prstGeom>
          <a:solidFill>
            <a:srgbClr val="DCEBDD"/>
          </a:solidFill>
          <a:ln/>
        </p:spPr>
      </p:sp>
      <p:sp>
        <p:nvSpPr>
          <p:cNvPr id="20" name="Text 18"/>
          <p:cNvSpPr txBox="1"/>
          <p:nvPr/>
        </p:nvSpPr>
        <p:spPr>
          <a:xfrm>
            <a:off x="4846320" y="1188720"/>
            <a:ext cx="365760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② 놀이 중심 교육과정으로 운영</a:t>
            </a:r>
            <a:endParaRPr lang="en-US" sz="1600" dirty="0"/>
          </a:p>
        </p:txBody>
      </p:sp>
      <p:sp>
        <p:nvSpPr>
          <p:cNvPr id="21" name="Text 19"/>
          <p:cNvSpPr txBox="1"/>
          <p:nvPr/>
        </p:nvSpPr>
        <p:spPr>
          <a:xfrm>
            <a:off x="4846320" y="1554480"/>
            <a:ext cx="36576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유아와 놀이를 최우선으로 존중</a:t>
            </a:r>
            <a:endParaRPr lang="en-US" sz="1100" dirty="0"/>
          </a:p>
        </p:txBody>
      </p:sp>
      <p:sp>
        <p:nvSpPr>
          <p:cNvPr id="22" name="Shape 20"/>
          <p:cNvSpPr/>
          <p:nvPr/>
        </p:nvSpPr>
        <p:spPr>
          <a:xfrm>
            <a:off x="4892040" y="2011680"/>
            <a:ext cx="457200" cy="457200"/>
          </a:xfrm>
          <a:prstGeom prst="ellipse">
            <a:avLst/>
          </a:prstGeom>
          <a:solidFill>
            <a:srgbClr val="5E8C6A"/>
          </a:solidFill>
          <a:ln/>
        </p:spPr>
      </p:sp>
      <p:pic>
        <p:nvPicPr>
          <p:cNvPr id="23" name="Image 0" descr="preencoded.png">    </p:cNvPr>
          <p:cNvPicPr>
            <a:picLocks noChangeAspect="1"/>
          </p:cNvPicPr>
          <p:nvPr/>
        </p:nvPicPr>
        <p:blipFill>
          <a:blip r:embed="rId1"/>
          <a:stretch>
            <a:fillRect/>
          </a:stretch>
        </p:blipFill>
        <p:spPr>
          <a:xfrm>
            <a:off x="5006340" y="2125980"/>
            <a:ext cx="228600" cy="228600"/>
          </a:xfrm>
          <a:prstGeom prst="rect">
            <a:avLst/>
          </a:prstGeom>
        </p:spPr>
      </p:pic>
      <p:sp>
        <p:nvSpPr>
          <p:cNvPr id="24" name="Text 21"/>
          <p:cNvSpPr txBox="1"/>
          <p:nvPr/>
        </p:nvSpPr>
        <p:spPr>
          <a:xfrm>
            <a:off x="5486400" y="196596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충분한 놀이시간 확보</a:t>
            </a:r>
            <a:endParaRPr lang="en-US" sz="1300" dirty="0"/>
          </a:p>
        </p:txBody>
      </p:sp>
      <p:sp>
        <p:nvSpPr>
          <p:cNvPr id="25" name="Shape 22"/>
          <p:cNvSpPr/>
          <p:nvPr/>
        </p:nvSpPr>
        <p:spPr>
          <a:xfrm>
            <a:off x="4892040" y="2651760"/>
            <a:ext cx="457200" cy="457200"/>
          </a:xfrm>
          <a:prstGeom prst="ellipse">
            <a:avLst/>
          </a:prstGeom>
          <a:solidFill>
            <a:srgbClr val="5E8C6A"/>
          </a:solidFill>
          <a:ln/>
        </p:spPr>
      </p:sp>
      <p:pic>
        <p:nvPicPr>
          <p:cNvPr id="26" name="Image 1" descr="preencoded.png">    </p:cNvPr>
          <p:cNvPicPr>
            <a:picLocks noChangeAspect="1"/>
          </p:cNvPicPr>
          <p:nvPr/>
        </p:nvPicPr>
        <p:blipFill>
          <a:blip r:embed="rId2"/>
          <a:stretch>
            <a:fillRect/>
          </a:stretch>
        </p:blipFill>
        <p:spPr>
          <a:xfrm>
            <a:off x="5006340" y="2766060"/>
            <a:ext cx="228600" cy="228600"/>
          </a:xfrm>
          <a:prstGeom prst="rect">
            <a:avLst/>
          </a:prstGeom>
        </p:spPr>
      </p:pic>
      <p:sp>
        <p:nvSpPr>
          <p:cNvPr id="27" name="Text 23"/>
          <p:cNvSpPr txBox="1"/>
          <p:nvPr/>
        </p:nvSpPr>
        <p:spPr>
          <a:xfrm>
            <a:off x="5486400" y="260604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유아 스스로 놀이하며 배움</a:t>
            </a:r>
            <a:endParaRPr lang="en-US" sz="1300" dirty="0"/>
          </a:p>
        </p:txBody>
      </p:sp>
      <p:sp>
        <p:nvSpPr>
          <p:cNvPr id="28" name="Shape 24"/>
          <p:cNvSpPr/>
          <p:nvPr/>
        </p:nvSpPr>
        <p:spPr>
          <a:xfrm>
            <a:off x="4892040" y="3291840"/>
            <a:ext cx="457200" cy="457200"/>
          </a:xfrm>
          <a:prstGeom prst="ellipse">
            <a:avLst/>
          </a:prstGeom>
          <a:solidFill>
            <a:srgbClr val="5E8C6A"/>
          </a:solidFill>
          <a:ln/>
        </p:spPr>
      </p:sp>
      <p:pic>
        <p:nvPicPr>
          <p:cNvPr id="29" name="Image 2" descr="preencoded.png">    </p:cNvPr>
          <p:cNvPicPr>
            <a:picLocks noChangeAspect="1"/>
          </p:cNvPicPr>
          <p:nvPr/>
        </p:nvPicPr>
        <p:blipFill>
          <a:blip r:embed="rId3"/>
          <a:stretch>
            <a:fillRect/>
          </a:stretch>
        </p:blipFill>
        <p:spPr>
          <a:xfrm>
            <a:off x="5006340" y="3406140"/>
            <a:ext cx="228600" cy="228600"/>
          </a:xfrm>
          <a:prstGeom prst="rect">
            <a:avLst/>
          </a:prstGeom>
        </p:spPr>
      </p:pic>
      <p:sp>
        <p:nvSpPr>
          <p:cNvPr id="30" name="Text 25"/>
          <p:cNvSpPr txBox="1"/>
          <p:nvPr/>
        </p:nvSpPr>
        <p:spPr>
          <a:xfrm>
            <a:off x="5486400" y="324612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바깥놀이·자연물 놀이 장려</a:t>
            </a:r>
            <a:endParaRPr lang="en-US" sz="1300" dirty="0"/>
          </a:p>
        </p:txBody>
      </p:sp>
      <p:sp>
        <p:nvSpPr>
          <p:cNvPr id="31" name="Shape 26"/>
          <p:cNvSpPr/>
          <p:nvPr/>
        </p:nvSpPr>
        <p:spPr>
          <a:xfrm>
            <a:off x="4892040" y="3931920"/>
            <a:ext cx="457200" cy="457200"/>
          </a:xfrm>
          <a:prstGeom prst="ellipse">
            <a:avLst/>
          </a:prstGeom>
          <a:solidFill>
            <a:srgbClr val="5E8C6A"/>
          </a:solidFill>
          <a:ln/>
        </p:spPr>
      </p:sp>
      <p:pic>
        <p:nvPicPr>
          <p:cNvPr id="32" name="Image 3" descr="preencoded.png">    </p:cNvPr>
          <p:cNvPicPr>
            <a:picLocks noChangeAspect="1"/>
          </p:cNvPicPr>
          <p:nvPr/>
        </p:nvPicPr>
        <p:blipFill>
          <a:blip r:embed="rId4"/>
          <a:stretch>
            <a:fillRect/>
          </a:stretch>
        </p:blipFill>
        <p:spPr>
          <a:xfrm>
            <a:off x="5006340" y="4046220"/>
            <a:ext cx="228600" cy="228600"/>
          </a:xfrm>
          <a:prstGeom prst="rect">
            <a:avLst/>
          </a:prstGeom>
        </p:spPr>
      </p:pic>
      <p:sp>
        <p:nvSpPr>
          <p:cNvPr id="33" name="Text 27"/>
          <p:cNvSpPr txBox="1"/>
          <p:nvPr/>
        </p:nvSpPr>
        <p:spPr>
          <a:xfrm>
            <a:off x="5486400" y="3886200"/>
            <a:ext cx="3063240" cy="5486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교사 = 놀이지원자</a:t>
            </a:r>
            <a:endParaRPr lang="en-US" sz="1300" dirty="0"/>
          </a:p>
          <a:p>
            <a:pPr indent="0" marL="0">
              <a:buNone/>
            </a:pPr>
            <a:r>
              <a:rPr lang="en-US" sz="1300" b="1" dirty="0">
                <a:solidFill>
                  <a:srgbClr val="33413A"/>
                </a:solidFill>
                <a:latin typeface="Malgun Gothic" pitchFamily="34" charset="0"/>
                <a:ea typeface="Malgun Gothic" pitchFamily="34" charset="-122"/>
                <a:cs typeface="Malgun Gothic" pitchFamily="34" charset="-120"/>
              </a:rPr>
              <a:t>(관찰·지원·상호작용)</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구성의 특징 ③  ④</a:t>
            </a:r>
            <a:endParaRPr lang="en-US" sz="2800" dirty="0"/>
          </a:p>
        </p:txBody>
      </p:sp>
      <p:sp>
        <p:nvSpPr>
          <p:cNvPr id="5" name="Shape 3"/>
          <p:cNvSpPr/>
          <p:nvPr/>
        </p:nvSpPr>
        <p:spPr>
          <a:xfrm>
            <a:off x="457200" y="1097280"/>
            <a:ext cx="4023360" cy="3611880"/>
          </a:xfrm>
          <a:prstGeom prst="roundRect">
            <a:avLst>
              <a:gd name="adj" fmla="val 3797"/>
            </a:avLst>
          </a:prstGeom>
          <a:solidFill>
            <a:srgbClr val="FDF3D6"/>
          </a:solidFill>
          <a:ln/>
        </p:spPr>
      </p:sp>
      <p:sp>
        <p:nvSpPr>
          <p:cNvPr id="6" name="Text 4"/>
          <p:cNvSpPr txBox="1"/>
          <p:nvPr/>
        </p:nvSpPr>
        <p:spPr>
          <a:xfrm>
            <a:off x="640080" y="1188720"/>
            <a:ext cx="374904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③ 흥미와 요구를 반영한 교육적 경험</a:t>
            </a:r>
            <a:endParaRPr lang="en-US" sz="1600" dirty="0"/>
          </a:p>
        </p:txBody>
      </p:sp>
      <p:sp>
        <p:nvSpPr>
          <p:cNvPr id="7" name="Shape 5"/>
          <p:cNvSpPr/>
          <p:nvPr/>
        </p:nvSpPr>
        <p:spPr>
          <a:xfrm>
            <a:off x="640080" y="1645920"/>
            <a:ext cx="3657600" cy="411480"/>
          </a:xfrm>
          <a:prstGeom prst="roundRect">
            <a:avLst>
              <a:gd name="adj" fmla="val 44444"/>
            </a:avLst>
          </a:prstGeom>
          <a:solidFill>
            <a:srgbClr val="FFFFFF"/>
          </a:solidFill>
          <a:ln w="19050">
            <a:solidFill>
              <a:srgbClr val="E8A1A8"/>
            </a:solidFill>
            <a:prstDash val="solid"/>
          </a:ln>
        </p:spPr>
      </p:sp>
      <p:sp>
        <p:nvSpPr>
          <p:cNvPr id="8" name="Text 6"/>
          <p:cNvSpPr txBox="1"/>
          <p:nvPr/>
        </p:nvSpPr>
        <p:spPr>
          <a:xfrm>
            <a:off x="640080" y="1645920"/>
            <a:ext cx="3657600" cy="411480"/>
          </a:xfrm>
          <a:prstGeom prst="rect">
            <a:avLst/>
          </a:prstGeom>
          <a:noFill/>
          <a:ln/>
        </p:spPr>
        <p:txBody>
          <a:bodyPr wrap="square" lIns="0" tIns="0" rIns="0" bIns="0" rtlCol="0" anchor="ctr"/>
          <a:lstStyle/>
          <a:p>
            <a:pPr algn="ctr" indent="0" marL="0">
              <a:buNone/>
            </a:pPr>
            <a:r>
              <a:rPr lang="en-US" sz="1200" b="1" dirty="0">
                <a:solidFill>
                  <a:srgbClr val="B45A64"/>
                </a:solidFill>
                <a:latin typeface="Malgun Gothic" pitchFamily="34" charset="0"/>
                <a:ea typeface="Malgun Gothic" pitchFamily="34" charset="-122"/>
                <a:cs typeface="Malgun Gothic" pitchFamily="34" charset="-120"/>
              </a:rPr>
              <a:t>주의! '좋아하는 것 = 좋은 교육과정'은 아님</a:t>
            </a:r>
            <a:endParaRPr lang="en-US" sz="1200" dirty="0"/>
          </a:p>
        </p:txBody>
      </p:sp>
      <p:sp>
        <p:nvSpPr>
          <p:cNvPr id="9" name="Shape 7"/>
          <p:cNvSpPr/>
          <p:nvPr/>
        </p:nvSpPr>
        <p:spPr>
          <a:xfrm>
            <a:off x="822960" y="2240280"/>
            <a:ext cx="3291840" cy="420624"/>
          </a:xfrm>
          <a:prstGeom prst="roundRect">
            <a:avLst>
              <a:gd name="adj" fmla="val 26087"/>
            </a:avLst>
          </a:prstGeom>
          <a:solidFill>
            <a:srgbClr val="FFFFFF"/>
          </a:solidFill>
          <a:ln/>
        </p:spPr>
      </p:sp>
      <p:sp>
        <p:nvSpPr>
          <p:cNvPr id="10" name="Text 8"/>
          <p:cNvSpPr txBox="1"/>
          <p:nvPr/>
        </p:nvSpPr>
        <p:spPr>
          <a:xfrm>
            <a:off x="822960" y="2240280"/>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영유아의 흥미 존중 + 발달적 요구</a:t>
            </a:r>
            <a:endParaRPr lang="en-US" sz="1200" dirty="0"/>
          </a:p>
        </p:txBody>
      </p:sp>
      <p:sp>
        <p:nvSpPr>
          <p:cNvPr id="11" name="Text 9"/>
          <p:cNvSpPr txBox="1"/>
          <p:nvPr/>
        </p:nvSpPr>
        <p:spPr>
          <a:xfrm>
            <a:off x="822960" y="2660904"/>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822960" y="2843784"/>
            <a:ext cx="3291840" cy="420624"/>
          </a:xfrm>
          <a:prstGeom prst="roundRect">
            <a:avLst>
              <a:gd name="adj" fmla="val 26087"/>
            </a:avLst>
          </a:prstGeom>
          <a:solidFill>
            <a:srgbClr val="FFFFFF"/>
          </a:solidFill>
          <a:ln/>
        </p:spPr>
      </p:sp>
      <p:sp>
        <p:nvSpPr>
          <p:cNvPr id="13" name="Text 11"/>
          <p:cNvSpPr txBox="1"/>
          <p:nvPr/>
        </p:nvSpPr>
        <p:spPr>
          <a:xfrm>
            <a:off x="822960" y="2843784"/>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교사의 주의 깊은 관찰·평가</a:t>
            </a:r>
            <a:endParaRPr lang="en-US" sz="1200" dirty="0"/>
          </a:p>
        </p:txBody>
      </p:sp>
      <p:sp>
        <p:nvSpPr>
          <p:cNvPr id="14" name="Text 12"/>
          <p:cNvSpPr txBox="1"/>
          <p:nvPr/>
        </p:nvSpPr>
        <p:spPr>
          <a:xfrm>
            <a:off x="822960" y="3264408"/>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822960" y="3447288"/>
            <a:ext cx="3291840" cy="420624"/>
          </a:xfrm>
          <a:prstGeom prst="roundRect">
            <a:avLst>
              <a:gd name="adj" fmla="val 26087"/>
            </a:avLst>
          </a:prstGeom>
          <a:solidFill>
            <a:srgbClr val="FFFFFF"/>
          </a:solidFill>
          <a:ln/>
        </p:spPr>
      </p:sp>
      <p:sp>
        <p:nvSpPr>
          <p:cNvPr id="16" name="Text 14"/>
          <p:cNvSpPr txBox="1"/>
          <p:nvPr/>
        </p:nvSpPr>
        <p:spPr>
          <a:xfrm>
            <a:off x="822960" y="3447288"/>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의미 있는 주제·놀이 선별</a:t>
            </a:r>
            <a:endParaRPr lang="en-US" sz="1200" dirty="0"/>
          </a:p>
        </p:txBody>
      </p:sp>
      <p:sp>
        <p:nvSpPr>
          <p:cNvPr id="17" name="Text 15"/>
          <p:cNvSpPr txBox="1"/>
          <p:nvPr/>
        </p:nvSpPr>
        <p:spPr>
          <a:xfrm>
            <a:off x="822960" y="3867912"/>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22960" y="4050792"/>
            <a:ext cx="3291840" cy="420624"/>
          </a:xfrm>
          <a:prstGeom prst="roundRect">
            <a:avLst>
              <a:gd name="adj" fmla="val 26087"/>
            </a:avLst>
          </a:prstGeom>
          <a:solidFill>
            <a:srgbClr val="F5D07A"/>
          </a:solidFill>
          <a:ln/>
        </p:spPr>
      </p:sp>
      <p:sp>
        <p:nvSpPr>
          <p:cNvPr id="19" name="Text 17"/>
          <p:cNvSpPr txBox="1"/>
          <p:nvPr/>
        </p:nvSpPr>
        <p:spPr>
          <a:xfrm>
            <a:off x="822960" y="4050792"/>
            <a:ext cx="3291840" cy="420624"/>
          </a:xfrm>
          <a:prstGeom prst="rect">
            <a:avLst/>
          </a:prstGeom>
          <a:noFill/>
          <a:ln/>
        </p:spPr>
        <p:txBody>
          <a:bodyPr wrap="square" lIns="0" tIns="0" rIns="0" bIns="0" rtlCol="0" anchor="ctr"/>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교육적 활동으로 연결</a:t>
            </a:r>
            <a:endParaRPr lang="en-US" sz="1200" dirty="0"/>
          </a:p>
        </p:txBody>
      </p:sp>
      <p:sp>
        <p:nvSpPr>
          <p:cNvPr id="20" name="Shape 18"/>
          <p:cNvSpPr/>
          <p:nvPr/>
        </p:nvSpPr>
        <p:spPr>
          <a:xfrm>
            <a:off x="4663440" y="1097280"/>
            <a:ext cx="4023360" cy="3611880"/>
          </a:xfrm>
          <a:prstGeom prst="roundRect">
            <a:avLst>
              <a:gd name="adj" fmla="val 3797"/>
            </a:avLst>
          </a:prstGeom>
          <a:solidFill>
            <a:srgbClr val="F9E1E3"/>
          </a:solidFill>
          <a:ln/>
        </p:spPr>
      </p:sp>
      <p:sp>
        <p:nvSpPr>
          <p:cNvPr id="21" name="Text 19"/>
          <p:cNvSpPr txBox="1"/>
          <p:nvPr/>
        </p:nvSpPr>
        <p:spPr>
          <a:xfrm>
            <a:off x="4846320" y="1188720"/>
            <a:ext cx="374904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④ 개인차와 문화적 특성 등 다양성 반영</a:t>
            </a:r>
            <a:endParaRPr lang="en-US" sz="1600" dirty="0"/>
          </a:p>
        </p:txBody>
      </p:sp>
      <p:sp>
        <p:nvSpPr>
          <p:cNvPr id="22" name="Shape 20"/>
          <p:cNvSpPr/>
          <p:nvPr/>
        </p:nvSpPr>
        <p:spPr>
          <a:xfrm>
            <a:off x="4846320" y="1691640"/>
            <a:ext cx="868680" cy="347472"/>
          </a:xfrm>
          <a:prstGeom prst="roundRect">
            <a:avLst>
              <a:gd name="adj" fmla="val 50000"/>
            </a:avLst>
          </a:prstGeom>
          <a:solidFill>
            <a:srgbClr val="FFFFFF"/>
          </a:solidFill>
          <a:ln/>
        </p:spPr>
      </p:sp>
      <p:sp>
        <p:nvSpPr>
          <p:cNvPr id="23" name="Text 21"/>
          <p:cNvSpPr txBox="1"/>
          <p:nvPr/>
        </p:nvSpPr>
        <p:spPr>
          <a:xfrm>
            <a:off x="4846320" y="1691640"/>
            <a:ext cx="86868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발달 특성</a:t>
            </a:r>
            <a:endParaRPr lang="en-US" sz="1100" dirty="0"/>
          </a:p>
        </p:txBody>
      </p:sp>
      <p:sp>
        <p:nvSpPr>
          <p:cNvPr id="24" name="Shape 22"/>
          <p:cNvSpPr/>
          <p:nvPr/>
        </p:nvSpPr>
        <p:spPr>
          <a:xfrm>
            <a:off x="5806440" y="1691640"/>
            <a:ext cx="685800" cy="347472"/>
          </a:xfrm>
          <a:prstGeom prst="roundRect">
            <a:avLst>
              <a:gd name="adj" fmla="val 50000"/>
            </a:avLst>
          </a:prstGeom>
          <a:solidFill>
            <a:srgbClr val="FFFFFF"/>
          </a:solidFill>
          <a:ln/>
        </p:spPr>
      </p:sp>
      <p:sp>
        <p:nvSpPr>
          <p:cNvPr id="25" name="Text 23"/>
          <p:cNvSpPr txBox="1"/>
          <p:nvPr/>
        </p:nvSpPr>
        <p:spPr>
          <a:xfrm>
            <a:off x="5806440" y="1691640"/>
            <a:ext cx="68580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개인차</a:t>
            </a:r>
            <a:endParaRPr lang="en-US" sz="1100" dirty="0"/>
          </a:p>
        </p:txBody>
      </p:sp>
      <p:sp>
        <p:nvSpPr>
          <p:cNvPr id="26" name="Shape 24"/>
          <p:cNvSpPr/>
          <p:nvPr/>
        </p:nvSpPr>
        <p:spPr>
          <a:xfrm>
            <a:off x="6583680" y="1691640"/>
            <a:ext cx="548640" cy="347472"/>
          </a:xfrm>
          <a:prstGeom prst="roundRect">
            <a:avLst>
              <a:gd name="adj" fmla="val 50000"/>
            </a:avLst>
          </a:prstGeom>
          <a:solidFill>
            <a:srgbClr val="FFFFFF"/>
          </a:solidFill>
          <a:ln/>
        </p:spPr>
      </p:sp>
      <p:sp>
        <p:nvSpPr>
          <p:cNvPr id="27" name="Text 25"/>
          <p:cNvSpPr txBox="1"/>
          <p:nvPr/>
        </p:nvSpPr>
        <p:spPr>
          <a:xfrm>
            <a:off x="6583680" y="1691640"/>
            <a:ext cx="54864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기질</a:t>
            </a:r>
            <a:endParaRPr lang="en-US" sz="1100" dirty="0"/>
          </a:p>
        </p:txBody>
      </p:sp>
      <p:sp>
        <p:nvSpPr>
          <p:cNvPr id="28" name="Shape 26"/>
          <p:cNvSpPr/>
          <p:nvPr/>
        </p:nvSpPr>
        <p:spPr>
          <a:xfrm>
            <a:off x="7223760" y="1691640"/>
            <a:ext cx="1325880" cy="347472"/>
          </a:xfrm>
          <a:prstGeom prst="roundRect">
            <a:avLst>
              <a:gd name="adj" fmla="val 50000"/>
            </a:avLst>
          </a:prstGeom>
          <a:solidFill>
            <a:srgbClr val="FFFFFF"/>
          </a:solidFill>
          <a:ln/>
        </p:spPr>
      </p:sp>
      <p:sp>
        <p:nvSpPr>
          <p:cNvPr id="29" name="Text 27"/>
          <p:cNvSpPr txBox="1"/>
          <p:nvPr/>
        </p:nvSpPr>
        <p:spPr>
          <a:xfrm>
            <a:off x="7223760" y="1691640"/>
            <a:ext cx="132588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사회문화적 배경</a:t>
            </a:r>
            <a:endParaRPr lang="en-US" sz="1100" dirty="0"/>
          </a:p>
        </p:txBody>
      </p:sp>
      <p:sp>
        <p:nvSpPr>
          <p:cNvPr id="30" name="Shape 28"/>
          <p:cNvSpPr/>
          <p:nvPr/>
        </p:nvSpPr>
        <p:spPr>
          <a:xfrm>
            <a:off x="4892040" y="2331720"/>
            <a:ext cx="457200" cy="457200"/>
          </a:xfrm>
          <a:prstGeom prst="ellipse">
            <a:avLst/>
          </a:prstGeom>
          <a:solidFill>
            <a:srgbClr val="E8A1A8"/>
          </a:solidFill>
          <a:ln/>
        </p:spPr>
      </p:sp>
      <p:pic>
        <p:nvPicPr>
          <p:cNvPr id="31" name="Image 0" descr="preencoded.png">    </p:cNvPr>
          <p:cNvPicPr>
            <a:picLocks noChangeAspect="1"/>
          </p:cNvPicPr>
          <p:nvPr/>
        </p:nvPicPr>
        <p:blipFill>
          <a:blip r:embed="rId1"/>
          <a:stretch>
            <a:fillRect/>
          </a:stretch>
        </p:blipFill>
        <p:spPr>
          <a:xfrm>
            <a:off x="5006340" y="2446020"/>
            <a:ext cx="228600" cy="228600"/>
          </a:xfrm>
          <a:prstGeom prst="rect">
            <a:avLst/>
          </a:prstGeom>
        </p:spPr>
      </p:pic>
      <p:sp>
        <p:nvSpPr>
          <p:cNvPr id="32" name="Text 29"/>
          <p:cNvSpPr txBox="1"/>
          <p:nvPr/>
        </p:nvSpPr>
        <p:spPr>
          <a:xfrm>
            <a:off x="5486400" y="228600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영아</a:t>
            </a:r>
            <a:endParaRPr lang="en-US" sz="1100" dirty="0"/>
          </a:p>
        </p:txBody>
      </p:sp>
      <p:sp>
        <p:nvSpPr>
          <p:cNvPr id="33" name="Text 30"/>
          <p:cNvSpPr txBox="1"/>
          <p:nvPr/>
        </p:nvSpPr>
        <p:spPr>
          <a:xfrm>
            <a:off x="5486400" y="254203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개인별 보육계획 수립</a:t>
            </a:r>
            <a:endParaRPr lang="en-US" sz="1300" dirty="0"/>
          </a:p>
        </p:txBody>
      </p:sp>
      <p:sp>
        <p:nvSpPr>
          <p:cNvPr id="34" name="Shape 31"/>
          <p:cNvSpPr/>
          <p:nvPr/>
        </p:nvSpPr>
        <p:spPr>
          <a:xfrm>
            <a:off x="4892040" y="3108960"/>
            <a:ext cx="457200" cy="457200"/>
          </a:xfrm>
          <a:prstGeom prst="ellipse">
            <a:avLst/>
          </a:prstGeom>
          <a:solidFill>
            <a:srgbClr val="E8A1A8"/>
          </a:solidFill>
          <a:ln/>
        </p:spPr>
      </p:sp>
      <p:pic>
        <p:nvPicPr>
          <p:cNvPr id="35" name="Image 1" descr="preencoded.png">    </p:cNvPr>
          <p:cNvPicPr>
            <a:picLocks noChangeAspect="1"/>
          </p:cNvPicPr>
          <p:nvPr/>
        </p:nvPicPr>
        <p:blipFill>
          <a:blip r:embed="rId2"/>
          <a:stretch>
            <a:fillRect/>
          </a:stretch>
        </p:blipFill>
        <p:spPr>
          <a:xfrm>
            <a:off x="5006340" y="3223260"/>
            <a:ext cx="228600" cy="228600"/>
          </a:xfrm>
          <a:prstGeom prst="rect">
            <a:avLst/>
          </a:prstGeom>
        </p:spPr>
      </p:pic>
      <p:sp>
        <p:nvSpPr>
          <p:cNvPr id="36" name="Text 32"/>
          <p:cNvSpPr txBox="1"/>
          <p:nvPr/>
        </p:nvSpPr>
        <p:spPr>
          <a:xfrm>
            <a:off x="5486400" y="306324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누리과정</a:t>
            </a:r>
            <a:endParaRPr lang="en-US" sz="1100" dirty="0"/>
          </a:p>
        </p:txBody>
      </p:sp>
      <p:sp>
        <p:nvSpPr>
          <p:cNvPr id="37" name="Text 33"/>
          <p:cNvSpPr txBox="1"/>
          <p:nvPr/>
        </p:nvSpPr>
        <p:spPr>
          <a:xfrm>
            <a:off x="5486400" y="331927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개인별 평가 기반 수준별 계획</a:t>
            </a:r>
            <a:endParaRPr lang="en-US" sz="1300" dirty="0"/>
          </a:p>
        </p:txBody>
      </p:sp>
      <p:sp>
        <p:nvSpPr>
          <p:cNvPr id="38" name="Shape 34"/>
          <p:cNvSpPr/>
          <p:nvPr/>
        </p:nvSpPr>
        <p:spPr>
          <a:xfrm>
            <a:off x="4892040" y="3886200"/>
            <a:ext cx="457200" cy="457200"/>
          </a:xfrm>
          <a:prstGeom prst="ellipse">
            <a:avLst/>
          </a:prstGeom>
          <a:solidFill>
            <a:srgbClr val="E8A1A8"/>
          </a:solidFill>
          <a:ln/>
        </p:spPr>
      </p:sp>
      <p:pic>
        <p:nvPicPr>
          <p:cNvPr id="39" name="Image 2" descr="preencoded.png">    </p:cNvPr>
          <p:cNvPicPr>
            <a:picLocks noChangeAspect="1"/>
          </p:cNvPicPr>
          <p:nvPr/>
        </p:nvPicPr>
        <p:blipFill>
          <a:blip r:embed="rId3"/>
          <a:stretch>
            <a:fillRect/>
          </a:stretch>
        </p:blipFill>
        <p:spPr>
          <a:xfrm>
            <a:off x="5006340" y="4000500"/>
            <a:ext cx="228600" cy="228600"/>
          </a:xfrm>
          <a:prstGeom prst="rect">
            <a:avLst/>
          </a:prstGeom>
        </p:spPr>
      </p:pic>
      <p:sp>
        <p:nvSpPr>
          <p:cNvPr id="40" name="Text 35"/>
          <p:cNvSpPr txBox="1"/>
          <p:nvPr/>
        </p:nvSpPr>
        <p:spPr>
          <a:xfrm>
            <a:off x="5486400" y="384048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다문화 사회</a:t>
            </a:r>
            <a:endParaRPr lang="en-US" sz="1100" dirty="0"/>
          </a:p>
        </p:txBody>
      </p:sp>
      <p:sp>
        <p:nvSpPr>
          <p:cNvPr id="41" name="Text 36"/>
          <p:cNvSpPr txBox="1"/>
          <p:nvPr/>
        </p:nvSpPr>
        <p:spPr>
          <a:xfrm>
            <a:off x="5486400" y="409651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다문화교육 계획</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Text 1"/>
          <p:cNvSpPr txBox="1"/>
          <p:nvPr/>
        </p:nvSpPr>
        <p:spPr>
          <a:xfrm>
            <a:off x="457200" y="1143000"/>
            <a:ext cx="8229600" cy="320040"/>
          </a:xfrm>
          <a:prstGeom prst="rect">
            <a:avLst/>
          </a:prstGeom>
          <a:noFill/>
          <a:ln/>
        </p:spPr>
        <p:txBody>
          <a:bodyPr wrap="square" lIns="0" tIns="0" rIns="0" bIns="0" rtlCol="0" anchor="ctr"/>
          <a:lstStyle/>
          <a:p>
            <a:pPr indent="0" marL="0">
              <a:buNone/>
            </a:pPr>
            <a:r>
              <a:rPr lang="en-US" sz="1400" b="1" dirty="0">
                <a:solidFill>
                  <a:srgbClr val="FDF3D6"/>
                </a:solidFill>
                <a:latin typeface="Malgun Gothic" pitchFamily="34" charset="0"/>
                <a:ea typeface="Malgun Gothic" pitchFamily="34" charset="-122"/>
                <a:cs typeface="Malgun Gothic" pitchFamily="34" charset="-120"/>
              </a:rPr>
              <a:t>구성 요소 (= 실행 순서)</a:t>
            </a:r>
            <a:endParaRPr lang="en-US" sz="1400" dirty="0"/>
          </a:p>
        </p:txBody>
      </p:sp>
      <p:sp>
        <p:nvSpPr>
          <p:cNvPr id="4" name="Shape 2"/>
          <p:cNvSpPr/>
          <p:nvPr/>
        </p:nvSpPr>
        <p:spPr>
          <a:xfrm>
            <a:off x="457200" y="1554480"/>
            <a:ext cx="1828800" cy="640080"/>
          </a:xfrm>
          <a:prstGeom prst="roundRect">
            <a:avLst>
              <a:gd name="adj" fmla="val 21429"/>
            </a:avLst>
          </a:prstGeom>
          <a:solidFill>
            <a:srgbClr val="DCEBDD"/>
          </a:solidFill>
          <a:ln/>
        </p:spPr>
      </p:sp>
      <p:sp>
        <p:nvSpPr>
          <p:cNvPr id="5" name="Text 3"/>
          <p:cNvSpPr txBox="1"/>
          <p:nvPr/>
        </p:nvSpPr>
        <p:spPr>
          <a:xfrm>
            <a:off x="45720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교육목표</a:t>
            </a:r>
            <a:endParaRPr lang="en-US" sz="1500" dirty="0"/>
          </a:p>
        </p:txBody>
      </p:sp>
      <p:sp>
        <p:nvSpPr>
          <p:cNvPr id="6" name="Text 4"/>
          <p:cNvSpPr txBox="1"/>
          <p:nvPr/>
        </p:nvSpPr>
        <p:spPr>
          <a:xfrm>
            <a:off x="228600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7" name="Shape 5"/>
          <p:cNvSpPr/>
          <p:nvPr/>
        </p:nvSpPr>
        <p:spPr>
          <a:xfrm>
            <a:off x="2560320" y="1554480"/>
            <a:ext cx="1828800" cy="640080"/>
          </a:xfrm>
          <a:prstGeom prst="roundRect">
            <a:avLst>
              <a:gd name="adj" fmla="val 21429"/>
            </a:avLst>
          </a:prstGeom>
          <a:solidFill>
            <a:srgbClr val="DCEBDD"/>
          </a:solidFill>
          <a:ln/>
        </p:spPr>
      </p:sp>
      <p:sp>
        <p:nvSpPr>
          <p:cNvPr id="8" name="Text 6"/>
          <p:cNvSpPr txBox="1"/>
          <p:nvPr/>
        </p:nvSpPr>
        <p:spPr>
          <a:xfrm>
            <a:off x="256032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교육내용</a:t>
            </a:r>
            <a:endParaRPr lang="en-US" sz="1500" dirty="0"/>
          </a:p>
        </p:txBody>
      </p:sp>
      <p:sp>
        <p:nvSpPr>
          <p:cNvPr id="9" name="Text 7"/>
          <p:cNvSpPr txBox="1"/>
          <p:nvPr/>
        </p:nvSpPr>
        <p:spPr>
          <a:xfrm>
            <a:off x="438912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10" name="Shape 8"/>
          <p:cNvSpPr/>
          <p:nvPr/>
        </p:nvSpPr>
        <p:spPr>
          <a:xfrm>
            <a:off x="4663440" y="1554480"/>
            <a:ext cx="1828800" cy="640080"/>
          </a:xfrm>
          <a:prstGeom prst="roundRect">
            <a:avLst>
              <a:gd name="adj" fmla="val 21429"/>
            </a:avLst>
          </a:prstGeom>
          <a:solidFill>
            <a:srgbClr val="DCEBDD"/>
          </a:solidFill>
          <a:ln/>
        </p:spPr>
      </p:sp>
      <p:sp>
        <p:nvSpPr>
          <p:cNvPr id="11" name="Text 9"/>
          <p:cNvSpPr txBox="1"/>
          <p:nvPr/>
        </p:nvSpPr>
        <p:spPr>
          <a:xfrm>
            <a:off x="466344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교수-학습 방법</a:t>
            </a:r>
            <a:endParaRPr lang="en-US" sz="1500" dirty="0"/>
          </a:p>
        </p:txBody>
      </p:sp>
      <p:sp>
        <p:nvSpPr>
          <p:cNvPr id="12" name="Text 10"/>
          <p:cNvSpPr txBox="1"/>
          <p:nvPr/>
        </p:nvSpPr>
        <p:spPr>
          <a:xfrm>
            <a:off x="649224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13" name="Shape 11"/>
          <p:cNvSpPr/>
          <p:nvPr/>
        </p:nvSpPr>
        <p:spPr>
          <a:xfrm>
            <a:off x="6766560" y="1554480"/>
            <a:ext cx="1828800" cy="640080"/>
          </a:xfrm>
          <a:prstGeom prst="roundRect">
            <a:avLst>
              <a:gd name="adj" fmla="val 21429"/>
            </a:avLst>
          </a:prstGeom>
          <a:solidFill>
            <a:srgbClr val="DCEBDD"/>
          </a:solidFill>
          <a:ln/>
        </p:spPr>
      </p:sp>
      <p:sp>
        <p:nvSpPr>
          <p:cNvPr id="14" name="Text 12"/>
          <p:cNvSpPr txBox="1"/>
          <p:nvPr/>
        </p:nvSpPr>
        <p:spPr>
          <a:xfrm>
            <a:off x="676656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평가</a:t>
            </a:r>
            <a:endParaRPr lang="en-US" sz="1500" dirty="0"/>
          </a:p>
        </p:txBody>
      </p:sp>
      <p:sp>
        <p:nvSpPr>
          <p:cNvPr id="15" name="Text 13"/>
          <p:cNvSpPr txBox="1"/>
          <p:nvPr/>
        </p:nvSpPr>
        <p:spPr>
          <a:xfrm>
            <a:off x="457200" y="2468880"/>
            <a:ext cx="8229600" cy="320040"/>
          </a:xfrm>
          <a:prstGeom prst="rect">
            <a:avLst/>
          </a:prstGeom>
          <a:noFill/>
          <a:ln/>
        </p:spPr>
        <p:txBody>
          <a:bodyPr wrap="square" lIns="0" tIns="0" rIns="0" bIns="0" rtlCol="0" anchor="ctr"/>
          <a:lstStyle/>
          <a:p>
            <a:pPr indent="0" marL="0">
              <a:buNone/>
            </a:pPr>
            <a:r>
              <a:rPr lang="en-US" sz="1400" b="1" dirty="0">
                <a:solidFill>
                  <a:srgbClr val="FDF3D6"/>
                </a:solidFill>
                <a:latin typeface="Malgun Gothic" pitchFamily="34" charset="0"/>
                <a:ea typeface="Malgun Gothic" pitchFamily="34" charset="-122"/>
                <a:cs typeface="Malgun Gothic" pitchFamily="34" charset="-120"/>
              </a:rPr>
              <a:t>구성의 특징</a:t>
            </a:r>
            <a:endParaRPr lang="en-US" sz="1400" dirty="0"/>
          </a:p>
        </p:txBody>
      </p:sp>
      <p:sp>
        <p:nvSpPr>
          <p:cNvPr id="16" name="Shape 14"/>
          <p:cNvSpPr/>
          <p:nvPr/>
        </p:nvSpPr>
        <p:spPr>
          <a:xfrm>
            <a:off x="457200" y="2880360"/>
            <a:ext cx="1828800" cy="640080"/>
          </a:xfrm>
          <a:prstGeom prst="roundRect">
            <a:avLst>
              <a:gd name="adj" fmla="val 21429"/>
            </a:avLst>
          </a:prstGeom>
          <a:solidFill>
            <a:srgbClr val="FDF3D6"/>
          </a:solidFill>
          <a:ln/>
        </p:spPr>
      </p:sp>
      <p:sp>
        <p:nvSpPr>
          <p:cNvPr id="17" name="Text 15"/>
          <p:cNvSpPr txBox="1"/>
          <p:nvPr/>
        </p:nvSpPr>
        <p:spPr>
          <a:xfrm>
            <a:off x="45720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통합</a:t>
            </a:r>
            <a:endParaRPr lang="en-US" sz="1500" dirty="0"/>
          </a:p>
        </p:txBody>
      </p:sp>
      <p:sp>
        <p:nvSpPr>
          <p:cNvPr id="18" name="Shape 16"/>
          <p:cNvSpPr/>
          <p:nvPr/>
        </p:nvSpPr>
        <p:spPr>
          <a:xfrm>
            <a:off x="2560320" y="2880360"/>
            <a:ext cx="1828800" cy="640080"/>
          </a:xfrm>
          <a:prstGeom prst="roundRect">
            <a:avLst>
              <a:gd name="adj" fmla="val 21429"/>
            </a:avLst>
          </a:prstGeom>
          <a:solidFill>
            <a:srgbClr val="FDF3D6"/>
          </a:solidFill>
          <a:ln/>
        </p:spPr>
      </p:sp>
      <p:sp>
        <p:nvSpPr>
          <p:cNvPr id="19" name="Text 17"/>
          <p:cNvSpPr txBox="1"/>
          <p:nvPr/>
        </p:nvSpPr>
        <p:spPr>
          <a:xfrm>
            <a:off x="256032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놀이 중심</a:t>
            </a:r>
            <a:endParaRPr lang="en-US" sz="1500" dirty="0"/>
          </a:p>
        </p:txBody>
      </p:sp>
      <p:sp>
        <p:nvSpPr>
          <p:cNvPr id="20" name="Shape 18"/>
          <p:cNvSpPr/>
          <p:nvPr/>
        </p:nvSpPr>
        <p:spPr>
          <a:xfrm>
            <a:off x="4663440" y="2880360"/>
            <a:ext cx="1828800" cy="640080"/>
          </a:xfrm>
          <a:prstGeom prst="roundRect">
            <a:avLst>
              <a:gd name="adj" fmla="val 21429"/>
            </a:avLst>
          </a:prstGeom>
          <a:solidFill>
            <a:srgbClr val="FDF3D6"/>
          </a:solidFill>
          <a:ln/>
        </p:spPr>
      </p:sp>
      <p:sp>
        <p:nvSpPr>
          <p:cNvPr id="21" name="Text 19"/>
          <p:cNvSpPr txBox="1"/>
          <p:nvPr/>
        </p:nvSpPr>
        <p:spPr>
          <a:xfrm>
            <a:off x="466344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흥미·요구 반영</a:t>
            </a:r>
            <a:endParaRPr lang="en-US" sz="1500" dirty="0"/>
          </a:p>
        </p:txBody>
      </p:sp>
      <p:sp>
        <p:nvSpPr>
          <p:cNvPr id="22" name="Shape 20"/>
          <p:cNvSpPr/>
          <p:nvPr/>
        </p:nvSpPr>
        <p:spPr>
          <a:xfrm>
            <a:off x="6766560" y="2880360"/>
            <a:ext cx="1828800" cy="640080"/>
          </a:xfrm>
          <a:prstGeom prst="roundRect">
            <a:avLst>
              <a:gd name="adj" fmla="val 21429"/>
            </a:avLst>
          </a:prstGeom>
          <a:solidFill>
            <a:srgbClr val="FDF3D6"/>
          </a:solidFill>
          <a:ln/>
        </p:spPr>
      </p:sp>
      <p:sp>
        <p:nvSpPr>
          <p:cNvPr id="23" name="Text 21"/>
          <p:cNvSpPr txBox="1"/>
          <p:nvPr/>
        </p:nvSpPr>
        <p:spPr>
          <a:xfrm>
            <a:off x="676656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다양성 반영</a:t>
            </a:r>
            <a:endParaRPr lang="en-US" sz="1500" dirty="0"/>
          </a:p>
        </p:txBody>
      </p:sp>
      <p:sp>
        <p:nvSpPr>
          <p:cNvPr id="24" name="Text 22"/>
          <p:cNvSpPr txBox="1"/>
          <p:nvPr/>
        </p:nvSpPr>
        <p:spPr>
          <a:xfrm>
            <a:off x="457200" y="4023360"/>
            <a:ext cx="8229600" cy="457200"/>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아이가 놀이 속에서 자연스럽게 배우도록 구성하는 것이 핵심</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b="1" dirty="0">
                <a:solidFill>
                  <a:srgbClr val="FDF3D6"/>
                </a:solidFill>
                <a:latin typeface="Malgun Gothic" pitchFamily="34" charset="0"/>
                <a:ea typeface="Malgun Gothic" pitchFamily="34" charset="-122"/>
                <a:cs typeface="Malgun Gothic" pitchFamily="34" charset="-120"/>
              </a:rPr>
              <a:t>PART 3</a:t>
            </a:r>
            <a:endParaRPr lang="en-US" sz="1600" dirty="0"/>
          </a:p>
        </p:txBody>
      </p:sp>
      <p:sp>
        <p:nvSpPr>
          <p:cNvPr id="10" name="Text 8"/>
          <p:cNvSpPr txBox="1"/>
          <p:nvPr/>
        </p:nvSpPr>
        <p:spPr>
          <a:xfrm>
            <a:off x="640080" y="1645920"/>
            <a:ext cx="6400800" cy="1371600"/>
          </a:xfrm>
          <a:prstGeom prst="rect">
            <a:avLst/>
          </a:prstGeom>
          <a:noFill/>
          <a:ln/>
        </p:spPr>
        <p:txBody>
          <a:bodyPr wrap="square" lIns="0" tIns="0" rIns="0" bIns="0" rtlCol="0" anchor="t"/>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영유아교육과정의</a:t>
            </a:r>
            <a:endParaRPr lang="en-US" sz="4000" dirty="0"/>
          </a:p>
          <a:p>
            <a:pPr indent="0" marL="0">
              <a:buNone/>
            </a:pPr>
            <a:r>
              <a:rPr lang="en-US" sz="4000" b="1" dirty="0">
                <a:solidFill>
                  <a:srgbClr val="FFFFFF"/>
                </a:solidFill>
                <a:latin typeface="Malgun Gothic" pitchFamily="34" charset="0"/>
                <a:ea typeface="Malgun Gothic" pitchFamily="34" charset="-122"/>
                <a:cs typeface="Malgun Gothic" pitchFamily="34" charset="-120"/>
              </a:rPr>
              <a:t>계획 및 운영</a:t>
            </a:r>
            <a:endParaRPr lang="en-US" sz="4000" dirty="0"/>
          </a:p>
        </p:txBody>
      </p:sp>
      <p:sp>
        <p:nvSpPr>
          <p:cNvPr id="11" name="Text 9"/>
          <p:cNvSpPr txBox="1"/>
          <p:nvPr/>
        </p:nvSpPr>
        <p:spPr>
          <a:xfrm>
            <a:off x="640080" y="310896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표준보육과정과 관련 지침 살펴보기</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16</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무엇을 기준으로 계획할까?</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전문 지식 + 다음 지침들을 함께 참고</a:t>
            </a:r>
            <a:endParaRPr lang="en-US" sz="14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499616"/>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각 원이 추구하는 교육 방향</a:t>
            </a:r>
            <a:endParaRPr lang="en-US" sz="1300" dirty="0"/>
          </a:p>
        </p:txBody>
      </p:sp>
      <p:sp>
        <p:nvSpPr>
          <p:cNvPr id="9" name="Shape 6"/>
          <p:cNvSpPr/>
          <p:nvPr/>
        </p:nvSpPr>
        <p:spPr>
          <a:xfrm>
            <a:off x="457200" y="2157984"/>
            <a:ext cx="438912" cy="438912"/>
          </a:xfrm>
          <a:prstGeom prst="ellipse">
            <a:avLst/>
          </a:prstGeom>
          <a:solidFill>
            <a:srgbClr val="5E8C6A"/>
          </a:solidFill>
          <a:ln/>
        </p:spPr>
      </p:sp>
      <p:pic>
        <p:nvPicPr>
          <p:cNvPr id="10" name="Image 1" descr="preencoded.png">    </p:cNvPr>
          <p:cNvPicPr>
            <a:picLocks noChangeAspect="1"/>
          </p:cNvPicPr>
          <p:nvPr/>
        </p:nvPicPr>
        <p:blipFill>
          <a:blip r:embed="rId2"/>
          <a:stretch>
            <a:fillRect/>
          </a:stretch>
        </p:blipFill>
        <p:spPr>
          <a:xfrm>
            <a:off x="566928" y="2267712"/>
            <a:ext cx="219456" cy="219456"/>
          </a:xfrm>
          <a:prstGeom prst="rect">
            <a:avLst/>
          </a:prstGeom>
        </p:spPr>
      </p:pic>
      <p:sp>
        <p:nvSpPr>
          <p:cNvPr id="11" name="Text 7"/>
          <p:cNvSpPr txBox="1"/>
          <p:nvPr/>
        </p:nvSpPr>
        <p:spPr>
          <a:xfrm>
            <a:off x="1051560" y="2103120"/>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국가수준의 교육과정</a:t>
            </a:r>
            <a:endParaRPr lang="en-US" sz="1300" dirty="0"/>
          </a:p>
        </p:txBody>
      </p:sp>
      <p:sp>
        <p:nvSpPr>
          <p:cNvPr id="12" name="Shape 8"/>
          <p:cNvSpPr/>
          <p:nvPr/>
        </p:nvSpPr>
        <p:spPr>
          <a:xfrm>
            <a:off x="457200" y="2761488"/>
            <a:ext cx="438912" cy="438912"/>
          </a:xfrm>
          <a:prstGeom prst="ellipse">
            <a:avLst/>
          </a:prstGeom>
          <a:solidFill>
            <a:srgbClr val="F5D07A"/>
          </a:solidFill>
          <a:ln/>
        </p:spPr>
      </p:sp>
      <p:pic>
        <p:nvPicPr>
          <p:cNvPr id="13" name="Image 2" descr="preencoded.png">    </p:cNvPr>
          <p:cNvPicPr>
            <a:picLocks noChangeAspect="1"/>
          </p:cNvPicPr>
          <p:nvPr/>
        </p:nvPicPr>
        <p:blipFill>
          <a:blip r:embed="rId3"/>
          <a:stretch>
            <a:fillRect/>
          </a:stretch>
        </p:blipFill>
        <p:spPr>
          <a:xfrm>
            <a:off x="566928" y="2871216"/>
            <a:ext cx="219456" cy="219456"/>
          </a:xfrm>
          <a:prstGeom prst="rect">
            <a:avLst/>
          </a:prstGeom>
        </p:spPr>
      </p:pic>
      <p:sp>
        <p:nvSpPr>
          <p:cNvPr id="14" name="Text 9"/>
          <p:cNvSpPr txBox="1"/>
          <p:nvPr/>
        </p:nvSpPr>
        <p:spPr>
          <a:xfrm>
            <a:off x="1051560" y="2706624"/>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소속 지역의 유아교육 방향</a:t>
            </a:r>
            <a:endParaRPr lang="en-US" sz="1300" dirty="0"/>
          </a:p>
        </p:txBody>
      </p:sp>
      <p:sp>
        <p:nvSpPr>
          <p:cNvPr id="15" name="Shape 10"/>
          <p:cNvSpPr/>
          <p:nvPr/>
        </p:nvSpPr>
        <p:spPr>
          <a:xfrm>
            <a:off x="457200" y="3364992"/>
            <a:ext cx="438912" cy="438912"/>
          </a:xfrm>
          <a:prstGeom prst="ellipse">
            <a:avLst/>
          </a:prstGeom>
          <a:solidFill>
            <a:srgbClr val="E8A1A8"/>
          </a:solidFill>
          <a:ln/>
        </p:spPr>
      </p:sp>
      <p:pic>
        <p:nvPicPr>
          <p:cNvPr id="16" name="Image 3" descr="preencoded.png">    </p:cNvPr>
          <p:cNvPicPr>
            <a:picLocks noChangeAspect="1"/>
          </p:cNvPicPr>
          <p:nvPr/>
        </p:nvPicPr>
        <p:blipFill>
          <a:blip r:embed="rId4"/>
          <a:stretch>
            <a:fillRect/>
          </a:stretch>
        </p:blipFill>
        <p:spPr>
          <a:xfrm>
            <a:off x="566928" y="3474720"/>
            <a:ext cx="219456" cy="219456"/>
          </a:xfrm>
          <a:prstGeom prst="rect">
            <a:avLst/>
          </a:prstGeom>
        </p:spPr>
      </p:pic>
      <p:sp>
        <p:nvSpPr>
          <p:cNvPr id="17" name="Text 11"/>
          <p:cNvSpPr txBox="1"/>
          <p:nvPr/>
        </p:nvSpPr>
        <p:spPr>
          <a:xfrm>
            <a:off x="1051560" y="3310128"/>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해당 연도 유치원 교육과정</a:t>
            </a:r>
            <a:endParaRPr lang="en-US" sz="1300" dirty="0"/>
          </a:p>
          <a:p>
            <a:pPr indent="0" marL="0">
              <a:buNone/>
            </a:pPr>
            <a:r>
              <a:rPr lang="en-US" sz="1300" dirty="0">
                <a:solidFill>
                  <a:srgbClr val="33413A"/>
                </a:solidFill>
                <a:latin typeface="Malgun Gothic" pitchFamily="34" charset="0"/>
                <a:ea typeface="Malgun Gothic" pitchFamily="34" charset="-122"/>
                <a:cs typeface="Malgun Gothic" pitchFamily="34" charset="-120"/>
              </a:rPr>
              <a:t>편성·운영 지침</a:t>
            </a:r>
            <a:endParaRPr lang="en-US" sz="1300" dirty="0"/>
          </a:p>
        </p:txBody>
      </p:sp>
      <p:sp>
        <p:nvSpPr>
          <p:cNvPr id="18" name="Shape 12"/>
          <p:cNvSpPr/>
          <p:nvPr/>
        </p:nvSpPr>
        <p:spPr>
          <a:xfrm>
            <a:off x="457200" y="3968496"/>
            <a:ext cx="438912" cy="438912"/>
          </a:xfrm>
          <a:prstGeom prst="ellipse">
            <a:avLst/>
          </a:prstGeom>
          <a:solidFill>
            <a:srgbClr val="A9CBB0"/>
          </a:solidFill>
          <a:ln/>
        </p:spPr>
      </p:sp>
      <p:pic>
        <p:nvPicPr>
          <p:cNvPr id="19" name="Image 4" descr="preencoded.png">    </p:cNvPr>
          <p:cNvPicPr>
            <a:picLocks noChangeAspect="1"/>
          </p:cNvPicPr>
          <p:nvPr/>
        </p:nvPicPr>
        <p:blipFill>
          <a:blip r:embed="rId5"/>
          <a:stretch>
            <a:fillRect/>
          </a:stretch>
        </p:blipFill>
        <p:spPr>
          <a:xfrm>
            <a:off x="566928" y="4078224"/>
            <a:ext cx="219456" cy="219456"/>
          </a:xfrm>
          <a:prstGeom prst="rect">
            <a:avLst/>
          </a:prstGeom>
        </p:spPr>
      </p:pic>
      <p:sp>
        <p:nvSpPr>
          <p:cNvPr id="20" name="Text 13"/>
          <p:cNvSpPr txBox="1"/>
          <p:nvPr/>
        </p:nvSpPr>
        <p:spPr>
          <a:xfrm>
            <a:off x="1051560" y="3913632"/>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어린이집 보육사업안내</a:t>
            </a:r>
            <a:endParaRPr lang="en-US" sz="1300" dirty="0"/>
          </a:p>
        </p:txBody>
      </p:sp>
      <p:sp>
        <p:nvSpPr>
          <p:cNvPr id="21" name="Text 14"/>
          <p:cNvSpPr txBox="1"/>
          <p:nvPr/>
        </p:nvSpPr>
        <p:spPr>
          <a:xfrm>
            <a:off x="4572000" y="1097280"/>
            <a:ext cx="4114800" cy="320040"/>
          </a:xfrm>
          <a:prstGeom prst="rect">
            <a:avLst/>
          </a:prstGeom>
          <a:noFill/>
          <a:ln/>
        </p:spPr>
        <p:txBody>
          <a:bodyPr wrap="square" lIns="0" tIns="0" rIns="0" bIns="0" rtlCol="0" anchor="ctr"/>
          <a:lstStyle/>
          <a:p>
            <a:pPr indent="0" marL="0">
              <a:buNone/>
            </a:pPr>
            <a:r>
              <a:rPr lang="en-US" sz="1200" b="1" dirty="0">
                <a:solidFill>
                  <a:srgbClr val="6E7B73"/>
                </a:solidFill>
                <a:latin typeface="Malgun Gothic" pitchFamily="34" charset="0"/>
                <a:ea typeface="Malgun Gothic" pitchFamily="34" charset="-122"/>
                <a:cs typeface="Malgun Gothic" pitchFamily="34" charset="-120"/>
              </a:rPr>
              <a:t>〈표 5-1〉 어린이집과 유치원의 국가수준 교육과정</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0" y="1463040"/>
          <a:ext cx="4114800" cy="914400"/>
        </p:xfrm>
        <a:graphic>
          <a:graphicData uri="http://schemas.openxmlformats.org/drawingml/2006/table">
            <a:tbl>
              <a:tblPr/>
              <a:tblGrid>
                <a:gridCol w="822960"/>
                <a:gridCol w="1645920"/>
                <a:gridCol w="1645920"/>
              </a:tblGrid>
              <a:tr h="36576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구분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0~2세</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r>
              <a:tr h="6858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어린이집</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4F7F4"/>
                    </a:solidFill>
                  </a:tcPr>
                </a:tc>
                <a:tc>
                  <a:txBody>
                    <a:bodyP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표준보육과정</a:t>
                      </a:r>
                      <a:endParaRPr lang="en-US" sz="1100" dirty="0">
                        <a:latin typeface="Malgun Gothic" charset="0"/>
                        <a:ea typeface="Malgun Gothic" charset="0"/>
                        <a:cs typeface="Malgun Gothic" charset="0"/>
                      </a:endParaRPr>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(0~1세, 2세 보육과정)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표준보육과정</a:t>
                      </a:r>
                      <a:endParaRPr lang="en-US" sz="1100" dirty="0">
                        <a:latin typeface="Malgun Gothic" charset="0"/>
                        <a:ea typeface="Malgun Gothic" charset="0"/>
                        <a:cs typeface="Malgun Gothic" charset="0"/>
                      </a:endParaRPr>
                    </a:p>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 = 누리과정)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DF3D6"/>
                    </a:solidFill>
                  </a:tcPr>
                </a:tc>
              </a:tr>
              <a:tr h="6858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유치원</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4F7F4"/>
                    </a:solidFill>
                  </a:tcPr>
                </a:tc>
                <a:tc>
                  <a:txBody>
                    <a:bodyPr/>
                    <a:lstStyle/>
                    <a:p>
                      <a:pPr algn="ctr" indent="0" marL="0">
                        <a:buNone/>
                      </a:pPr>
                      <a:r>
                        <a:rPr lang="en-US" sz="1100" dirty="0">
                          <a:solidFill>
                            <a:srgbClr val="6E7B73"/>
                          </a:solidFill>
                          <a:latin typeface="Malgun Gothic" pitchFamily="34" charset="0"/>
                          <a:ea typeface="Malgun Gothic" pitchFamily="34" charset="-122"/>
                          <a:cs typeface="Malgun Gothic" pitchFamily="34" charset="-120"/>
                        </a:rPr>
                        <a:t>–</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유치원 교육과정</a:t>
                      </a:r>
                      <a:endParaRPr lang="en-US" sz="1100" dirty="0">
                        <a:latin typeface="Malgun Gothic" charset="0"/>
                        <a:ea typeface="Malgun Gothic" charset="0"/>
                        <a:cs typeface="Malgun Gothic" charset="0"/>
                      </a:endParaRPr>
                    </a:p>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(누리과정)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DF3D6"/>
                    </a:solidFill>
                  </a:tcPr>
                </a:tc>
              </a:tr>
            </a:tbl>
          </a:graphicData>
        </a:graphic>
      </p:graphicFrame>
      <p:sp>
        <p:nvSpPr>
          <p:cNvPr id="23" name="Shape 15"/>
          <p:cNvSpPr/>
          <p:nvPr/>
        </p:nvSpPr>
        <p:spPr>
          <a:xfrm>
            <a:off x="4572000" y="3429000"/>
            <a:ext cx="4114800" cy="1143000"/>
          </a:xfrm>
          <a:prstGeom prst="roundRect">
            <a:avLst>
              <a:gd name="adj" fmla="val 12000"/>
            </a:avLst>
          </a:prstGeom>
          <a:solidFill>
            <a:srgbClr val="FDF3D6"/>
          </a:solidFill>
          <a:ln/>
        </p:spPr>
      </p:sp>
      <p:sp>
        <p:nvSpPr>
          <p:cNvPr id="24" name="Text 16"/>
          <p:cNvSpPr txBox="1"/>
          <p:nvPr/>
        </p:nvSpPr>
        <p:spPr>
          <a:xfrm>
            <a:off x="4754880" y="3520440"/>
            <a:ext cx="3749040" cy="960120"/>
          </a:xfrm>
          <a:prstGeom prst="rect">
            <a:avLst/>
          </a:prstGeom>
          <a:noFill/>
          <a:ln/>
        </p:spPr>
        <p:txBody>
          <a:bodyPr wrap="square" lIns="0" tIns="0" rIns="0" bIns="0" rtlCol="0" anchor="ctr"/>
          <a:lstStyle/>
          <a:p>
            <a:pPr indent="0" marL="0">
              <a:spcAft>
                <a:spcPts val="400"/>
              </a:spcAft>
              <a:buNone/>
            </a:pPr>
            <a:r>
              <a:rPr lang="en-US" sz="1200" b="1" dirty="0">
                <a:solidFill>
                  <a:srgbClr val="33413A"/>
                </a:solidFill>
                <a:latin typeface="Malgun Gothic" pitchFamily="34" charset="0"/>
                <a:ea typeface="Malgun Gothic" pitchFamily="34" charset="-122"/>
                <a:cs typeface="Malgun Gothic" pitchFamily="34" charset="-120"/>
              </a:rPr>
              <a:t>3~5세는 누리과정으로 내용이 동일</a:t>
            </a:r>
            <a:endParaRPr lang="en-US" sz="1200" dirty="0"/>
          </a:p>
          <a:p>
            <a:pPr indent="0" marL="0">
              <a:spcAft>
                <a:spcPts val="400"/>
              </a:spcAft>
              <a:buNone/>
            </a:pPr>
            <a:r>
              <a:rPr lang="en-US" sz="1200" dirty="0">
                <a:solidFill>
                  <a:srgbClr val="33413A"/>
                </a:solidFill>
                <a:latin typeface="Malgun Gothic" pitchFamily="34" charset="0"/>
                <a:ea typeface="Malgun Gothic" pitchFamily="34" charset="-122"/>
                <a:cs typeface="Malgun Gothic" pitchFamily="34" charset="-120"/>
              </a:rPr>
              <a:t>→ 교원이 함께 연구하고, 각 기관의 교육에 어떻게 반영할지 협의</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17</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추구하는 인간상과 목표</a:t>
            </a:r>
            <a:endParaRPr lang="en-US" sz="2800" dirty="0"/>
          </a:p>
        </p:txBody>
      </p:sp>
      <p:sp>
        <p:nvSpPr>
          <p:cNvPr id="5" name="Shape 3"/>
          <p:cNvSpPr/>
          <p:nvPr/>
        </p:nvSpPr>
        <p:spPr>
          <a:xfrm>
            <a:off x="457200" y="1051560"/>
            <a:ext cx="8229600" cy="548640"/>
          </a:xfrm>
          <a:prstGeom prst="roundRect">
            <a:avLst>
              <a:gd name="adj" fmla="val 25000"/>
            </a:avLst>
          </a:prstGeom>
          <a:solidFill>
            <a:srgbClr val="F4F7F4"/>
          </a:solidFill>
          <a:ln/>
        </p:spPr>
      </p:sp>
      <p:sp>
        <p:nvSpPr>
          <p:cNvPr id="6" name="Text 4"/>
          <p:cNvSpPr txBox="1"/>
          <p:nvPr/>
        </p:nvSpPr>
        <p:spPr>
          <a:xfrm>
            <a:off x="640080" y="1051560"/>
            <a:ext cx="7863840" cy="548640"/>
          </a:xfrm>
          <a:prstGeom prst="rect">
            <a:avLst/>
          </a:prstGeom>
          <a:noFill/>
          <a:ln/>
        </p:spPr>
        <p:txBody>
          <a:bodyPr wrap="square" lIns="0" tIns="0" rIns="0" bIns="0" rtlCol="0" anchor="ctr"/>
          <a:lstStyle/>
          <a:p>
            <a:pPr indent="0" marL="0">
              <a:buNone/>
            </a:pPr>
            <a:r>
              <a:rPr lang="en-US" sz="1300" b="1" dirty="0">
                <a:solidFill>
                  <a:srgbClr val="5E8C6A"/>
                </a:solidFill>
                <a:latin typeface="Malgun Gothic" pitchFamily="34" charset="0"/>
                <a:ea typeface="Malgun Gothic" pitchFamily="34" charset="-122"/>
                <a:cs typeface="Malgun Gothic" pitchFamily="34" charset="-120"/>
              </a:rPr>
              <a:t>목적  </a:t>
            </a:r>
            <a:pPr indent="0" marL="0">
              <a:buNone/>
            </a:pPr>
            <a:r>
              <a:rPr lang="en-US" sz="1300" dirty="0">
                <a:solidFill>
                  <a:srgbClr val="33413A"/>
                </a:solidFill>
                <a:latin typeface="Malgun Gothic" pitchFamily="34" charset="0"/>
                <a:ea typeface="Malgun Gothic" pitchFamily="34" charset="-122"/>
                <a:cs typeface="Malgun Gothic" pitchFamily="34" charset="-120"/>
              </a:rPr>
              <a:t>놀이를 통해 심신의 건강과 조화로운 발달 + 바른 인성과 민주 시민의 기초 형성</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8229600" cy="914400"/>
        </p:xfrm>
        <a:graphic>
          <a:graphicData uri="http://schemas.openxmlformats.org/drawingml/2006/table">
            <a:tbl>
              <a:tblPr/>
              <a:tblGrid>
                <a:gridCol w="1828800"/>
                <a:gridCol w="3200400"/>
                <a:gridCol w="3200400"/>
              </a:tblGrid>
              <a:tr h="347472">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추구하는 인간상</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0~2세 목표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 목표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건강한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CE4D8"/>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건강하고 안전한 환경에서 즐겁게 생활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건강하고 안전한 생활습관을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자주적인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DF3D6"/>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자신의 일을 스스로 하고자 함</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스스로 해결하는 기초능력을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창의적인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호기심을 갖고 탐색하며 상상력을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호기심·탐구심, 상상력·창의력을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감성이 풍부한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9E1E3"/>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일상에서 아름다움에 관심, 감성을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아름다움을 느끼고 문화적 감수성을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더불어 사는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EDE6F3"/>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사람과 자연을 존중하고 소통에 관심</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존중·배려하며 소통하는 태도를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bl>
          </a:graphicData>
        </a:graphic>
      </p:graphicFrame>
      <p:sp>
        <p:nvSpPr>
          <p:cNvPr id="8" name="Text 5"/>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0~2세 "관심을 가진다·하고자 한다" → 3~5세 "습관·능력·태도를 기른다"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18</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표준보육과정 구성의 중점</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전제: 영유아는 개별적인 특성을 지닌 고유한 존재</a:t>
            </a:r>
            <a:endParaRPr lang="en-US" sz="1300" dirty="0"/>
          </a:p>
        </p:txBody>
      </p:sp>
      <p:sp>
        <p:nvSpPr>
          <p:cNvPr id="6" name="Shape 4"/>
          <p:cNvSpPr/>
          <p:nvPr/>
        </p:nvSpPr>
        <p:spPr>
          <a:xfrm>
            <a:off x="457200" y="1417320"/>
            <a:ext cx="1517904" cy="1920240"/>
          </a:xfrm>
          <a:prstGeom prst="roundRect">
            <a:avLst>
              <a:gd name="adj" fmla="val 9036"/>
            </a:avLst>
          </a:prstGeom>
          <a:solidFill>
            <a:srgbClr val="FCE4D8"/>
          </a:solidFill>
          <a:ln/>
        </p:spPr>
      </p:sp>
      <p:sp>
        <p:nvSpPr>
          <p:cNvPr id="7" name="Shape 5"/>
          <p:cNvSpPr/>
          <p:nvPr/>
        </p:nvSpPr>
        <p:spPr>
          <a:xfrm>
            <a:off x="941832" y="164592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1078992" y="1783080"/>
            <a:ext cx="274320" cy="274320"/>
          </a:xfrm>
          <a:prstGeom prst="rect">
            <a:avLst/>
          </a:prstGeom>
        </p:spPr>
      </p:pic>
      <p:sp>
        <p:nvSpPr>
          <p:cNvPr id="9" name="Text 6"/>
          <p:cNvSpPr txBox="1"/>
          <p:nvPr/>
        </p:nvSpPr>
        <p:spPr>
          <a:xfrm>
            <a:off x="530352"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0~5세 모든</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영유아에게 적용</a:t>
            </a:r>
            <a:endParaRPr lang="en-US" sz="1200" dirty="0"/>
          </a:p>
        </p:txBody>
      </p:sp>
      <p:sp>
        <p:nvSpPr>
          <p:cNvPr id="10" name="Shape 7"/>
          <p:cNvSpPr/>
          <p:nvPr/>
        </p:nvSpPr>
        <p:spPr>
          <a:xfrm>
            <a:off x="2139696" y="1417320"/>
            <a:ext cx="1517904" cy="1920240"/>
          </a:xfrm>
          <a:prstGeom prst="roundRect">
            <a:avLst>
              <a:gd name="adj" fmla="val 9036"/>
            </a:avLst>
          </a:prstGeom>
          <a:solidFill>
            <a:srgbClr val="FDF3D6"/>
          </a:solidFill>
          <a:ln/>
        </p:spPr>
      </p:sp>
      <p:sp>
        <p:nvSpPr>
          <p:cNvPr id="11" name="Shape 8"/>
          <p:cNvSpPr/>
          <p:nvPr/>
        </p:nvSpPr>
        <p:spPr>
          <a:xfrm>
            <a:off x="2624328" y="1645920"/>
            <a:ext cx="548640" cy="548640"/>
          </a:xfrm>
          <a:prstGeom prst="ellipse">
            <a:avLst/>
          </a:prstGeom>
          <a:solidFill>
            <a:srgbClr val="F5D07A"/>
          </a:solidFill>
          <a:ln/>
        </p:spPr>
      </p:sp>
      <p:pic>
        <p:nvPicPr>
          <p:cNvPr id="12" name="Image 1" descr="preencoded.png">    </p:cNvPr>
          <p:cNvPicPr>
            <a:picLocks noChangeAspect="1"/>
          </p:cNvPicPr>
          <p:nvPr/>
        </p:nvPicPr>
        <p:blipFill>
          <a:blip r:embed="rId2"/>
          <a:stretch>
            <a:fillRect/>
          </a:stretch>
        </p:blipFill>
        <p:spPr>
          <a:xfrm>
            <a:off x="2761488" y="1783080"/>
            <a:ext cx="274320" cy="274320"/>
          </a:xfrm>
          <a:prstGeom prst="rect">
            <a:avLst/>
          </a:prstGeom>
        </p:spPr>
      </p:pic>
      <p:sp>
        <p:nvSpPr>
          <p:cNvPr id="13" name="Text 9"/>
          <p:cNvSpPr txBox="1"/>
          <p:nvPr/>
        </p:nvSpPr>
        <p:spPr>
          <a:xfrm>
            <a:off x="2212848"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인간상 구현을 위한</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지식·기능·태도·가치</a:t>
            </a:r>
            <a:endParaRPr lang="en-US" sz="1200" dirty="0"/>
          </a:p>
        </p:txBody>
      </p:sp>
      <p:sp>
        <p:nvSpPr>
          <p:cNvPr id="14" name="Shape 10"/>
          <p:cNvSpPr/>
          <p:nvPr/>
        </p:nvSpPr>
        <p:spPr>
          <a:xfrm>
            <a:off x="3822192" y="1417320"/>
            <a:ext cx="1517904" cy="1920240"/>
          </a:xfrm>
          <a:prstGeom prst="roundRect">
            <a:avLst>
              <a:gd name="adj" fmla="val 9036"/>
            </a:avLst>
          </a:prstGeom>
          <a:solidFill>
            <a:srgbClr val="DCEBDD"/>
          </a:solidFill>
          <a:ln/>
        </p:spPr>
      </p:sp>
      <p:sp>
        <p:nvSpPr>
          <p:cNvPr id="15" name="Shape 11"/>
          <p:cNvSpPr/>
          <p:nvPr/>
        </p:nvSpPr>
        <p:spPr>
          <a:xfrm>
            <a:off x="4306824" y="1645920"/>
            <a:ext cx="548640" cy="548640"/>
          </a:xfrm>
          <a:prstGeom prst="ellipse">
            <a:avLst/>
          </a:prstGeom>
          <a:solidFill>
            <a:srgbClr val="5E8C6A"/>
          </a:solidFill>
          <a:ln/>
        </p:spPr>
      </p:sp>
      <p:pic>
        <p:nvPicPr>
          <p:cNvPr id="16" name="Image 2" descr="preencoded.png">    </p:cNvPr>
          <p:cNvPicPr>
            <a:picLocks noChangeAspect="1"/>
          </p:cNvPicPr>
          <p:nvPr/>
        </p:nvPicPr>
        <p:blipFill>
          <a:blip r:embed="rId3"/>
          <a:stretch>
            <a:fillRect/>
          </a:stretch>
        </p:blipFill>
        <p:spPr>
          <a:xfrm>
            <a:off x="4443984" y="1783080"/>
            <a:ext cx="274320" cy="274320"/>
          </a:xfrm>
          <a:prstGeom prst="rect">
            <a:avLst/>
          </a:prstGeom>
        </p:spPr>
      </p:pic>
      <p:sp>
        <p:nvSpPr>
          <p:cNvPr id="17" name="Text 12"/>
          <p:cNvSpPr txBox="1"/>
          <p:nvPr/>
        </p:nvSpPr>
        <p:spPr>
          <a:xfrm>
            <a:off x="3895344"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5개 영역 중심</a:t>
            </a:r>
            <a:endParaRPr lang="en-US" sz="1200" dirty="0"/>
          </a:p>
        </p:txBody>
      </p:sp>
      <p:sp>
        <p:nvSpPr>
          <p:cNvPr id="18" name="Shape 13"/>
          <p:cNvSpPr/>
          <p:nvPr/>
        </p:nvSpPr>
        <p:spPr>
          <a:xfrm>
            <a:off x="5504688" y="1417320"/>
            <a:ext cx="1517904" cy="1920240"/>
          </a:xfrm>
          <a:prstGeom prst="roundRect">
            <a:avLst>
              <a:gd name="adj" fmla="val 9036"/>
            </a:avLst>
          </a:prstGeom>
          <a:solidFill>
            <a:srgbClr val="F9E1E3"/>
          </a:solidFill>
          <a:ln/>
        </p:spPr>
      </p:sp>
      <p:sp>
        <p:nvSpPr>
          <p:cNvPr id="19" name="Shape 14"/>
          <p:cNvSpPr/>
          <p:nvPr/>
        </p:nvSpPr>
        <p:spPr>
          <a:xfrm>
            <a:off x="5989320" y="1645920"/>
            <a:ext cx="548640" cy="548640"/>
          </a:xfrm>
          <a:prstGeom prst="ellipse">
            <a:avLst/>
          </a:prstGeom>
          <a:solidFill>
            <a:srgbClr val="E8A1A8"/>
          </a:solidFill>
          <a:ln/>
        </p:spPr>
      </p:sp>
      <p:pic>
        <p:nvPicPr>
          <p:cNvPr id="20" name="Image 3" descr="preencoded.png">    </p:cNvPr>
          <p:cNvPicPr>
            <a:picLocks noChangeAspect="1"/>
          </p:cNvPicPr>
          <p:nvPr/>
        </p:nvPicPr>
        <p:blipFill>
          <a:blip r:embed="rId4"/>
          <a:stretch>
            <a:fillRect/>
          </a:stretch>
        </p:blipFill>
        <p:spPr>
          <a:xfrm>
            <a:off x="6126480" y="1783080"/>
            <a:ext cx="274320" cy="274320"/>
          </a:xfrm>
          <a:prstGeom prst="rect">
            <a:avLst/>
          </a:prstGeom>
        </p:spPr>
      </p:pic>
      <p:sp>
        <p:nvSpPr>
          <p:cNvPr id="21" name="Text 15"/>
          <p:cNvSpPr txBox="1"/>
          <p:nvPr/>
        </p:nvSpPr>
        <p:spPr>
          <a:xfrm>
            <a:off x="5577840"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0~5세가 경험해야</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할 내용</a:t>
            </a:r>
            <a:endParaRPr lang="en-US" sz="1200" dirty="0"/>
          </a:p>
        </p:txBody>
      </p:sp>
      <p:sp>
        <p:nvSpPr>
          <p:cNvPr id="22" name="Shape 16"/>
          <p:cNvSpPr/>
          <p:nvPr/>
        </p:nvSpPr>
        <p:spPr>
          <a:xfrm>
            <a:off x="7187184" y="1417320"/>
            <a:ext cx="1517904" cy="1920240"/>
          </a:xfrm>
          <a:prstGeom prst="roundRect">
            <a:avLst>
              <a:gd name="adj" fmla="val 9036"/>
            </a:avLst>
          </a:prstGeom>
          <a:solidFill>
            <a:srgbClr val="EEF4EF"/>
          </a:solidFill>
          <a:ln/>
        </p:spPr>
      </p:sp>
      <p:sp>
        <p:nvSpPr>
          <p:cNvPr id="23" name="Shape 17"/>
          <p:cNvSpPr/>
          <p:nvPr/>
        </p:nvSpPr>
        <p:spPr>
          <a:xfrm>
            <a:off x="7671816" y="1645920"/>
            <a:ext cx="548640" cy="548640"/>
          </a:xfrm>
          <a:prstGeom prst="ellipse">
            <a:avLst/>
          </a:prstGeom>
          <a:solidFill>
            <a:srgbClr val="A9CBB0"/>
          </a:solidFill>
          <a:ln/>
        </p:spPr>
      </p:sp>
      <p:pic>
        <p:nvPicPr>
          <p:cNvPr id="24" name="Image 4" descr="preencoded.png">    </p:cNvPr>
          <p:cNvPicPr>
            <a:picLocks noChangeAspect="1"/>
          </p:cNvPicPr>
          <p:nvPr/>
        </p:nvPicPr>
        <p:blipFill>
          <a:blip r:embed="rId5"/>
          <a:stretch>
            <a:fillRect/>
          </a:stretch>
        </p:blipFill>
        <p:spPr>
          <a:xfrm>
            <a:off x="7808976" y="1783080"/>
            <a:ext cx="274320" cy="274320"/>
          </a:xfrm>
          <a:prstGeom prst="rect">
            <a:avLst/>
          </a:prstGeom>
        </p:spPr>
      </p:pic>
      <p:sp>
        <p:nvSpPr>
          <p:cNvPr id="25" name="Text 18"/>
          <p:cNvSpPr txBox="1"/>
          <p:nvPr/>
        </p:nvSpPr>
        <p:spPr>
          <a:xfrm>
            <a:off x="7260336"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초등학교 교육과정</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과의 연계성</a:t>
            </a:r>
            <a:endParaRPr lang="en-US" sz="1200" dirty="0"/>
          </a:p>
        </p:txBody>
      </p:sp>
      <p:sp>
        <p:nvSpPr>
          <p:cNvPr id="26" name="Text 19"/>
          <p:cNvSpPr txBox="1"/>
          <p:nvPr/>
        </p:nvSpPr>
        <p:spPr>
          <a:xfrm>
            <a:off x="457200" y="3611880"/>
            <a:ext cx="8229600" cy="274320"/>
          </a:xfrm>
          <a:prstGeom prst="rect">
            <a:avLst/>
          </a:prstGeom>
          <a:noFill/>
          <a:ln/>
        </p:spPr>
        <p:txBody>
          <a:bodyPr wrap="square" lIns="0" tIns="0" rIns="0" bIns="0" rtlCol="0" anchor="ctr"/>
          <a:lstStyle/>
          <a:p>
            <a:pPr indent="0" marL="0">
              <a:buNone/>
            </a:pPr>
            <a:r>
              <a:rPr lang="en-US" sz="1300" b="1" dirty="0">
                <a:solidFill>
                  <a:srgbClr val="5E8C6A"/>
                </a:solidFill>
                <a:latin typeface="Malgun Gothic" pitchFamily="34" charset="0"/>
                <a:ea typeface="Malgun Gothic" pitchFamily="34" charset="-122"/>
                <a:cs typeface="Malgun Gothic" pitchFamily="34" charset="-120"/>
              </a:rPr>
              <a:t>5개 영역</a:t>
            </a:r>
            <a:endParaRPr lang="en-US" sz="1300" dirty="0"/>
          </a:p>
        </p:txBody>
      </p:sp>
      <p:sp>
        <p:nvSpPr>
          <p:cNvPr id="27" name="Shape 20"/>
          <p:cNvSpPr/>
          <p:nvPr/>
        </p:nvSpPr>
        <p:spPr>
          <a:xfrm>
            <a:off x="457200" y="3977640"/>
            <a:ext cx="1517904" cy="548640"/>
          </a:xfrm>
          <a:prstGeom prst="roundRect">
            <a:avLst>
              <a:gd name="adj" fmla="val 50000"/>
            </a:avLst>
          </a:prstGeom>
          <a:solidFill>
            <a:srgbClr val="F2A27E"/>
          </a:solidFill>
          <a:ln/>
        </p:spPr>
      </p:sp>
      <p:sp>
        <p:nvSpPr>
          <p:cNvPr id="28" name="Text 21"/>
          <p:cNvSpPr txBox="1"/>
          <p:nvPr/>
        </p:nvSpPr>
        <p:spPr>
          <a:xfrm>
            <a:off x="457200"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신체운동·건강</a:t>
            </a:r>
            <a:endParaRPr lang="en-US" sz="1300" dirty="0"/>
          </a:p>
        </p:txBody>
      </p:sp>
      <p:sp>
        <p:nvSpPr>
          <p:cNvPr id="29" name="Shape 22"/>
          <p:cNvSpPr/>
          <p:nvPr/>
        </p:nvSpPr>
        <p:spPr>
          <a:xfrm>
            <a:off x="2139696" y="3977640"/>
            <a:ext cx="1517904" cy="548640"/>
          </a:xfrm>
          <a:prstGeom prst="roundRect">
            <a:avLst>
              <a:gd name="adj" fmla="val 50000"/>
            </a:avLst>
          </a:prstGeom>
          <a:solidFill>
            <a:srgbClr val="F5D07A"/>
          </a:solidFill>
          <a:ln/>
        </p:spPr>
      </p:sp>
      <p:sp>
        <p:nvSpPr>
          <p:cNvPr id="30" name="Text 23"/>
          <p:cNvSpPr txBox="1"/>
          <p:nvPr/>
        </p:nvSpPr>
        <p:spPr>
          <a:xfrm>
            <a:off x="2139696" y="3977640"/>
            <a:ext cx="1517904" cy="54864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의사소통</a:t>
            </a:r>
            <a:endParaRPr lang="en-US" sz="1300" dirty="0"/>
          </a:p>
        </p:txBody>
      </p:sp>
      <p:sp>
        <p:nvSpPr>
          <p:cNvPr id="31" name="Shape 24"/>
          <p:cNvSpPr/>
          <p:nvPr/>
        </p:nvSpPr>
        <p:spPr>
          <a:xfrm>
            <a:off x="3822192" y="3977640"/>
            <a:ext cx="1517904" cy="548640"/>
          </a:xfrm>
          <a:prstGeom prst="roundRect">
            <a:avLst>
              <a:gd name="adj" fmla="val 50000"/>
            </a:avLst>
          </a:prstGeom>
          <a:solidFill>
            <a:srgbClr val="5E8C6A"/>
          </a:solidFill>
          <a:ln/>
        </p:spPr>
      </p:sp>
      <p:sp>
        <p:nvSpPr>
          <p:cNvPr id="32" name="Text 25"/>
          <p:cNvSpPr txBox="1"/>
          <p:nvPr/>
        </p:nvSpPr>
        <p:spPr>
          <a:xfrm>
            <a:off x="3822192"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사회관계</a:t>
            </a:r>
            <a:endParaRPr lang="en-US" sz="1300" dirty="0"/>
          </a:p>
        </p:txBody>
      </p:sp>
      <p:sp>
        <p:nvSpPr>
          <p:cNvPr id="33" name="Shape 26"/>
          <p:cNvSpPr/>
          <p:nvPr/>
        </p:nvSpPr>
        <p:spPr>
          <a:xfrm>
            <a:off x="5504688" y="3977640"/>
            <a:ext cx="1517904" cy="548640"/>
          </a:xfrm>
          <a:prstGeom prst="roundRect">
            <a:avLst>
              <a:gd name="adj" fmla="val 50000"/>
            </a:avLst>
          </a:prstGeom>
          <a:solidFill>
            <a:srgbClr val="E8A1A8"/>
          </a:solidFill>
          <a:ln/>
        </p:spPr>
      </p:sp>
      <p:sp>
        <p:nvSpPr>
          <p:cNvPr id="34" name="Text 27"/>
          <p:cNvSpPr txBox="1"/>
          <p:nvPr/>
        </p:nvSpPr>
        <p:spPr>
          <a:xfrm>
            <a:off x="5504688"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예술경험</a:t>
            </a:r>
            <a:endParaRPr lang="en-US" sz="1300" dirty="0"/>
          </a:p>
        </p:txBody>
      </p:sp>
      <p:sp>
        <p:nvSpPr>
          <p:cNvPr id="35" name="Shape 28"/>
          <p:cNvSpPr/>
          <p:nvPr/>
        </p:nvSpPr>
        <p:spPr>
          <a:xfrm>
            <a:off x="7187184" y="3977640"/>
            <a:ext cx="1517904" cy="548640"/>
          </a:xfrm>
          <a:prstGeom prst="roundRect">
            <a:avLst>
              <a:gd name="adj" fmla="val 50000"/>
            </a:avLst>
          </a:prstGeom>
          <a:solidFill>
            <a:srgbClr val="A9CBB0"/>
          </a:solidFill>
          <a:ln/>
        </p:spPr>
      </p:sp>
      <p:sp>
        <p:nvSpPr>
          <p:cNvPr id="36" name="Text 29"/>
          <p:cNvSpPr txBox="1"/>
          <p:nvPr/>
        </p:nvSpPr>
        <p:spPr>
          <a:xfrm>
            <a:off x="7187184"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자연탐구</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19</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표준보육과정의 운영</a:t>
            </a:r>
            <a:endParaRPr lang="en-US" sz="2800" dirty="0"/>
          </a:p>
        </p:txBody>
      </p:sp>
      <p:sp>
        <p:nvSpPr>
          <p:cNvPr id="5" name="Shape 3"/>
          <p:cNvSpPr/>
          <p:nvPr/>
        </p:nvSpPr>
        <p:spPr>
          <a:xfrm>
            <a:off x="457200" y="1097280"/>
            <a:ext cx="2615184" cy="3611880"/>
          </a:xfrm>
          <a:prstGeom prst="roundRect">
            <a:avLst>
              <a:gd name="adj" fmla="val 5245"/>
            </a:avLst>
          </a:prstGeom>
          <a:solidFill>
            <a:srgbClr val="FCE4D8"/>
          </a:solidFill>
          <a:ln/>
        </p:spPr>
      </p:sp>
      <p:sp>
        <p:nvSpPr>
          <p:cNvPr id="6" name="Shape 4"/>
          <p:cNvSpPr/>
          <p:nvPr/>
        </p:nvSpPr>
        <p:spPr>
          <a:xfrm>
            <a:off x="640080" y="1234440"/>
            <a:ext cx="457200" cy="45720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54380" y="1348740"/>
            <a:ext cx="228600" cy="228600"/>
          </a:xfrm>
          <a:prstGeom prst="rect">
            <a:avLst/>
          </a:prstGeom>
        </p:spPr>
      </p:pic>
      <p:sp>
        <p:nvSpPr>
          <p:cNvPr id="8" name="Text 5"/>
          <p:cNvSpPr txBox="1"/>
          <p:nvPr/>
        </p:nvSpPr>
        <p:spPr>
          <a:xfrm>
            <a:off x="1188720"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① 편성·운영</a:t>
            </a:r>
            <a:endParaRPr lang="en-US" sz="1600" dirty="0"/>
          </a:p>
        </p:txBody>
      </p:sp>
      <p:sp>
        <p:nvSpPr>
          <p:cNvPr id="9" name="Text 6"/>
          <p:cNvSpPr txBox="1"/>
          <p:nvPr/>
        </p:nvSpPr>
        <p:spPr>
          <a:xfrm>
            <a:off x="594360"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기관 운영 시간·실정에 맞게 계획</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바깥놀이 포함, 충분한 놀이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성·장애·종교·가족·문화 차별 없이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발달·장애 정도에 따라 조정</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가정·지역사회와 협력</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교사 연수로 운영 개선</a:t>
            </a:r>
            <a:endParaRPr lang="en-US" sz="1250" dirty="0"/>
          </a:p>
        </p:txBody>
      </p:sp>
      <p:sp>
        <p:nvSpPr>
          <p:cNvPr id="10" name="Shape 7"/>
          <p:cNvSpPr/>
          <p:nvPr/>
        </p:nvSpPr>
        <p:spPr>
          <a:xfrm>
            <a:off x="3264408" y="1097280"/>
            <a:ext cx="2615184" cy="3611880"/>
          </a:xfrm>
          <a:prstGeom prst="roundRect">
            <a:avLst>
              <a:gd name="adj" fmla="val 5245"/>
            </a:avLst>
          </a:prstGeom>
          <a:solidFill>
            <a:srgbClr val="DCEBDD"/>
          </a:solidFill>
          <a:ln/>
        </p:spPr>
      </p:sp>
      <p:sp>
        <p:nvSpPr>
          <p:cNvPr id="11" name="Shape 8"/>
          <p:cNvSpPr/>
          <p:nvPr/>
        </p:nvSpPr>
        <p:spPr>
          <a:xfrm>
            <a:off x="3447288" y="1234440"/>
            <a:ext cx="457200" cy="45720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3561588" y="1348740"/>
            <a:ext cx="228600" cy="228600"/>
          </a:xfrm>
          <a:prstGeom prst="rect">
            <a:avLst/>
          </a:prstGeom>
        </p:spPr>
      </p:pic>
      <p:sp>
        <p:nvSpPr>
          <p:cNvPr id="13" name="Text 9"/>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② 교수·학습</a:t>
            </a:r>
            <a:endParaRPr lang="en-US" sz="1600" dirty="0"/>
          </a:p>
        </p:txBody>
      </p:sp>
      <p:sp>
        <p:nvSpPr>
          <p:cNvPr id="14" name="Text 10"/>
          <p:cNvSpPr txBox="1"/>
          <p:nvPr/>
        </p:nvSpPr>
        <p:spPr>
          <a:xfrm>
            <a:off x="3401568"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흥미·관심 따라 자유롭게 놀이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놀이를 통해 배우기</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다양한 실내외 환경 구성</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능동적 상호작용(영유아·교사·환경)</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5개 영역을 통합적으로 경험</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개별 요구·특성에 맞게</a:t>
            </a:r>
            <a:endParaRPr lang="en-US" sz="1250" dirty="0"/>
          </a:p>
        </p:txBody>
      </p:sp>
      <p:sp>
        <p:nvSpPr>
          <p:cNvPr id="15" name="Shape 11"/>
          <p:cNvSpPr/>
          <p:nvPr/>
        </p:nvSpPr>
        <p:spPr>
          <a:xfrm>
            <a:off x="6071616" y="1097280"/>
            <a:ext cx="2615184" cy="3611880"/>
          </a:xfrm>
          <a:prstGeom prst="roundRect">
            <a:avLst>
              <a:gd name="adj" fmla="val 5245"/>
            </a:avLst>
          </a:prstGeom>
          <a:solidFill>
            <a:srgbClr val="FDF3D6"/>
          </a:solidFill>
          <a:ln/>
        </p:spPr>
      </p:sp>
      <p:sp>
        <p:nvSpPr>
          <p:cNvPr id="16" name="Shape 12"/>
          <p:cNvSpPr/>
          <p:nvPr/>
        </p:nvSpPr>
        <p:spPr>
          <a:xfrm>
            <a:off x="6254496" y="1234440"/>
            <a:ext cx="457200" cy="457200"/>
          </a:xfrm>
          <a:prstGeom prst="ellipse">
            <a:avLst/>
          </a:prstGeom>
          <a:solidFill>
            <a:srgbClr val="F5D07A"/>
          </a:solidFill>
          <a:ln/>
        </p:spPr>
      </p:sp>
      <p:pic>
        <p:nvPicPr>
          <p:cNvPr id="17" name="Image 2" descr="preencoded.png">    </p:cNvPr>
          <p:cNvPicPr>
            <a:picLocks noChangeAspect="1"/>
          </p:cNvPicPr>
          <p:nvPr/>
        </p:nvPicPr>
        <p:blipFill>
          <a:blip r:embed="rId3"/>
          <a:stretch>
            <a:fillRect/>
          </a:stretch>
        </p:blipFill>
        <p:spPr>
          <a:xfrm>
            <a:off x="6368796" y="1348740"/>
            <a:ext cx="228600" cy="228600"/>
          </a:xfrm>
          <a:prstGeom prst="rect">
            <a:avLst/>
          </a:prstGeom>
        </p:spPr>
      </p:pic>
      <p:sp>
        <p:nvSpPr>
          <p:cNvPr id="18" name="Text 13"/>
          <p:cNvSpPr txBox="1"/>
          <p:nvPr/>
        </p:nvSpPr>
        <p:spPr>
          <a:xfrm>
            <a:off x="6803136"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③ 평가</a:t>
            </a:r>
            <a:endParaRPr lang="en-US" sz="1600" dirty="0"/>
          </a:p>
        </p:txBody>
      </p:sp>
      <p:sp>
        <p:nvSpPr>
          <p:cNvPr id="19" name="Text 14"/>
          <p:cNvSpPr txBox="1"/>
          <p:nvPr/>
        </p:nvSpPr>
        <p:spPr>
          <a:xfrm>
            <a:off x="6208776"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운영의 질 진단·개선 위해 계획·실시</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영유아의 특성·변화와 운영을 평가</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목적에 맞는 방법 사용</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결과는 영유아 이해와 운영 개선에 활용</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20</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연령별 목표 및 내용: 5개 영역과 내용범주</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0~1세 · 2세 · 3~5세 모두 같은 5개 영역 (교육부고시 제2024-23호)</a:t>
            </a:r>
            <a:endParaRPr lang="en-US" sz="1200" dirty="0"/>
          </a:p>
        </p:txBody>
      </p:sp>
      <p:sp>
        <p:nvSpPr>
          <p:cNvPr id="6" name="Shape 4"/>
          <p:cNvSpPr/>
          <p:nvPr/>
        </p:nvSpPr>
        <p:spPr>
          <a:xfrm>
            <a:off x="457200" y="1325880"/>
            <a:ext cx="1517904" cy="457200"/>
          </a:xfrm>
          <a:prstGeom prst="roundRect">
            <a:avLst>
              <a:gd name="adj" fmla="val 24000"/>
            </a:avLst>
          </a:prstGeom>
          <a:solidFill>
            <a:srgbClr val="F2A27E"/>
          </a:solidFill>
          <a:ln/>
        </p:spPr>
      </p:sp>
      <p:sp>
        <p:nvSpPr>
          <p:cNvPr id="7" name="Text 5"/>
          <p:cNvSpPr txBox="1"/>
          <p:nvPr/>
        </p:nvSpPr>
        <p:spPr>
          <a:xfrm>
            <a:off x="457200"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신체운동·건강</a:t>
            </a:r>
            <a:endParaRPr lang="en-US" sz="1300" dirty="0"/>
          </a:p>
        </p:txBody>
      </p:sp>
      <p:sp>
        <p:nvSpPr>
          <p:cNvPr id="8" name="Shape 6"/>
          <p:cNvSpPr/>
          <p:nvPr/>
        </p:nvSpPr>
        <p:spPr>
          <a:xfrm>
            <a:off x="457200" y="1874520"/>
            <a:ext cx="1517904" cy="438912"/>
          </a:xfrm>
          <a:prstGeom prst="roundRect">
            <a:avLst>
              <a:gd name="adj" fmla="val 20833"/>
            </a:avLst>
          </a:prstGeom>
          <a:solidFill>
            <a:srgbClr val="F4F7F4"/>
          </a:solidFill>
          <a:ln/>
        </p:spPr>
      </p:sp>
      <p:sp>
        <p:nvSpPr>
          <p:cNvPr id="9" name="Text 7"/>
          <p:cNvSpPr txBox="1"/>
          <p:nvPr/>
        </p:nvSpPr>
        <p:spPr>
          <a:xfrm>
            <a:off x="502920"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신체활동 즐기기</a:t>
            </a:r>
            <a:endParaRPr lang="en-US" sz="1050" dirty="0"/>
          </a:p>
        </p:txBody>
      </p:sp>
      <p:sp>
        <p:nvSpPr>
          <p:cNvPr id="10" name="Shape 8"/>
          <p:cNvSpPr/>
          <p:nvPr/>
        </p:nvSpPr>
        <p:spPr>
          <a:xfrm>
            <a:off x="457200" y="2386584"/>
            <a:ext cx="1517904" cy="438912"/>
          </a:xfrm>
          <a:prstGeom prst="roundRect">
            <a:avLst>
              <a:gd name="adj" fmla="val 20833"/>
            </a:avLst>
          </a:prstGeom>
          <a:solidFill>
            <a:srgbClr val="F4F7F4"/>
          </a:solidFill>
          <a:ln/>
        </p:spPr>
      </p:sp>
      <p:sp>
        <p:nvSpPr>
          <p:cNvPr id="11" name="Text 9"/>
          <p:cNvSpPr txBox="1"/>
          <p:nvPr/>
        </p:nvSpPr>
        <p:spPr>
          <a:xfrm>
            <a:off x="502920"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건강하게 생활하기</a:t>
            </a:r>
            <a:endParaRPr lang="en-US" sz="1050" dirty="0"/>
          </a:p>
        </p:txBody>
      </p:sp>
      <p:sp>
        <p:nvSpPr>
          <p:cNvPr id="12" name="Shape 10"/>
          <p:cNvSpPr/>
          <p:nvPr/>
        </p:nvSpPr>
        <p:spPr>
          <a:xfrm>
            <a:off x="457200" y="2898648"/>
            <a:ext cx="1517904" cy="438912"/>
          </a:xfrm>
          <a:prstGeom prst="roundRect">
            <a:avLst>
              <a:gd name="adj" fmla="val 20833"/>
            </a:avLst>
          </a:prstGeom>
          <a:solidFill>
            <a:srgbClr val="F4F7F4"/>
          </a:solidFill>
          <a:ln/>
        </p:spPr>
      </p:sp>
      <p:sp>
        <p:nvSpPr>
          <p:cNvPr id="13" name="Text 11"/>
          <p:cNvSpPr txBox="1"/>
          <p:nvPr/>
        </p:nvSpPr>
        <p:spPr>
          <a:xfrm>
            <a:off x="502920"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안전하게 생활하기</a:t>
            </a:r>
            <a:endParaRPr lang="en-US" sz="1050" dirty="0"/>
          </a:p>
        </p:txBody>
      </p:sp>
      <p:sp>
        <p:nvSpPr>
          <p:cNvPr id="14" name="Shape 12"/>
          <p:cNvSpPr/>
          <p:nvPr/>
        </p:nvSpPr>
        <p:spPr>
          <a:xfrm>
            <a:off x="2139696" y="1325880"/>
            <a:ext cx="1517904" cy="457200"/>
          </a:xfrm>
          <a:prstGeom prst="roundRect">
            <a:avLst>
              <a:gd name="adj" fmla="val 24000"/>
            </a:avLst>
          </a:prstGeom>
          <a:solidFill>
            <a:srgbClr val="F5D07A"/>
          </a:solidFill>
          <a:ln/>
        </p:spPr>
      </p:sp>
      <p:sp>
        <p:nvSpPr>
          <p:cNvPr id="15" name="Text 13"/>
          <p:cNvSpPr txBox="1"/>
          <p:nvPr/>
        </p:nvSpPr>
        <p:spPr>
          <a:xfrm>
            <a:off x="2139696" y="1325880"/>
            <a:ext cx="1517904" cy="45720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의사소통</a:t>
            </a:r>
            <a:endParaRPr lang="en-US" sz="1300" dirty="0"/>
          </a:p>
        </p:txBody>
      </p:sp>
      <p:sp>
        <p:nvSpPr>
          <p:cNvPr id="16" name="Shape 14"/>
          <p:cNvSpPr/>
          <p:nvPr/>
        </p:nvSpPr>
        <p:spPr>
          <a:xfrm>
            <a:off x="2139696" y="1874520"/>
            <a:ext cx="1517904" cy="438912"/>
          </a:xfrm>
          <a:prstGeom prst="roundRect">
            <a:avLst>
              <a:gd name="adj" fmla="val 20833"/>
            </a:avLst>
          </a:prstGeom>
          <a:solidFill>
            <a:srgbClr val="F4F7F4"/>
          </a:solidFill>
          <a:ln/>
        </p:spPr>
      </p:sp>
      <p:sp>
        <p:nvSpPr>
          <p:cNvPr id="17" name="Text 15"/>
          <p:cNvSpPr txBox="1"/>
          <p:nvPr/>
        </p:nvSpPr>
        <p:spPr>
          <a:xfrm>
            <a:off x="2185416"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듣기와 말하기</a:t>
            </a:r>
            <a:endParaRPr lang="en-US" sz="1050" dirty="0"/>
          </a:p>
        </p:txBody>
      </p:sp>
      <p:sp>
        <p:nvSpPr>
          <p:cNvPr id="18" name="Shape 16"/>
          <p:cNvSpPr/>
          <p:nvPr/>
        </p:nvSpPr>
        <p:spPr>
          <a:xfrm>
            <a:off x="2139696" y="2386584"/>
            <a:ext cx="1517904" cy="438912"/>
          </a:xfrm>
          <a:prstGeom prst="roundRect">
            <a:avLst>
              <a:gd name="adj" fmla="val 20833"/>
            </a:avLst>
          </a:prstGeom>
          <a:solidFill>
            <a:srgbClr val="F4F7F4"/>
          </a:solidFill>
          <a:ln/>
        </p:spPr>
      </p:sp>
      <p:sp>
        <p:nvSpPr>
          <p:cNvPr id="19" name="Text 17"/>
          <p:cNvSpPr txBox="1"/>
          <p:nvPr/>
        </p:nvSpPr>
        <p:spPr>
          <a:xfrm>
            <a:off x="2185416"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읽기와 쓰기에</a:t>
            </a:r>
            <a:endParaRPr lang="en-US" sz="1050" dirty="0"/>
          </a:p>
          <a:p>
            <a:pPr algn="ctr" indent="0" marL="0">
              <a:buNone/>
            </a:pPr>
            <a:r>
              <a:rPr lang="en-US" sz="1050" dirty="0">
                <a:solidFill>
                  <a:srgbClr val="33413A"/>
                </a:solidFill>
                <a:latin typeface="Malgun Gothic" pitchFamily="34" charset="0"/>
                <a:ea typeface="Malgun Gothic" pitchFamily="34" charset="-122"/>
                <a:cs typeface="Malgun Gothic" pitchFamily="34" charset="-120"/>
              </a:rPr>
              <a:t>관심 가지기</a:t>
            </a:r>
            <a:endParaRPr lang="en-US" sz="1050" dirty="0"/>
          </a:p>
        </p:txBody>
      </p:sp>
      <p:sp>
        <p:nvSpPr>
          <p:cNvPr id="20" name="Shape 18"/>
          <p:cNvSpPr/>
          <p:nvPr/>
        </p:nvSpPr>
        <p:spPr>
          <a:xfrm>
            <a:off x="2139696" y="2898648"/>
            <a:ext cx="1517904" cy="438912"/>
          </a:xfrm>
          <a:prstGeom prst="roundRect">
            <a:avLst>
              <a:gd name="adj" fmla="val 20833"/>
            </a:avLst>
          </a:prstGeom>
          <a:solidFill>
            <a:srgbClr val="F4F7F4"/>
          </a:solidFill>
          <a:ln/>
        </p:spPr>
      </p:sp>
      <p:sp>
        <p:nvSpPr>
          <p:cNvPr id="21" name="Text 19"/>
          <p:cNvSpPr txBox="1"/>
          <p:nvPr/>
        </p:nvSpPr>
        <p:spPr>
          <a:xfrm>
            <a:off x="2185416"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책과 이야기 즐기기</a:t>
            </a:r>
            <a:endParaRPr lang="en-US" sz="1050" dirty="0"/>
          </a:p>
        </p:txBody>
      </p:sp>
      <p:sp>
        <p:nvSpPr>
          <p:cNvPr id="22" name="Shape 20"/>
          <p:cNvSpPr/>
          <p:nvPr/>
        </p:nvSpPr>
        <p:spPr>
          <a:xfrm>
            <a:off x="3822192" y="1325880"/>
            <a:ext cx="1517904" cy="457200"/>
          </a:xfrm>
          <a:prstGeom prst="roundRect">
            <a:avLst>
              <a:gd name="adj" fmla="val 24000"/>
            </a:avLst>
          </a:prstGeom>
          <a:solidFill>
            <a:srgbClr val="5E8C6A"/>
          </a:solidFill>
          <a:ln/>
        </p:spPr>
      </p:sp>
      <p:sp>
        <p:nvSpPr>
          <p:cNvPr id="23" name="Text 21"/>
          <p:cNvSpPr txBox="1"/>
          <p:nvPr/>
        </p:nvSpPr>
        <p:spPr>
          <a:xfrm>
            <a:off x="3822192"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사회관계</a:t>
            </a:r>
            <a:endParaRPr lang="en-US" sz="1300" dirty="0"/>
          </a:p>
        </p:txBody>
      </p:sp>
      <p:sp>
        <p:nvSpPr>
          <p:cNvPr id="24" name="Shape 22"/>
          <p:cNvSpPr/>
          <p:nvPr/>
        </p:nvSpPr>
        <p:spPr>
          <a:xfrm>
            <a:off x="3822192" y="1874520"/>
            <a:ext cx="1517904" cy="438912"/>
          </a:xfrm>
          <a:prstGeom prst="roundRect">
            <a:avLst>
              <a:gd name="adj" fmla="val 20833"/>
            </a:avLst>
          </a:prstGeom>
          <a:solidFill>
            <a:srgbClr val="F4F7F4"/>
          </a:solidFill>
          <a:ln/>
        </p:spPr>
      </p:sp>
      <p:sp>
        <p:nvSpPr>
          <p:cNvPr id="25" name="Text 23"/>
          <p:cNvSpPr txBox="1"/>
          <p:nvPr/>
        </p:nvSpPr>
        <p:spPr>
          <a:xfrm>
            <a:off x="3867912"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나를 알고 존중하기</a:t>
            </a:r>
            <a:endParaRPr lang="en-US" sz="1050" dirty="0"/>
          </a:p>
        </p:txBody>
      </p:sp>
      <p:sp>
        <p:nvSpPr>
          <p:cNvPr id="26" name="Shape 24"/>
          <p:cNvSpPr/>
          <p:nvPr/>
        </p:nvSpPr>
        <p:spPr>
          <a:xfrm>
            <a:off x="3822192" y="2386584"/>
            <a:ext cx="1517904" cy="438912"/>
          </a:xfrm>
          <a:prstGeom prst="roundRect">
            <a:avLst>
              <a:gd name="adj" fmla="val 20833"/>
            </a:avLst>
          </a:prstGeom>
          <a:solidFill>
            <a:srgbClr val="F4F7F4"/>
          </a:solidFill>
          <a:ln/>
        </p:spPr>
      </p:sp>
      <p:sp>
        <p:nvSpPr>
          <p:cNvPr id="27" name="Text 25"/>
          <p:cNvSpPr txBox="1"/>
          <p:nvPr/>
        </p:nvSpPr>
        <p:spPr>
          <a:xfrm>
            <a:off x="3867912"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더불어 생활하기</a:t>
            </a:r>
            <a:endParaRPr lang="en-US" sz="1050" dirty="0"/>
          </a:p>
        </p:txBody>
      </p:sp>
      <p:sp>
        <p:nvSpPr>
          <p:cNvPr id="28" name="Shape 26"/>
          <p:cNvSpPr/>
          <p:nvPr/>
        </p:nvSpPr>
        <p:spPr>
          <a:xfrm>
            <a:off x="3822192" y="2898648"/>
            <a:ext cx="1517904" cy="438912"/>
          </a:xfrm>
          <a:prstGeom prst="roundRect">
            <a:avLst>
              <a:gd name="adj" fmla="val 20833"/>
            </a:avLst>
          </a:prstGeom>
          <a:solidFill>
            <a:srgbClr val="FFFFFF"/>
          </a:solidFill>
          <a:ln w="15875">
            <a:solidFill>
              <a:srgbClr val="F2A27E"/>
            </a:solidFill>
            <a:prstDash val="dash"/>
          </a:ln>
        </p:spPr>
      </p:sp>
      <p:sp>
        <p:nvSpPr>
          <p:cNvPr id="29" name="Text 27"/>
          <p:cNvSpPr txBox="1"/>
          <p:nvPr/>
        </p:nvSpPr>
        <p:spPr>
          <a:xfrm>
            <a:off x="3867912" y="2898648"/>
            <a:ext cx="1426464" cy="438912"/>
          </a:xfrm>
          <a:prstGeom prst="rect">
            <a:avLst/>
          </a:prstGeom>
          <a:noFill/>
          <a:ln/>
        </p:spPr>
        <p:txBody>
          <a:bodyPr wrap="square" lIns="0" tIns="0" rIns="0" bIns="0" rtlCol="0" anchor="ctr"/>
          <a:lstStyle/>
          <a:p>
            <a:pPr algn="ctr" indent="0" marL="0">
              <a:buNone/>
            </a:pPr>
            <a:r>
              <a:rPr lang="en-US" sz="1050" dirty="0">
                <a:solidFill>
                  <a:srgbClr val="C0643E"/>
                </a:solidFill>
                <a:latin typeface="Malgun Gothic" pitchFamily="34" charset="0"/>
                <a:ea typeface="Malgun Gothic" pitchFamily="34" charset="-122"/>
                <a:cs typeface="Malgun Gothic" pitchFamily="34" charset="-120"/>
              </a:rPr>
              <a:t>사회에 관심 가지기</a:t>
            </a:r>
            <a:endParaRPr lang="en-US" sz="1050" dirty="0"/>
          </a:p>
        </p:txBody>
      </p:sp>
      <p:sp>
        <p:nvSpPr>
          <p:cNvPr id="30" name="Shape 28"/>
          <p:cNvSpPr/>
          <p:nvPr/>
        </p:nvSpPr>
        <p:spPr>
          <a:xfrm>
            <a:off x="5504688" y="1325880"/>
            <a:ext cx="1517904" cy="457200"/>
          </a:xfrm>
          <a:prstGeom prst="roundRect">
            <a:avLst>
              <a:gd name="adj" fmla="val 24000"/>
            </a:avLst>
          </a:prstGeom>
          <a:solidFill>
            <a:srgbClr val="E8A1A8"/>
          </a:solidFill>
          <a:ln/>
        </p:spPr>
      </p:sp>
      <p:sp>
        <p:nvSpPr>
          <p:cNvPr id="31" name="Text 29"/>
          <p:cNvSpPr txBox="1"/>
          <p:nvPr/>
        </p:nvSpPr>
        <p:spPr>
          <a:xfrm>
            <a:off x="5504688"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예술경험</a:t>
            </a:r>
            <a:endParaRPr lang="en-US" sz="1300" dirty="0"/>
          </a:p>
        </p:txBody>
      </p:sp>
      <p:sp>
        <p:nvSpPr>
          <p:cNvPr id="32" name="Shape 30"/>
          <p:cNvSpPr/>
          <p:nvPr/>
        </p:nvSpPr>
        <p:spPr>
          <a:xfrm>
            <a:off x="5504688" y="1874520"/>
            <a:ext cx="1517904" cy="438912"/>
          </a:xfrm>
          <a:prstGeom prst="roundRect">
            <a:avLst>
              <a:gd name="adj" fmla="val 20833"/>
            </a:avLst>
          </a:prstGeom>
          <a:solidFill>
            <a:srgbClr val="F4F7F4"/>
          </a:solidFill>
          <a:ln/>
        </p:spPr>
      </p:sp>
      <p:sp>
        <p:nvSpPr>
          <p:cNvPr id="33" name="Text 31"/>
          <p:cNvSpPr txBox="1"/>
          <p:nvPr/>
        </p:nvSpPr>
        <p:spPr>
          <a:xfrm>
            <a:off x="5550408"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아름다움 찾아보기</a:t>
            </a:r>
            <a:endParaRPr lang="en-US" sz="1050" dirty="0"/>
          </a:p>
        </p:txBody>
      </p:sp>
      <p:sp>
        <p:nvSpPr>
          <p:cNvPr id="34" name="Shape 32"/>
          <p:cNvSpPr/>
          <p:nvPr/>
        </p:nvSpPr>
        <p:spPr>
          <a:xfrm>
            <a:off x="5504688" y="2386584"/>
            <a:ext cx="1517904" cy="438912"/>
          </a:xfrm>
          <a:prstGeom prst="roundRect">
            <a:avLst>
              <a:gd name="adj" fmla="val 20833"/>
            </a:avLst>
          </a:prstGeom>
          <a:solidFill>
            <a:srgbClr val="F4F7F4"/>
          </a:solidFill>
          <a:ln/>
        </p:spPr>
      </p:sp>
      <p:sp>
        <p:nvSpPr>
          <p:cNvPr id="35" name="Text 33"/>
          <p:cNvSpPr txBox="1"/>
          <p:nvPr/>
        </p:nvSpPr>
        <p:spPr>
          <a:xfrm>
            <a:off x="5550408"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창의적으로 표현하기</a:t>
            </a:r>
            <a:endParaRPr lang="en-US" sz="1050" dirty="0"/>
          </a:p>
        </p:txBody>
      </p:sp>
      <p:sp>
        <p:nvSpPr>
          <p:cNvPr id="36" name="Shape 34"/>
          <p:cNvSpPr/>
          <p:nvPr/>
        </p:nvSpPr>
        <p:spPr>
          <a:xfrm>
            <a:off x="5504688" y="2898648"/>
            <a:ext cx="1517904" cy="438912"/>
          </a:xfrm>
          <a:prstGeom prst="roundRect">
            <a:avLst>
              <a:gd name="adj" fmla="val 20833"/>
            </a:avLst>
          </a:prstGeom>
          <a:solidFill>
            <a:srgbClr val="FFFFFF"/>
          </a:solidFill>
          <a:ln w="15875">
            <a:solidFill>
              <a:srgbClr val="F2A27E"/>
            </a:solidFill>
            <a:prstDash val="dash"/>
          </a:ln>
        </p:spPr>
      </p:sp>
      <p:sp>
        <p:nvSpPr>
          <p:cNvPr id="37" name="Text 35"/>
          <p:cNvSpPr txBox="1"/>
          <p:nvPr/>
        </p:nvSpPr>
        <p:spPr>
          <a:xfrm>
            <a:off x="5550408" y="2898648"/>
            <a:ext cx="1426464" cy="438912"/>
          </a:xfrm>
          <a:prstGeom prst="rect">
            <a:avLst/>
          </a:prstGeom>
          <a:noFill/>
          <a:ln/>
        </p:spPr>
        <p:txBody>
          <a:bodyPr wrap="square" lIns="0" tIns="0" rIns="0" bIns="0" rtlCol="0" anchor="ctr"/>
          <a:lstStyle/>
          <a:p>
            <a:pPr algn="ctr" indent="0" marL="0">
              <a:buNone/>
            </a:pPr>
            <a:r>
              <a:rPr lang="en-US" sz="1050" dirty="0">
                <a:solidFill>
                  <a:srgbClr val="C0643E"/>
                </a:solidFill>
                <a:latin typeface="Malgun Gothic" pitchFamily="34" charset="0"/>
                <a:ea typeface="Malgun Gothic" pitchFamily="34" charset="-122"/>
                <a:cs typeface="Malgun Gothic" pitchFamily="34" charset="-120"/>
              </a:rPr>
              <a:t>예술 감상하기</a:t>
            </a:r>
            <a:endParaRPr lang="en-US" sz="1050" dirty="0"/>
          </a:p>
        </p:txBody>
      </p:sp>
      <p:sp>
        <p:nvSpPr>
          <p:cNvPr id="38" name="Shape 36"/>
          <p:cNvSpPr/>
          <p:nvPr/>
        </p:nvSpPr>
        <p:spPr>
          <a:xfrm>
            <a:off x="7187184" y="1325880"/>
            <a:ext cx="1517904" cy="457200"/>
          </a:xfrm>
          <a:prstGeom prst="roundRect">
            <a:avLst>
              <a:gd name="adj" fmla="val 24000"/>
            </a:avLst>
          </a:prstGeom>
          <a:solidFill>
            <a:srgbClr val="A9CBB0"/>
          </a:solidFill>
          <a:ln/>
        </p:spPr>
      </p:sp>
      <p:sp>
        <p:nvSpPr>
          <p:cNvPr id="39" name="Text 37"/>
          <p:cNvSpPr txBox="1"/>
          <p:nvPr/>
        </p:nvSpPr>
        <p:spPr>
          <a:xfrm>
            <a:off x="7187184"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자연탐구</a:t>
            </a:r>
            <a:endParaRPr lang="en-US" sz="1300" dirty="0"/>
          </a:p>
        </p:txBody>
      </p:sp>
      <p:sp>
        <p:nvSpPr>
          <p:cNvPr id="40" name="Shape 38"/>
          <p:cNvSpPr/>
          <p:nvPr/>
        </p:nvSpPr>
        <p:spPr>
          <a:xfrm>
            <a:off x="7187184" y="1874520"/>
            <a:ext cx="1517904" cy="438912"/>
          </a:xfrm>
          <a:prstGeom prst="roundRect">
            <a:avLst>
              <a:gd name="adj" fmla="val 20833"/>
            </a:avLst>
          </a:prstGeom>
          <a:solidFill>
            <a:srgbClr val="F4F7F4"/>
          </a:solidFill>
          <a:ln/>
        </p:spPr>
      </p:sp>
      <p:sp>
        <p:nvSpPr>
          <p:cNvPr id="41" name="Text 39"/>
          <p:cNvSpPr txBox="1"/>
          <p:nvPr/>
        </p:nvSpPr>
        <p:spPr>
          <a:xfrm>
            <a:off x="7232904"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탐구 과정 즐기기</a:t>
            </a:r>
            <a:endParaRPr lang="en-US" sz="1050" dirty="0"/>
          </a:p>
        </p:txBody>
      </p:sp>
      <p:sp>
        <p:nvSpPr>
          <p:cNvPr id="42" name="Shape 40"/>
          <p:cNvSpPr/>
          <p:nvPr/>
        </p:nvSpPr>
        <p:spPr>
          <a:xfrm>
            <a:off x="7187184" y="2386584"/>
            <a:ext cx="1517904" cy="438912"/>
          </a:xfrm>
          <a:prstGeom prst="roundRect">
            <a:avLst>
              <a:gd name="adj" fmla="val 20833"/>
            </a:avLst>
          </a:prstGeom>
          <a:solidFill>
            <a:srgbClr val="F4F7F4"/>
          </a:solidFill>
          <a:ln/>
        </p:spPr>
      </p:sp>
      <p:sp>
        <p:nvSpPr>
          <p:cNvPr id="43" name="Text 41"/>
          <p:cNvSpPr txBox="1"/>
          <p:nvPr/>
        </p:nvSpPr>
        <p:spPr>
          <a:xfrm>
            <a:off x="7232904"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생활 속에서 탐구하기</a:t>
            </a:r>
            <a:endParaRPr lang="en-US" sz="1050" dirty="0"/>
          </a:p>
        </p:txBody>
      </p:sp>
      <p:sp>
        <p:nvSpPr>
          <p:cNvPr id="44" name="Shape 42"/>
          <p:cNvSpPr/>
          <p:nvPr/>
        </p:nvSpPr>
        <p:spPr>
          <a:xfrm>
            <a:off x="7187184" y="2898648"/>
            <a:ext cx="1517904" cy="438912"/>
          </a:xfrm>
          <a:prstGeom prst="roundRect">
            <a:avLst>
              <a:gd name="adj" fmla="val 20833"/>
            </a:avLst>
          </a:prstGeom>
          <a:solidFill>
            <a:srgbClr val="F4F7F4"/>
          </a:solidFill>
          <a:ln/>
        </p:spPr>
      </p:sp>
      <p:sp>
        <p:nvSpPr>
          <p:cNvPr id="45" name="Text 43"/>
          <p:cNvSpPr txBox="1"/>
          <p:nvPr/>
        </p:nvSpPr>
        <p:spPr>
          <a:xfrm>
            <a:off x="7232904"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자연과 더불어 살기</a:t>
            </a:r>
            <a:endParaRPr lang="en-US" sz="1050" dirty="0"/>
          </a:p>
        </p:txBody>
      </p:sp>
      <p:sp>
        <p:nvSpPr>
          <p:cNvPr id="46" name="Text 44"/>
          <p:cNvSpPr txBox="1"/>
          <p:nvPr/>
        </p:nvSpPr>
        <p:spPr>
          <a:xfrm>
            <a:off x="457200" y="3429000"/>
            <a:ext cx="8229600" cy="228600"/>
          </a:xfrm>
          <a:prstGeom prst="rect">
            <a:avLst/>
          </a:prstGeom>
          <a:noFill/>
          <a:ln/>
        </p:spPr>
        <p:txBody>
          <a:bodyPr wrap="square" lIns="0" tIns="0" rIns="0" bIns="0" rtlCol="0" anchor="ctr"/>
          <a:lstStyle/>
          <a:p>
            <a:pPr algn="r" indent="0" marL="0">
              <a:buNone/>
            </a:pPr>
            <a:r>
              <a:rPr lang="en-US" sz="1000" dirty="0">
                <a:solidFill>
                  <a:srgbClr val="C0643E"/>
                </a:solidFill>
                <a:latin typeface="Malgun Gothic" pitchFamily="34" charset="0"/>
                <a:ea typeface="Malgun Gothic" pitchFamily="34" charset="-122"/>
                <a:cs typeface="Malgun Gothic" pitchFamily="34" charset="-120"/>
              </a:rPr>
              <a:t>점선 = 3~5세에 추가되는 내용범주</a:t>
            </a:r>
            <a:endParaRPr lang="en-US" sz="1000" dirty="0"/>
          </a:p>
        </p:txBody>
      </p:sp>
      <p:sp>
        <p:nvSpPr>
          <p:cNvPr id="47" name="Shape 45"/>
          <p:cNvSpPr/>
          <p:nvPr/>
        </p:nvSpPr>
        <p:spPr>
          <a:xfrm>
            <a:off x="457200" y="3703320"/>
            <a:ext cx="8229600" cy="1051560"/>
          </a:xfrm>
          <a:prstGeom prst="roundRect">
            <a:avLst>
              <a:gd name="adj" fmla="val 13043"/>
            </a:avLst>
          </a:prstGeom>
          <a:solidFill>
            <a:srgbClr val="FDF3D6"/>
          </a:solidFill>
          <a:ln/>
        </p:spPr>
      </p:sp>
      <p:sp>
        <p:nvSpPr>
          <p:cNvPr id="48" name="Text 46"/>
          <p:cNvSpPr txBox="1"/>
          <p:nvPr/>
        </p:nvSpPr>
        <p:spPr>
          <a:xfrm>
            <a:off x="640080" y="3767328"/>
            <a:ext cx="2743200" cy="274320"/>
          </a:xfrm>
          <a:prstGeom prst="rect">
            <a:avLst/>
          </a:prstGeom>
          <a:noFill/>
          <a:ln/>
        </p:spPr>
        <p:txBody>
          <a:bodyPr wrap="square" lIns="0" tIns="0" rIns="0" bIns="0" rtlCol="0" anchor="ctr"/>
          <a:lstStyle/>
          <a:p>
            <a:pPr indent="0" marL="0">
              <a:buNone/>
            </a:pPr>
            <a:r>
              <a:rPr lang="en-US" sz="1200" b="1" dirty="0">
                <a:solidFill>
                  <a:srgbClr val="B08A2E"/>
                </a:solidFill>
                <a:latin typeface="Malgun Gothic" pitchFamily="34" charset="0"/>
                <a:ea typeface="Malgun Gothic" pitchFamily="34" charset="-122"/>
                <a:cs typeface="Malgun Gothic" pitchFamily="34" charset="-120"/>
              </a:rPr>
              <a:t>예) '안전하게 생활하기'</a:t>
            </a:r>
            <a:endParaRPr lang="en-US" sz="1200" dirty="0"/>
          </a:p>
        </p:txBody>
      </p:sp>
      <p:sp>
        <p:nvSpPr>
          <p:cNvPr id="49" name="Text 47"/>
          <p:cNvSpPr txBox="1"/>
          <p:nvPr/>
        </p:nvSpPr>
        <p:spPr>
          <a:xfrm>
            <a:off x="64008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0~1세</a:t>
            </a:r>
            <a:endParaRPr lang="en-US" sz="1200" dirty="0"/>
          </a:p>
        </p:txBody>
      </p:sp>
      <p:sp>
        <p:nvSpPr>
          <p:cNvPr id="50" name="Text 48"/>
          <p:cNvSpPr txBox="1"/>
          <p:nvPr/>
        </p:nvSpPr>
        <p:spPr>
          <a:xfrm>
            <a:off x="64008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위험하다는 말에 주의한다</a:t>
            </a:r>
            <a:endParaRPr lang="en-US" sz="1050" dirty="0"/>
          </a:p>
        </p:txBody>
      </p:sp>
      <p:sp>
        <p:nvSpPr>
          <p:cNvPr id="51" name="Text 49"/>
          <p:cNvSpPr txBox="1"/>
          <p:nvPr/>
        </p:nvSpPr>
        <p:spPr>
          <a:xfrm>
            <a:off x="2971800" y="4114800"/>
            <a:ext cx="320040" cy="457200"/>
          </a:xfrm>
          <a:prstGeom prst="rect">
            <a:avLst/>
          </a:prstGeom>
          <a:noFill/>
          <a:ln/>
        </p:spPr>
        <p:txBody>
          <a:bodyPr wrap="square" lIns="0" tIns="0" rIns="0" bIns="0" rtlCol="0" anchor="ctr"/>
          <a:lstStyle/>
          <a:p>
            <a:pPr algn="ctr" indent="0" marL="0">
              <a:buNone/>
            </a:pPr>
            <a:r>
              <a:rPr lang="en-US" sz="1600" b="1" dirty="0">
                <a:solidFill>
                  <a:srgbClr val="B08A2E"/>
                </a:solidFill>
                <a:latin typeface="Malgun Gothic" pitchFamily="34" charset="0"/>
                <a:ea typeface="Malgun Gothic" pitchFamily="34" charset="-122"/>
                <a:cs typeface="Malgun Gothic" pitchFamily="34" charset="-120"/>
              </a:rPr>
              <a:t>→</a:t>
            </a:r>
            <a:endParaRPr lang="en-US" sz="1600" dirty="0"/>
          </a:p>
        </p:txBody>
      </p:sp>
      <p:sp>
        <p:nvSpPr>
          <p:cNvPr id="52" name="Text 50"/>
          <p:cNvSpPr txBox="1"/>
          <p:nvPr/>
        </p:nvSpPr>
        <p:spPr>
          <a:xfrm>
            <a:off x="333756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2세</a:t>
            </a:r>
            <a:endParaRPr lang="en-US" sz="1200" dirty="0"/>
          </a:p>
        </p:txBody>
      </p:sp>
      <p:sp>
        <p:nvSpPr>
          <p:cNvPr id="53" name="Text 51"/>
          <p:cNvSpPr txBox="1"/>
          <p:nvPr/>
        </p:nvSpPr>
        <p:spPr>
          <a:xfrm>
            <a:off x="333756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위험한 상황에 대처하는</a:t>
            </a:r>
            <a:endParaRPr lang="en-US" sz="1050" dirty="0"/>
          </a:p>
          <a:p>
            <a:pPr indent="0" marL="0">
              <a:buNone/>
            </a:pPr>
            <a:r>
              <a:rPr lang="en-US" sz="1050" dirty="0">
                <a:solidFill>
                  <a:srgbClr val="33413A"/>
                </a:solidFill>
                <a:latin typeface="Malgun Gothic" pitchFamily="34" charset="0"/>
                <a:ea typeface="Malgun Gothic" pitchFamily="34" charset="-122"/>
                <a:cs typeface="Malgun Gothic" pitchFamily="34" charset="-120"/>
              </a:rPr>
              <a:t>방법을 경험한다</a:t>
            </a:r>
            <a:endParaRPr lang="en-US" sz="1050" dirty="0"/>
          </a:p>
        </p:txBody>
      </p:sp>
      <p:sp>
        <p:nvSpPr>
          <p:cNvPr id="54" name="Text 52"/>
          <p:cNvSpPr txBox="1"/>
          <p:nvPr/>
        </p:nvSpPr>
        <p:spPr>
          <a:xfrm>
            <a:off x="5669280" y="4114800"/>
            <a:ext cx="320040" cy="457200"/>
          </a:xfrm>
          <a:prstGeom prst="rect">
            <a:avLst/>
          </a:prstGeom>
          <a:noFill/>
          <a:ln/>
        </p:spPr>
        <p:txBody>
          <a:bodyPr wrap="square" lIns="0" tIns="0" rIns="0" bIns="0" rtlCol="0" anchor="ctr"/>
          <a:lstStyle/>
          <a:p>
            <a:pPr algn="ctr" indent="0" marL="0">
              <a:buNone/>
            </a:pPr>
            <a:r>
              <a:rPr lang="en-US" sz="1600" b="1" dirty="0">
                <a:solidFill>
                  <a:srgbClr val="B08A2E"/>
                </a:solidFill>
                <a:latin typeface="Malgun Gothic" pitchFamily="34" charset="0"/>
                <a:ea typeface="Malgun Gothic" pitchFamily="34" charset="-122"/>
                <a:cs typeface="Malgun Gothic" pitchFamily="34" charset="-120"/>
              </a:rPr>
              <a:t>→</a:t>
            </a:r>
            <a:endParaRPr lang="en-US" sz="1600" dirty="0"/>
          </a:p>
        </p:txBody>
      </p:sp>
      <p:sp>
        <p:nvSpPr>
          <p:cNvPr id="55" name="Text 53"/>
          <p:cNvSpPr txBox="1"/>
          <p:nvPr/>
        </p:nvSpPr>
        <p:spPr>
          <a:xfrm>
            <a:off x="603504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3~5세</a:t>
            </a:r>
            <a:endParaRPr lang="en-US" sz="1200" dirty="0"/>
          </a:p>
        </p:txBody>
      </p:sp>
      <p:sp>
        <p:nvSpPr>
          <p:cNvPr id="56" name="Text 54"/>
          <p:cNvSpPr txBox="1"/>
          <p:nvPr/>
        </p:nvSpPr>
        <p:spPr>
          <a:xfrm>
            <a:off x="603504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안전사고·화재·재난·학대·유괴 등에</a:t>
            </a:r>
            <a:endParaRPr lang="en-US" sz="1050" dirty="0"/>
          </a:p>
          <a:p>
            <a:pPr indent="0" marL="0">
              <a:buNone/>
            </a:pPr>
            <a:r>
              <a:rPr lang="en-US" sz="1050" dirty="0">
                <a:solidFill>
                  <a:srgbClr val="33413A"/>
                </a:solidFill>
                <a:latin typeface="Malgun Gothic" pitchFamily="34" charset="0"/>
                <a:ea typeface="Malgun Gothic" pitchFamily="34" charset="-122"/>
                <a:cs typeface="Malgun Gothic" pitchFamily="34" charset="-120"/>
              </a:rPr>
              <a:t>대처하는 방법을 경험한다</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21</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관련 법규와 지침의 이해</a:t>
            </a:r>
            <a:endParaRPr lang="en-US" sz="2800" dirty="0"/>
          </a:p>
        </p:txBody>
      </p:sp>
      <p:sp>
        <p:nvSpPr>
          <p:cNvPr id="5" name="Text 3"/>
          <p:cNvSpPr txBox="1"/>
          <p:nvPr/>
        </p:nvSpPr>
        <p:spPr>
          <a:xfrm>
            <a:off x="457200" y="1097280"/>
            <a:ext cx="4114800" cy="11887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교육청 지침을 먼저 파악, 필수 교육 내용은 반드시 반영</a:t>
            </a:r>
            <a:endParaRPr lang="en-US" sz="1250" dirty="0"/>
          </a:p>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교육청마다 다를 수 있음 → 소속 교육청 계획서·지침 확인</a:t>
            </a:r>
            <a:endParaRPr lang="en-US" sz="1250" dirty="0"/>
          </a:p>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운영계획서·연간 학사일정에도 지침 반영</a:t>
            </a:r>
            <a:endParaRPr lang="en-US" sz="1250" dirty="0"/>
          </a:p>
        </p:txBody>
      </p:sp>
      <p:sp>
        <p:nvSpPr>
          <p:cNvPr id="6" name="Shape 4"/>
          <p:cNvSpPr/>
          <p:nvPr/>
        </p:nvSpPr>
        <p:spPr>
          <a:xfrm>
            <a:off x="457200" y="2423160"/>
            <a:ext cx="1965960" cy="1417320"/>
          </a:xfrm>
          <a:prstGeom prst="roundRect">
            <a:avLst>
              <a:gd name="adj" fmla="val 9677"/>
            </a:avLst>
          </a:prstGeom>
          <a:solidFill>
            <a:srgbClr val="FCE4D8"/>
          </a:solidFill>
          <a:ln/>
        </p:spPr>
      </p:sp>
      <p:sp>
        <p:nvSpPr>
          <p:cNvPr id="7" name="Text 5"/>
          <p:cNvSpPr txBox="1"/>
          <p:nvPr/>
        </p:nvSpPr>
        <p:spPr>
          <a:xfrm>
            <a:off x="594360" y="2514600"/>
            <a:ext cx="1737360" cy="320040"/>
          </a:xfrm>
          <a:prstGeom prst="rect">
            <a:avLst/>
          </a:prstGeom>
          <a:noFill/>
          <a:ln/>
        </p:spPr>
        <p:txBody>
          <a:bodyPr wrap="square" lIns="0" tIns="0" rIns="0" bIns="0" rtlCol="0" anchor="ctr"/>
          <a:lstStyle/>
          <a:p>
            <a:pPr indent="0" marL="0">
              <a:buNone/>
            </a:pPr>
            <a:r>
              <a:rPr lang="en-US" sz="1400" b="1" dirty="0">
                <a:solidFill>
                  <a:srgbClr val="C0643E"/>
                </a:solidFill>
                <a:latin typeface="Malgun Gothic" pitchFamily="34" charset="0"/>
                <a:ea typeface="Malgun Gothic" pitchFamily="34" charset="-122"/>
                <a:cs typeface="Malgun Gothic" pitchFamily="34" charset="-120"/>
              </a:rPr>
              <a:t>유치원</a:t>
            </a:r>
            <a:endParaRPr lang="en-US" sz="1400" dirty="0"/>
          </a:p>
        </p:txBody>
      </p:sp>
      <p:sp>
        <p:nvSpPr>
          <p:cNvPr id="8" name="Text 6"/>
          <p:cNvSpPr txBox="1"/>
          <p:nvPr/>
        </p:nvSpPr>
        <p:spPr>
          <a:xfrm>
            <a:off x="594360" y="2834640"/>
            <a:ext cx="1737360" cy="914400"/>
          </a:xfrm>
          <a:prstGeom prst="rect">
            <a:avLst/>
          </a:prstGeom>
          <a:noFill/>
          <a:ln/>
        </p:spPr>
        <p:txBody>
          <a:bodyPr wrap="square" lIns="0" tIns="0" rIns="0" bIns="0" rtlCol="0" anchor="t"/>
          <a:lstStyle/>
          <a:p>
            <a:pPr indent="0" marL="0">
              <a:buNone/>
            </a:pPr>
            <a:r>
              <a:rPr lang="en-US" sz="1100" dirty="0">
                <a:solidFill>
                  <a:srgbClr val="33413A"/>
                </a:solidFill>
                <a:latin typeface="Malgun Gothic" pitchFamily="34" charset="0"/>
                <a:ea typeface="Malgun Gothic" pitchFamily="34" charset="-122"/>
                <a:cs typeface="Malgun Gothic" pitchFamily="34" charset="-120"/>
              </a:rPr>
              <a:t>교육청별 유치원 교육과정 편성·운영 지침</a:t>
            </a:r>
            <a:endParaRPr lang="en-US" sz="1100" dirty="0"/>
          </a:p>
          <a:p>
            <a:pPr indent="0" marL="0">
              <a:buNone/>
            </a:pPr>
            <a:r>
              <a:rPr lang="en-US" sz="1100" dirty="0">
                <a:solidFill>
                  <a:srgbClr val="33413A"/>
                </a:solidFill>
                <a:latin typeface="Malgun Gothic" pitchFamily="34" charset="0"/>
                <a:ea typeface="Malgun Gothic" pitchFamily="34" charset="-122"/>
                <a:cs typeface="Malgun Gothic" pitchFamily="34" charset="-120"/>
              </a:rPr>
              <a:t>유아교육계획</a:t>
            </a:r>
            <a:endParaRPr lang="en-US" sz="1100" dirty="0"/>
          </a:p>
        </p:txBody>
      </p:sp>
      <p:sp>
        <p:nvSpPr>
          <p:cNvPr id="9" name="Shape 7"/>
          <p:cNvSpPr/>
          <p:nvPr/>
        </p:nvSpPr>
        <p:spPr>
          <a:xfrm>
            <a:off x="2560320" y="2423160"/>
            <a:ext cx="1965960" cy="1417320"/>
          </a:xfrm>
          <a:prstGeom prst="roundRect">
            <a:avLst>
              <a:gd name="adj" fmla="val 9677"/>
            </a:avLst>
          </a:prstGeom>
          <a:solidFill>
            <a:srgbClr val="DCEBDD"/>
          </a:solidFill>
          <a:ln/>
        </p:spPr>
      </p:sp>
      <p:sp>
        <p:nvSpPr>
          <p:cNvPr id="10" name="Text 8"/>
          <p:cNvSpPr txBox="1"/>
          <p:nvPr/>
        </p:nvSpPr>
        <p:spPr>
          <a:xfrm>
            <a:off x="2697480" y="2514600"/>
            <a:ext cx="173736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어린이집</a:t>
            </a:r>
            <a:endParaRPr lang="en-US" sz="1400" dirty="0"/>
          </a:p>
        </p:txBody>
      </p:sp>
      <p:sp>
        <p:nvSpPr>
          <p:cNvPr id="11" name="Text 9"/>
          <p:cNvSpPr txBox="1"/>
          <p:nvPr/>
        </p:nvSpPr>
        <p:spPr>
          <a:xfrm>
            <a:off x="2697480" y="2834640"/>
            <a:ext cx="1737360" cy="914400"/>
          </a:xfrm>
          <a:prstGeom prst="rect">
            <a:avLst/>
          </a:prstGeom>
          <a:noFill/>
          <a:ln/>
        </p:spPr>
        <p:txBody>
          <a:bodyPr wrap="square" lIns="0" tIns="0" rIns="0" bIns="0" rtlCol="0" anchor="t"/>
          <a:lstStyle/>
          <a:p>
            <a:pPr indent="0" marL="0">
              <a:buNone/>
            </a:pPr>
            <a:r>
              <a:rPr lang="en-US" sz="1100" dirty="0">
                <a:solidFill>
                  <a:srgbClr val="33413A"/>
                </a:solidFill>
                <a:latin typeface="Malgun Gothic" pitchFamily="34" charset="0"/>
                <a:ea typeface="Malgun Gothic" pitchFamily="34" charset="-122"/>
                <a:cs typeface="Malgun Gothic" pitchFamily="34" charset="-120"/>
              </a:rPr>
              <a:t>보육사업안내서</a:t>
            </a:r>
            <a:endParaRPr lang="en-US" sz="1100" dirty="0"/>
          </a:p>
          <a:p>
            <a:pPr indent="0" marL="0">
              <a:buNone/>
            </a:pPr>
            <a:r>
              <a:rPr lang="en-US" sz="1100" dirty="0">
                <a:solidFill>
                  <a:srgbClr val="33413A"/>
                </a:solidFill>
                <a:latin typeface="Malgun Gothic" pitchFamily="34" charset="0"/>
                <a:ea typeface="Malgun Gothic" pitchFamily="34" charset="-122"/>
                <a:cs typeface="Malgun Gothic" pitchFamily="34" charset="-120"/>
              </a:rPr>
              <a:t>업무별 매뉴얼</a:t>
            </a:r>
            <a:endParaRPr lang="en-US" sz="1100" dirty="0"/>
          </a:p>
        </p:txBody>
      </p:sp>
      <p:sp>
        <p:nvSpPr>
          <p:cNvPr id="12" name="Shape 10"/>
          <p:cNvSpPr/>
          <p:nvPr/>
        </p:nvSpPr>
        <p:spPr>
          <a:xfrm>
            <a:off x="4754880" y="1097280"/>
            <a:ext cx="3931920" cy="2743200"/>
          </a:xfrm>
          <a:prstGeom prst="roundRect">
            <a:avLst>
              <a:gd name="adj" fmla="val 5000"/>
            </a:avLst>
          </a:prstGeom>
          <a:solidFill>
            <a:srgbClr val="F4F7F4"/>
          </a:solidFill>
          <a:ln/>
        </p:spPr>
      </p:sp>
      <p:sp>
        <p:nvSpPr>
          <p:cNvPr id="13" name="Text 11"/>
          <p:cNvSpPr txBox="1"/>
          <p:nvPr/>
        </p:nvSpPr>
        <p:spPr>
          <a:xfrm>
            <a:off x="4937760" y="1188720"/>
            <a:ext cx="3566160" cy="548640"/>
          </a:xfrm>
          <a:prstGeom prst="rect">
            <a:avLst/>
          </a:prstGeom>
          <a:noFill/>
          <a:ln/>
        </p:spPr>
        <p:txBody>
          <a:bodyPr wrap="square" lIns="0" tIns="0" rIns="0" bIns="0" rtlCol="0" anchor="ctr"/>
          <a:lstStyle/>
          <a:p>
            <a:pPr indent="0" marL="0">
              <a:buNone/>
            </a:pPr>
            <a:r>
              <a:rPr lang="en-US" sz="1200" b="1" dirty="0">
                <a:solidFill>
                  <a:srgbClr val="6E7B73"/>
                </a:solidFill>
                <a:latin typeface="Malgun Gothic" pitchFamily="34" charset="0"/>
                <a:ea typeface="Malgun Gothic" pitchFamily="34" charset="-122"/>
                <a:cs typeface="Malgun Gothic" pitchFamily="34" charset="-120"/>
              </a:rPr>
              <a:t>〈표 5-5〉 2025학년도 경기도 유치원</a:t>
            </a:r>
            <a:endParaRPr lang="en-US" sz="1200" dirty="0"/>
          </a:p>
          <a:p>
            <a:pPr indent="0" marL="0">
              <a:buNone/>
            </a:pPr>
            <a:r>
              <a:rPr lang="en-US" sz="1200" b="1" dirty="0">
                <a:solidFill>
                  <a:srgbClr val="6E7B73"/>
                </a:solidFill>
                <a:latin typeface="Malgun Gothic" pitchFamily="34" charset="0"/>
                <a:ea typeface="Malgun Gothic" pitchFamily="34" charset="-122"/>
                <a:cs typeface="Malgun Gothic" pitchFamily="34" charset="-120"/>
              </a:rPr>
              <a:t>교육과정 편성·운영 지침 구성</a:t>
            </a:r>
            <a:endParaRPr lang="en-US" sz="1200" dirty="0"/>
          </a:p>
        </p:txBody>
      </p:sp>
      <p:sp>
        <p:nvSpPr>
          <p:cNvPr id="14" name="Shape 12"/>
          <p:cNvSpPr/>
          <p:nvPr/>
        </p:nvSpPr>
        <p:spPr>
          <a:xfrm>
            <a:off x="4937760" y="1828800"/>
            <a:ext cx="685800" cy="292608"/>
          </a:xfrm>
          <a:prstGeom prst="roundRect">
            <a:avLst>
              <a:gd name="adj" fmla="val 50000"/>
            </a:avLst>
          </a:prstGeom>
          <a:solidFill>
            <a:srgbClr val="5E8C6A"/>
          </a:solidFill>
          <a:ln/>
        </p:spPr>
      </p:sp>
      <p:sp>
        <p:nvSpPr>
          <p:cNvPr id="15" name="Text 13"/>
          <p:cNvSpPr txBox="1"/>
          <p:nvPr/>
        </p:nvSpPr>
        <p:spPr>
          <a:xfrm>
            <a:off x="4937760" y="1828800"/>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제1부</a:t>
            </a:r>
            <a:endParaRPr lang="en-US" sz="1050" dirty="0"/>
          </a:p>
        </p:txBody>
      </p:sp>
      <p:sp>
        <p:nvSpPr>
          <p:cNvPr id="16" name="Text 14"/>
          <p:cNvSpPr txBox="1"/>
          <p:nvPr/>
        </p:nvSpPr>
        <p:spPr>
          <a:xfrm>
            <a:off x="5760720" y="1828800"/>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경기교육의 방향</a:t>
            </a:r>
            <a:endParaRPr lang="en-US" sz="1200" dirty="0"/>
          </a:p>
        </p:txBody>
      </p:sp>
      <p:sp>
        <p:nvSpPr>
          <p:cNvPr id="17" name="Shape 15"/>
          <p:cNvSpPr/>
          <p:nvPr/>
        </p:nvSpPr>
        <p:spPr>
          <a:xfrm>
            <a:off x="4937760" y="2212848"/>
            <a:ext cx="685800" cy="292608"/>
          </a:xfrm>
          <a:prstGeom prst="roundRect">
            <a:avLst>
              <a:gd name="adj" fmla="val 50000"/>
            </a:avLst>
          </a:prstGeom>
          <a:solidFill>
            <a:srgbClr val="5E8C6A"/>
          </a:solidFill>
          <a:ln/>
        </p:spPr>
      </p:sp>
      <p:sp>
        <p:nvSpPr>
          <p:cNvPr id="18" name="Text 16"/>
          <p:cNvSpPr txBox="1"/>
          <p:nvPr/>
        </p:nvSpPr>
        <p:spPr>
          <a:xfrm>
            <a:off x="4937760" y="2212848"/>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제2부</a:t>
            </a:r>
            <a:endParaRPr lang="en-US" sz="1050" dirty="0"/>
          </a:p>
        </p:txBody>
      </p:sp>
      <p:sp>
        <p:nvSpPr>
          <p:cNvPr id="19" name="Text 17"/>
          <p:cNvSpPr txBox="1"/>
          <p:nvPr/>
        </p:nvSpPr>
        <p:spPr>
          <a:xfrm>
            <a:off x="5760720" y="2212848"/>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경기유아교육의 방향</a:t>
            </a:r>
            <a:endParaRPr lang="en-US" sz="1200" dirty="0"/>
          </a:p>
        </p:txBody>
      </p:sp>
      <p:sp>
        <p:nvSpPr>
          <p:cNvPr id="20" name="Shape 18"/>
          <p:cNvSpPr/>
          <p:nvPr/>
        </p:nvSpPr>
        <p:spPr>
          <a:xfrm>
            <a:off x="4937760" y="2596896"/>
            <a:ext cx="685800" cy="292608"/>
          </a:xfrm>
          <a:prstGeom prst="roundRect">
            <a:avLst>
              <a:gd name="adj" fmla="val 50000"/>
            </a:avLst>
          </a:prstGeom>
          <a:solidFill>
            <a:srgbClr val="5E8C6A"/>
          </a:solidFill>
          <a:ln/>
        </p:spPr>
      </p:sp>
      <p:sp>
        <p:nvSpPr>
          <p:cNvPr id="21" name="Text 19"/>
          <p:cNvSpPr txBox="1"/>
          <p:nvPr/>
        </p:nvSpPr>
        <p:spPr>
          <a:xfrm>
            <a:off x="4937760" y="2596896"/>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제3부</a:t>
            </a:r>
            <a:endParaRPr lang="en-US" sz="1050" dirty="0"/>
          </a:p>
        </p:txBody>
      </p:sp>
      <p:sp>
        <p:nvSpPr>
          <p:cNvPr id="22" name="Text 20"/>
          <p:cNvSpPr txBox="1"/>
          <p:nvPr/>
        </p:nvSpPr>
        <p:spPr>
          <a:xfrm>
            <a:off x="5760720" y="2596896"/>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교육과정 편성·운영</a:t>
            </a:r>
            <a:endParaRPr lang="en-US" sz="1200" dirty="0"/>
          </a:p>
        </p:txBody>
      </p:sp>
      <p:sp>
        <p:nvSpPr>
          <p:cNvPr id="23" name="Shape 21"/>
          <p:cNvSpPr/>
          <p:nvPr/>
        </p:nvSpPr>
        <p:spPr>
          <a:xfrm>
            <a:off x="4937760" y="2980944"/>
            <a:ext cx="685800" cy="292608"/>
          </a:xfrm>
          <a:prstGeom prst="roundRect">
            <a:avLst>
              <a:gd name="adj" fmla="val 50000"/>
            </a:avLst>
          </a:prstGeom>
          <a:solidFill>
            <a:srgbClr val="5E8C6A"/>
          </a:solidFill>
          <a:ln/>
        </p:spPr>
      </p:sp>
      <p:sp>
        <p:nvSpPr>
          <p:cNvPr id="24" name="Text 22"/>
          <p:cNvSpPr txBox="1"/>
          <p:nvPr/>
        </p:nvSpPr>
        <p:spPr>
          <a:xfrm>
            <a:off x="4937760" y="2980944"/>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제4부</a:t>
            </a:r>
            <a:endParaRPr lang="en-US" sz="1050" dirty="0"/>
          </a:p>
        </p:txBody>
      </p:sp>
      <p:sp>
        <p:nvSpPr>
          <p:cNvPr id="25" name="Text 23"/>
          <p:cNvSpPr txBox="1"/>
          <p:nvPr/>
        </p:nvSpPr>
        <p:spPr>
          <a:xfrm>
            <a:off x="5760720" y="2980944"/>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영역별 목표 및 내용</a:t>
            </a:r>
            <a:endParaRPr lang="en-US" sz="1200" dirty="0"/>
          </a:p>
        </p:txBody>
      </p:sp>
      <p:sp>
        <p:nvSpPr>
          <p:cNvPr id="26" name="Shape 24"/>
          <p:cNvSpPr/>
          <p:nvPr/>
        </p:nvSpPr>
        <p:spPr>
          <a:xfrm>
            <a:off x="4937760" y="3364992"/>
            <a:ext cx="685800" cy="292608"/>
          </a:xfrm>
          <a:prstGeom prst="roundRect">
            <a:avLst>
              <a:gd name="adj" fmla="val 50000"/>
            </a:avLst>
          </a:prstGeom>
          <a:solidFill>
            <a:srgbClr val="5E8C6A"/>
          </a:solidFill>
          <a:ln/>
        </p:spPr>
      </p:sp>
      <p:sp>
        <p:nvSpPr>
          <p:cNvPr id="27" name="Text 25"/>
          <p:cNvSpPr txBox="1"/>
          <p:nvPr/>
        </p:nvSpPr>
        <p:spPr>
          <a:xfrm>
            <a:off x="4937760" y="3364992"/>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제5부</a:t>
            </a:r>
            <a:endParaRPr lang="en-US" sz="1050" dirty="0"/>
          </a:p>
        </p:txBody>
      </p:sp>
      <p:sp>
        <p:nvSpPr>
          <p:cNvPr id="28" name="Text 26"/>
          <p:cNvSpPr txBox="1"/>
          <p:nvPr/>
        </p:nvSpPr>
        <p:spPr>
          <a:xfrm>
            <a:off x="5760720" y="3364992"/>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교육과정 편성·운영 지원</a:t>
            </a:r>
            <a:endParaRPr lang="en-US" sz="1200" dirty="0"/>
          </a:p>
        </p:txBody>
      </p:sp>
      <p:sp>
        <p:nvSpPr>
          <p:cNvPr id="29" name="Shape 27"/>
          <p:cNvSpPr/>
          <p:nvPr/>
        </p:nvSpPr>
        <p:spPr>
          <a:xfrm>
            <a:off x="457200" y="4069080"/>
            <a:ext cx="8229600" cy="640080"/>
          </a:xfrm>
          <a:prstGeom prst="roundRect">
            <a:avLst>
              <a:gd name="adj" fmla="val 50000"/>
            </a:avLst>
          </a:prstGeom>
          <a:solidFill>
            <a:srgbClr val="5E8C6A"/>
          </a:solidFill>
          <a:ln/>
        </p:spPr>
      </p:sp>
      <p:sp>
        <p:nvSpPr>
          <p:cNvPr id="30" name="Text 28"/>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국가수준 교육과정 이해  +  지역·기관의 지침 반영  =  좋은 교육과정 운영</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교육과정의 계획과 운영</dc:title>
  <dc:subject>PptxGenJS Presentation</dc:subject>
  <dc:creator>PptxGenJS</dc:creator>
  <cp:lastModifiedBy>PptxGenJS</cp:lastModifiedBy>
  <cp:revision>1</cp:revision>
  <dcterms:created xsi:type="dcterms:W3CDTF">2026-09-27T00:16:00Z</dcterms:created>
  <dcterms:modified xsi:type="dcterms:W3CDTF">2026-09-27T00:16:00Z</dcterms:modified>
</cp:coreProperties>
</file>