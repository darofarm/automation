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오늘 발표할 내용은 '영유아교육과정의 계획 및 운영'입니다.
어린이집과 유치원이 교육과정을 계획하고 운영할 때 무엇을 기준으로 삼는지, 그리고 나라에서 정한 표준보육과정에는 어떤 내용이 담겨 있는지 살펴보겠습니다.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어린이집과 유치원이 교육과정을 계획할 때는 교육과정에 대한 전문 지식만 있으면 되는 게 아닙니다. 여러 가지 기준을 함께 살펴봐야 해요.
우리 원이 추구하는 교육 방향, 나라에서 정한 교육과정, 우리 지역의 유아교육 방향, 그해의 유치원 교육과정 편성·운영 지침, 어린이집 보육사업안내 등을 모두 참고합니다.
오른쪽 표를 보시면, 나라에서 정한 교육과정은 이렇게 나뉩니다. 0~2세는 어린이집의 표준보육과정만 있고, 3~5세는 어린이집이든 유치원이든 누리과정으로 내용이 같습니다.
그래서 선생님들이 함께 이 교육과정을 공부하고, 우리 기관에 어떻게 반영할지 의논하는 것이 중요합니다. 오늘은 어린이집의 표준보육과정을 중심으로 살펴보겠습니다.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표준보육과정이 어떤 사람으로 키우고 싶은지, 즉 '추구하는 인간상'입니다. 건강한 사람, 자주적인 사람, 창의적인 사람, 감성이 풍부한 사람, 더불어 사는 사람, 이렇게 다섯 가지예요.
표준보육과정의 목적은 아이들이 놀이를 통해 몸과 마음이 건강하게 골고루 자라고, 바른 인성과 민주 시민의 기초를 기르는 것입니다.
목표는 0~2세와 3~5세로 나뉘는데, 다섯 가지 목표를 인간상과 나란히 놓고 보면 서로 짝을 이루는 것을 볼 수 있어요.
차이를 보면, 0~2세는 '관심을 가진다', '스스로 하고자 한다'처럼 시작하는 단계이고, 3~5세는 '생활습관을 기른다', '해결하는 능력을 기른다', '태도를 기른다'처럼 한 단계 더 나아갑니다. 나이에 맞게 목표가 조금씩 깊어지는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표준보육과정을 만들 때 중요하게 생각한 점, '구성의 중점'입니다. 기본 전제는 아이 한 명 한 명이 저마다의 특성을 가진 소중한 존재라는 것이에요.
첫째, 0~5세 모든 아이에게 적용할 수 있게 만들었습니다.
둘째, 앞에서 본 인간상을 이루기 위한 지식, 기능, 태도와 가치를 담았습니다.
셋째, 신체운동·건강, 의사소통, 사회관계, 예술경험, 자연탐구의 5개 영역을 중심으로 구성했습니다.
넷째, 0~5세 아이들이 꼭 경험해야 할 내용으로 채웠습니다.
다섯째, 초등학교 교육과정과 자연스럽게 이어지도록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실제로 어떻게 운영할까요? 편성·운영, 교수·학습, 평가 세 부분으로 나눠 볼게요.
편성·운영에서는 기관의 운영 시간과 형편에 맞게 계획을 세우고, 하루 일과에 바깥놀이를 넣어 충분히 놀 수 있게 합니다. 성별, 장애, 종교, 가족이나 문화 배경 때문에 차별받지 않도록 하고, 아이의 발달과 장애 정도에 맞게 조정합니다. 가정, 지역사회와 함께하고, 교사 연수를 통해 계속 더 좋아지도록 합니다.
교수·학습에서는 아이가 흥미에 따라 자유롭게 놀고, 놀이를 통해 배우도록 합니다. 실내외 환경을 다양하게 꾸미고, 아이와 친구, 아이와 선생님, 아이와 환경이 활발하게 주고받도록 합니다. 5개 영역이 아이의 경험 속에서 자연스럽게 합쳐지게 하고, 쉬는 것과 일상생활, 배우는 방식도 아이마다 맞춰 줍니다.
평가는 운영이 잘 되고 있는지 점검하고 더 좋게 만들기 위해 합니다. 아이의 특성과 변화, 그리고 운영이 잘 되었는지를 평가하고, 목적에 맞는 방법을 씁니다. 평가 결과는 아이를 더 잘 이해하고 운영을 고치는 자료로 활용합니다.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이번에는 연령별 목표와 내용입니다. 교재에는 0~1세, 2세, 3~5세로 나눈 자세한 표가 있는데요(교육부고시 제2024-23호), 오늘은 큰 틀만 보겠습니다.
모든 연령이 똑같이 5개 영역으로 되어 있고, 각 영역 안에 '내용범주'가 있습니다.
신체운동·건강은 신체활동 즐기기, 건강하게 생활하기, 안전하게 생활하기.
의사소통은 듣기와 말하기, 읽기와 쓰기에 관심 가지기, 책과 이야기 즐기기.
사회관계는 나를 알고 존중하기, 더불어 생활하기.
예술경험은 아름다움 찾아보기, 창의적으로 표현하기.
자연탐구는 탐구 과정 즐기기, 생활 속에서 탐구하기, 자연과 더불어 살기입니다.
3~5세가 되면 사회관계에 '사회에 관심 가지기', 예술경험에 '예술 감상하기'가 더해집니다.
같은 범주라도 나이에 따라 내용이 깊어져요. 예를 들어 '안전하게 생활하기'를 보면, 0~1세는 '위험하다는 말에 주의한다', 2세는 '위험한 상황에 대처하는 방법을 경험한다', 3~5세는 '안전사고, 화재, 재난, 학대, 유괴 등에 대처하는 방법을 경험한다'로 점점 넓어집니다.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관련 법규와 지침입니다. 교육과정을 계획할 때는 먼저 교육청의 지침을 확인하고, 꼭 가르쳐야 하는 내용이 있으면 반드시 넣어야 합니다. 교육청 지침에는 바뀐 법의 내용과 지역 교육청, 지방자치단체의 지침이 담겨 있기 때문이에요.
유치원은 매년 교육청별 유치원 교육과정 편성·운영 지침과 유아교육계획을, 어린이집은 보육사업안내서와 업무별 매뉴얼을 참고하면 됩니다. 교육청마다 내용이 다를 수 있으니 꼭 우리 교육청 자료를 봐야 하고, 운영계획서나 1년 학사일정을 짤 때도 마찬가지입니다.
오른쪽은 예시로 2025학년도 경기도 유치원 교육과정 편성·운영 지침의 목차입니다(경기도교육청, 2025). 경기교육의 방향부터 영역별 목표와 내용, 운영 지원까지 다섯 부분으로 되어 있어요.
정리하면, 교육과정을 잘 운영하려면 나라의 교육과정을 이해하고, 지역과 기관의 지침까지 함께 살펴야 한다는 것입니다. 이상으로 발표를 마치겠습니다.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5E8C6A"/>
        </a:solidFill>
      </p:bgPr>
    </p:bg>
    <p:spTree>
      <p:nvGrpSpPr>
        <p:cNvPr id="1" name=""/>
        <p:cNvGrpSpPr/>
        <p:nvPr/>
      </p:nvGrpSpPr>
      <p:grpSpPr>
        <a:xfrm>
          <a:off x="0" y="0"/>
          <a:ext cx="0" cy="0"/>
          <a:chOff x="0" y="0"/>
          <a:chExt cx="0" cy="0"/>
        </a:xfrm>
      </p:grpSpPr>
      <p:sp>
        <p:nvSpPr>
          <p:cNvPr id="2" name="Shape 0"/>
          <p:cNvSpPr/>
          <p:nvPr/>
        </p:nvSpPr>
        <p:spPr>
          <a:xfrm>
            <a:off x="6400800" y="-274320"/>
            <a:ext cx="2926080" cy="2926080"/>
          </a:xfrm>
          <a:prstGeom prst="ellipse">
            <a:avLst/>
          </a:prstGeom>
          <a:solidFill>
            <a:srgbClr val="7FA88A"/>
          </a:solidFill>
          <a:ln/>
        </p:spPr>
      </p:sp>
      <p:sp>
        <p:nvSpPr>
          <p:cNvPr id="3" name="Shape 1"/>
          <p:cNvSpPr/>
          <p:nvPr/>
        </p:nvSpPr>
        <p:spPr>
          <a:xfrm>
            <a:off x="6766560" y="91440"/>
            <a:ext cx="2194560" cy="2194560"/>
          </a:xfrm>
          <a:prstGeom prst="ellipse">
            <a:avLst/>
          </a:prstGeom>
          <a:solidFill>
            <a:srgbClr val="A9CBB0"/>
          </a:solidFill>
          <a:ln/>
        </p:spPr>
      </p:sp>
      <p:sp>
        <p:nvSpPr>
          <p:cNvPr id="4" name="Shape 2"/>
          <p:cNvSpPr/>
          <p:nvPr/>
        </p:nvSpPr>
        <p:spPr>
          <a:xfrm>
            <a:off x="7132320" y="457200"/>
            <a:ext cx="1463040" cy="1463040"/>
          </a:xfrm>
          <a:prstGeom prst="ellipse">
            <a:avLst/>
          </a:prstGeom>
          <a:solidFill>
            <a:srgbClr val="DCEBDD"/>
          </a:solidFill>
          <a:ln/>
        </p:spPr>
      </p:sp>
      <p:sp>
        <p:nvSpPr>
          <p:cNvPr id="5" name="Shape 3"/>
          <p:cNvSpPr/>
          <p:nvPr/>
        </p:nvSpPr>
        <p:spPr>
          <a:xfrm>
            <a:off x="7498080" y="822960"/>
            <a:ext cx="731520" cy="731520"/>
          </a:xfrm>
          <a:prstGeom prst="ellipse">
            <a:avLst/>
          </a:prstGeom>
          <a:solidFill>
            <a:srgbClr val="F5D07A"/>
          </a:solidFill>
          <a:ln/>
        </p:spPr>
      </p:sp>
      <p:sp>
        <p:nvSpPr>
          <p:cNvPr id="6" name="Shape 4"/>
          <p:cNvSpPr/>
          <p:nvPr/>
        </p:nvSpPr>
        <p:spPr>
          <a:xfrm>
            <a:off x="7863840" y="3566160"/>
            <a:ext cx="1463040" cy="1463040"/>
          </a:xfrm>
          <a:prstGeom prst="ellipse">
            <a:avLst/>
          </a:prstGeom>
          <a:solidFill>
            <a:srgbClr val="F2A27E"/>
          </a:solidFill>
          <a:ln/>
        </p:spPr>
      </p:sp>
      <p:sp>
        <p:nvSpPr>
          <p:cNvPr id="7" name="Shape 5"/>
          <p:cNvSpPr/>
          <p:nvPr/>
        </p:nvSpPr>
        <p:spPr>
          <a:xfrm>
            <a:off x="8107680" y="3810000"/>
            <a:ext cx="975360" cy="975360"/>
          </a:xfrm>
          <a:prstGeom prst="ellipse">
            <a:avLst/>
          </a:prstGeom>
          <a:solidFill>
            <a:srgbClr val="FCE4D8"/>
          </a:solidFill>
          <a:ln/>
        </p:spPr>
      </p:sp>
      <p:sp>
        <p:nvSpPr>
          <p:cNvPr id="8" name="Shape 6"/>
          <p:cNvSpPr/>
          <p:nvPr/>
        </p:nvSpPr>
        <p:spPr>
          <a:xfrm>
            <a:off x="8351520" y="4053840"/>
            <a:ext cx="487680" cy="487680"/>
          </a:xfrm>
          <a:prstGeom prst="ellipse">
            <a:avLst/>
          </a:prstGeom>
          <a:solidFill>
            <a:srgbClr val="F2A27E"/>
          </a:solidFill>
          <a:ln/>
        </p:spPr>
      </p:sp>
      <p:sp>
        <p:nvSpPr>
          <p:cNvPr id="9" name="Text 7"/>
          <p:cNvSpPr txBox="1"/>
          <p:nvPr/>
        </p:nvSpPr>
        <p:spPr>
          <a:xfrm>
            <a:off x="640080" y="1234440"/>
            <a:ext cx="5486400" cy="365760"/>
          </a:xfrm>
          <a:prstGeom prst="rect">
            <a:avLst/>
          </a:prstGeom>
          <a:noFill/>
          <a:ln/>
        </p:spPr>
        <p:txBody>
          <a:bodyPr wrap="square" lIns="0" tIns="0" rIns="0" bIns="0" rtlCol="0" anchor="ctr"/>
          <a:lstStyle/>
          <a:p>
            <a:pPr indent="0" marL="0">
              <a:buNone/>
            </a:pPr>
            <a:r>
              <a:rPr lang="en-US" sz="1600" dirty="0">
                <a:solidFill>
                  <a:srgbClr val="FDF3D6"/>
                </a:solidFill>
                <a:latin typeface="Malgun Gothic" pitchFamily="34" charset="0"/>
                <a:ea typeface="Malgun Gothic" pitchFamily="34" charset="-122"/>
                <a:cs typeface="Malgun Gothic" pitchFamily="34" charset="-120"/>
              </a:rPr>
              <a:t>05  교육과정의 계획과 운영</a:t>
            </a:r>
            <a:endParaRPr lang="en-US" sz="1600" dirty="0"/>
          </a:p>
        </p:txBody>
      </p:sp>
      <p:sp>
        <p:nvSpPr>
          <p:cNvPr id="10" name="Text 8"/>
          <p:cNvSpPr txBox="1"/>
          <p:nvPr/>
        </p:nvSpPr>
        <p:spPr>
          <a:xfrm>
            <a:off x="640080" y="1645920"/>
            <a:ext cx="6400800" cy="1371600"/>
          </a:xfrm>
          <a:prstGeom prst="rect">
            <a:avLst/>
          </a:prstGeom>
          <a:noFill/>
          <a:ln/>
        </p:spPr>
        <p:txBody>
          <a:bodyPr wrap="square" lIns="0" tIns="0" rIns="0" bIns="0" rtlCol="0" anchor="t"/>
          <a:lstStyle/>
          <a:p>
            <a:pPr indent="0" marL="0">
              <a:buNone/>
            </a:pPr>
            <a:r>
              <a:rPr lang="en-US" sz="4000" b="1" dirty="0">
                <a:solidFill>
                  <a:srgbClr val="FFFFFF"/>
                </a:solidFill>
                <a:latin typeface="Malgun Gothic" pitchFamily="34" charset="0"/>
                <a:ea typeface="Malgun Gothic" pitchFamily="34" charset="-122"/>
                <a:cs typeface="Malgun Gothic" pitchFamily="34" charset="-120"/>
              </a:rPr>
              <a:t>영유아교육과정의</a:t>
            </a:r>
            <a:endParaRPr lang="en-US" sz="4000" dirty="0"/>
          </a:p>
          <a:p>
            <a:pPr indent="0" marL="0">
              <a:buNone/>
            </a:pPr>
            <a:r>
              <a:rPr lang="en-US" sz="4000" b="1" dirty="0">
                <a:solidFill>
                  <a:srgbClr val="FFFFFF"/>
                </a:solidFill>
                <a:latin typeface="Malgun Gothic" pitchFamily="34" charset="0"/>
                <a:ea typeface="Malgun Gothic" pitchFamily="34" charset="-122"/>
                <a:cs typeface="Malgun Gothic" pitchFamily="34" charset="-120"/>
              </a:rPr>
              <a:t>계획 및 운영</a:t>
            </a:r>
            <a:endParaRPr lang="en-US" sz="4000" dirty="0"/>
          </a:p>
        </p:txBody>
      </p:sp>
      <p:sp>
        <p:nvSpPr>
          <p:cNvPr id="11" name="Text 9"/>
          <p:cNvSpPr txBox="1"/>
          <p:nvPr/>
        </p:nvSpPr>
        <p:spPr>
          <a:xfrm>
            <a:off x="640080" y="3108960"/>
            <a:ext cx="6400800" cy="411480"/>
          </a:xfrm>
          <a:prstGeom prst="rect">
            <a:avLst/>
          </a:prstGeom>
          <a:noFill/>
          <a:ln/>
        </p:spPr>
        <p:txBody>
          <a:bodyPr wrap="square" lIns="0" tIns="0" rIns="0" bIns="0" rtlCol="0" anchor="ctr"/>
          <a:lstStyle/>
          <a:p>
            <a:pPr indent="0" marL="0">
              <a:buNone/>
            </a:pPr>
            <a:r>
              <a:rPr lang="en-US" sz="1800" dirty="0">
                <a:solidFill>
                  <a:srgbClr val="FFFFFF"/>
                </a:solidFill>
                <a:latin typeface="Malgun Gothic" pitchFamily="34" charset="0"/>
                <a:ea typeface="Malgun Gothic" pitchFamily="34" charset="-122"/>
                <a:cs typeface="Malgun Gothic" pitchFamily="34" charset="-120"/>
              </a:rPr>
              <a:t>표준보육과정과 관련 지침 살펴보기</a:t>
            </a:r>
            <a:endParaRPr lang="en-US" sz="1800" dirty="0"/>
          </a:p>
        </p:txBody>
      </p:sp>
      <p:sp>
        <p:nvSpPr>
          <p:cNvPr id="12" name="Text 10"/>
          <p:cNvSpPr txBox="1"/>
          <p:nvPr/>
        </p:nvSpPr>
        <p:spPr>
          <a:xfrm>
            <a:off x="640080" y="4114800"/>
            <a:ext cx="5486400" cy="365760"/>
          </a:xfrm>
          <a:prstGeom prst="rect">
            <a:avLst/>
          </a:prstGeom>
          <a:noFill/>
          <a:ln/>
        </p:spPr>
        <p:txBody>
          <a:bodyPr wrap="square" lIns="0" tIns="0" rIns="0" bIns="0" rtlCol="0" anchor="ctr"/>
          <a:lstStyle/>
          <a:p>
            <a:pPr indent="0" marL="0">
              <a:buNone/>
            </a:pPr>
            <a:r>
              <a:rPr lang="en-US" sz="1400" dirty="0">
                <a:solidFill>
                  <a:srgbClr val="DCEBDD"/>
                </a:solidFill>
                <a:latin typeface="Malgun Gothic" pitchFamily="34" charset="0"/>
                <a:ea typeface="Malgun Gothic" pitchFamily="34" charset="-122"/>
                <a:cs typeface="Malgun Gothic" pitchFamily="34" charset="-120"/>
              </a:rPr>
              <a:t>과목명  |  학번  |  발표자 이름</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02</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무엇을 기준으로 계획할까?</a:t>
            </a:r>
            <a:endParaRPr lang="en-US" sz="2800" dirty="0"/>
          </a:p>
        </p:txBody>
      </p:sp>
      <p:sp>
        <p:nvSpPr>
          <p:cNvPr id="5" name="Text 3"/>
          <p:cNvSpPr txBox="1"/>
          <p:nvPr/>
        </p:nvSpPr>
        <p:spPr>
          <a:xfrm>
            <a:off x="457200" y="1097280"/>
            <a:ext cx="3840480" cy="320040"/>
          </a:xfrm>
          <a:prstGeom prst="rect">
            <a:avLst/>
          </a:prstGeom>
          <a:noFill/>
          <a:ln/>
        </p:spPr>
        <p:txBody>
          <a:bodyPr wrap="square" lIns="0" tIns="0" rIns="0" bIns="0" rtlCol="0" anchor="ctr"/>
          <a:lstStyle/>
          <a:p>
            <a:pPr indent="0" marL="0">
              <a:buNone/>
            </a:pPr>
            <a:r>
              <a:rPr lang="en-US" sz="1400" b="1" dirty="0">
                <a:solidFill>
                  <a:srgbClr val="5E8C6A"/>
                </a:solidFill>
                <a:latin typeface="Malgun Gothic" pitchFamily="34" charset="0"/>
                <a:ea typeface="Malgun Gothic" pitchFamily="34" charset="-122"/>
                <a:cs typeface="Malgun Gothic" pitchFamily="34" charset="-120"/>
              </a:rPr>
              <a:t>전문 지식 + 다음 지침들을 함께 참고</a:t>
            </a:r>
            <a:endParaRPr lang="en-US" sz="1400" dirty="0"/>
          </a:p>
        </p:txBody>
      </p:sp>
      <p:sp>
        <p:nvSpPr>
          <p:cNvPr id="6" name="Shape 4"/>
          <p:cNvSpPr/>
          <p:nvPr/>
        </p:nvSpPr>
        <p:spPr>
          <a:xfrm>
            <a:off x="457200" y="1554480"/>
            <a:ext cx="438912" cy="438912"/>
          </a:xfrm>
          <a:prstGeom prst="ellipse">
            <a:avLst/>
          </a:prstGeom>
          <a:solidFill>
            <a:srgbClr val="F2A27E"/>
          </a:solidFill>
          <a:ln/>
        </p:spPr>
      </p:sp>
      <p:pic>
        <p:nvPicPr>
          <p:cNvPr id="7" name="Image 0" descr="preencoded.png">    </p:cNvPr>
          <p:cNvPicPr>
            <a:picLocks noChangeAspect="1"/>
          </p:cNvPicPr>
          <p:nvPr/>
        </p:nvPicPr>
        <p:blipFill>
          <a:blip r:embed="rId1"/>
          <a:stretch>
            <a:fillRect/>
          </a:stretch>
        </p:blipFill>
        <p:spPr>
          <a:xfrm>
            <a:off x="566928" y="1664208"/>
            <a:ext cx="219456" cy="219456"/>
          </a:xfrm>
          <a:prstGeom prst="rect">
            <a:avLst/>
          </a:prstGeom>
        </p:spPr>
      </p:pic>
      <p:sp>
        <p:nvSpPr>
          <p:cNvPr id="8" name="Text 5"/>
          <p:cNvSpPr txBox="1"/>
          <p:nvPr/>
        </p:nvSpPr>
        <p:spPr>
          <a:xfrm>
            <a:off x="1051560" y="1499616"/>
            <a:ext cx="3200400" cy="54864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각 원이 추구하는 교육 방향</a:t>
            </a:r>
            <a:endParaRPr lang="en-US" sz="1300" dirty="0"/>
          </a:p>
        </p:txBody>
      </p:sp>
      <p:sp>
        <p:nvSpPr>
          <p:cNvPr id="9" name="Shape 6"/>
          <p:cNvSpPr/>
          <p:nvPr/>
        </p:nvSpPr>
        <p:spPr>
          <a:xfrm>
            <a:off x="457200" y="2157984"/>
            <a:ext cx="438912" cy="438912"/>
          </a:xfrm>
          <a:prstGeom prst="ellipse">
            <a:avLst/>
          </a:prstGeom>
          <a:solidFill>
            <a:srgbClr val="5E8C6A"/>
          </a:solidFill>
          <a:ln/>
        </p:spPr>
      </p:sp>
      <p:pic>
        <p:nvPicPr>
          <p:cNvPr id="10" name="Image 1" descr="preencoded.png">    </p:cNvPr>
          <p:cNvPicPr>
            <a:picLocks noChangeAspect="1"/>
          </p:cNvPicPr>
          <p:nvPr/>
        </p:nvPicPr>
        <p:blipFill>
          <a:blip r:embed="rId2"/>
          <a:stretch>
            <a:fillRect/>
          </a:stretch>
        </p:blipFill>
        <p:spPr>
          <a:xfrm>
            <a:off x="566928" y="2267712"/>
            <a:ext cx="219456" cy="219456"/>
          </a:xfrm>
          <a:prstGeom prst="rect">
            <a:avLst/>
          </a:prstGeom>
        </p:spPr>
      </p:pic>
      <p:sp>
        <p:nvSpPr>
          <p:cNvPr id="11" name="Text 7"/>
          <p:cNvSpPr txBox="1"/>
          <p:nvPr/>
        </p:nvSpPr>
        <p:spPr>
          <a:xfrm>
            <a:off x="1051560" y="2103120"/>
            <a:ext cx="3200400" cy="54864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국가수준의 교육과정</a:t>
            </a:r>
            <a:endParaRPr lang="en-US" sz="1300" dirty="0"/>
          </a:p>
        </p:txBody>
      </p:sp>
      <p:sp>
        <p:nvSpPr>
          <p:cNvPr id="12" name="Shape 8"/>
          <p:cNvSpPr/>
          <p:nvPr/>
        </p:nvSpPr>
        <p:spPr>
          <a:xfrm>
            <a:off x="457200" y="2761488"/>
            <a:ext cx="438912" cy="438912"/>
          </a:xfrm>
          <a:prstGeom prst="ellipse">
            <a:avLst/>
          </a:prstGeom>
          <a:solidFill>
            <a:srgbClr val="F5D07A"/>
          </a:solidFill>
          <a:ln/>
        </p:spPr>
      </p:sp>
      <p:pic>
        <p:nvPicPr>
          <p:cNvPr id="13" name="Image 2" descr="preencoded.png">    </p:cNvPr>
          <p:cNvPicPr>
            <a:picLocks noChangeAspect="1"/>
          </p:cNvPicPr>
          <p:nvPr/>
        </p:nvPicPr>
        <p:blipFill>
          <a:blip r:embed="rId3"/>
          <a:stretch>
            <a:fillRect/>
          </a:stretch>
        </p:blipFill>
        <p:spPr>
          <a:xfrm>
            <a:off x="566928" y="2871216"/>
            <a:ext cx="219456" cy="219456"/>
          </a:xfrm>
          <a:prstGeom prst="rect">
            <a:avLst/>
          </a:prstGeom>
        </p:spPr>
      </p:pic>
      <p:sp>
        <p:nvSpPr>
          <p:cNvPr id="14" name="Text 9"/>
          <p:cNvSpPr txBox="1"/>
          <p:nvPr/>
        </p:nvSpPr>
        <p:spPr>
          <a:xfrm>
            <a:off x="1051560" y="2706624"/>
            <a:ext cx="3200400" cy="54864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소속 지역의 유아교육 방향</a:t>
            </a:r>
            <a:endParaRPr lang="en-US" sz="1300" dirty="0"/>
          </a:p>
        </p:txBody>
      </p:sp>
      <p:sp>
        <p:nvSpPr>
          <p:cNvPr id="15" name="Shape 10"/>
          <p:cNvSpPr/>
          <p:nvPr/>
        </p:nvSpPr>
        <p:spPr>
          <a:xfrm>
            <a:off x="457200" y="3364992"/>
            <a:ext cx="438912" cy="438912"/>
          </a:xfrm>
          <a:prstGeom prst="ellipse">
            <a:avLst/>
          </a:prstGeom>
          <a:solidFill>
            <a:srgbClr val="E8A1A8"/>
          </a:solidFill>
          <a:ln/>
        </p:spPr>
      </p:sp>
      <p:pic>
        <p:nvPicPr>
          <p:cNvPr id="16" name="Image 3" descr="preencoded.png">    </p:cNvPr>
          <p:cNvPicPr>
            <a:picLocks noChangeAspect="1"/>
          </p:cNvPicPr>
          <p:nvPr/>
        </p:nvPicPr>
        <p:blipFill>
          <a:blip r:embed="rId4"/>
          <a:stretch>
            <a:fillRect/>
          </a:stretch>
        </p:blipFill>
        <p:spPr>
          <a:xfrm>
            <a:off x="566928" y="3474720"/>
            <a:ext cx="219456" cy="219456"/>
          </a:xfrm>
          <a:prstGeom prst="rect">
            <a:avLst/>
          </a:prstGeom>
        </p:spPr>
      </p:pic>
      <p:sp>
        <p:nvSpPr>
          <p:cNvPr id="17" name="Text 11"/>
          <p:cNvSpPr txBox="1"/>
          <p:nvPr/>
        </p:nvSpPr>
        <p:spPr>
          <a:xfrm>
            <a:off x="1051560" y="3310128"/>
            <a:ext cx="3200400" cy="54864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해당 연도 유치원 교육과정</a:t>
            </a:r>
            <a:endParaRPr lang="en-US" sz="1300" dirty="0"/>
          </a:p>
          <a:p>
            <a:pPr indent="0" marL="0">
              <a:buNone/>
            </a:pPr>
            <a:r>
              <a:rPr lang="en-US" sz="1300" dirty="0">
                <a:solidFill>
                  <a:srgbClr val="33413A"/>
                </a:solidFill>
                <a:latin typeface="Malgun Gothic" pitchFamily="34" charset="0"/>
                <a:ea typeface="Malgun Gothic" pitchFamily="34" charset="-122"/>
                <a:cs typeface="Malgun Gothic" pitchFamily="34" charset="-120"/>
              </a:rPr>
              <a:t>편성·운영 지침</a:t>
            </a:r>
            <a:endParaRPr lang="en-US" sz="1300" dirty="0"/>
          </a:p>
        </p:txBody>
      </p:sp>
      <p:sp>
        <p:nvSpPr>
          <p:cNvPr id="18" name="Shape 12"/>
          <p:cNvSpPr/>
          <p:nvPr/>
        </p:nvSpPr>
        <p:spPr>
          <a:xfrm>
            <a:off x="457200" y="3968496"/>
            <a:ext cx="438912" cy="438912"/>
          </a:xfrm>
          <a:prstGeom prst="ellipse">
            <a:avLst/>
          </a:prstGeom>
          <a:solidFill>
            <a:srgbClr val="A9CBB0"/>
          </a:solidFill>
          <a:ln/>
        </p:spPr>
      </p:sp>
      <p:pic>
        <p:nvPicPr>
          <p:cNvPr id="19" name="Image 4" descr="preencoded.png">    </p:cNvPr>
          <p:cNvPicPr>
            <a:picLocks noChangeAspect="1"/>
          </p:cNvPicPr>
          <p:nvPr/>
        </p:nvPicPr>
        <p:blipFill>
          <a:blip r:embed="rId5"/>
          <a:stretch>
            <a:fillRect/>
          </a:stretch>
        </p:blipFill>
        <p:spPr>
          <a:xfrm>
            <a:off x="566928" y="4078224"/>
            <a:ext cx="219456" cy="219456"/>
          </a:xfrm>
          <a:prstGeom prst="rect">
            <a:avLst/>
          </a:prstGeom>
        </p:spPr>
      </p:pic>
      <p:sp>
        <p:nvSpPr>
          <p:cNvPr id="20" name="Text 13"/>
          <p:cNvSpPr txBox="1"/>
          <p:nvPr/>
        </p:nvSpPr>
        <p:spPr>
          <a:xfrm>
            <a:off x="1051560" y="3913632"/>
            <a:ext cx="3200400" cy="54864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어린이집 보육사업안내</a:t>
            </a:r>
            <a:endParaRPr lang="en-US" sz="1300" dirty="0"/>
          </a:p>
        </p:txBody>
      </p:sp>
      <p:sp>
        <p:nvSpPr>
          <p:cNvPr id="21" name="Text 14"/>
          <p:cNvSpPr txBox="1"/>
          <p:nvPr/>
        </p:nvSpPr>
        <p:spPr>
          <a:xfrm>
            <a:off x="4572000" y="1097280"/>
            <a:ext cx="4114800" cy="320040"/>
          </a:xfrm>
          <a:prstGeom prst="rect">
            <a:avLst/>
          </a:prstGeom>
          <a:noFill/>
          <a:ln/>
        </p:spPr>
        <p:txBody>
          <a:bodyPr wrap="square" lIns="0" tIns="0" rIns="0" bIns="0" rtlCol="0" anchor="ctr"/>
          <a:lstStyle/>
          <a:p>
            <a:pPr indent="0" marL="0">
              <a:buNone/>
            </a:pPr>
            <a:r>
              <a:rPr lang="en-US" sz="1200" b="1" dirty="0">
                <a:solidFill>
                  <a:srgbClr val="6E7B73"/>
                </a:solidFill>
                <a:latin typeface="Malgun Gothic" pitchFamily="34" charset="0"/>
                <a:ea typeface="Malgun Gothic" pitchFamily="34" charset="-122"/>
                <a:cs typeface="Malgun Gothic" pitchFamily="34" charset="-120"/>
              </a:rPr>
              <a:t>〈표 5-1〉 어린이집과 유치원의 국가수준 교육과정</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0" y="1463040"/>
          <a:ext cx="4114800" cy="914400"/>
        </p:xfrm>
        <a:graphic>
          <a:graphicData uri="http://schemas.openxmlformats.org/drawingml/2006/table">
            <a:tbl>
              <a:tblPr/>
              <a:tblGrid>
                <a:gridCol w="822960"/>
                <a:gridCol w="1645920"/>
                <a:gridCol w="1645920"/>
              </a:tblGrid>
              <a:tr h="365760">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구분</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solidFill>
                      <a:srgbClr val="DCEBDD"/>
                    </a:solidFill>
                  </a:tcPr>
                </a:tc>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0~2세</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solidFill>
                      <a:srgbClr val="DCEBDD"/>
                    </a:solidFill>
                  </a:tcPr>
                </a:tc>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3~5세</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solidFill>
                      <a:srgbClr val="DCEBDD"/>
                    </a:solidFill>
                  </a:tcPr>
                </a:tc>
              </a:tr>
              <a:tr h="685800">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어린이집</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solidFill>
                      <a:srgbClr val="F4F7F4"/>
                    </a:solidFill>
                  </a:tcPr>
                </a:tc>
                <a:tc>
                  <a:txBody>
                    <a:bodyPr/>
                    <a:lstStyle/>
                    <a:p>
                      <a:pPr algn="ctr" indent="0" marL="0">
                        <a:buNone/>
                      </a:pPr>
                      <a:r>
                        <a:rPr lang="en-US" sz="1100" dirty="0">
                          <a:solidFill>
                            <a:srgbClr val="33413A"/>
                          </a:solidFill>
                          <a:latin typeface="Malgun Gothic" pitchFamily="34" charset="0"/>
                          <a:ea typeface="Malgun Gothic" pitchFamily="34" charset="-122"/>
                          <a:cs typeface="Malgun Gothic" pitchFamily="34" charset="-120"/>
                        </a:rPr>
                        <a:t>표준보육과정</a:t>
                      </a:r>
                      <a:endParaRPr lang="en-US" sz="1100" dirty="0">
                        <a:latin typeface="Malgun Gothic" charset="0"/>
                        <a:ea typeface="Malgun Gothic" charset="0"/>
                        <a:cs typeface="Malgun Gothic" charset="0"/>
                      </a:endParaRPr>
                    </a:p>
                    <a:p>
                      <a:pPr algn="ctr" indent="0" marL="0">
                        <a:buNone/>
                      </a:pPr>
                      <a:r>
                        <a:rPr lang="en-US" sz="1100" dirty="0">
                          <a:solidFill>
                            <a:srgbClr val="33413A"/>
                          </a:solidFill>
                          <a:latin typeface="Malgun Gothic" pitchFamily="34" charset="0"/>
                          <a:ea typeface="Malgun Gothic" pitchFamily="34" charset="-122"/>
                          <a:cs typeface="Malgun Gothic" pitchFamily="34" charset="-120"/>
                        </a:rPr>
                        <a:t>(0~1세, 2세 보육과정)</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tcPr>
                </a:tc>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표준보육과정</a:t>
                      </a:r>
                      <a:endParaRPr lang="en-US" sz="1100" dirty="0">
                        <a:latin typeface="Malgun Gothic" charset="0"/>
                        <a:ea typeface="Malgun Gothic" charset="0"/>
                        <a:cs typeface="Malgun Gothic" charset="0"/>
                      </a:endParaRPr>
                    </a:p>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(3~5세 = 누리과정)</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solidFill>
                      <a:srgbClr val="FDF3D6"/>
                    </a:solidFill>
                  </a:tcPr>
                </a:tc>
              </a:tr>
              <a:tr h="685800">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유치원</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solidFill>
                      <a:srgbClr val="F4F7F4"/>
                    </a:solidFill>
                  </a:tcPr>
                </a:tc>
                <a:tc>
                  <a:txBody>
                    <a:bodyPr/>
                    <a:lstStyle/>
                    <a:p>
                      <a:pPr algn="ctr" indent="0" marL="0">
                        <a:buNone/>
                      </a:pPr>
                      <a:r>
                        <a:rPr lang="en-US" sz="1100" dirty="0">
                          <a:solidFill>
                            <a:srgbClr val="6E7B73"/>
                          </a:solidFill>
                          <a:latin typeface="Malgun Gothic" pitchFamily="34" charset="0"/>
                          <a:ea typeface="Malgun Gothic" pitchFamily="34" charset="-122"/>
                          <a:cs typeface="Malgun Gothic" pitchFamily="34" charset="-120"/>
                        </a:rPr>
                        <a:t>–</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tcPr>
                </a:tc>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유치원 교육과정</a:t>
                      </a:r>
                      <a:endParaRPr lang="en-US" sz="1100" dirty="0">
                        <a:latin typeface="Malgun Gothic" charset="0"/>
                        <a:ea typeface="Malgun Gothic" charset="0"/>
                        <a:cs typeface="Malgun Gothic" charset="0"/>
                      </a:endParaRPr>
                    </a:p>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(누리과정)</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solidFill>
                      <a:srgbClr val="FDF3D6"/>
                    </a:solidFill>
                  </a:tcPr>
                </a:tc>
              </a:tr>
            </a:tbl>
          </a:graphicData>
        </a:graphic>
      </p:graphicFrame>
      <p:sp>
        <p:nvSpPr>
          <p:cNvPr id="23" name="Shape 15"/>
          <p:cNvSpPr/>
          <p:nvPr/>
        </p:nvSpPr>
        <p:spPr>
          <a:xfrm>
            <a:off x="4572000" y="3429000"/>
            <a:ext cx="4114800" cy="1143000"/>
          </a:xfrm>
          <a:prstGeom prst="roundRect">
            <a:avLst>
              <a:gd name="adj" fmla="val 12000"/>
            </a:avLst>
          </a:prstGeom>
          <a:solidFill>
            <a:srgbClr val="FDF3D6"/>
          </a:solidFill>
          <a:ln/>
        </p:spPr>
      </p:sp>
      <p:sp>
        <p:nvSpPr>
          <p:cNvPr id="24" name="Text 16"/>
          <p:cNvSpPr txBox="1"/>
          <p:nvPr/>
        </p:nvSpPr>
        <p:spPr>
          <a:xfrm>
            <a:off x="4754880" y="3520440"/>
            <a:ext cx="3749040" cy="960120"/>
          </a:xfrm>
          <a:prstGeom prst="rect">
            <a:avLst/>
          </a:prstGeom>
          <a:noFill/>
          <a:ln/>
        </p:spPr>
        <p:txBody>
          <a:bodyPr wrap="square" lIns="0" tIns="0" rIns="0" bIns="0" rtlCol="0" anchor="ctr"/>
          <a:lstStyle/>
          <a:p>
            <a:pPr indent="0" marL="0">
              <a:spcAft>
                <a:spcPts val="400"/>
              </a:spcAft>
              <a:buNone/>
            </a:pPr>
            <a:r>
              <a:rPr lang="en-US" sz="1200" b="1" dirty="0">
                <a:solidFill>
                  <a:srgbClr val="33413A"/>
                </a:solidFill>
                <a:latin typeface="Malgun Gothic" pitchFamily="34" charset="0"/>
                <a:ea typeface="Malgun Gothic" pitchFamily="34" charset="-122"/>
                <a:cs typeface="Malgun Gothic" pitchFamily="34" charset="-120"/>
              </a:rPr>
              <a:t>3~5세는 누리과정으로 내용이 동일</a:t>
            </a:r>
            <a:endParaRPr lang="en-US" sz="1200" dirty="0"/>
          </a:p>
          <a:p>
            <a:pPr indent="0" marL="0">
              <a:spcAft>
                <a:spcPts val="400"/>
              </a:spcAft>
              <a:buNone/>
            </a:pPr>
            <a:r>
              <a:rPr lang="en-US" sz="1200" dirty="0">
                <a:solidFill>
                  <a:srgbClr val="33413A"/>
                </a:solidFill>
                <a:latin typeface="Malgun Gothic" pitchFamily="34" charset="0"/>
                <a:ea typeface="Malgun Gothic" pitchFamily="34" charset="-122"/>
                <a:cs typeface="Malgun Gothic" pitchFamily="34" charset="-120"/>
              </a:rPr>
              <a:t>→ 교원이 함께 연구하고, 각 기관의 교육에 어떻게 반영할지 협의</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03</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추구하는 인간상과 목표</a:t>
            </a:r>
            <a:endParaRPr lang="en-US" sz="2800" dirty="0"/>
          </a:p>
        </p:txBody>
      </p:sp>
      <p:sp>
        <p:nvSpPr>
          <p:cNvPr id="5" name="Shape 3"/>
          <p:cNvSpPr/>
          <p:nvPr/>
        </p:nvSpPr>
        <p:spPr>
          <a:xfrm>
            <a:off x="457200" y="1051560"/>
            <a:ext cx="8229600" cy="548640"/>
          </a:xfrm>
          <a:prstGeom prst="roundRect">
            <a:avLst>
              <a:gd name="adj" fmla="val 25000"/>
            </a:avLst>
          </a:prstGeom>
          <a:solidFill>
            <a:srgbClr val="F4F7F4"/>
          </a:solidFill>
          <a:ln/>
        </p:spPr>
      </p:sp>
      <p:sp>
        <p:nvSpPr>
          <p:cNvPr id="6" name="Text 4"/>
          <p:cNvSpPr txBox="1"/>
          <p:nvPr/>
        </p:nvSpPr>
        <p:spPr>
          <a:xfrm>
            <a:off x="640080" y="1051560"/>
            <a:ext cx="7863840" cy="548640"/>
          </a:xfrm>
          <a:prstGeom prst="rect">
            <a:avLst/>
          </a:prstGeom>
          <a:noFill/>
          <a:ln/>
        </p:spPr>
        <p:txBody>
          <a:bodyPr wrap="square" lIns="0" tIns="0" rIns="0" bIns="0" rtlCol="0" anchor="ctr"/>
          <a:lstStyle/>
          <a:p>
            <a:pPr indent="0" marL="0">
              <a:buNone/>
            </a:pPr>
            <a:r>
              <a:rPr lang="en-US" sz="1300" b="1" dirty="0">
                <a:solidFill>
                  <a:srgbClr val="5E8C6A"/>
                </a:solidFill>
                <a:latin typeface="Malgun Gothic" pitchFamily="34" charset="0"/>
                <a:ea typeface="Malgun Gothic" pitchFamily="34" charset="-122"/>
                <a:cs typeface="Malgun Gothic" pitchFamily="34" charset="-120"/>
              </a:rPr>
              <a:t>목적  </a:t>
            </a:r>
            <a:pPr indent="0" marL="0">
              <a:buNone/>
            </a:pPr>
            <a:r>
              <a:rPr lang="en-US" sz="1300" dirty="0">
                <a:solidFill>
                  <a:srgbClr val="33413A"/>
                </a:solidFill>
                <a:latin typeface="Malgun Gothic" pitchFamily="34" charset="0"/>
                <a:ea typeface="Malgun Gothic" pitchFamily="34" charset="-122"/>
                <a:cs typeface="Malgun Gothic" pitchFamily="34" charset="-120"/>
              </a:rPr>
              <a:t>놀이를 통해 심신의 건강과 조화로운 발달 + 바른 인성과 민주 시민의 기초 형성</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8229600" cy="914400"/>
        </p:xfrm>
        <a:graphic>
          <a:graphicData uri="http://schemas.openxmlformats.org/drawingml/2006/table">
            <a:tbl>
              <a:tblPr/>
              <a:tblGrid>
                <a:gridCol w="1828800"/>
                <a:gridCol w="3200400"/>
                <a:gridCol w="3200400"/>
              </a:tblGrid>
              <a:tr h="347472">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추구하는 인간상</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solidFill>
                      <a:srgbClr val="DCEBDD"/>
                    </a:solidFill>
                  </a:tcPr>
                </a:tc>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0~2세 목표</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solidFill>
                      <a:srgbClr val="DCEBDD"/>
                    </a:solidFill>
                  </a:tcPr>
                </a:tc>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3~5세 목표</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solidFill>
                      <a:srgbClr val="DCEBDD"/>
                    </a:solidFill>
                  </a:tcPr>
                </a:tc>
              </a:tr>
              <a:tr h="457200">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건강한 사람</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solidFill>
                      <a:srgbClr val="FCE4D8"/>
                    </a:solidFill>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건강하고 안전한 환경에서 즐겁게 생활</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건강하고 안전한 생활습관을 기름</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r>
              <a:tr h="457200">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자주적인 사람</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solidFill>
                      <a:srgbClr val="FDF3D6"/>
                    </a:solidFill>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자신의 일을 스스로 하고자 함</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스스로 해결하는 기초능력을 기름</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r>
              <a:tr h="457200">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창의적인 사람</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solidFill>
                      <a:srgbClr val="DCEBDD"/>
                    </a:solidFill>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호기심을 갖고 탐색하며 상상력을 기름</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호기심·탐구심, 상상력·창의력을 기름</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r>
              <a:tr h="457200">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감성이 풍부한 사람</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solidFill>
                      <a:srgbClr val="F9E1E3"/>
                    </a:solidFill>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일상에서 아름다움에 관심, 감성을 기름</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아름다움을 느끼고 문화적 감수성을 기름</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r>
              <a:tr h="457200">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더불어 사는 사람</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solidFill>
                      <a:srgbClr val="EDE6F3"/>
                    </a:solidFill>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사람과 자연을 존중하고 소통에 관심</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존중·배려하며 소통하는 태도를 기름</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r>
            </a:tbl>
          </a:graphicData>
        </a:graphic>
      </p:graphicFrame>
      <p:sp>
        <p:nvSpPr>
          <p:cNvPr id="8" name="Text 5"/>
          <p:cNvSpPr txBox="1"/>
          <p:nvPr/>
        </p:nvSpPr>
        <p:spPr>
          <a:xfrm>
            <a:off x="457200" y="4526280"/>
            <a:ext cx="8229600" cy="274320"/>
          </a:xfrm>
          <a:prstGeom prst="rect">
            <a:avLst/>
          </a:prstGeom>
          <a:noFill/>
          <a:ln/>
        </p:spPr>
        <p:txBody>
          <a:bodyPr wrap="square" lIns="0" tIns="0" rIns="0" bIns="0" rtlCol="0" anchor="ctr"/>
          <a:lstStyle/>
          <a:p>
            <a:pPr indent="0" marL="0">
              <a:buNone/>
            </a:pPr>
            <a:r>
              <a:rPr lang="en-US" sz="1200" b="1" dirty="0">
                <a:solidFill>
                  <a:srgbClr val="5E8C6A"/>
                </a:solidFill>
                <a:latin typeface="Malgun Gothic" pitchFamily="34" charset="0"/>
                <a:ea typeface="Malgun Gothic" pitchFamily="34" charset="-122"/>
                <a:cs typeface="Malgun Gothic" pitchFamily="34" charset="-120"/>
              </a:rPr>
              <a:t>0~2세 "관심을 가진다·하고자 한다" → 3~5세 "습관·능력·태도를 기른다"</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04</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표준보육과정 구성의 중점</a:t>
            </a:r>
            <a:endParaRPr lang="en-US" sz="2800" dirty="0"/>
          </a:p>
        </p:txBody>
      </p:sp>
      <p:sp>
        <p:nvSpPr>
          <p:cNvPr id="5" name="Text 3"/>
          <p:cNvSpPr txBox="1"/>
          <p:nvPr/>
        </p:nvSpPr>
        <p:spPr>
          <a:xfrm>
            <a:off x="1097280" y="914400"/>
            <a:ext cx="7589520" cy="274320"/>
          </a:xfrm>
          <a:prstGeom prst="rect">
            <a:avLst/>
          </a:prstGeom>
          <a:noFill/>
          <a:ln/>
        </p:spPr>
        <p:txBody>
          <a:bodyPr wrap="square" lIns="0" tIns="0" rIns="0" bIns="0" rtlCol="0" anchor="ctr"/>
          <a:lstStyle/>
          <a:p>
            <a:pPr indent="0" marL="0">
              <a:buNone/>
            </a:pPr>
            <a:r>
              <a:rPr lang="en-US" sz="1300" dirty="0">
                <a:solidFill>
                  <a:srgbClr val="6E7B73"/>
                </a:solidFill>
                <a:latin typeface="Malgun Gothic" pitchFamily="34" charset="0"/>
                <a:ea typeface="Malgun Gothic" pitchFamily="34" charset="-122"/>
                <a:cs typeface="Malgun Gothic" pitchFamily="34" charset="-120"/>
              </a:rPr>
              <a:t>전제: 영유아는 개별적인 특성을 지닌 고유한 존재</a:t>
            </a:r>
            <a:endParaRPr lang="en-US" sz="1300" dirty="0"/>
          </a:p>
        </p:txBody>
      </p:sp>
      <p:sp>
        <p:nvSpPr>
          <p:cNvPr id="6" name="Shape 4"/>
          <p:cNvSpPr/>
          <p:nvPr/>
        </p:nvSpPr>
        <p:spPr>
          <a:xfrm>
            <a:off x="457200" y="1417320"/>
            <a:ext cx="1517904" cy="1920240"/>
          </a:xfrm>
          <a:prstGeom prst="roundRect">
            <a:avLst>
              <a:gd name="adj" fmla="val 9036"/>
            </a:avLst>
          </a:prstGeom>
          <a:solidFill>
            <a:srgbClr val="FCE4D8"/>
          </a:solidFill>
          <a:ln/>
        </p:spPr>
      </p:sp>
      <p:sp>
        <p:nvSpPr>
          <p:cNvPr id="7" name="Shape 5"/>
          <p:cNvSpPr/>
          <p:nvPr/>
        </p:nvSpPr>
        <p:spPr>
          <a:xfrm>
            <a:off x="941832" y="1645920"/>
            <a:ext cx="548640" cy="548640"/>
          </a:xfrm>
          <a:prstGeom prst="ellipse">
            <a:avLst/>
          </a:prstGeom>
          <a:solidFill>
            <a:srgbClr val="F2A27E"/>
          </a:solidFill>
          <a:ln/>
        </p:spPr>
      </p:sp>
      <p:pic>
        <p:nvPicPr>
          <p:cNvPr id="8" name="Image 0" descr="preencoded.png">    </p:cNvPr>
          <p:cNvPicPr>
            <a:picLocks noChangeAspect="1"/>
          </p:cNvPicPr>
          <p:nvPr/>
        </p:nvPicPr>
        <p:blipFill>
          <a:blip r:embed="rId1"/>
          <a:stretch>
            <a:fillRect/>
          </a:stretch>
        </p:blipFill>
        <p:spPr>
          <a:xfrm>
            <a:off x="1078992" y="1783080"/>
            <a:ext cx="274320" cy="274320"/>
          </a:xfrm>
          <a:prstGeom prst="rect">
            <a:avLst/>
          </a:prstGeom>
        </p:spPr>
      </p:pic>
      <p:sp>
        <p:nvSpPr>
          <p:cNvPr id="9" name="Text 6"/>
          <p:cNvSpPr txBox="1"/>
          <p:nvPr/>
        </p:nvSpPr>
        <p:spPr>
          <a:xfrm>
            <a:off x="530352" y="2331720"/>
            <a:ext cx="1371600" cy="822960"/>
          </a:xfrm>
          <a:prstGeom prst="rect">
            <a:avLst/>
          </a:prstGeom>
          <a:noFill/>
          <a:ln/>
        </p:spPr>
        <p:txBody>
          <a:bodyPr wrap="square" lIns="0" tIns="0" rIns="0" bIns="0" rtlCol="0" anchor="t"/>
          <a:lstStyle/>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0~5세 모든</a:t>
            </a:r>
            <a:endParaRPr lang="en-US" sz="1200" dirty="0"/>
          </a:p>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영유아에게 적용</a:t>
            </a:r>
            <a:endParaRPr lang="en-US" sz="1200" dirty="0"/>
          </a:p>
        </p:txBody>
      </p:sp>
      <p:sp>
        <p:nvSpPr>
          <p:cNvPr id="10" name="Shape 7"/>
          <p:cNvSpPr/>
          <p:nvPr/>
        </p:nvSpPr>
        <p:spPr>
          <a:xfrm>
            <a:off x="2139696" y="1417320"/>
            <a:ext cx="1517904" cy="1920240"/>
          </a:xfrm>
          <a:prstGeom prst="roundRect">
            <a:avLst>
              <a:gd name="adj" fmla="val 9036"/>
            </a:avLst>
          </a:prstGeom>
          <a:solidFill>
            <a:srgbClr val="FDF3D6"/>
          </a:solidFill>
          <a:ln/>
        </p:spPr>
      </p:sp>
      <p:sp>
        <p:nvSpPr>
          <p:cNvPr id="11" name="Shape 8"/>
          <p:cNvSpPr/>
          <p:nvPr/>
        </p:nvSpPr>
        <p:spPr>
          <a:xfrm>
            <a:off x="2624328" y="1645920"/>
            <a:ext cx="548640" cy="548640"/>
          </a:xfrm>
          <a:prstGeom prst="ellipse">
            <a:avLst/>
          </a:prstGeom>
          <a:solidFill>
            <a:srgbClr val="F5D07A"/>
          </a:solidFill>
          <a:ln/>
        </p:spPr>
      </p:sp>
      <p:pic>
        <p:nvPicPr>
          <p:cNvPr id="12" name="Image 1" descr="preencoded.png">    </p:cNvPr>
          <p:cNvPicPr>
            <a:picLocks noChangeAspect="1"/>
          </p:cNvPicPr>
          <p:nvPr/>
        </p:nvPicPr>
        <p:blipFill>
          <a:blip r:embed="rId2"/>
          <a:stretch>
            <a:fillRect/>
          </a:stretch>
        </p:blipFill>
        <p:spPr>
          <a:xfrm>
            <a:off x="2761488" y="1783080"/>
            <a:ext cx="274320" cy="274320"/>
          </a:xfrm>
          <a:prstGeom prst="rect">
            <a:avLst/>
          </a:prstGeom>
        </p:spPr>
      </p:pic>
      <p:sp>
        <p:nvSpPr>
          <p:cNvPr id="13" name="Text 9"/>
          <p:cNvSpPr txBox="1"/>
          <p:nvPr/>
        </p:nvSpPr>
        <p:spPr>
          <a:xfrm>
            <a:off x="2212848" y="2331720"/>
            <a:ext cx="1371600" cy="822960"/>
          </a:xfrm>
          <a:prstGeom prst="rect">
            <a:avLst/>
          </a:prstGeom>
          <a:noFill/>
          <a:ln/>
        </p:spPr>
        <p:txBody>
          <a:bodyPr wrap="square" lIns="0" tIns="0" rIns="0" bIns="0" rtlCol="0" anchor="t"/>
          <a:lstStyle/>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인간상 구현을 위한</a:t>
            </a:r>
            <a:endParaRPr lang="en-US" sz="1200" dirty="0"/>
          </a:p>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지식·기능·태도·가치</a:t>
            </a:r>
            <a:endParaRPr lang="en-US" sz="1200" dirty="0"/>
          </a:p>
        </p:txBody>
      </p:sp>
      <p:sp>
        <p:nvSpPr>
          <p:cNvPr id="14" name="Shape 10"/>
          <p:cNvSpPr/>
          <p:nvPr/>
        </p:nvSpPr>
        <p:spPr>
          <a:xfrm>
            <a:off x="3822192" y="1417320"/>
            <a:ext cx="1517904" cy="1920240"/>
          </a:xfrm>
          <a:prstGeom prst="roundRect">
            <a:avLst>
              <a:gd name="adj" fmla="val 9036"/>
            </a:avLst>
          </a:prstGeom>
          <a:solidFill>
            <a:srgbClr val="DCEBDD"/>
          </a:solidFill>
          <a:ln/>
        </p:spPr>
      </p:sp>
      <p:sp>
        <p:nvSpPr>
          <p:cNvPr id="15" name="Shape 11"/>
          <p:cNvSpPr/>
          <p:nvPr/>
        </p:nvSpPr>
        <p:spPr>
          <a:xfrm>
            <a:off x="4306824" y="1645920"/>
            <a:ext cx="548640" cy="548640"/>
          </a:xfrm>
          <a:prstGeom prst="ellipse">
            <a:avLst/>
          </a:prstGeom>
          <a:solidFill>
            <a:srgbClr val="5E8C6A"/>
          </a:solidFill>
          <a:ln/>
        </p:spPr>
      </p:sp>
      <p:pic>
        <p:nvPicPr>
          <p:cNvPr id="16" name="Image 2" descr="preencoded.png">    </p:cNvPr>
          <p:cNvPicPr>
            <a:picLocks noChangeAspect="1"/>
          </p:cNvPicPr>
          <p:nvPr/>
        </p:nvPicPr>
        <p:blipFill>
          <a:blip r:embed="rId3"/>
          <a:stretch>
            <a:fillRect/>
          </a:stretch>
        </p:blipFill>
        <p:spPr>
          <a:xfrm>
            <a:off x="4443984" y="1783080"/>
            <a:ext cx="274320" cy="274320"/>
          </a:xfrm>
          <a:prstGeom prst="rect">
            <a:avLst/>
          </a:prstGeom>
        </p:spPr>
      </p:pic>
      <p:sp>
        <p:nvSpPr>
          <p:cNvPr id="17" name="Text 12"/>
          <p:cNvSpPr txBox="1"/>
          <p:nvPr/>
        </p:nvSpPr>
        <p:spPr>
          <a:xfrm>
            <a:off x="3895344" y="2331720"/>
            <a:ext cx="1371600" cy="822960"/>
          </a:xfrm>
          <a:prstGeom prst="rect">
            <a:avLst/>
          </a:prstGeom>
          <a:noFill/>
          <a:ln/>
        </p:spPr>
        <p:txBody>
          <a:bodyPr wrap="square" lIns="0" tIns="0" rIns="0" bIns="0" rtlCol="0" anchor="t"/>
          <a:lstStyle/>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5개 영역 중심</a:t>
            </a:r>
            <a:endParaRPr lang="en-US" sz="1200" dirty="0"/>
          </a:p>
        </p:txBody>
      </p:sp>
      <p:sp>
        <p:nvSpPr>
          <p:cNvPr id="18" name="Shape 13"/>
          <p:cNvSpPr/>
          <p:nvPr/>
        </p:nvSpPr>
        <p:spPr>
          <a:xfrm>
            <a:off x="5504688" y="1417320"/>
            <a:ext cx="1517904" cy="1920240"/>
          </a:xfrm>
          <a:prstGeom prst="roundRect">
            <a:avLst>
              <a:gd name="adj" fmla="val 9036"/>
            </a:avLst>
          </a:prstGeom>
          <a:solidFill>
            <a:srgbClr val="F9E1E3"/>
          </a:solidFill>
          <a:ln/>
        </p:spPr>
      </p:sp>
      <p:sp>
        <p:nvSpPr>
          <p:cNvPr id="19" name="Shape 14"/>
          <p:cNvSpPr/>
          <p:nvPr/>
        </p:nvSpPr>
        <p:spPr>
          <a:xfrm>
            <a:off x="5989320" y="1645920"/>
            <a:ext cx="548640" cy="548640"/>
          </a:xfrm>
          <a:prstGeom prst="ellipse">
            <a:avLst/>
          </a:prstGeom>
          <a:solidFill>
            <a:srgbClr val="E8A1A8"/>
          </a:solidFill>
          <a:ln/>
        </p:spPr>
      </p:sp>
      <p:pic>
        <p:nvPicPr>
          <p:cNvPr id="20" name="Image 3" descr="preencoded.png">    </p:cNvPr>
          <p:cNvPicPr>
            <a:picLocks noChangeAspect="1"/>
          </p:cNvPicPr>
          <p:nvPr/>
        </p:nvPicPr>
        <p:blipFill>
          <a:blip r:embed="rId4"/>
          <a:stretch>
            <a:fillRect/>
          </a:stretch>
        </p:blipFill>
        <p:spPr>
          <a:xfrm>
            <a:off x="6126480" y="1783080"/>
            <a:ext cx="274320" cy="274320"/>
          </a:xfrm>
          <a:prstGeom prst="rect">
            <a:avLst/>
          </a:prstGeom>
        </p:spPr>
      </p:pic>
      <p:sp>
        <p:nvSpPr>
          <p:cNvPr id="21" name="Text 15"/>
          <p:cNvSpPr txBox="1"/>
          <p:nvPr/>
        </p:nvSpPr>
        <p:spPr>
          <a:xfrm>
            <a:off x="5577840" y="2331720"/>
            <a:ext cx="1371600" cy="822960"/>
          </a:xfrm>
          <a:prstGeom prst="rect">
            <a:avLst/>
          </a:prstGeom>
          <a:noFill/>
          <a:ln/>
        </p:spPr>
        <p:txBody>
          <a:bodyPr wrap="square" lIns="0" tIns="0" rIns="0" bIns="0" rtlCol="0" anchor="t"/>
          <a:lstStyle/>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0~5세가 경험해야</a:t>
            </a:r>
            <a:endParaRPr lang="en-US" sz="1200" dirty="0"/>
          </a:p>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할 내용</a:t>
            </a:r>
            <a:endParaRPr lang="en-US" sz="1200" dirty="0"/>
          </a:p>
        </p:txBody>
      </p:sp>
      <p:sp>
        <p:nvSpPr>
          <p:cNvPr id="22" name="Shape 16"/>
          <p:cNvSpPr/>
          <p:nvPr/>
        </p:nvSpPr>
        <p:spPr>
          <a:xfrm>
            <a:off x="7187184" y="1417320"/>
            <a:ext cx="1517904" cy="1920240"/>
          </a:xfrm>
          <a:prstGeom prst="roundRect">
            <a:avLst>
              <a:gd name="adj" fmla="val 9036"/>
            </a:avLst>
          </a:prstGeom>
          <a:solidFill>
            <a:srgbClr val="EEF4EF"/>
          </a:solidFill>
          <a:ln/>
        </p:spPr>
      </p:sp>
      <p:sp>
        <p:nvSpPr>
          <p:cNvPr id="23" name="Shape 17"/>
          <p:cNvSpPr/>
          <p:nvPr/>
        </p:nvSpPr>
        <p:spPr>
          <a:xfrm>
            <a:off x="7671816" y="1645920"/>
            <a:ext cx="548640" cy="548640"/>
          </a:xfrm>
          <a:prstGeom prst="ellipse">
            <a:avLst/>
          </a:prstGeom>
          <a:solidFill>
            <a:srgbClr val="A9CBB0"/>
          </a:solidFill>
          <a:ln/>
        </p:spPr>
      </p:sp>
      <p:pic>
        <p:nvPicPr>
          <p:cNvPr id="24" name="Image 4" descr="preencoded.png">    </p:cNvPr>
          <p:cNvPicPr>
            <a:picLocks noChangeAspect="1"/>
          </p:cNvPicPr>
          <p:nvPr/>
        </p:nvPicPr>
        <p:blipFill>
          <a:blip r:embed="rId5"/>
          <a:stretch>
            <a:fillRect/>
          </a:stretch>
        </p:blipFill>
        <p:spPr>
          <a:xfrm>
            <a:off x="7808976" y="1783080"/>
            <a:ext cx="274320" cy="274320"/>
          </a:xfrm>
          <a:prstGeom prst="rect">
            <a:avLst/>
          </a:prstGeom>
        </p:spPr>
      </p:pic>
      <p:sp>
        <p:nvSpPr>
          <p:cNvPr id="25" name="Text 18"/>
          <p:cNvSpPr txBox="1"/>
          <p:nvPr/>
        </p:nvSpPr>
        <p:spPr>
          <a:xfrm>
            <a:off x="7260336" y="2331720"/>
            <a:ext cx="1371600" cy="822960"/>
          </a:xfrm>
          <a:prstGeom prst="rect">
            <a:avLst/>
          </a:prstGeom>
          <a:noFill/>
          <a:ln/>
        </p:spPr>
        <p:txBody>
          <a:bodyPr wrap="square" lIns="0" tIns="0" rIns="0" bIns="0" rtlCol="0" anchor="t"/>
          <a:lstStyle/>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초등학교 교육과정</a:t>
            </a:r>
            <a:endParaRPr lang="en-US" sz="1200" dirty="0"/>
          </a:p>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과의 연계성</a:t>
            </a:r>
            <a:endParaRPr lang="en-US" sz="1200" dirty="0"/>
          </a:p>
        </p:txBody>
      </p:sp>
      <p:sp>
        <p:nvSpPr>
          <p:cNvPr id="26" name="Text 19"/>
          <p:cNvSpPr txBox="1"/>
          <p:nvPr/>
        </p:nvSpPr>
        <p:spPr>
          <a:xfrm>
            <a:off x="457200" y="3611880"/>
            <a:ext cx="8229600" cy="274320"/>
          </a:xfrm>
          <a:prstGeom prst="rect">
            <a:avLst/>
          </a:prstGeom>
          <a:noFill/>
          <a:ln/>
        </p:spPr>
        <p:txBody>
          <a:bodyPr wrap="square" lIns="0" tIns="0" rIns="0" bIns="0" rtlCol="0" anchor="ctr"/>
          <a:lstStyle/>
          <a:p>
            <a:pPr indent="0" marL="0">
              <a:buNone/>
            </a:pPr>
            <a:r>
              <a:rPr lang="en-US" sz="1300" b="1" dirty="0">
                <a:solidFill>
                  <a:srgbClr val="5E8C6A"/>
                </a:solidFill>
                <a:latin typeface="Malgun Gothic" pitchFamily="34" charset="0"/>
                <a:ea typeface="Malgun Gothic" pitchFamily="34" charset="-122"/>
                <a:cs typeface="Malgun Gothic" pitchFamily="34" charset="-120"/>
              </a:rPr>
              <a:t>5개 영역</a:t>
            </a:r>
            <a:endParaRPr lang="en-US" sz="1300" dirty="0"/>
          </a:p>
        </p:txBody>
      </p:sp>
      <p:sp>
        <p:nvSpPr>
          <p:cNvPr id="27" name="Shape 20"/>
          <p:cNvSpPr/>
          <p:nvPr/>
        </p:nvSpPr>
        <p:spPr>
          <a:xfrm>
            <a:off x="457200" y="3977640"/>
            <a:ext cx="1517904" cy="548640"/>
          </a:xfrm>
          <a:prstGeom prst="roundRect">
            <a:avLst>
              <a:gd name="adj" fmla="val 50000"/>
            </a:avLst>
          </a:prstGeom>
          <a:solidFill>
            <a:srgbClr val="F2A27E"/>
          </a:solidFill>
          <a:ln/>
        </p:spPr>
      </p:sp>
      <p:sp>
        <p:nvSpPr>
          <p:cNvPr id="28" name="Text 21"/>
          <p:cNvSpPr txBox="1"/>
          <p:nvPr/>
        </p:nvSpPr>
        <p:spPr>
          <a:xfrm>
            <a:off x="457200" y="3977640"/>
            <a:ext cx="1517904"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신체운동·건강</a:t>
            </a:r>
            <a:endParaRPr lang="en-US" sz="1300" dirty="0"/>
          </a:p>
        </p:txBody>
      </p:sp>
      <p:sp>
        <p:nvSpPr>
          <p:cNvPr id="29" name="Shape 22"/>
          <p:cNvSpPr/>
          <p:nvPr/>
        </p:nvSpPr>
        <p:spPr>
          <a:xfrm>
            <a:off x="2139696" y="3977640"/>
            <a:ext cx="1517904" cy="548640"/>
          </a:xfrm>
          <a:prstGeom prst="roundRect">
            <a:avLst>
              <a:gd name="adj" fmla="val 50000"/>
            </a:avLst>
          </a:prstGeom>
          <a:solidFill>
            <a:srgbClr val="F5D07A"/>
          </a:solidFill>
          <a:ln/>
        </p:spPr>
      </p:sp>
      <p:sp>
        <p:nvSpPr>
          <p:cNvPr id="30" name="Text 23"/>
          <p:cNvSpPr txBox="1"/>
          <p:nvPr/>
        </p:nvSpPr>
        <p:spPr>
          <a:xfrm>
            <a:off x="2139696" y="3977640"/>
            <a:ext cx="1517904" cy="548640"/>
          </a:xfrm>
          <a:prstGeom prst="rect">
            <a:avLst/>
          </a:prstGeom>
          <a:noFill/>
          <a:ln/>
        </p:spPr>
        <p:txBody>
          <a:bodyPr wrap="square" lIns="0" tIns="0" rIns="0" bIns="0" rtlCol="0" anchor="ctr"/>
          <a:lstStyle/>
          <a:p>
            <a:pPr algn="ctr" indent="0" marL="0">
              <a:buNone/>
            </a:pPr>
            <a:r>
              <a:rPr lang="en-US" sz="1300" b="1" dirty="0">
                <a:solidFill>
                  <a:srgbClr val="33413A"/>
                </a:solidFill>
                <a:latin typeface="Malgun Gothic" pitchFamily="34" charset="0"/>
                <a:ea typeface="Malgun Gothic" pitchFamily="34" charset="-122"/>
                <a:cs typeface="Malgun Gothic" pitchFamily="34" charset="-120"/>
              </a:rPr>
              <a:t>의사소통</a:t>
            </a:r>
            <a:endParaRPr lang="en-US" sz="1300" dirty="0"/>
          </a:p>
        </p:txBody>
      </p:sp>
      <p:sp>
        <p:nvSpPr>
          <p:cNvPr id="31" name="Shape 24"/>
          <p:cNvSpPr/>
          <p:nvPr/>
        </p:nvSpPr>
        <p:spPr>
          <a:xfrm>
            <a:off x="3822192" y="3977640"/>
            <a:ext cx="1517904" cy="548640"/>
          </a:xfrm>
          <a:prstGeom prst="roundRect">
            <a:avLst>
              <a:gd name="adj" fmla="val 50000"/>
            </a:avLst>
          </a:prstGeom>
          <a:solidFill>
            <a:srgbClr val="5E8C6A"/>
          </a:solidFill>
          <a:ln/>
        </p:spPr>
      </p:sp>
      <p:sp>
        <p:nvSpPr>
          <p:cNvPr id="32" name="Text 25"/>
          <p:cNvSpPr txBox="1"/>
          <p:nvPr/>
        </p:nvSpPr>
        <p:spPr>
          <a:xfrm>
            <a:off x="3822192" y="3977640"/>
            <a:ext cx="1517904"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사회관계</a:t>
            </a:r>
            <a:endParaRPr lang="en-US" sz="1300" dirty="0"/>
          </a:p>
        </p:txBody>
      </p:sp>
      <p:sp>
        <p:nvSpPr>
          <p:cNvPr id="33" name="Shape 26"/>
          <p:cNvSpPr/>
          <p:nvPr/>
        </p:nvSpPr>
        <p:spPr>
          <a:xfrm>
            <a:off x="5504688" y="3977640"/>
            <a:ext cx="1517904" cy="548640"/>
          </a:xfrm>
          <a:prstGeom prst="roundRect">
            <a:avLst>
              <a:gd name="adj" fmla="val 50000"/>
            </a:avLst>
          </a:prstGeom>
          <a:solidFill>
            <a:srgbClr val="E8A1A8"/>
          </a:solidFill>
          <a:ln/>
        </p:spPr>
      </p:sp>
      <p:sp>
        <p:nvSpPr>
          <p:cNvPr id="34" name="Text 27"/>
          <p:cNvSpPr txBox="1"/>
          <p:nvPr/>
        </p:nvSpPr>
        <p:spPr>
          <a:xfrm>
            <a:off x="5504688" y="3977640"/>
            <a:ext cx="1517904"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예술경험</a:t>
            </a:r>
            <a:endParaRPr lang="en-US" sz="1300" dirty="0"/>
          </a:p>
        </p:txBody>
      </p:sp>
      <p:sp>
        <p:nvSpPr>
          <p:cNvPr id="35" name="Shape 28"/>
          <p:cNvSpPr/>
          <p:nvPr/>
        </p:nvSpPr>
        <p:spPr>
          <a:xfrm>
            <a:off x="7187184" y="3977640"/>
            <a:ext cx="1517904" cy="548640"/>
          </a:xfrm>
          <a:prstGeom prst="roundRect">
            <a:avLst>
              <a:gd name="adj" fmla="val 50000"/>
            </a:avLst>
          </a:prstGeom>
          <a:solidFill>
            <a:srgbClr val="A9CBB0"/>
          </a:solidFill>
          <a:ln/>
        </p:spPr>
      </p:sp>
      <p:sp>
        <p:nvSpPr>
          <p:cNvPr id="36" name="Text 29"/>
          <p:cNvSpPr txBox="1"/>
          <p:nvPr/>
        </p:nvSpPr>
        <p:spPr>
          <a:xfrm>
            <a:off x="7187184" y="3977640"/>
            <a:ext cx="1517904"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자연탐구</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05</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표준보육과정의 운영</a:t>
            </a:r>
            <a:endParaRPr lang="en-US" sz="2800" dirty="0"/>
          </a:p>
        </p:txBody>
      </p:sp>
      <p:sp>
        <p:nvSpPr>
          <p:cNvPr id="5" name="Shape 3"/>
          <p:cNvSpPr/>
          <p:nvPr/>
        </p:nvSpPr>
        <p:spPr>
          <a:xfrm>
            <a:off x="457200" y="1097280"/>
            <a:ext cx="2615184" cy="3611880"/>
          </a:xfrm>
          <a:prstGeom prst="roundRect">
            <a:avLst>
              <a:gd name="adj" fmla="val 5245"/>
            </a:avLst>
          </a:prstGeom>
          <a:solidFill>
            <a:srgbClr val="FCE4D8"/>
          </a:solidFill>
          <a:ln/>
        </p:spPr>
      </p:sp>
      <p:sp>
        <p:nvSpPr>
          <p:cNvPr id="6" name="Shape 4"/>
          <p:cNvSpPr/>
          <p:nvPr/>
        </p:nvSpPr>
        <p:spPr>
          <a:xfrm>
            <a:off x="640080" y="1234440"/>
            <a:ext cx="457200" cy="457200"/>
          </a:xfrm>
          <a:prstGeom prst="ellipse">
            <a:avLst/>
          </a:prstGeom>
          <a:solidFill>
            <a:srgbClr val="F2A27E"/>
          </a:solidFill>
          <a:ln/>
        </p:spPr>
      </p:sp>
      <p:pic>
        <p:nvPicPr>
          <p:cNvPr id="7" name="Image 0" descr="preencoded.png">    </p:cNvPr>
          <p:cNvPicPr>
            <a:picLocks noChangeAspect="1"/>
          </p:cNvPicPr>
          <p:nvPr/>
        </p:nvPicPr>
        <p:blipFill>
          <a:blip r:embed="rId1"/>
          <a:stretch>
            <a:fillRect/>
          </a:stretch>
        </p:blipFill>
        <p:spPr>
          <a:xfrm>
            <a:off x="754380" y="1348740"/>
            <a:ext cx="228600" cy="228600"/>
          </a:xfrm>
          <a:prstGeom prst="rect">
            <a:avLst/>
          </a:prstGeom>
        </p:spPr>
      </p:pic>
      <p:sp>
        <p:nvSpPr>
          <p:cNvPr id="8" name="Text 5"/>
          <p:cNvSpPr txBox="1"/>
          <p:nvPr/>
        </p:nvSpPr>
        <p:spPr>
          <a:xfrm>
            <a:off x="1188720" y="1234440"/>
            <a:ext cx="1737360" cy="457200"/>
          </a:xfrm>
          <a:prstGeom prst="rect">
            <a:avLst/>
          </a:prstGeom>
          <a:noFill/>
          <a:ln/>
        </p:spPr>
        <p:txBody>
          <a:bodyPr wrap="square" lIns="0" tIns="0" rIns="0" bIns="0" rtlCol="0" anchor="ctr"/>
          <a:lstStyle/>
          <a:p>
            <a:pPr indent="0" marL="0">
              <a:buNone/>
            </a:pPr>
            <a:r>
              <a:rPr lang="en-US" sz="1600" b="1" dirty="0">
                <a:solidFill>
                  <a:srgbClr val="33413A"/>
                </a:solidFill>
                <a:latin typeface="Malgun Gothic" pitchFamily="34" charset="0"/>
                <a:ea typeface="Malgun Gothic" pitchFamily="34" charset="-122"/>
                <a:cs typeface="Malgun Gothic" pitchFamily="34" charset="-120"/>
              </a:rPr>
              <a:t>① 편성·운영</a:t>
            </a:r>
            <a:endParaRPr lang="en-US" sz="1600" dirty="0"/>
          </a:p>
        </p:txBody>
      </p:sp>
      <p:sp>
        <p:nvSpPr>
          <p:cNvPr id="9" name="Text 6"/>
          <p:cNvSpPr txBox="1"/>
          <p:nvPr/>
        </p:nvSpPr>
        <p:spPr>
          <a:xfrm>
            <a:off x="594360" y="1874520"/>
            <a:ext cx="2377440" cy="2743200"/>
          </a:xfrm>
          <a:prstGeom prst="rect">
            <a:avLst/>
          </a:prstGeom>
          <a:noFill/>
          <a:ln/>
        </p:spPr>
        <p:txBody>
          <a:bodyPr wrap="square" lIns="0" tIns="0" rIns="0" bIns="0" rtlCol="0" anchor="t"/>
          <a:lstStyle/>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기관 운영 시간·실정에 맞게 계획</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바깥놀이 포함, 충분한 놀이</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성·장애·종교·가족·문화 차별 없이</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발달·장애 정도에 따라 조정</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가정·지역사회와 협력</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교사 연수로 운영 개선</a:t>
            </a:r>
            <a:endParaRPr lang="en-US" sz="1250" dirty="0"/>
          </a:p>
        </p:txBody>
      </p:sp>
      <p:sp>
        <p:nvSpPr>
          <p:cNvPr id="10" name="Shape 7"/>
          <p:cNvSpPr/>
          <p:nvPr/>
        </p:nvSpPr>
        <p:spPr>
          <a:xfrm>
            <a:off x="3264408" y="1097280"/>
            <a:ext cx="2615184" cy="3611880"/>
          </a:xfrm>
          <a:prstGeom prst="roundRect">
            <a:avLst>
              <a:gd name="adj" fmla="val 5245"/>
            </a:avLst>
          </a:prstGeom>
          <a:solidFill>
            <a:srgbClr val="DCEBDD"/>
          </a:solidFill>
          <a:ln/>
        </p:spPr>
      </p:sp>
      <p:sp>
        <p:nvSpPr>
          <p:cNvPr id="11" name="Shape 8"/>
          <p:cNvSpPr/>
          <p:nvPr/>
        </p:nvSpPr>
        <p:spPr>
          <a:xfrm>
            <a:off x="3447288" y="1234440"/>
            <a:ext cx="457200" cy="457200"/>
          </a:xfrm>
          <a:prstGeom prst="ellipse">
            <a:avLst/>
          </a:prstGeom>
          <a:solidFill>
            <a:srgbClr val="5E8C6A"/>
          </a:solidFill>
          <a:ln/>
        </p:spPr>
      </p:sp>
      <p:pic>
        <p:nvPicPr>
          <p:cNvPr id="12" name="Image 1" descr="preencoded.png">    </p:cNvPr>
          <p:cNvPicPr>
            <a:picLocks noChangeAspect="1"/>
          </p:cNvPicPr>
          <p:nvPr/>
        </p:nvPicPr>
        <p:blipFill>
          <a:blip r:embed="rId2"/>
          <a:stretch>
            <a:fillRect/>
          </a:stretch>
        </p:blipFill>
        <p:spPr>
          <a:xfrm>
            <a:off x="3561588" y="1348740"/>
            <a:ext cx="228600" cy="228600"/>
          </a:xfrm>
          <a:prstGeom prst="rect">
            <a:avLst/>
          </a:prstGeom>
        </p:spPr>
      </p:pic>
      <p:sp>
        <p:nvSpPr>
          <p:cNvPr id="13" name="Text 9"/>
          <p:cNvSpPr txBox="1"/>
          <p:nvPr/>
        </p:nvSpPr>
        <p:spPr>
          <a:xfrm>
            <a:off x="3995928" y="1234440"/>
            <a:ext cx="1737360" cy="457200"/>
          </a:xfrm>
          <a:prstGeom prst="rect">
            <a:avLst/>
          </a:prstGeom>
          <a:noFill/>
          <a:ln/>
        </p:spPr>
        <p:txBody>
          <a:bodyPr wrap="square" lIns="0" tIns="0" rIns="0" bIns="0" rtlCol="0" anchor="ctr"/>
          <a:lstStyle/>
          <a:p>
            <a:pPr indent="0" marL="0">
              <a:buNone/>
            </a:pPr>
            <a:r>
              <a:rPr lang="en-US" sz="1600" b="1" dirty="0">
                <a:solidFill>
                  <a:srgbClr val="33413A"/>
                </a:solidFill>
                <a:latin typeface="Malgun Gothic" pitchFamily="34" charset="0"/>
                <a:ea typeface="Malgun Gothic" pitchFamily="34" charset="-122"/>
                <a:cs typeface="Malgun Gothic" pitchFamily="34" charset="-120"/>
              </a:rPr>
              <a:t>② 교수·학습</a:t>
            </a:r>
            <a:endParaRPr lang="en-US" sz="1600" dirty="0"/>
          </a:p>
        </p:txBody>
      </p:sp>
      <p:sp>
        <p:nvSpPr>
          <p:cNvPr id="14" name="Text 10"/>
          <p:cNvSpPr txBox="1"/>
          <p:nvPr/>
        </p:nvSpPr>
        <p:spPr>
          <a:xfrm>
            <a:off x="3401568" y="1874520"/>
            <a:ext cx="2377440" cy="2743200"/>
          </a:xfrm>
          <a:prstGeom prst="rect">
            <a:avLst/>
          </a:prstGeom>
          <a:noFill/>
          <a:ln/>
        </p:spPr>
        <p:txBody>
          <a:bodyPr wrap="square" lIns="0" tIns="0" rIns="0" bIns="0" rtlCol="0" anchor="t"/>
          <a:lstStyle/>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흥미·관심 따라 자유롭게 놀이</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놀이를 통해 배우기</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다양한 실내외 환경 구성</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능동적 상호작용(영유아·교사·환경)</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5개 영역을 통합적으로 경험</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개별 요구·특성에 맞게</a:t>
            </a:r>
            <a:endParaRPr lang="en-US" sz="1250" dirty="0"/>
          </a:p>
        </p:txBody>
      </p:sp>
      <p:sp>
        <p:nvSpPr>
          <p:cNvPr id="15" name="Shape 11"/>
          <p:cNvSpPr/>
          <p:nvPr/>
        </p:nvSpPr>
        <p:spPr>
          <a:xfrm>
            <a:off x="6071616" y="1097280"/>
            <a:ext cx="2615184" cy="3611880"/>
          </a:xfrm>
          <a:prstGeom prst="roundRect">
            <a:avLst>
              <a:gd name="adj" fmla="val 5245"/>
            </a:avLst>
          </a:prstGeom>
          <a:solidFill>
            <a:srgbClr val="FDF3D6"/>
          </a:solidFill>
          <a:ln/>
        </p:spPr>
      </p:sp>
      <p:sp>
        <p:nvSpPr>
          <p:cNvPr id="16" name="Shape 12"/>
          <p:cNvSpPr/>
          <p:nvPr/>
        </p:nvSpPr>
        <p:spPr>
          <a:xfrm>
            <a:off x="6254496" y="1234440"/>
            <a:ext cx="457200" cy="457200"/>
          </a:xfrm>
          <a:prstGeom prst="ellipse">
            <a:avLst/>
          </a:prstGeom>
          <a:solidFill>
            <a:srgbClr val="F5D07A"/>
          </a:solidFill>
          <a:ln/>
        </p:spPr>
      </p:sp>
      <p:pic>
        <p:nvPicPr>
          <p:cNvPr id="17" name="Image 2" descr="preencoded.png">    </p:cNvPr>
          <p:cNvPicPr>
            <a:picLocks noChangeAspect="1"/>
          </p:cNvPicPr>
          <p:nvPr/>
        </p:nvPicPr>
        <p:blipFill>
          <a:blip r:embed="rId3"/>
          <a:stretch>
            <a:fillRect/>
          </a:stretch>
        </p:blipFill>
        <p:spPr>
          <a:xfrm>
            <a:off x="6368796" y="1348740"/>
            <a:ext cx="228600" cy="228600"/>
          </a:xfrm>
          <a:prstGeom prst="rect">
            <a:avLst/>
          </a:prstGeom>
        </p:spPr>
      </p:pic>
      <p:sp>
        <p:nvSpPr>
          <p:cNvPr id="18" name="Text 13"/>
          <p:cNvSpPr txBox="1"/>
          <p:nvPr/>
        </p:nvSpPr>
        <p:spPr>
          <a:xfrm>
            <a:off x="6803136" y="1234440"/>
            <a:ext cx="1737360" cy="457200"/>
          </a:xfrm>
          <a:prstGeom prst="rect">
            <a:avLst/>
          </a:prstGeom>
          <a:noFill/>
          <a:ln/>
        </p:spPr>
        <p:txBody>
          <a:bodyPr wrap="square" lIns="0" tIns="0" rIns="0" bIns="0" rtlCol="0" anchor="ctr"/>
          <a:lstStyle/>
          <a:p>
            <a:pPr indent="0" marL="0">
              <a:buNone/>
            </a:pPr>
            <a:r>
              <a:rPr lang="en-US" sz="1600" b="1" dirty="0">
                <a:solidFill>
                  <a:srgbClr val="33413A"/>
                </a:solidFill>
                <a:latin typeface="Malgun Gothic" pitchFamily="34" charset="0"/>
                <a:ea typeface="Malgun Gothic" pitchFamily="34" charset="-122"/>
                <a:cs typeface="Malgun Gothic" pitchFamily="34" charset="-120"/>
              </a:rPr>
              <a:t>③ 평가</a:t>
            </a:r>
            <a:endParaRPr lang="en-US" sz="1600" dirty="0"/>
          </a:p>
        </p:txBody>
      </p:sp>
      <p:sp>
        <p:nvSpPr>
          <p:cNvPr id="19" name="Text 14"/>
          <p:cNvSpPr txBox="1"/>
          <p:nvPr/>
        </p:nvSpPr>
        <p:spPr>
          <a:xfrm>
            <a:off x="6208776" y="1874520"/>
            <a:ext cx="2377440" cy="2743200"/>
          </a:xfrm>
          <a:prstGeom prst="rect">
            <a:avLst/>
          </a:prstGeom>
          <a:noFill/>
          <a:ln/>
        </p:spPr>
        <p:txBody>
          <a:bodyPr wrap="square" lIns="0" tIns="0" rIns="0" bIns="0" rtlCol="0" anchor="t"/>
          <a:lstStyle/>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운영의 질 진단·개선 위해 계획·실시</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영유아의 특성·변화와 운영을 평가</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목적에 맞는 방법 사용</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결과는 영유아 이해와 운영 개선에 활용</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06</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연령별 목표 및 내용: 5개 영역과 내용범주</a:t>
            </a:r>
            <a:endParaRPr lang="en-US" sz="2800" dirty="0"/>
          </a:p>
        </p:txBody>
      </p:sp>
      <p:sp>
        <p:nvSpPr>
          <p:cNvPr id="5" name="Text 3"/>
          <p:cNvSpPr txBox="1"/>
          <p:nvPr/>
        </p:nvSpPr>
        <p:spPr>
          <a:xfrm>
            <a:off x="1097280" y="914400"/>
            <a:ext cx="7589520" cy="274320"/>
          </a:xfrm>
          <a:prstGeom prst="rect">
            <a:avLst/>
          </a:prstGeom>
          <a:noFill/>
          <a:ln/>
        </p:spPr>
        <p:txBody>
          <a:bodyPr wrap="square" lIns="0" tIns="0" rIns="0" bIns="0" rtlCol="0" anchor="ctr"/>
          <a:lstStyle/>
          <a:p>
            <a:pPr indent="0" marL="0">
              <a:buNone/>
            </a:pPr>
            <a:r>
              <a:rPr lang="en-US" sz="1200" dirty="0">
                <a:solidFill>
                  <a:srgbClr val="6E7B73"/>
                </a:solidFill>
                <a:latin typeface="Malgun Gothic" pitchFamily="34" charset="0"/>
                <a:ea typeface="Malgun Gothic" pitchFamily="34" charset="-122"/>
                <a:cs typeface="Malgun Gothic" pitchFamily="34" charset="-120"/>
              </a:rPr>
              <a:t>0~1세 · 2세 · 3~5세 모두 같은 5개 영역 (교육부고시 제2024-23호)</a:t>
            </a:r>
            <a:endParaRPr lang="en-US" sz="1200" dirty="0"/>
          </a:p>
        </p:txBody>
      </p:sp>
      <p:sp>
        <p:nvSpPr>
          <p:cNvPr id="6" name="Shape 4"/>
          <p:cNvSpPr/>
          <p:nvPr/>
        </p:nvSpPr>
        <p:spPr>
          <a:xfrm>
            <a:off x="457200" y="1325880"/>
            <a:ext cx="1517904" cy="457200"/>
          </a:xfrm>
          <a:prstGeom prst="roundRect">
            <a:avLst>
              <a:gd name="adj" fmla="val 24000"/>
            </a:avLst>
          </a:prstGeom>
          <a:solidFill>
            <a:srgbClr val="F2A27E"/>
          </a:solidFill>
          <a:ln/>
        </p:spPr>
      </p:sp>
      <p:sp>
        <p:nvSpPr>
          <p:cNvPr id="7" name="Text 5"/>
          <p:cNvSpPr txBox="1"/>
          <p:nvPr/>
        </p:nvSpPr>
        <p:spPr>
          <a:xfrm>
            <a:off x="457200" y="1325880"/>
            <a:ext cx="1517904"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신체운동·건강</a:t>
            </a:r>
            <a:endParaRPr lang="en-US" sz="1300" dirty="0"/>
          </a:p>
        </p:txBody>
      </p:sp>
      <p:sp>
        <p:nvSpPr>
          <p:cNvPr id="8" name="Shape 6"/>
          <p:cNvSpPr/>
          <p:nvPr/>
        </p:nvSpPr>
        <p:spPr>
          <a:xfrm>
            <a:off x="457200" y="1874520"/>
            <a:ext cx="1517904" cy="438912"/>
          </a:xfrm>
          <a:prstGeom prst="roundRect">
            <a:avLst>
              <a:gd name="adj" fmla="val 20833"/>
            </a:avLst>
          </a:prstGeom>
          <a:solidFill>
            <a:srgbClr val="F4F7F4"/>
          </a:solidFill>
          <a:ln/>
        </p:spPr>
      </p:sp>
      <p:sp>
        <p:nvSpPr>
          <p:cNvPr id="9" name="Text 7"/>
          <p:cNvSpPr txBox="1"/>
          <p:nvPr/>
        </p:nvSpPr>
        <p:spPr>
          <a:xfrm>
            <a:off x="502920" y="1874520"/>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신체활동 즐기기</a:t>
            </a:r>
            <a:endParaRPr lang="en-US" sz="1050" dirty="0"/>
          </a:p>
        </p:txBody>
      </p:sp>
      <p:sp>
        <p:nvSpPr>
          <p:cNvPr id="10" name="Shape 8"/>
          <p:cNvSpPr/>
          <p:nvPr/>
        </p:nvSpPr>
        <p:spPr>
          <a:xfrm>
            <a:off x="457200" y="2386584"/>
            <a:ext cx="1517904" cy="438912"/>
          </a:xfrm>
          <a:prstGeom prst="roundRect">
            <a:avLst>
              <a:gd name="adj" fmla="val 20833"/>
            </a:avLst>
          </a:prstGeom>
          <a:solidFill>
            <a:srgbClr val="F4F7F4"/>
          </a:solidFill>
          <a:ln/>
        </p:spPr>
      </p:sp>
      <p:sp>
        <p:nvSpPr>
          <p:cNvPr id="11" name="Text 9"/>
          <p:cNvSpPr txBox="1"/>
          <p:nvPr/>
        </p:nvSpPr>
        <p:spPr>
          <a:xfrm>
            <a:off x="502920" y="2386584"/>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건강하게 생활하기</a:t>
            </a:r>
            <a:endParaRPr lang="en-US" sz="1050" dirty="0"/>
          </a:p>
        </p:txBody>
      </p:sp>
      <p:sp>
        <p:nvSpPr>
          <p:cNvPr id="12" name="Shape 10"/>
          <p:cNvSpPr/>
          <p:nvPr/>
        </p:nvSpPr>
        <p:spPr>
          <a:xfrm>
            <a:off x="457200" y="2898648"/>
            <a:ext cx="1517904" cy="438912"/>
          </a:xfrm>
          <a:prstGeom prst="roundRect">
            <a:avLst>
              <a:gd name="adj" fmla="val 20833"/>
            </a:avLst>
          </a:prstGeom>
          <a:solidFill>
            <a:srgbClr val="F4F7F4"/>
          </a:solidFill>
          <a:ln/>
        </p:spPr>
      </p:sp>
      <p:sp>
        <p:nvSpPr>
          <p:cNvPr id="13" name="Text 11"/>
          <p:cNvSpPr txBox="1"/>
          <p:nvPr/>
        </p:nvSpPr>
        <p:spPr>
          <a:xfrm>
            <a:off x="502920" y="2898648"/>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안전하게 생활하기</a:t>
            </a:r>
            <a:endParaRPr lang="en-US" sz="1050" dirty="0"/>
          </a:p>
        </p:txBody>
      </p:sp>
      <p:sp>
        <p:nvSpPr>
          <p:cNvPr id="14" name="Shape 12"/>
          <p:cNvSpPr/>
          <p:nvPr/>
        </p:nvSpPr>
        <p:spPr>
          <a:xfrm>
            <a:off x="2139696" y="1325880"/>
            <a:ext cx="1517904" cy="457200"/>
          </a:xfrm>
          <a:prstGeom prst="roundRect">
            <a:avLst>
              <a:gd name="adj" fmla="val 24000"/>
            </a:avLst>
          </a:prstGeom>
          <a:solidFill>
            <a:srgbClr val="F5D07A"/>
          </a:solidFill>
          <a:ln/>
        </p:spPr>
      </p:sp>
      <p:sp>
        <p:nvSpPr>
          <p:cNvPr id="15" name="Text 13"/>
          <p:cNvSpPr txBox="1"/>
          <p:nvPr/>
        </p:nvSpPr>
        <p:spPr>
          <a:xfrm>
            <a:off x="2139696" y="1325880"/>
            <a:ext cx="1517904" cy="457200"/>
          </a:xfrm>
          <a:prstGeom prst="rect">
            <a:avLst/>
          </a:prstGeom>
          <a:noFill/>
          <a:ln/>
        </p:spPr>
        <p:txBody>
          <a:bodyPr wrap="square" lIns="0" tIns="0" rIns="0" bIns="0" rtlCol="0" anchor="ctr"/>
          <a:lstStyle/>
          <a:p>
            <a:pPr algn="ctr" indent="0" marL="0">
              <a:buNone/>
            </a:pPr>
            <a:r>
              <a:rPr lang="en-US" sz="1300" b="1" dirty="0">
                <a:solidFill>
                  <a:srgbClr val="33413A"/>
                </a:solidFill>
                <a:latin typeface="Malgun Gothic" pitchFamily="34" charset="0"/>
                <a:ea typeface="Malgun Gothic" pitchFamily="34" charset="-122"/>
                <a:cs typeface="Malgun Gothic" pitchFamily="34" charset="-120"/>
              </a:rPr>
              <a:t>의사소통</a:t>
            </a:r>
            <a:endParaRPr lang="en-US" sz="1300" dirty="0"/>
          </a:p>
        </p:txBody>
      </p:sp>
      <p:sp>
        <p:nvSpPr>
          <p:cNvPr id="16" name="Shape 14"/>
          <p:cNvSpPr/>
          <p:nvPr/>
        </p:nvSpPr>
        <p:spPr>
          <a:xfrm>
            <a:off x="2139696" y="1874520"/>
            <a:ext cx="1517904" cy="438912"/>
          </a:xfrm>
          <a:prstGeom prst="roundRect">
            <a:avLst>
              <a:gd name="adj" fmla="val 20833"/>
            </a:avLst>
          </a:prstGeom>
          <a:solidFill>
            <a:srgbClr val="F4F7F4"/>
          </a:solidFill>
          <a:ln/>
        </p:spPr>
      </p:sp>
      <p:sp>
        <p:nvSpPr>
          <p:cNvPr id="17" name="Text 15"/>
          <p:cNvSpPr txBox="1"/>
          <p:nvPr/>
        </p:nvSpPr>
        <p:spPr>
          <a:xfrm>
            <a:off x="2185416" y="1874520"/>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듣기와 말하기</a:t>
            </a:r>
            <a:endParaRPr lang="en-US" sz="1050" dirty="0"/>
          </a:p>
        </p:txBody>
      </p:sp>
      <p:sp>
        <p:nvSpPr>
          <p:cNvPr id="18" name="Shape 16"/>
          <p:cNvSpPr/>
          <p:nvPr/>
        </p:nvSpPr>
        <p:spPr>
          <a:xfrm>
            <a:off x="2139696" y="2386584"/>
            <a:ext cx="1517904" cy="438912"/>
          </a:xfrm>
          <a:prstGeom prst="roundRect">
            <a:avLst>
              <a:gd name="adj" fmla="val 20833"/>
            </a:avLst>
          </a:prstGeom>
          <a:solidFill>
            <a:srgbClr val="F4F7F4"/>
          </a:solidFill>
          <a:ln/>
        </p:spPr>
      </p:sp>
      <p:sp>
        <p:nvSpPr>
          <p:cNvPr id="19" name="Text 17"/>
          <p:cNvSpPr txBox="1"/>
          <p:nvPr/>
        </p:nvSpPr>
        <p:spPr>
          <a:xfrm>
            <a:off x="2185416" y="2386584"/>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읽기와 쓰기에</a:t>
            </a:r>
            <a:endParaRPr lang="en-US" sz="1050" dirty="0"/>
          </a:p>
          <a:p>
            <a:pPr algn="ctr" indent="0" marL="0">
              <a:buNone/>
            </a:pPr>
            <a:r>
              <a:rPr lang="en-US" sz="1050" dirty="0">
                <a:solidFill>
                  <a:srgbClr val="33413A"/>
                </a:solidFill>
                <a:latin typeface="Malgun Gothic" pitchFamily="34" charset="0"/>
                <a:ea typeface="Malgun Gothic" pitchFamily="34" charset="-122"/>
                <a:cs typeface="Malgun Gothic" pitchFamily="34" charset="-120"/>
              </a:rPr>
              <a:t>관심 가지기</a:t>
            </a:r>
            <a:endParaRPr lang="en-US" sz="1050" dirty="0"/>
          </a:p>
        </p:txBody>
      </p:sp>
      <p:sp>
        <p:nvSpPr>
          <p:cNvPr id="20" name="Shape 18"/>
          <p:cNvSpPr/>
          <p:nvPr/>
        </p:nvSpPr>
        <p:spPr>
          <a:xfrm>
            <a:off x="2139696" y="2898648"/>
            <a:ext cx="1517904" cy="438912"/>
          </a:xfrm>
          <a:prstGeom prst="roundRect">
            <a:avLst>
              <a:gd name="adj" fmla="val 20833"/>
            </a:avLst>
          </a:prstGeom>
          <a:solidFill>
            <a:srgbClr val="F4F7F4"/>
          </a:solidFill>
          <a:ln/>
        </p:spPr>
      </p:sp>
      <p:sp>
        <p:nvSpPr>
          <p:cNvPr id="21" name="Text 19"/>
          <p:cNvSpPr txBox="1"/>
          <p:nvPr/>
        </p:nvSpPr>
        <p:spPr>
          <a:xfrm>
            <a:off x="2185416" y="2898648"/>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책과 이야기 즐기기</a:t>
            </a:r>
            <a:endParaRPr lang="en-US" sz="1050" dirty="0"/>
          </a:p>
        </p:txBody>
      </p:sp>
      <p:sp>
        <p:nvSpPr>
          <p:cNvPr id="22" name="Shape 20"/>
          <p:cNvSpPr/>
          <p:nvPr/>
        </p:nvSpPr>
        <p:spPr>
          <a:xfrm>
            <a:off x="3822192" y="1325880"/>
            <a:ext cx="1517904" cy="457200"/>
          </a:xfrm>
          <a:prstGeom prst="roundRect">
            <a:avLst>
              <a:gd name="adj" fmla="val 24000"/>
            </a:avLst>
          </a:prstGeom>
          <a:solidFill>
            <a:srgbClr val="5E8C6A"/>
          </a:solidFill>
          <a:ln/>
        </p:spPr>
      </p:sp>
      <p:sp>
        <p:nvSpPr>
          <p:cNvPr id="23" name="Text 21"/>
          <p:cNvSpPr txBox="1"/>
          <p:nvPr/>
        </p:nvSpPr>
        <p:spPr>
          <a:xfrm>
            <a:off x="3822192" y="1325880"/>
            <a:ext cx="1517904"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사회관계</a:t>
            </a:r>
            <a:endParaRPr lang="en-US" sz="1300" dirty="0"/>
          </a:p>
        </p:txBody>
      </p:sp>
      <p:sp>
        <p:nvSpPr>
          <p:cNvPr id="24" name="Shape 22"/>
          <p:cNvSpPr/>
          <p:nvPr/>
        </p:nvSpPr>
        <p:spPr>
          <a:xfrm>
            <a:off x="3822192" y="1874520"/>
            <a:ext cx="1517904" cy="438912"/>
          </a:xfrm>
          <a:prstGeom prst="roundRect">
            <a:avLst>
              <a:gd name="adj" fmla="val 20833"/>
            </a:avLst>
          </a:prstGeom>
          <a:solidFill>
            <a:srgbClr val="F4F7F4"/>
          </a:solidFill>
          <a:ln/>
        </p:spPr>
      </p:sp>
      <p:sp>
        <p:nvSpPr>
          <p:cNvPr id="25" name="Text 23"/>
          <p:cNvSpPr txBox="1"/>
          <p:nvPr/>
        </p:nvSpPr>
        <p:spPr>
          <a:xfrm>
            <a:off x="3867912" y="1874520"/>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나를 알고 존중하기</a:t>
            </a:r>
            <a:endParaRPr lang="en-US" sz="1050" dirty="0"/>
          </a:p>
        </p:txBody>
      </p:sp>
      <p:sp>
        <p:nvSpPr>
          <p:cNvPr id="26" name="Shape 24"/>
          <p:cNvSpPr/>
          <p:nvPr/>
        </p:nvSpPr>
        <p:spPr>
          <a:xfrm>
            <a:off x="3822192" y="2386584"/>
            <a:ext cx="1517904" cy="438912"/>
          </a:xfrm>
          <a:prstGeom prst="roundRect">
            <a:avLst>
              <a:gd name="adj" fmla="val 20833"/>
            </a:avLst>
          </a:prstGeom>
          <a:solidFill>
            <a:srgbClr val="F4F7F4"/>
          </a:solidFill>
          <a:ln/>
        </p:spPr>
      </p:sp>
      <p:sp>
        <p:nvSpPr>
          <p:cNvPr id="27" name="Text 25"/>
          <p:cNvSpPr txBox="1"/>
          <p:nvPr/>
        </p:nvSpPr>
        <p:spPr>
          <a:xfrm>
            <a:off x="3867912" y="2386584"/>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더불어 생활하기</a:t>
            </a:r>
            <a:endParaRPr lang="en-US" sz="1050" dirty="0"/>
          </a:p>
        </p:txBody>
      </p:sp>
      <p:sp>
        <p:nvSpPr>
          <p:cNvPr id="28" name="Shape 26"/>
          <p:cNvSpPr/>
          <p:nvPr/>
        </p:nvSpPr>
        <p:spPr>
          <a:xfrm>
            <a:off x="3822192" y="2898648"/>
            <a:ext cx="1517904" cy="438912"/>
          </a:xfrm>
          <a:prstGeom prst="roundRect">
            <a:avLst>
              <a:gd name="adj" fmla="val 20833"/>
            </a:avLst>
          </a:prstGeom>
          <a:solidFill>
            <a:srgbClr val="FFFFFF"/>
          </a:solidFill>
          <a:ln w="15875">
            <a:solidFill>
              <a:srgbClr val="F2A27E"/>
            </a:solidFill>
            <a:prstDash val="dash"/>
          </a:ln>
        </p:spPr>
      </p:sp>
      <p:sp>
        <p:nvSpPr>
          <p:cNvPr id="29" name="Text 27"/>
          <p:cNvSpPr txBox="1"/>
          <p:nvPr/>
        </p:nvSpPr>
        <p:spPr>
          <a:xfrm>
            <a:off x="3867912" y="2898648"/>
            <a:ext cx="1426464" cy="438912"/>
          </a:xfrm>
          <a:prstGeom prst="rect">
            <a:avLst/>
          </a:prstGeom>
          <a:noFill/>
          <a:ln/>
        </p:spPr>
        <p:txBody>
          <a:bodyPr wrap="square" lIns="0" tIns="0" rIns="0" bIns="0" rtlCol="0" anchor="ctr"/>
          <a:lstStyle/>
          <a:p>
            <a:pPr algn="ctr" indent="0" marL="0">
              <a:buNone/>
            </a:pPr>
            <a:r>
              <a:rPr lang="en-US" sz="1050" dirty="0">
                <a:solidFill>
                  <a:srgbClr val="C0643E"/>
                </a:solidFill>
                <a:latin typeface="Malgun Gothic" pitchFamily="34" charset="0"/>
                <a:ea typeface="Malgun Gothic" pitchFamily="34" charset="-122"/>
                <a:cs typeface="Malgun Gothic" pitchFamily="34" charset="-120"/>
              </a:rPr>
              <a:t>사회에 관심 가지기</a:t>
            </a:r>
            <a:endParaRPr lang="en-US" sz="1050" dirty="0"/>
          </a:p>
        </p:txBody>
      </p:sp>
      <p:sp>
        <p:nvSpPr>
          <p:cNvPr id="30" name="Shape 28"/>
          <p:cNvSpPr/>
          <p:nvPr/>
        </p:nvSpPr>
        <p:spPr>
          <a:xfrm>
            <a:off x="5504688" y="1325880"/>
            <a:ext cx="1517904" cy="457200"/>
          </a:xfrm>
          <a:prstGeom prst="roundRect">
            <a:avLst>
              <a:gd name="adj" fmla="val 24000"/>
            </a:avLst>
          </a:prstGeom>
          <a:solidFill>
            <a:srgbClr val="E8A1A8"/>
          </a:solidFill>
          <a:ln/>
        </p:spPr>
      </p:sp>
      <p:sp>
        <p:nvSpPr>
          <p:cNvPr id="31" name="Text 29"/>
          <p:cNvSpPr txBox="1"/>
          <p:nvPr/>
        </p:nvSpPr>
        <p:spPr>
          <a:xfrm>
            <a:off x="5504688" y="1325880"/>
            <a:ext cx="1517904"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예술경험</a:t>
            </a:r>
            <a:endParaRPr lang="en-US" sz="1300" dirty="0"/>
          </a:p>
        </p:txBody>
      </p:sp>
      <p:sp>
        <p:nvSpPr>
          <p:cNvPr id="32" name="Shape 30"/>
          <p:cNvSpPr/>
          <p:nvPr/>
        </p:nvSpPr>
        <p:spPr>
          <a:xfrm>
            <a:off x="5504688" y="1874520"/>
            <a:ext cx="1517904" cy="438912"/>
          </a:xfrm>
          <a:prstGeom prst="roundRect">
            <a:avLst>
              <a:gd name="adj" fmla="val 20833"/>
            </a:avLst>
          </a:prstGeom>
          <a:solidFill>
            <a:srgbClr val="F4F7F4"/>
          </a:solidFill>
          <a:ln/>
        </p:spPr>
      </p:sp>
      <p:sp>
        <p:nvSpPr>
          <p:cNvPr id="33" name="Text 31"/>
          <p:cNvSpPr txBox="1"/>
          <p:nvPr/>
        </p:nvSpPr>
        <p:spPr>
          <a:xfrm>
            <a:off x="5550408" y="1874520"/>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아름다움 찾아보기</a:t>
            </a:r>
            <a:endParaRPr lang="en-US" sz="1050" dirty="0"/>
          </a:p>
        </p:txBody>
      </p:sp>
      <p:sp>
        <p:nvSpPr>
          <p:cNvPr id="34" name="Shape 32"/>
          <p:cNvSpPr/>
          <p:nvPr/>
        </p:nvSpPr>
        <p:spPr>
          <a:xfrm>
            <a:off x="5504688" y="2386584"/>
            <a:ext cx="1517904" cy="438912"/>
          </a:xfrm>
          <a:prstGeom prst="roundRect">
            <a:avLst>
              <a:gd name="adj" fmla="val 20833"/>
            </a:avLst>
          </a:prstGeom>
          <a:solidFill>
            <a:srgbClr val="F4F7F4"/>
          </a:solidFill>
          <a:ln/>
        </p:spPr>
      </p:sp>
      <p:sp>
        <p:nvSpPr>
          <p:cNvPr id="35" name="Text 33"/>
          <p:cNvSpPr txBox="1"/>
          <p:nvPr/>
        </p:nvSpPr>
        <p:spPr>
          <a:xfrm>
            <a:off x="5550408" y="2386584"/>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창의적으로 표현하기</a:t>
            </a:r>
            <a:endParaRPr lang="en-US" sz="1050" dirty="0"/>
          </a:p>
        </p:txBody>
      </p:sp>
      <p:sp>
        <p:nvSpPr>
          <p:cNvPr id="36" name="Shape 34"/>
          <p:cNvSpPr/>
          <p:nvPr/>
        </p:nvSpPr>
        <p:spPr>
          <a:xfrm>
            <a:off x="5504688" y="2898648"/>
            <a:ext cx="1517904" cy="438912"/>
          </a:xfrm>
          <a:prstGeom prst="roundRect">
            <a:avLst>
              <a:gd name="adj" fmla="val 20833"/>
            </a:avLst>
          </a:prstGeom>
          <a:solidFill>
            <a:srgbClr val="FFFFFF"/>
          </a:solidFill>
          <a:ln w="15875">
            <a:solidFill>
              <a:srgbClr val="F2A27E"/>
            </a:solidFill>
            <a:prstDash val="dash"/>
          </a:ln>
        </p:spPr>
      </p:sp>
      <p:sp>
        <p:nvSpPr>
          <p:cNvPr id="37" name="Text 35"/>
          <p:cNvSpPr txBox="1"/>
          <p:nvPr/>
        </p:nvSpPr>
        <p:spPr>
          <a:xfrm>
            <a:off x="5550408" y="2898648"/>
            <a:ext cx="1426464" cy="438912"/>
          </a:xfrm>
          <a:prstGeom prst="rect">
            <a:avLst/>
          </a:prstGeom>
          <a:noFill/>
          <a:ln/>
        </p:spPr>
        <p:txBody>
          <a:bodyPr wrap="square" lIns="0" tIns="0" rIns="0" bIns="0" rtlCol="0" anchor="ctr"/>
          <a:lstStyle/>
          <a:p>
            <a:pPr algn="ctr" indent="0" marL="0">
              <a:buNone/>
            </a:pPr>
            <a:r>
              <a:rPr lang="en-US" sz="1050" dirty="0">
                <a:solidFill>
                  <a:srgbClr val="C0643E"/>
                </a:solidFill>
                <a:latin typeface="Malgun Gothic" pitchFamily="34" charset="0"/>
                <a:ea typeface="Malgun Gothic" pitchFamily="34" charset="-122"/>
                <a:cs typeface="Malgun Gothic" pitchFamily="34" charset="-120"/>
              </a:rPr>
              <a:t>예술 감상하기</a:t>
            </a:r>
            <a:endParaRPr lang="en-US" sz="1050" dirty="0"/>
          </a:p>
        </p:txBody>
      </p:sp>
      <p:sp>
        <p:nvSpPr>
          <p:cNvPr id="38" name="Shape 36"/>
          <p:cNvSpPr/>
          <p:nvPr/>
        </p:nvSpPr>
        <p:spPr>
          <a:xfrm>
            <a:off x="7187184" y="1325880"/>
            <a:ext cx="1517904" cy="457200"/>
          </a:xfrm>
          <a:prstGeom prst="roundRect">
            <a:avLst>
              <a:gd name="adj" fmla="val 24000"/>
            </a:avLst>
          </a:prstGeom>
          <a:solidFill>
            <a:srgbClr val="A9CBB0"/>
          </a:solidFill>
          <a:ln/>
        </p:spPr>
      </p:sp>
      <p:sp>
        <p:nvSpPr>
          <p:cNvPr id="39" name="Text 37"/>
          <p:cNvSpPr txBox="1"/>
          <p:nvPr/>
        </p:nvSpPr>
        <p:spPr>
          <a:xfrm>
            <a:off x="7187184" y="1325880"/>
            <a:ext cx="1517904"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자연탐구</a:t>
            </a:r>
            <a:endParaRPr lang="en-US" sz="1300" dirty="0"/>
          </a:p>
        </p:txBody>
      </p:sp>
      <p:sp>
        <p:nvSpPr>
          <p:cNvPr id="40" name="Shape 38"/>
          <p:cNvSpPr/>
          <p:nvPr/>
        </p:nvSpPr>
        <p:spPr>
          <a:xfrm>
            <a:off x="7187184" y="1874520"/>
            <a:ext cx="1517904" cy="438912"/>
          </a:xfrm>
          <a:prstGeom prst="roundRect">
            <a:avLst>
              <a:gd name="adj" fmla="val 20833"/>
            </a:avLst>
          </a:prstGeom>
          <a:solidFill>
            <a:srgbClr val="F4F7F4"/>
          </a:solidFill>
          <a:ln/>
        </p:spPr>
      </p:sp>
      <p:sp>
        <p:nvSpPr>
          <p:cNvPr id="41" name="Text 39"/>
          <p:cNvSpPr txBox="1"/>
          <p:nvPr/>
        </p:nvSpPr>
        <p:spPr>
          <a:xfrm>
            <a:off x="7232904" y="1874520"/>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탐구 과정 즐기기</a:t>
            </a:r>
            <a:endParaRPr lang="en-US" sz="1050" dirty="0"/>
          </a:p>
        </p:txBody>
      </p:sp>
      <p:sp>
        <p:nvSpPr>
          <p:cNvPr id="42" name="Shape 40"/>
          <p:cNvSpPr/>
          <p:nvPr/>
        </p:nvSpPr>
        <p:spPr>
          <a:xfrm>
            <a:off x="7187184" y="2386584"/>
            <a:ext cx="1517904" cy="438912"/>
          </a:xfrm>
          <a:prstGeom prst="roundRect">
            <a:avLst>
              <a:gd name="adj" fmla="val 20833"/>
            </a:avLst>
          </a:prstGeom>
          <a:solidFill>
            <a:srgbClr val="F4F7F4"/>
          </a:solidFill>
          <a:ln/>
        </p:spPr>
      </p:sp>
      <p:sp>
        <p:nvSpPr>
          <p:cNvPr id="43" name="Text 41"/>
          <p:cNvSpPr txBox="1"/>
          <p:nvPr/>
        </p:nvSpPr>
        <p:spPr>
          <a:xfrm>
            <a:off x="7232904" y="2386584"/>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생활 속에서 탐구하기</a:t>
            </a:r>
            <a:endParaRPr lang="en-US" sz="1050" dirty="0"/>
          </a:p>
        </p:txBody>
      </p:sp>
      <p:sp>
        <p:nvSpPr>
          <p:cNvPr id="44" name="Shape 42"/>
          <p:cNvSpPr/>
          <p:nvPr/>
        </p:nvSpPr>
        <p:spPr>
          <a:xfrm>
            <a:off x="7187184" y="2898648"/>
            <a:ext cx="1517904" cy="438912"/>
          </a:xfrm>
          <a:prstGeom prst="roundRect">
            <a:avLst>
              <a:gd name="adj" fmla="val 20833"/>
            </a:avLst>
          </a:prstGeom>
          <a:solidFill>
            <a:srgbClr val="F4F7F4"/>
          </a:solidFill>
          <a:ln/>
        </p:spPr>
      </p:sp>
      <p:sp>
        <p:nvSpPr>
          <p:cNvPr id="45" name="Text 43"/>
          <p:cNvSpPr txBox="1"/>
          <p:nvPr/>
        </p:nvSpPr>
        <p:spPr>
          <a:xfrm>
            <a:off x="7232904" y="2898648"/>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자연과 더불어 살기</a:t>
            </a:r>
            <a:endParaRPr lang="en-US" sz="1050" dirty="0"/>
          </a:p>
        </p:txBody>
      </p:sp>
      <p:sp>
        <p:nvSpPr>
          <p:cNvPr id="46" name="Text 44"/>
          <p:cNvSpPr txBox="1"/>
          <p:nvPr/>
        </p:nvSpPr>
        <p:spPr>
          <a:xfrm>
            <a:off x="457200" y="3429000"/>
            <a:ext cx="8229600" cy="228600"/>
          </a:xfrm>
          <a:prstGeom prst="rect">
            <a:avLst/>
          </a:prstGeom>
          <a:noFill/>
          <a:ln/>
        </p:spPr>
        <p:txBody>
          <a:bodyPr wrap="square" lIns="0" tIns="0" rIns="0" bIns="0" rtlCol="0" anchor="ctr"/>
          <a:lstStyle/>
          <a:p>
            <a:pPr algn="r" indent="0" marL="0">
              <a:buNone/>
            </a:pPr>
            <a:r>
              <a:rPr lang="en-US" sz="1000" dirty="0">
                <a:solidFill>
                  <a:srgbClr val="C0643E"/>
                </a:solidFill>
                <a:latin typeface="Malgun Gothic" pitchFamily="34" charset="0"/>
                <a:ea typeface="Malgun Gothic" pitchFamily="34" charset="-122"/>
                <a:cs typeface="Malgun Gothic" pitchFamily="34" charset="-120"/>
              </a:rPr>
              <a:t>점선 = 3~5세에 추가되는 내용범주</a:t>
            </a:r>
            <a:endParaRPr lang="en-US" sz="1000" dirty="0"/>
          </a:p>
        </p:txBody>
      </p:sp>
      <p:sp>
        <p:nvSpPr>
          <p:cNvPr id="47" name="Shape 45"/>
          <p:cNvSpPr/>
          <p:nvPr/>
        </p:nvSpPr>
        <p:spPr>
          <a:xfrm>
            <a:off x="457200" y="3703320"/>
            <a:ext cx="8229600" cy="1051560"/>
          </a:xfrm>
          <a:prstGeom prst="roundRect">
            <a:avLst>
              <a:gd name="adj" fmla="val 13043"/>
            </a:avLst>
          </a:prstGeom>
          <a:solidFill>
            <a:srgbClr val="FDF3D6"/>
          </a:solidFill>
          <a:ln/>
        </p:spPr>
      </p:sp>
      <p:sp>
        <p:nvSpPr>
          <p:cNvPr id="48" name="Text 46"/>
          <p:cNvSpPr txBox="1"/>
          <p:nvPr/>
        </p:nvSpPr>
        <p:spPr>
          <a:xfrm>
            <a:off x="640080" y="3767328"/>
            <a:ext cx="2743200" cy="274320"/>
          </a:xfrm>
          <a:prstGeom prst="rect">
            <a:avLst/>
          </a:prstGeom>
          <a:noFill/>
          <a:ln/>
        </p:spPr>
        <p:txBody>
          <a:bodyPr wrap="square" lIns="0" tIns="0" rIns="0" bIns="0" rtlCol="0" anchor="ctr"/>
          <a:lstStyle/>
          <a:p>
            <a:pPr indent="0" marL="0">
              <a:buNone/>
            </a:pPr>
            <a:r>
              <a:rPr lang="en-US" sz="1200" b="1" dirty="0">
                <a:solidFill>
                  <a:srgbClr val="B08A2E"/>
                </a:solidFill>
                <a:latin typeface="Malgun Gothic" pitchFamily="34" charset="0"/>
                <a:ea typeface="Malgun Gothic" pitchFamily="34" charset="-122"/>
                <a:cs typeface="Malgun Gothic" pitchFamily="34" charset="-120"/>
              </a:rPr>
              <a:t>예) '안전하게 생활하기'</a:t>
            </a:r>
            <a:endParaRPr lang="en-US" sz="1200" dirty="0"/>
          </a:p>
        </p:txBody>
      </p:sp>
      <p:sp>
        <p:nvSpPr>
          <p:cNvPr id="49" name="Text 47"/>
          <p:cNvSpPr txBox="1"/>
          <p:nvPr/>
        </p:nvSpPr>
        <p:spPr>
          <a:xfrm>
            <a:off x="640080" y="4041648"/>
            <a:ext cx="2286000" cy="237744"/>
          </a:xfrm>
          <a:prstGeom prst="rect">
            <a:avLst/>
          </a:prstGeom>
          <a:noFill/>
          <a:ln/>
        </p:spPr>
        <p:txBody>
          <a:bodyPr wrap="square" lIns="0" tIns="0" rIns="0" bIns="0" rtlCol="0" anchor="ctr"/>
          <a:lstStyle/>
          <a:p>
            <a:pPr indent="0" marL="0">
              <a:buNone/>
            </a:pPr>
            <a:r>
              <a:rPr lang="en-US" sz="1200" b="1" dirty="0">
                <a:solidFill>
                  <a:srgbClr val="5E8C6A"/>
                </a:solidFill>
                <a:latin typeface="Malgun Gothic" pitchFamily="34" charset="0"/>
                <a:ea typeface="Malgun Gothic" pitchFamily="34" charset="-122"/>
                <a:cs typeface="Malgun Gothic" pitchFamily="34" charset="-120"/>
              </a:rPr>
              <a:t>0~1세</a:t>
            </a:r>
            <a:endParaRPr lang="en-US" sz="1200" dirty="0"/>
          </a:p>
        </p:txBody>
      </p:sp>
      <p:sp>
        <p:nvSpPr>
          <p:cNvPr id="50" name="Text 48"/>
          <p:cNvSpPr txBox="1"/>
          <p:nvPr/>
        </p:nvSpPr>
        <p:spPr>
          <a:xfrm>
            <a:off x="640080" y="4297680"/>
            <a:ext cx="2331720" cy="411480"/>
          </a:xfrm>
          <a:prstGeom prst="rect">
            <a:avLst/>
          </a:prstGeom>
          <a:noFill/>
          <a:ln/>
        </p:spPr>
        <p:txBody>
          <a:bodyPr wrap="square" lIns="0" tIns="0" rIns="0" bIns="0" rtlCol="0" anchor="t"/>
          <a:lstStyle/>
          <a:p>
            <a:pPr indent="0" marL="0">
              <a:buNone/>
            </a:pPr>
            <a:r>
              <a:rPr lang="en-US" sz="1050" dirty="0">
                <a:solidFill>
                  <a:srgbClr val="33413A"/>
                </a:solidFill>
                <a:latin typeface="Malgun Gothic" pitchFamily="34" charset="0"/>
                <a:ea typeface="Malgun Gothic" pitchFamily="34" charset="-122"/>
                <a:cs typeface="Malgun Gothic" pitchFamily="34" charset="-120"/>
              </a:rPr>
              <a:t>위험하다는 말에 주의한다</a:t>
            </a:r>
            <a:endParaRPr lang="en-US" sz="1050" dirty="0"/>
          </a:p>
        </p:txBody>
      </p:sp>
      <p:sp>
        <p:nvSpPr>
          <p:cNvPr id="51" name="Text 49"/>
          <p:cNvSpPr txBox="1"/>
          <p:nvPr/>
        </p:nvSpPr>
        <p:spPr>
          <a:xfrm>
            <a:off x="2971800" y="4114800"/>
            <a:ext cx="320040" cy="457200"/>
          </a:xfrm>
          <a:prstGeom prst="rect">
            <a:avLst/>
          </a:prstGeom>
          <a:noFill/>
          <a:ln/>
        </p:spPr>
        <p:txBody>
          <a:bodyPr wrap="square" lIns="0" tIns="0" rIns="0" bIns="0" rtlCol="0" anchor="ctr"/>
          <a:lstStyle/>
          <a:p>
            <a:pPr algn="ctr" indent="0" marL="0">
              <a:buNone/>
            </a:pPr>
            <a:r>
              <a:rPr lang="en-US" sz="1600" b="1" dirty="0">
                <a:solidFill>
                  <a:srgbClr val="B08A2E"/>
                </a:solidFill>
                <a:latin typeface="Malgun Gothic" pitchFamily="34" charset="0"/>
                <a:ea typeface="Malgun Gothic" pitchFamily="34" charset="-122"/>
                <a:cs typeface="Malgun Gothic" pitchFamily="34" charset="-120"/>
              </a:rPr>
              <a:t>→</a:t>
            </a:r>
            <a:endParaRPr lang="en-US" sz="1600" dirty="0"/>
          </a:p>
        </p:txBody>
      </p:sp>
      <p:sp>
        <p:nvSpPr>
          <p:cNvPr id="52" name="Text 50"/>
          <p:cNvSpPr txBox="1"/>
          <p:nvPr/>
        </p:nvSpPr>
        <p:spPr>
          <a:xfrm>
            <a:off x="3337560" y="4041648"/>
            <a:ext cx="2286000" cy="237744"/>
          </a:xfrm>
          <a:prstGeom prst="rect">
            <a:avLst/>
          </a:prstGeom>
          <a:noFill/>
          <a:ln/>
        </p:spPr>
        <p:txBody>
          <a:bodyPr wrap="square" lIns="0" tIns="0" rIns="0" bIns="0" rtlCol="0" anchor="ctr"/>
          <a:lstStyle/>
          <a:p>
            <a:pPr indent="0" marL="0">
              <a:buNone/>
            </a:pPr>
            <a:r>
              <a:rPr lang="en-US" sz="1200" b="1" dirty="0">
                <a:solidFill>
                  <a:srgbClr val="5E8C6A"/>
                </a:solidFill>
                <a:latin typeface="Malgun Gothic" pitchFamily="34" charset="0"/>
                <a:ea typeface="Malgun Gothic" pitchFamily="34" charset="-122"/>
                <a:cs typeface="Malgun Gothic" pitchFamily="34" charset="-120"/>
              </a:rPr>
              <a:t>2세</a:t>
            </a:r>
            <a:endParaRPr lang="en-US" sz="1200" dirty="0"/>
          </a:p>
        </p:txBody>
      </p:sp>
      <p:sp>
        <p:nvSpPr>
          <p:cNvPr id="53" name="Text 51"/>
          <p:cNvSpPr txBox="1"/>
          <p:nvPr/>
        </p:nvSpPr>
        <p:spPr>
          <a:xfrm>
            <a:off x="3337560" y="4297680"/>
            <a:ext cx="2331720" cy="411480"/>
          </a:xfrm>
          <a:prstGeom prst="rect">
            <a:avLst/>
          </a:prstGeom>
          <a:noFill/>
          <a:ln/>
        </p:spPr>
        <p:txBody>
          <a:bodyPr wrap="square" lIns="0" tIns="0" rIns="0" bIns="0" rtlCol="0" anchor="t"/>
          <a:lstStyle/>
          <a:p>
            <a:pPr indent="0" marL="0">
              <a:buNone/>
            </a:pPr>
            <a:r>
              <a:rPr lang="en-US" sz="1050" dirty="0">
                <a:solidFill>
                  <a:srgbClr val="33413A"/>
                </a:solidFill>
                <a:latin typeface="Malgun Gothic" pitchFamily="34" charset="0"/>
                <a:ea typeface="Malgun Gothic" pitchFamily="34" charset="-122"/>
                <a:cs typeface="Malgun Gothic" pitchFamily="34" charset="-120"/>
              </a:rPr>
              <a:t>위험한 상황에 대처하는</a:t>
            </a:r>
            <a:endParaRPr lang="en-US" sz="1050" dirty="0"/>
          </a:p>
          <a:p>
            <a:pPr indent="0" marL="0">
              <a:buNone/>
            </a:pPr>
            <a:r>
              <a:rPr lang="en-US" sz="1050" dirty="0">
                <a:solidFill>
                  <a:srgbClr val="33413A"/>
                </a:solidFill>
                <a:latin typeface="Malgun Gothic" pitchFamily="34" charset="0"/>
                <a:ea typeface="Malgun Gothic" pitchFamily="34" charset="-122"/>
                <a:cs typeface="Malgun Gothic" pitchFamily="34" charset="-120"/>
              </a:rPr>
              <a:t>방법을 경험한다</a:t>
            </a:r>
            <a:endParaRPr lang="en-US" sz="1050" dirty="0"/>
          </a:p>
        </p:txBody>
      </p:sp>
      <p:sp>
        <p:nvSpPr>
          <p:cNvPr id="54" name="Text 52"/>
          <p:cNvSpPr txBox="1"/>
          <p:nvPr/>
        </p:nvSpPr>
        <p:spPr>
          <a:xfrm>
            <a:off x="5669280" y="4114800"/>
            <a:ext cx="320040" cy="457200"/>
          </a:xfrm>
          <a:prstGeom prst="rect">
            <a:avLst/>
          </a:prstGeom>
          <a:noFill/>
          <a:ln/>
        </p:spPr>
        <p:txBody>
          <a:bodyPr wrap="square" lIns="0" tIns="0" rIns="0" bIns="0" rtlCol="0" anchor="ctr"/>
          <a:lstStyle/>
          <a:p>
            <a:pPr algn="ctr" indent="0" marL="0">
              <a:buNone/>
            </a:pPr>
            <a:r>
              <a:rPr lang="en-US" sz="1600" b="1" dirty="0">
                <a:solidFill>
                  <a:srgbClr val="B08A2E"/>
                </a:solidFill>
                <a:latin typeface="Malgun Gothic" pitchFamily="34" charset="0"/>
                <a:ea typeface="Malgun Gothic" pitchFamily="34" charset="-122"/>
                <a:cs typeface="Malgun Gothic" pitchFamily="34" charset="-120"/>
              </a:rPr>
              <a:t>→</a:t>
            </a:r>
            <a:endParaRPr lang="en-US" sz="1600" dirty="0"/>
          </a:p>
        </p:txBody>
      </p:sp>
      <p:sp>
        <p:nvSpPr>
          <p:cNvPr id="55" name="Text 53"/>
          <p:cNvSpPr txBox="1"/>
          <p:nvPr/>
        </p:nvSpPr>
        <p:spPr>
          <a:xfrm>
            <a:off x="6035040" y="4041648"/>
            <a:ext cx="2286000" cy="237744"/>
          </a:xfrm>
          <a:prstGeom prst="rect">
            <a:avLst/>
          </a:prstGeom>
          <a:noFill/>
          <a:ln/>
        </p:spPr>
        <p:txBody>
          <a:bodyPr wrap="square" lIns="0" tIns="0" rIns="0" bIns="0" rtlCol="0" anchor="ctr"/>
          <a:lstStyle/>
          <a:p>
            <a:pPr indent="0" marL="0">
              <a:buNone/>
            </a:pPr>
            <a:r>
              <a:rPr lang="en-US" sz="1200" b="1" dirty="0">
                <a:solidFill>
                  <a:srgbClr val="5E8C6A"/>
                </a:solidFill>
                <a:latin typeface="Malgun Gothic" pitchFamily="34" charset="0"/>
                <a:ea typeface="Malgun Gothic" pitchFamily="34" charset="-122"/>
                <a:cs typeface="Malgun Gothic" pitchFamily="34" charset="-120"/>
              </a:rPr>
              <a:t>3~5세</a:t>
            </a:r>
            <a:endParaRPr lang="en-US" sz="1200" dirty="0"/>
          </a:p>
        </p:txBody>
      </p:sp>
      <p:sp>
        <p:nvSpPr>
          <p:cNvPr id="56" name="Text 54"/>
          <p:cNvSpPr txBox="1"/>
          <p:nvPr/>
        </p:nvSpPr>
        <p:spPr>
          <a:xfrm>
            <a:off x="6035040" y="4297680"/>
            <a:ext cx="2331720" cy="411480"/>
          </a:xfrm>
          <a:prstGeom prst="rect">
            <a:avLst/>
          </a:prstGeom>
          <a:noFill/>
          <a:ln/>
        </p:spPr>
        <p:txBody>
          <a:bodyPr wrap="square" lIns="0" tIns="0" rIns="0" bIns="0" rtlCol="0" anchor="t"/>
          <a:lstStyle/>
          <a:p>
            <a:pPr indent="0" marL="0">
              <a:buNone/>
            </a:pPr>
            <a:r>
              <a:rPr lang="en-US" sz="1050" dirty="0">
                <a:solidFill>
                  <a:srgbClr val="33413A"/>
                </a:solidFill>
                <a:latin typeface="Malgun Gothic" pitchFamily="34" charset="0"/>
                <a:ea typeface="Malgun Gothic" pitchFamily="34" charset="-122"/>
                <a:cs typeface="Malgun Gothic" pitchFamily="34" charset="-120"/>
              </a:rPr>
              <a:t>안전사고·화재·재난·학대·유괴 등에</a:t>
            </a:r>
            <a:endParaRPr lang="en-US" sz="1050" dirty="0"/>
          </a:p>
          <a:p>
            <a:pPr indent="0" marL="0">
              <a:buNone/>
            </a:pPr>
            <a:r>
              <a:rPr lang="en-US" sz="1050" dirty="0">
                <a:solidFill>
                  <a:srgbClr val="33413A"/>
                </a:solidFill>
                <a:latin typeface="Malgun Gothic" pitchFamily="34" charset="0"/>
                <a:ea typeface="Malgun Gothic" pitchFamily="34" charset="-122"/>
                <a:cs typeface="Malgun Gothic" pitchFamily="34" charset="-120"/>
              </a:rPr>
              <a:t>대처하는 방법을 경험한다</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07</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관련 법규와 지침의 이해</a:t>
            </a:r>
            <a:endParaRPr lang="en-US" sz="2800" dirty="0"/>
          </a:p>
        </p:txBody>
      </p:sp>
      <p:sp>
        <p:nvSpPr>
          <p:cNvPr id="5" name="Text 3"/>
          <p:cNvSpPr txBox="1"/>
          <p:nvPr/>
        </p:nvSpPr>
        <p:spPr>
          <a:xfrm>
            <a:off x="457200" y="1097280"/>
            <a:ext cx="4114800" cy="11887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교육청 지침을 먼저 파악, 필수 교육 내용은 반드시 반영</a:t>
            </a:r>
            <a:endParaRPr lang="en-US" sz="1250" dirty="0"/>
          </a:p>
          <a:p>
            <a:pPr marL="342900" indent="-342900">
              <a:spcAft>
                <a:spcPts val="6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교육청마다 다를 수 있음 → 소속 교육청 계획서·지침 확인</a:t>
            </a:r>
            <a:endParaRPr lang="en-US" sz="1250" dirty="0"/>
          </a:p>
          <a:p>
            <a:pPr marL="342900" indent="-342900">
              <a:spcAft>
                <a:spcPts val="6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운영계획서·연간 학사일정에도 지침 반영</a:t>
            </a:r>
            <a:endParaRPr lang="en-US" sz="1250" dirty="0"/>
          </a:p>
        </p:txBody>
      </p:sp>
      <p:sp>
        <p:nvSpPr>
          <p:cNvPr id="6" name="Shape 4"/>
          <p:cNvSpPr/>
          <p:nvPr/>
        </p:nvSpPr>
        <p:spPr>
          <a:xfrm>
            <a:off x="457200" y="2423160"/>
            <a:ext cx="1965960" cy="1417320"/>
          </a:xfrm>
          <a:prstGeom prst="roundRect">
            <a:avLst>
              <a:gd name="adj" fmla="val 9677"/>
            </a:avLst>
          </a:prstGeom>
          <a:solidFill>
            <a:srgbClr val="FCE4D8"/>
          </a:solidFill>
          <a:ln/>
        </p:spPr>
      </p:sp>
      <p:sp>
        <p:nvSpPr>
          <p:cNvPr id="7" name="Text 5"/>
          <p:cNvSpPr txBox="1"/>
          <p:nvPr/>
        </p:nvSpPr>
        <p:spPr>
          <a:xfrm>
            <a:off x="594360" y="2514600"/>
            <a:ext cx="1737360" cy="320040"/>
          </a:xfrm>
          <a:prstGeom prst="rect">
            <a:avLst/>
          </a:prstGeom>
          <a:noFill/>
          <a:ln/>
        </p:spPr>
        <p:txBody>
          <a:bodyPr wrap="square" lIns="0" tIns="0" rIns="0" bIns="0" rtlCol="0" anchor="ctr"/>
          <a:lstStyle/>
          <a:p>
            <a:pPr indent="0" marL="0">
              <a:buNone/>
            </a:pPr>
            <a:r>
              <a:rPr lang="en-US" sz="1400" b="1" dirty="0">
                <a:solidFill>
                  <a:srgbClr val="C0643E"/>
                </a:solidFill>
                <a:latin typeface="Malgun Gothic" pitchFamily="34" charset="0"/>
                <a:ea typeface="Malgun Gothic" pitchFamily="34" charset="-122"/>
                <a:cs typeface="Malgun Gothic" pitchFamily="34" charset="-120"/>
              </a:rPr>
              <a:t>유치원</a:t>
            </a:r>
            <a:endParaRPr lang="en-US" sz="1400" dirty="0"/>
          </a:p>
        </p:txBody>
      </p:sp>
      <p:sp>
        <p:nvSpPr>
          <p:cNvPr id="8" name="Text 6"/>
          <p:cNvSpPr txBox="1"/>
          <p:nvPr/>
        </p:nvSpPr>
        <p:spPr>
          <a:xfrm>
            <a:off x="594360" y="2834640"/>
            <a:ext cx="1737360" cy="914400"/>
          </a:xfrm>
          <a:prstGeom prst="rect">
            <a:avLst/>
          </a:prstGeom>
          <a:noFill/>
          <a:ln/>
        </p:spPr>
        <p:txBody>
          <a:bodyPr wrap="square" lIns="0" tIns="0" rIns="0" bIns="0" rtlCol="0" anchor="t"/>
          <a:lstStyle/>
          <a:p>
            <a:pPr indent="0" marL="0">
              <a:buNone/>
            </a:pPr>
            <a:r>
              <a:rPr lang="en-US" sz="1100" dirty="0">
                <a:solidFill>
                  <a:srgbClr val="33413A"/>
                </a:solidFill>
                <a:latin typeface="Malgun Gothic" pitchFamily="34" charset="0"/>
                <a:ea typeface="Malgun Gothic" pitchFamily="34" charset="-122"/>
                <a:cs typeface="Malgun Gothic" pitchFamily="34" charset="-120"/>
              </a:rPr>
              <a:t>교육청별 유치원 교육과정 편성·운영 지침</a:t>
            </a:r>
            <a:endParaRPr lang="en-US" sz="1100" dirty="0"/>
          </a:p>
          <a:p>
            <a:pPr indent="0" marL="0">
              <a:buNone/>
            </a:pPr>
            <a:r>
              <a:rPr lang="en-US" sz="1100" dirty="0">
                <a:solidFill>
                  <a:srgbClr val="33413A"/>
                </a:solidFill>
                <a:latin typeface="Malgun Gothic" pitchFamily="34" charset="0"/>
                <a:ea typeface="Malgun Gothic" pitchFamily="34" charset="-122"/>
                <a:cs typeface="Malgun Gothic" pitchFamily="34" charset="-120"/>
              </a:rPr>
              <a:t>유아교육계획</a:t>
            </a:r>
            <a:endParaRPr lang="en-US" sz="1100" dirty="0"/>
          </a:p>
        </p:txBody>
      </p:sp>
      <p:sp>
        <p:nvSpPr>
          <p:cNvPr id="9" name="Shape 7"/>
          <p:cNvSpPr/>
          <p:nvPr/>
        </p:nvSpPr>
        <p:spPr>
          <a:xfrm>
            <a:off x="2560320" y="2423160"/>
            <a:ext cx="1965960" cy="1417320"/>
          </a:xfrm>
          <a:prstGeom prst="roundRect">
            <a:avLst>
              <a:gd name="adj" fmla="val 9677"/>
            </a:avLst>
          </a:prstGeom>
          <a:solidFill>
            <a:srgbClr val="DCEBDD"/>
          </a:solidFill>
          <a:ln/>
        </p:spPr>
      </p:sp>
      <p:sp>
        <p:nvSpPr>
          <p:cNvPr id="10" name="Text 8"/>
          <p:cNvSpPr txBox="1"/>
          <p:nvPr/>
        </p:nvSpPr>
        <p:spPr>
          <a:xfrm>
            <a:off x="2697480" y="2514600"/>
            <a:ext cx="1737360" cy="320040"/>
          </a:xfrm>
          <a:prstGeom prst="rect">
            <a:avLst/>
          </a:prstGeom>
          <a:noFill/>
          <a:ln/>
        </p:spPr>
        <p:txBody>
          <a:bodyPr wrap="square" lIns="0" tIns="0" rIns="0" bIns="0" rtlCol="0" anchor="ctr"/>
          <a:lstStyle/>
          <a:p>
            <a:pPr indent="0" marL="0">
              <a:buNone/>
            </a:pPr>
            <a:r>
              <a:rPr lang="en-US" sz="1400" b="1" dirty="0">
                <a:solidFill>
                  <a:srgbClr val="5E8C6A"/>
                </a:solidFill>
                <a:latin typeface="Malgun Gothic" pitchFamily="34" charset="0"/>
                <a:ea typeface="Malgun Gothic" pitchFamily="34" charset="-122"/>
                <a:cs typeface="Malgun Gothic" pitchFamily="34" charset="-120"/>
              </a:rPr>
              <a:t>어린이집</a:t>
            </a:r>
            <a:endParaRPr lang="en-US" sz="1400" dirty="0"/>
          </a:p>
        </p:txBody>
      </p:sp>
      <p:sp>
        <p:nvSpPr>
          <p:cNvPr id="11" name="Text 9"/>
          <p:cNvSpPr txBox="1"/>
          <p:nvPr/>
        </p:nvSpPr>
        <p:spPr>
          <a:xfrm>
            <a:off x="2697480" y="2834640"/>
            <a:ext cx="1737360" cy="914400"/>
          </a:xfrm>
          <a:prstGeom prst="rect">
            <a:avLst/>
          </a:prstGeom>
          <a:noFill/>
          <a:ln/>
        </p:spPr>
        <p:txBody>
          <a:bodyPr wrap="square" lIns="0" tIns="0" rIns="0" bIns="0" rtlCol="0" anchor="t"/>
          <a:lstStyle/>
          <a:p>
            <a:pPr indent="0" marL="0">
              <a:buNone/>
            </a:pPr>
            <a:r>
              <a:rPr lang="en-US" sz="1100" dirty="0">
                <a:solidFill>
                  <a:srgbClr val="33413A"/>
                </a:solidFill>
                <a:latin typeface="Malgun Gothic" pitchFamily="34" charset="0"/>
                <a:ea typeface="Malgun Gothic" pitchFamily="34" charset="-122"/>
                <a:cs typeface="Malgun Gothic" pitchFamily="34" charset="-120"/>
              </a:rPr>
              <a:t>보육사업안내서</a:t>
            </a:r>
            <a:endParaRPr lang="en-US" sz="1100" dirty="0"/>
          </a:p>
          <a:p>
            <a:pPr indent="0" marL="0">
              <a:buNone/>
            </a:pPr>
            <a:r>
              <a:rPr lang="en-US" sz="1100" dirty="0">
                <a:solidFill>
                  <a:srgbClr val="33413A"/>
                </a:solidFill>
                <a:latin typeface="Malgun Gothic" pitchFamily="34" charset="0"/>
                <a:ea typeface="Malgun Gothic" pitchFamily="34" charset="-122"/>
                <a:cs typeface="Malgun Gothic" pitchFamily="34" charset="-120"/>
              </a:rPr>
              <a:t>업무별 매뉴얼</a:t>
            </a:r>
            <a:endParaRPr lang="en-US" sz="1100" dirty="0"/>
          </a:p>
        </p:txBody>
      </p:sp>
      <p:sp>
        <p:nvSpPr>
          <p:cNvPr id="12" name="Shape 10"/>
          <p:cNvSpPr/>
          <p:nvPr/>
        </p:nvSpPr>
        <p:spPr>
          <a:xfrm>
            <a:off x="4754880" y="1097280"/>
            <a:ext cx="3931920" cy="2743200"/>
          </a:xfrm>
          <a:prstGeom prst="roundRect">
            <a:avLst>
              <a:gd name="adj" fmla="val 5000"/>
            </a:avLst>
          </a:prstGeom>
          <a:solidFill>
            <a:srgbClr val="F4F7F4"/>
          </a:solidFill>
          <a:ln/>
        </p:spPr>
      </p:sp>
      <p:sp>
        <p:nvSpPr>
          <p:cNvPr id="13" name="Text 11"/>
          <p:cNvSpPr txBox="1"/>
          <p:nvPr/>
        </p:nvSpPr>
        <p:spPr>
          <a:xfrm>
            <a:off x="4937760" y="1188720"/>
            <a:ext cx="3566160" cy="548640"/>
          </a:xfrm>
          <a:prstGeom prst="rect">
            <a:avLst/>
          </a:prstGeom>
          <a:noFill/>
          <a:ln/>
        </p:spPr>
        <p:txBody>
          <a:bodyPr wrap="square" lIns="0" tIns="0" rIns="0" bIns="0" rtlCol="0" anchor="ctr"/>
          <a:lstStyle/>
          <a:p>
            <a:pPr indent="0" marL="0">
              <a:buNone/>
            </a:pPr>
            <a:r>
              <a:rPr lang="en-US" sz="1200" b="1" dirty="0">
                <a:solidFill>
                  <a:srgbClr val="6E7B73"/>
                </a:solidFill>
                <a:latin typeface="Malgun Gothic" pitchFamily="34" charset="0"/>
                <a:ea typeface="Malgun Gothic" pitchFamily="34" charset="-122"/>
                <a:cs typeface="Malgun Gothic" pitchFamily="34" charset="-120"/>
              </a:rPr>
              <a:t>〈표 5-5〉 2025학년도 경기도 유치원</a:t>
            </a:r>
            <a:endParaRPr lang="en-US" sz="1200" dirty="0"/>
          </a:p>
          <a:p>
            <a:pPr indent="0" marL="0">
              <a:buNone/>
            </a:pPr>
            <a:r>
              <a:rPr lang="en-US" sz="1200" b="1" dirty="0">
                <a:solidFill>
                  <a:srgbClr val="6E7B73"/>
                </a:solidFill>
                <a:latin typeface="Malgun Gothic" pitchFamily="34" charset="0"/>
                <a:ea typeface="Malgun Gothic" pitchFamily="34" charset="-122"/>
                <a:cs typeface="Malgun Gothic" pitchFamily="34" charset="-120"/>
              </a:rPr>
              <a:t>교육과정 편성·운영 지침 구성</a:t>
            </a:r>
            <a:endParaRPr lang="en-US" sz="1200" dirty="0"/>
          </a:p>
        </p:txBody>
      </p:sp>
      <p:sp>
        <p:nvSpPr>
          <p:cNvPr id="14" name="Shape 12"/>
          <p:cNvSpPr/>
          <p:nvPr/>
        </p:nvSpPr>
        <p:spPr>
          <a:xfrm>
            <a:off x="4937760" y="1828800"/>
            <a:ext cx="685800" cy="292608"/>
          </a:xfrm>
          <a:prstGeom prst="roundRect">
            <a:avLst>
              <a:gd name="adj" fmla="val 50000"/>
            </a:avLst>
          </a:prstGeom>
          <a:solidFill>
            <a:srgbClr val="5E8C6A"/>
          </a:solidFill>
          <a:ln/>
        </p:spPr>
      </p:sp>
      <p:sp>
        <p:nvSpPr>
          <p:cNvPr id="15" name="Text 13"/>
          <p:cNvSpPr txBox="1"/>
          <p:nvPr/>
        </p:nvSpPr>
        <p:spPr>
          <a:xfrm>
            <a:off x="4937760" y="1828800"/>
            <a:ext cx="68580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제1부</a:t>
            </a:r>
            <a:endParaRPr lang="en-US" sz="1050" dirty="0"/>
          </a:p>
        </p:txBody>
      </p:sp>
      <p:sp>
        <p:nvSpPr>
          <p:cNvPr id="16" name="Text 14"/>
          <p:cNvSpPr txBox="1"/>
          <p:nvPr/>
        </p:nvSpPr>
        <p:spPr>
          <a:xfrm>
            <a:off x="5760720" y="1828800"/>
            <a:ext cx="2834640" cy="292608"/>
          </a:xfrm>
          <a:prstGeom prst="rect">
            <a:avLst/>
          </a:prstGeom>
          <a:noFill/>
          <a:ln/>
        </p:spPr>
        <p:txBody>
          <a:bodyPr wrap="square" lIns="0" tIns="0" rIns="0" bIns="0" rtlCol="0" anchor="ctr"/>
          <a:lstStyle/>
          <a:p>
            <a:pPr indent="0" marL="0">
              <a:buNone/>
            </a:pPr>
            <a:r>
              <a:rPr lang="en-US" sz="1200" dirty="0">
                <a:solidFill>
                  <a:srgbClr val="33413A"/>
                </a:solidFill>
                <a:latin typeface="Malgun Gothic" pitchFamily="34" charset="0"/>
                <a:ea typeface="Malgun Gothic" pitchFamily="34" charset="-122"/>
                <a:cs typeface="Malgun Gothic" pitchFamily="34" charset="-120"/>
              </a:rPr>
              <a:t>경기교육의 방향</a:t>
            </a:r>
            <a:endParaRPr lang="en-US" sz="1200" dirty="0"/>
          </a:p>
        </p:txBody>
      </p:sp>
      <p:sp>
        <p:nvSpPr>
          <p:cNvPr id="17" name="Shape 15"/>
          <p:cNvSpPr/>
          <p:nvPr/>
        </p:nvSpPr>
        <p:spPr>
          <a:xfrm>
            <a:off x="4937760" y="2212848"/>
            <a:ext cx="685800" cy="292608"/>
          </a:xfrm>
          <a:prstGeom prst="roundRect">
            <a:avLst>
              <a:gd name="adj" fmla="val 50000"/>
            </a:avLst>
          </a:prstGeom>
          <a:solidFill>
            <a:srgbClr val="5E8C6A"/>
          </a:solidFill>
          <a:ln/>
        </p:spPr>
      </p:sp>
      <p:sp>
        <p:nvSpPr>
          <p:cNvPr id="18" name="Text 16"/>
          <p:cNvSpPr txBox="1"/>
          <p:nvPr/>
        </p:nvSpPr>
        <p:spPr>
          <a:xfrm>
            <a:off x="4937760" y="2212848"/>
            <a:ext cx="68580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제2부</a:t>
            </a:r>
            <a:endParaRPr lang="en-US" sz="1050" dirty="0"/>
          </a:p>
        </p:txBody>
      </p:sp>
      <p:sp>
        <p:nvSpPr>
          <p:cNvPr id="19" name="Text 17"/>
          <p:cNvSpPr txBox="1"/>
          <p:nvPr/>
        </p:nvSpPr>
        <p:spPr>
          <a:xfrm>
            <a:off x="5760720" y="2212848"/>
            <a:ext cx="2834640" cy="292608"/>
          </a:xfrm>
          <a:prstGeom prst="rect">
            <a:avLst/>
          </a:prstGeom>
          <a:noFill/>
          <a:ln/>
        </p:spPr>
        <p:txBody>
          <a:bodyPr wrap="square" lIns="0" tIns="0" rIns="0" bIns="0" rtlCol="0" anchor="ctr"/>
          <a:lstStyle/>
          <a:p>
            <a:pPr indent="0" marL="0">
              <a:buNone/>
            </a:pPr>
            <a:r>
              <a:rPr lang="en-US" sz="1200" dirty="0">
                <a:solidFill>
                  <a:srgbClr val="33413A"/>
                </a:solidFill>
                <a:latin typeface="Malgun Gothic" pitchFamily="34" charset="0"/>
                <a:ea typeface="Malgun Gothic" pitchFamily="34" charset="-122"/>
                <a:cs typeface="Malgun Gothic" pitchFamily="34" charset="-120"/>
              </a:rPr>
              <a:t>경기유아교육의 방향</a:t>
            </a:r>
            <a:endParaRPr lang="en-US" sz="1200" dirty="0"/>
          </a:p>
        </p:txBody>
      </p:sp>
      <p:sp>
        <p:nvSpPr>
          <p:cNvPr id="20" name="Shape 18"/>
          <p:cNvSpPr/>
          <p:nvPr/>
        </p:nvSpPr>
        <p:spPr>
          <a:xfrm>
            <a:off x="4937760" y="2596896"/>
            <a:ext cx="685800" cy="292608"/>
          </a:xfrm>
          <a:prstGeom prst="roundRect">
            <a:avLst>
              <a:gd name="adj" fmla="val 50000"/>
            </a:avLst>
          </a:prstGeom>
          <a:solidFill>
            <a:srgbClr val="5E8C6A"/>
          </a:solidFill>
          <a:ln/>
        </p:spPr>
      </p:sp>
      <p:sp>
        <p:nvSpPr>
          <p:cNvPr id="21" name="Text 19"/>
          <p:cNvSpPr txBox="1"/>
          <p:nvPr/>
        </p:nvSpPr>
        <p:spPr>
          <a:xfrm>
            <a:off x="4937760" y="2596896"/>
            <a:ext cx="68580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제3부</a:t>
            </a:r>
            <a:endParaRPr lang="en-US" sz="1050" dirty="0"/>
          </a:p>
        </p:txBody>
      </p:sp>
      <p:sp>
        <p:nvSpPr>
          <p:cNvPr id="22" name="Text 20"/>
          <p:cNvSpPr txBox="1"/>
          <p:nvPr/>
        </p:nvSpPr>
        <p:spPr>
          <a:xfrm>
            <a:off x="5760720" y="2596896"/>
            <a:ext cx="2834640" cy="292608"/>
          </a:xfrm>
          <a:prstGeom prst="rect">
            <a:avLst/>
          </a:prstGeom>
          <a:noFill/>
          <a:ln/>
        </p:spPr>
        <p:txBody>
          <a:bodyPr wrap="square" lIns="0" tIns="0" rIns="0" bIns="0" rtlCol="0" anchor="ctr"/>
          <a:lstStyle/>
          <a:p>
            <a:pPr indent="0" marL="0">
              <a:buNone/>
            </a:pPr>
            <a:r>
              <a:rPr lang="en-US" sz="1200" dirty="0">
                <a:solidFill>
                  <a:srgbClr val="33413A"/>
                </a:solidFill>
                <a:latin typeface="Malgun Gothic" pitchFamily="34" charset="0"/>
                <a:ea typeface="Malgun Gothic" pitchFamily="34" charset="-122"/>
                <a:cs typeface="Malgun Gothic" pitchFamily="34" charset="-120"/>
              </a:rPr>
              <a:t>교육과정 편성·운영</a:t>
            </a:r>
            <a:endParaRPr lang="en-US" sz="1200" dirty="0"/>
          </a:p>
        </p:txBody>
      </p:sp>
      <p:sp>
        <p:nvSpPr>
          <p:cNvPr id="23" name="Shape 21"/>
          <p:cNvSpPr/>
          <p:nvPr/>
        </p:nvSpPr>
        <p:spPr>
          <a:xfrm>
            <a:off x="4937760" y="2980944"/>
            <a:ext cx="685800" cy="292608"/>
          </a:xfrm>
          <a:prstGeom prst="roundRect">
            <a:avLst>
              <a:gd name="adj" fmla="val 50000"/>
            </a:avLst>
          </a:prstGeom>
          <a:solidFill>
            <a:srgbClr val="5E8C6A"/>
          </a:solidFill>
          <a:ln/>
        </p:spPr>
      </p:sp>
      <p:sp>
        <p:nvSpPr>
          <p:cNvPr id="24" name="Text 22"/>
          <p:cNvSpPr txBox="1"/>
          <p:nvPr/>
        </p:nvSpPr>
        <p:spPr>
          <a:xfrm>
            <a:off x="4937760" y="2980944"/>
            <a:ext cx="68580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제4부</a:t>
            </a:r>
            <a:endParaRPr lang="en-US" sz="1050" dirty="0"/>
          </a:p>
        </p:txBody>
      </p:sp>
      <p:sp>
        <p:nvSpPr>
          <p:cNvPr id="25" name="Text 23"/>
          <p:cNvSpPr txBox="1"/>
          <p:nvPr/>
        </p:nvSpPr>
        <p:spPr>
          <a:xfrm>
            <a:off x="5760720" y="2980944"/>
            <a:ext cx="2834640" cy="292608"/>
          </a:xfrm>
          <a:prstGeom prst="rect">
            <a:avLst/>
          </a:prstGeom>
          <a:noFill/>
          <a:ln/>
        </p:spPr>
        <p:txBody>
          <a:bodyPr wrap="square" lIns="0" tIns="0" rIns="0" bIns="0" rtlCol="0" anchor="ctr"/>
          <a:lstStyle/>
          <a:p>
            <a:pPr indent="0" marL="0">
              <a:buNone/>
            </a:pPr>
            <a:r>
              <a:rPr lang="en-US" sz="1200" dirty="0">
                <a:solidFill>
                  <a:srgbClr val="33413A"/>
                </a:solidFill>
                <a:latin typeface="Malgun Gothic" pitchFamily="34" charset="0"/>
                <a:ea typeface="Malgun Gothic" pitchFamily="34" charset="-122"/>
                <a:cs typeface="Malgun Gothic" pitchFamily="34" charset="-120"/>
              </a:rPr>
              <a:t>영역별 목표 및 내용</a:t>
            </a:r>
            <a:endParaRPr lang="en-US" sz="1200" dirty="0"/>
          </a:p>
        </p:txBody>
      </p:sp>
      <p:sp>
        <p:nvSpPr>
          <p:cNvPr id="26" name="Shape 24"/>
          <p:cNvSpPr/>
          <p:nvPr/>
        </p:nvSpPr>
        <p:spPr>
          <a:xfrm>
            <a:off x="4937760" y="3364992"/>
            <a:ext cx="685800" cy="292608"/>
          </a:xfrm>
          <a:prstGeom prst="roundRect">
            <a:avLst>
              <a:gd name="adj" fmla="val 50000"/>
            </a:avLst>
          </a:prstGeom>
          <a:solidFill>
            <a:srgbClr val="5E8C6A"/>
          </a:solidFill>
          <a:ln/>
        </p:spPr>
      </p:sp>
      <p:sp>
        <p:nvSpPr>
          <p:cNvPr id="27" name="Text 25"/>
          <p:cNvSpPr txBox="1"/>
          <p:nvPr/>
        </p:nvSpPr>
        <p:spPr>
          <a:xfrm>
            <a:off x="4937760" y="3364992"/>
            <a:ext cx="68580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제5부</a:t>
            </a:r>
            <a:endParaRPr lang="en-US" sz="1050" dirty="0"/>
          </a:p>
        </p:txBody>
      </p:sp>
      <p:sp>
        <p:nvSpPr>
          <p:cNvPr id="28" name="Text 26"/>
          <p:cNvSpPr txBox="1"/>
          <p:nvPr/>
        </p:nvSpPr>
        <p:spPr>
          <a:xfrm>
            <a:off x="5760720" y="3364992"/>
            <a:ext cx="2834640" cy="292608"/>
          </a:xfrm>
          <a:prstGeom prst="rect">
            <a:avLst/>
          </a:prstGeom>
          <a:noFill/>
          <a:ln/>
        </p:spPr>
        <p:txBody>
          <a:bodyPr wrap="square" lIns="0" tIns="0" rIns="0" bIns="0" rtlCol="0" anchor="ctr"/>
          <a:lstStyle/>
          <a:p>
            <a:pPr indent="0" marL="0">
              <a:buNone/>
            </a:pPr>
            <a:r>
              <a:rPr lang="en-US" sz="1200" dirty="0">
                <a:solidFill>
                  <a:srgbClr val="33413A"/>
                </a:solidFill>
                <a:latin typeface="Malgun Gothic" pitchFamily="34" charset="0"/>
                <a:ea typeface="Malgun Gothic" pitchFamily="34" charset="-122"/>
                <a:cs typeface="Malgun Gothic" pitchFamily="34" charset="-120"/>
              </a:rPr>
              <a:t>교육과정 편성·운영 지원</a:t>
            </a:r>
            <a:endParaRPr lang="en-US" sz="1200" dirty="0"/>
          </a:p>
        </p:txBody>
      </p:sp>
      <p:sp>
        <p:nvSpPr>
          <p:cNvPr id="29" name="Shape 27"/>
          <p:cNvSpPr/>
          <p:nvPr/>
        </p:nvSpPr>
        <p:spPr>
          <a:xfrm>
            <a:off x="457200" y="4069080"/>
            <a:ext cx="8229600" cy="640080"/>
          </a:xfrm>
          <a:prstGeom prst="roundRect">
            <a:avLst>
              <a:gd name="adj" fmla="val 50000"/>
            </a:avLst>
          </a:prstGeom>
          <a:solidFill>
            <a:srgbClr val="5E8C6A"/>
          </a:solidFill>
          <a:ln/>
        </p:spPr>
      </p:sp>
      <p:sp>
        <p:nvSpPr>
          <p:cNvPr id="30" name="Text 28"/>
          <p:cNvSpPr txBox="1"/>
          <p:nvPr/>
        </p:nvSpPr>
        <p:spPr>
          <a:xfrm>
            <a:off x="457200" y="4069080"/>
            <a:ext cx="822960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국가수준 교육과정 이해  +  지역·기관의 지침 반영  =  좋은 교육과정 운영</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영유아교육과정의 계획 및 운영</dc:title>
  <dc:subject>PptxGenJS Presentation</dc:subject>
  <dc:creator>PptxGenJS</dc:creator>
  <cp:lastModifiedBy>PptxGenJS</cp:lastModifiedBy>
  <cp:revision>1</cp:revision>
  <dcterms:created xsi:type="dcterms:W3CDTF">2026-09-27T00:15:04Z</dcterms:created>
  <dcterms:modified xsi:type="dcterms:W3CDTF">2026-09-27T00:15:04Z</dcterms:modified>
</cp:coreProperties>
</file>