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오늘 발표할 내용은 '영유아교육과정의 계획 및 운영'입니다.
교육과정 계획·운영의 지침, 표준보육과정의 총론과 운영, 연령별 목표 및 내용, 그리고 관련 법규와 지침의 이해 순서로 발표하겠습니다.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어린이집과 유치원의 교육과정을 계획하고 운영하기 위해서는 교육과정에 대한 전문적 지식만 필요한 것이 아닙니다. 각 원이 추구하는 교육 방향뿐 아니라 국가수준의 교육과정, 소속한 지역의 유아교육 방향, 해당 연도의 유치원 교육과정 편성·운영 지침, 어린이집 보육사업안내 등을 지침으로 운영해야 하기 때문입니다.
어린이집은 표준보육과정, 유치원은 유치원 교육과정(누리과정)이 고시되어 있으므로 교원이 함께 이를 연구하고 각 기관의 교육에 어떻게 반영할지 협의하도록 합니다.
표 5-1과 같이 3~5세는 공통교육과정(누리과정)을 적용하여 내용이 동일하므로, 여기서는 제4차 표준보육과정(보건복지부 고시 제2020-75호, 2020. 4. 9)을 중심으로 살펴보겠습니다.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표준보육과정의 총론입니다. 추구하는 인간상은 건강한 사람, 자주적인 사람, 창의적인 사람, 감성이 풍부한 사람, 더불어 사는 사람입니다.
표준보육과정의 목적은 영유아가 놀이를 통해 심신의 건강과 조화로운 발달을 이루고, 바른 인성과 민주 시민의 기초를 형성하는 데에 있습니다.
이를 실현하기 위한 목표는 다음과 같습니다.
0~1세 보육과정 및 2세 보육과정 목표는 자신의 소중함을 알고 건강하고 안전한 환경에서 즐겁게 생활한다, 자신의 일을 스스로 하고자 한다, 호기심을 가지고 탐색하며 상상력을 기른다, 일상에서 아름다움에 관심을 가지고 감성을 기른다, 사람과 자연을 존중하고 소통하는 데 관심을 가진다 입니다.
3~5세 보육과정 목표는 자신의 소중함을 알고 건강하고 안전한 생활습관을 기른다, 자신의 일을 스스로 해결하는 기초능력을 기른다, 호기심과 탐구심을 가지고 상상력과 창의력을 기른다, 일상에서 아름다움을 느끼고 문화적 감수성을 기른다, 사람과 자연을 존중하고 배려하며 소통하는 태도를 기른다 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표준보육과정은 영유아가 개별적인 특성을 지닌 고유한 존재임을 전제로 다음 사항에 중점을 두고 구성합니다.
가. 0~5세 모든 영유아에게 적용할 수 있도록 구성한다.
나. 추구하는 인간상 구현을 위한 지식, 기능, 태도 및 가치를 반영하여 구성한다.
다. 신체운동·건강, 의사소통, 사회관계, 예술경험, 자연탐구의 5개 영역을 중심으로 구성한다.
라. 0~5세 영유아가 경험해야 할 내용으로 구성한다.
마. 초등학교 교육과정과의 연계성을 고려하여 구성한다.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표준보육과정의 운영입니다.
먼저 편성·운영입니다. 각 기관의 운영 시간에 맞추어 편성하고, 표준보육과정을 바탕으로 각 기관의 실정에 적합한 계획을 수립하여 운영합니다. 하루일과에서 바깥놀이를 포함하여 영유아의 놀이가 충분히 이루어지도록 편성하고, 성, 신체적 특성, 장애, 종교, 가족 및 문화적 배경 등에 따른 차별이 없도록 편성하여 운영합니다. 영유아의 발달과 장애 정도에 따라 조정하여 운영하고, 가정과 지역사회와의 협력과 참여에 기반하여 운영하며, 교사 연수를 통해 표준보육과정의 운영을 개선할 수 있도록 합니다.
교수·학습에서 교사는 영유아가 흥미와 관심에 따라 놀이에 자유롭게 참여하고 즐기도록 하고, 놀이를 통해 배우도록 합니다. 다양한 놀이와 활동을 경험할 수 있도록 실내외 환경을 구성하고, 영유아와 영유아, 영유아와 교사, 영유아와 환경 사이에 능동적인 상호작용이 이루어지도록 합니다. 5개 영역의 내용이 통합적으로 영유아의 경험과 연계되도록 하고, 개별 영유아의 요구에 따라 휴식과 일상생활이 원활히 이루어지도록 하며, 영유아의 연령, 발달, 장애, 배경 등을 고려하여 개별 특성에 적합한 방식으로 배우도록 합니다.
평가는 표준보육과정 운영의 질을 진단하고 개선하기 위해 계획하고 실시합니다. 영유아의 특성 및 변화 정도와 표준보육과정의 운영을 평가하고, 평가의 목적에 따라 적합한 방법을 사용하여 평가합니다. 평가의 결과는 영유아에 대한 이해와 표준보육과정 운영 개선을 위한 자료로 활용할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0~1세, 2세, 3~5세 연령별 목표 및 내용은 표 5-2, 표 5-3, 표 5-4에 제시되어 있습니다(교육부고시 제2024-23호). 3~5세 영역별 목표 및 내용은 유치원교육과정과 동일합니다.
세 연령 모두 신체운동·건강, 의사소통, 사회관계, 예술경험, 자연탐구의 5개 영역으로 되어 있습니다.
신체운동·건강의 내용범주는 신체활동 즐기기, 건강하게 생활하기, 안전하게 생활하기입니다.
의사소통은 듣기와 말하기, 읽기와 쓰기에 관심 가지기, 책과 이야기 즐기기입니다.
사회관계는 나를 알고 존중하기, 더불어 생활하기이고, 3~5세에는 사회에 관심 가지기가 있습니다.
예술경험은 아름다움 찾아보기, 창의적으로 표현하기이고, 3~5세에는 예술 감상하기가 있습니다.
자연탐구는 탐구 과정 즐기기, 생활 속에서 탐구하기, 자연과 더불어 살기입니다.
예를 들어 '안전하게 생활하기'의 내용을 보면, 0~1세는 '위험하다는 말에 주의한다', 2세는 '위험한 상황에 대처하는 방법을 경험한다', 3~5세는 '안전사고, 화재, 재난, 학대, 유괴 등에 대처하는 방법을 경험한다'로 제시되어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관련 법규와 지침의 이해입니다.
유아교육기관의 교육과정을 계획하는 경우에도 사전에 교육청의 지침을 파악하며, 필수 교육 내용이 있는 경우 이를 교육과정에 반영하여야 합니다. 관련청의 지침은 유치원과 어린이집에 적용되는 법령의 변경 사항을 정확하게 반영하면서, 아울러 각 지역 교육청과 지방자치단체의 지침 사항을 반영하고 있는 중요한 문서입니다.
유치원의 경우 매년 교육청별 유치원교육과정 편성·운영지침과 유아교육계획을 참조하며, 어린이집은 보육사업안내서와 업무별 매뉴얼을 참고하면 됩니다. 또한 상위법에 따라 교육청이 정하도록 되어 있는 내용에 대해서는 각 교육청마다 다를 수 있으므로 반드시 소속 교육청의 계획서와 지침을 참조하도록 합니다. 매년 운영계획서를 작성하고 연간 학사일정 등을 정할 때도 소속청의 지침을 숙지하고 반영합니다.
표 5-5는 2025학년도 경기도 유치원 교육과정 편성·운영 지침의 목차입니다(경기도교육청, 2025). 제1부 경기교육의 방향, 제2부 경기유아교육의 방향, 제3부 경기도 유치원 교육과정 편성·운영, 제4부 경기도 유치원 교육과정 영역별 목표 및 내용, 제5부 경기도 유치원 교육과정 편성·운영 지원으로 구성되어 있습니다.
이상으로 발표를 마치겠습니다. 들어 주셔서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E8C6A"/>
        </a:solidFill>
      </p:bgPr>
    </p:bg>
    <p:spTree>
      <p:nvGrpSpPr>
        <p:cNvPr id="1" name=""/>
        <p:cNvGrpSpPr/>
        <p:nvPr/>
      </p:nvGrpSpPr>
      <p:grpSpPr>
        <a:xfrm>
          <a:off x="0" y="0"/>
          <a:ext cx="0" cy="0"/>
          <a:chOff x="0" y="0"/>
          <a:chExt cx="0" cy="0"/>
        </a:xfrm>
      </p:grpSpPr>
      <p:sp>
        <p:nvSpPr>
          <p:cNvPr id="2" name="Shape 0"/>
          <p:cNvSpPr/>
          <p:nvPr/>
        </p:nvSpPr>
        <p:spPr>
          <a:xfrm>
            <a:off x="6400800" y="-274320"/>
            <a:ext cx="2926080" cy="2926080"/>
          </a:xfrm>
          <a:prstGeom prst="ellipse">
            <a:avLst/>
          </a:prstGeom>
          <a:solidFill>
            <a:srgbClr val="7FA88A"/>
          </a:solidFill>
          <a:ln/>
        </p:spPr>
      </p:sp>
      <p:sp>
        <p:nvSpPr>
          <p:cNvPr id="3" name="Shape 1"/>
          <p:cNvSpPr/>
          <p:nvPr/>
        </p:nvSpPr>
        <p:spPr>
          <a:xfrm>
            <a:off x="6766560" y="91440"/>
            <a:ext cx="2194560" cy="2194560"/>
          </a:xfrm>
          <a:prstGeom prst="ellipse">
            <a:avLst/>
          </a:prstGeom>
          <a:solidFill>
            <a:srgbClr val="A9CBB0"/>
          </a:solidFill>
          <a:ln/>
        </p:spPr>
      </p:sp>
      <p:sp>
        <p:nvSpPr>
          <p:cNvPr id="4" name="Shape 2"/>
          <p:cNvSpPr/>
          <p:nvPr/>
        </p:nvSpPr>
        <p:spPr>
          <a:xfrm>
            <a:off x="7132320" y="457200"/>
            <a:ext cx="1463040" cy="1463040"/>
          </a:xfrm>
          <a:prstGeom prst="ellipse">
            <a:avLst/>
          </a:prstGeom>
          <a:solidFill>
            <a:srgbClr val="DCEBDD"/>
          </a:solidFill>
          <a:ln/>
        </p:spPr>
      </p:sp>
      <p:sp>
        <p:nvSpPr>
          <p:cNvPr id="5" name="Shape 3"/>
          <p:cNvSpPr/>
          <p:nvPr/>
        </p:nvSpPr>
        <p:spPr>
          <a:xfrm>
            <a:off x="7498080" y="822960"/>
            <a:ext cx="731520" cy="731520"/>
          </a:xfrm>
          <a:prstGeom prst="ellipse">
            <a:avLst/>
          </a:prstGeom>
          <a:solidFill>
            <a:srgbClr val="F5D07A"/>
          </a:solidFill>
          <a:ln/>
        </p:spPr>
      </p:sp>
      <p:sp>
        <p:nvSpPr>
          <p:cNvPr id="6" name="Shape 4"/>
          <p:cNvSpPr/>
          <p:nvPr/>
        </p:nvSpPr>
        <p:spPr>
          <a:xfrm>
            <a:off x="7863840" y="3566160"/>
            <a:ext cx="1463040" cy="1463040"/>
          </a:xfrm>
          <a:prstGeom prst="ellipse">
            <a:avLst/>
          </a:prstGeom>
          <a:solidFill>
            <a:srgbClr val="F2A27E"/>
          </a:solidFill>
          <a:ln/>
        </p:spPr>
      </p:sp>
      <p:sp>
        <p:nvSpPr>
          <p:cNvPr id="7" name="Shape 5"/>
          <p:cNvSpPr/>
          <p:nvPr/>
        </p:nvSpPr>
        <p:spPr>
          <a:xfrm>
            <a:off x="8107680" y="3810000"/>
            <a:ext cx="975360" cy="975360"/>
          </a:xfrm>
          <a:prstGeom prst="ellipse">
            <a:avLst/>
          </a:prstGeom>
          <a:solidFill>
            <a:srgbClr val="FCE4D8"/>
          </a:solidFill>
          <a:ln/>
        </p:spPr>
      </p:sp>
      <p:sp>
        <p:nvSpPr>
          <p:cNvPr id="8" name="Shape 6"/>
          <p:cNvSpPr/>
          <p:nvPr/>
        </p:nvSpPr>
        <p:spPr>
          <a:xfrm>
            <a:off x="8351520" y="4053840"/>
            <a:ext cx="487680" cy="487680"/>
          </a:xfrm>
          <a:prstGeom prst="ellipse">
            <a:avLst/>
          </a:prstGeom>
          <a:solidFill>
            <a:srgbClr val="F2A27E"/>
          </a:solidFill>
          <a:ln/>
        </p:spPr>
      </p:sp>
      <p:sp>
        <p:nvSpPr>
          <p:cNvPr id="9" name="Text 7"/>
          <p:cNvSpPr txBox="1"/>
          <p:nvPr/>
        </p:nvSpPr>
        <p:spPr>
          <a:xfrm>
            <a:off x="640080" y="1234440"/>
            <a:ext cx="5486400" cy="365760"/>
          </a:xfrm>
          <a:prstGeom prst="rect">
            <a:avLst/>
          </a:prstGeom>
          <a:noFill/>
          <a:ln/>
        </p:spPr>
        <p:txBody>
          <a:bodyPr wrap="square" lIns="0" tIns="0" rIns="0" bIns="0" rtlCol="0" anchor="ctr"/>
          <a:lstStyle/>
          <a:p>
            <a:pPr indent="0" marL="0">
              <a:buNone/>
            </a:pPr>
            <a:r>
              <a:rPr lang="en-US" sz="1600" dirty="0">
                <a:solidFill>
                  <a:srgbClr val="FDF3D6"/>
                </a:solidFill>
                <a:latin typeface="Malgun Gothic" pitchFamily="34" charset="0"/>
                <a:ea typeface="Malgun Gothic" pitchFamily="34" charset="-122"/>
                <a:cs typeface="Malgun Gothic" pitchFamily="34" charset="-120"/>
              </a:rPr>
              <a:t>05  교육과정의 계획과 운영</a:t>
            </a:r>
            <a:endParaRPr lang="en-US" sz="1600" dirty="0"/>
          </a:p>
        </p:txBody>
      </p:sp>
      <p:sp>
        <p:nvSpPr>
          <p:cNvPr id="10" name="Text 8"/>
          <p:cNvSpPr txBox="1"/>
          <p:nvPr/>
        </p:nvSpPr>
        <p:spPr>
          <a:xfrm>
            <a:off x="640080" y="1645920"/>
            <a:ext cx="6400800" cy="1371600"/>
          </a:xfrm>
          <a:prstGeom prst="rect">
            <a:avLst/>
          </a:prstGeom>
          <a:noFill/>
          <a:ln/>
        </p:spPr>
        <p:txBody>
          <a:bodyPr wrap="square" lIns="0" tIns="0" rIns="0" bIns="0" rtlCol="0" anchor="t"/>
          <a:lstStyle/>
          <a:p>
            <a:pPr indent="0" marL="0">
              <a:buNone/>
            </a:pPr>
            <a:r>
              <a:rPr lang="en-US" sz="4000" b="1" dirty="0">
                <a:solidFill>
                  <a:srgbClr val="FFFFFF"/>
                </a:solidFill>
                <a:latin typeface="Malgun Gothic" pitchFamily="34" charset="0"/>
                <a:ea typeface="Malgun Gothic" pitchFamily="34" charset="-122"/>
                <a:cs typeface="Malgun Gothic" pitchFamily="34" charset="-120"/>
              </a:rPr>
              <a:t>영유아교육과정의</a:t>
            </a:r>
            <a:endParaRPr lang="en-US" sz="4000" dirty="0"/>
          </a:p>
          <a:p>
            <a:pPr indent="0" marL="0">
              <a:buNone/>
            </a:pPr>
            <a:r>
              <a:rPr lang="en-US" sz="4000" b="1" dirty="0">
                <a:solidFill>
                  <a:srgbClr val="FFFFFF"/>
                </a:solidFill>
                <a:latin typeface="Malgun Gothic" pitchFamily="34" charset="0"/>
                <a:ea typeface="Malgun Gothic" pitchFamily="34" charset="-122"/>
                <a:cs typeface="Malgun Gothic" pitchFamily="34" charset="-120"/>
              </a:rPr>
              <a:t>계획 및 운영</a:t>
            </a:r>
            <a:endParaRPr lang="en-US" sz="4000" dirty="0"/>
          </a:p>
        </p:txBody>
      </p:sp>
      <p:sp>
        <p:nvSpPr>
          <p:cNvPr id="11" name="Text 9"/>
          <p:cNvSpPr txBox="1"/>
          <p:nvPr/>
        </p:nvSpPr>
        <p:spPr>
          <a:xfrm>
            <a:off x="640080" y="3108960"/>
            <a:ext cx="6400800" cy="411480"/>
          </a:xfrm>
          <a:prstGeom prst="rect">
            <a:avLst/>
          </a:prstGeom>
          <a:noFill/>
          <a:ln/>
        </p:spPr>
        <p:txBody>
          <a:bodyPr wrap="square" lIns="0" tIns="0" rIns="0" bIns="0" rtlCol="0" anchor="ctr"/>
          <a:lstStyle/>
          <a:p>
            <a:pPr indent="0" marL="0">
              <a:buNone/>
            </a:pPr>
            <a:r>
              <a:rPr lang="en-US" sz="1800" dirty="0">
                <a:solidFill>
                  <a:srgbClr val="FFFFFF"/>
                </a:solidFill>
                <a:latin typeface="Malgun Gothic" pitchFamily="34" charset="0"/>
                <a:ea typeface="Malgun Gothic" pitchFamily="34" charset="-122"/>
                <a:cs typeface="Malgun Gothic" pitchFamily="34" charset="-120"/>
              </a:rPr>
              <a:t>표준보육과정과 관련 지침 살펴보기</a:t>
            </a:r>
            <a:endParaRPr lang="en-US" sz="1800" dirty="0"/>
          </a:p>
        </p:txBody>
      </p:sp>
      <p:sp>
        <p:nvSpPr>
          <p:cNvPr id="12" name="Text 10"/>
          <p:cNvSpPr txBox="1"/>
          <p:nvPr/>
        </p:nvSpPr>
        <p:spPr>
          <a:xfrm>
            <a:off x="640080" y="4114800"/>
            <a:ext cx="5486400" cy="365760"/>
          </a:xfrm>
          <a:prstGeom prst="rect">
            <a:avLst/>
          </a:prstGeom>
          <a:noFill/>
          <a:ln/>
        </p:spPr>
        <p:txBody>
          <a:bodyPr wrap="square" lIns="0" tIns="0" rIns="0" bIns="0" rtlCol="0" anchor="ctr"/>
          <a:lstStyle/>
          <a:p>
            <a:pPr indent="0" marL="0">
              <a:buNone/>
            </a:pPr>
            <a:r>
              <a:rPr lang="en-US" sz="1400" dirty="0">
                <a:solidFill>
                  <a:srgbClr val="DCEBDD"/>
                </a:solidFill>
                <a:latin typeface="Malgun Gothic" pitchFamily="34" charset="0"/>
                <a:ea typeface="Malgun Gothic" pitchFamily="34" charset="-122"/>
                <a:cs typeface="Malgun Gothic" pitchFamily="34" charset="-120"/>
              </a:rPr>
              <a:t>과목명  |  학번  |  발표자 이름</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02920" cy="502920"/>
          </a:xfrm>
          <a:prstGeom prst="ellipse">
            <a:avLst/>
          </a:prstGeom>
          <a:solidFill>
            <a:srgbClr val="5E8C6A"/>
          </a:solidFill>
          <a:ln/>
        </p:spPr>
      </p:sp>
      <p:sp>
        <p:nvSpPr>
          <p:cNvPr id="3" name="Text 1"/>
          <p:cNvSpPr txBox="1"/>
          <p:nvPr/>
        </p:nvSpPr>
        <p:spPr>
          <a:xfrm>
            <a:off x="457200" y="38404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02</a:t>
            </a:r>
            <a:endParaRPr lang="en-US" sz="1400" dirty="0"/>
          </a:p>
        </p:txBody>
      </p:sp>
      <p:sp>
        <p:nvSpPr>
          <p:cNvPr id="4" name="Text 2"/>
          <p:cNvSpPr txBox="1"/>
          <p:nvPr/>
        </p:nvSpPr>
        <p:spPr>
          <a:xfrm>
            <a:off x="1097280" y="320040"/>
            <a:ext cx="7589520" cy="640080"/>
          </a:xfrm>
          <a:prstGeom prst="rect">
            <a:avLst/>
          </a:prstGeom>
          <a:noFill/>
          <a:ln/>
        </p:spPr>
        <p:txBody>
          <a:bodyPr wrap="square" lIns="0" tIns="0" rIns="0" bIns="0" rtlCol="0" anchor="ctr"/>
          <a:lstStyle/>
          <a:p>
            <a:pPr indent="0" marL="0">
              <a:buNone/>
            </a:pPr>
            <a:r>
              <a:rPr lang="en-US" sz="2800" b="1" dirty="0">
                <a:solidFill>
                  <a:srgbClr val="33413A"/>
                </a:solidFill>
                <a:latin typeface="Malgun Gothic" pitchFamily="34" charset="0"/>
                <a:ea typeface="Malgun Gothic" pitchFamily="34" charset="-122"/>
                <a:cs typeface="Malgun Gothic" pitchFamily="34" charset="-120"/>
              </a:rPr>
              <a:t>교육과정 계획·운영의 지침</a:t>
            </a:r>
            <a:endParaRPr lang="en-US" sz="2800" dirty="0"/>
          </a:p>
        </p:txBody>
      </p:sp>
      <p:sp>
        <p:nvSpPr>
          <p:cNvPr id="5" name="Text 3"/>
          <p:cNvSpPr txBox="1"/>
          <p:nvPr/>
        </p:nvSpPr>
        <p:spPr>
          <a:xfrm>
            <a:off x="457200" y="1097280"/>
            <a:ext cx="3840480" cy="320040"/>
          </a:xfrm>
          <a:prstGeom prst="rect">
            <a:avLst/>
          </a:prstGeom>
          <a:noFill/>
          <a:ln/>
        </p:spPr>
        <p:txBody>
          <a:bodyPr wrap="square" lIns="0" tIns="0" rIns="0" bIns="0" rtlCol="0" anchor="ctr"/>
          <a:lstStyle/>
          <a:p>
            <a:pPr indent="0" marL="0">
              <a:buNone/>
            </a:pPr>
            <a:r>
              <a:rPr lang="en-US" sz="1400" b="1" dirty="0">
                <a:solidFill>
                  <a:srgbClr val="5E8C6A"/>
                </a:solidFill>
                <a:latin typeface="Malgun Gothic" pitchFamily="34" charset="0"/>
                <a:ea typeface="Malgun Gothic" pitchFamily="34" charset="-122"/>
                <a:cs typeface="Malgun Gothic" pitchFamily="34" charset="-120"/>
              </a:rPr>
              <a:t>전문적 지식 + 다음을 지침으로 운영</a:t>
            </a:r>
            <a:endParaRPr lang="en-US" sz="1400" dirty="0"/>
          </a:p>
        </p:txBody>
      </p:sp>
      <p:sp>
        <p:nvSpPr>
          <p:cNvPr id="6" name="Shape 4"/>
          <p:cNvSpPr/>
          <p:nvPr/>
        </p:nvSpPr>
        <p:spPr>
          <a:xfrm>
            <a:off x="457200" y="1554480"/>
            <a:ext cx="438912" cy="438912"/>
          </a:xfrm>
          <a:prstGeom prst="ellipse">
            <a:avLst/>
          </a:prstGeom>
          <a:solidFill>
            <a:srgbClr val="F2A27E"/>
          </a:solidFill>
          <a:ln/>
        </p:spPr>
      </p:sp>
      <p:pic>
        <p:nvPicPr>
          <p:cNvPr id="7" name="Image 0" descr="preencoded.png">    </p:cNvPr>
          <p:cNvPicPr>
            <a:picLocks noChangeAspect="1"/>
          </p:cNvPicPr>
          <p:nvPr/>
        </p:nvPicPr>
        <p:blipFill>
          <a:blip r:embed="rId1"/>
          <a:stretch>
            <a:fillRect/>
          </a:stretch>
        </p:blipFill>
        <p:spPr>
          <a:xfrm>
            <a:off x="566928" y="1664208"/>
            <a:ext cx="219456" cy="219456"/>
          </a:xfrm>
          <a:prstGeom prst="rect">
            <a:avLst/>
          </a:prstGeom>
        </p:spPr>
      </p:pic>
      <p:sp>
        <p:nvSpPr>
          <p:cNvPr id="8" name="Text 5"/>
          <p:cNvSpPr txBox="1"/>
          <p:nvPr/>
        </p:nvSpPr>
        <p:spPr>
          <a:xfrm>
            <a:off x="1051560" y="1499616"/>
            <a:ext cx="3200400" cy="548640"/>
          </a:xfrm>
          <a:prstGeom prst="rect">
            <a:avLst/>
          </a:prstGeom>
          <a:noFill/>
          <a:ln/>
        </p:spPr>
        <p:txBody>
          <a:bodyPr wrap="square" lIns="0" tIns="0" rIns="0" bIns="0" rtlCol="0" anchor="ctr"/>
          <a:lstStyle/>
          <a:p>
            <a:pPr indent="0" marL="0">
              <a:buNone/>
            </a:pPr>
            <a:r>
              <a:rPr lang="en-US" sz="1300" dirty="0">
                <a:solidFill>
                  <a:srgbClr val="33413A"/>
                </a:solidFill>
                <a:latin typeface="Malgun Gothic" pitchFamily="34" charset="0"/>
                <a:ea typeface="Malgun Gothic" pitchFamily="34" charset="-122"/>
                <a:cs typeface="Malgun Gothic" pitchFamily="34" charset="-120"/>
              </a:rPr>
              <a:t>각 원이 추구하는 교육 방향</a:t>
            </a:r>
            <a:endParaRPr lang="en-US" sz="1300" dirty="0"/>
          </a:p>
        </p:txBody>
      </p:sp>
      <p:sp>
        <p:nvSpPr>
          <p:cNvPr id="9" name="Shape 6"/>
          <p:cNvSpPr/>
          <p:nvPr/>
        </p:nvSpPr>
        <p:spPr>
          <a:xfrm>
            <a:off x="457200" y="2157984"/>
            <a:ext cx="438912" cy="438912"/>
          </a:xfrm>
          <a:prstGeom prst="ellipse">
            <a:avLst/>
          </a:prstGeom>
          <a:solidFill>
            <a:srgbClr val="5E8C6A"/>
          </a:solidFill>
          <a:ln/>
        </p:spPr>
      </p:sp>
      <p:pic>
        <p:nvPicPr>
          <p:cNvPr id="10" name="Image 1" descr="preencoded.png">    </p:cNvPr>
          <p:cNvPicPr>
            <a:picLocks noChangeAspect="1"/>
          </p:cNvPicPr>
          <p:nvPr/>
        </p:nvPicPr>
        <p:blipFill>
          <a:blip r:embed="rId2"/>
          <a:stretch>
            <a:fillRect/>
          </a:stretch>
        </p:blipFill>
        <p:spPr>
          <a:xfrm>
            <a:off x="566928" y="2267712"/>
            <a:ext cx="219456" cy="219456"/>
          </a:xfrm>
          <a:prstGeom prst="rect">
            <a:avLst/>
          </a:prstGeom>
        </p:spPr>
      </p:pic>
      <p:sp>
        <p:nvSpPr>
          <p:cNvPr id="11" name="Text 7"/>
          <p:cNvSpPr txBox="1"/>
          <p:nvPr/>
        </p:nvSpPr>
        <p:spPr>
          <a:xfrm>
            <a:off x="1051560" y="2103120"/>
            <a:ext cx="3200400" cy="548640"/>
          </a:xfrm>
          <a:prstGeom prst="rect">
            <a:avLst/>
          </a:prstGeom>
          <a:noFill/>
          <a:ln/>
        </p:spPr>
        <p:txBody>
          <a:bodyPr wrap="square" lIns="0" tIns="0" rIns="0" bIns="0" rtlCol="0" anchor="ctr"/>
          <a:lstStyle/>
          <a:p>
            <a:pPr indent="0" marL="0">
              <a:buNone/>
            </a:pPr>
            <a:r>
              <a:rPr lang="en-US" sz="1300" dirty="0">
                <a:solidFill>
                  <a:srgbClr val="33413A"/>
                </a:solidFill>
                <a:latin typeface="Malgun Gothic" pitchFamily="34" charset="0"/>
                <a:ea typeface="Malgun Gothic" pitchFamily="34" charset="-122"/>
                <a:cs typeface="Malgun Gothic" pitchFamily="34" charset="-120"/>
              </a:rPr>
              <a:t>국가수준의 교육과정</a:t>
            </a:r>
            <a:endParaRPr lang="en-US" sz="1300" dirty="0"/>
          </a:p>
        </p:txBody>
      </p:sp>
      <p:sp>
        <p:nvSpPr>
          <p:cNvPr id="12" name="Shape 8"/>
          <p:cNvSpPr/>
          <p:nvPr/>
        </p:nvSpPr>
        <p:spPr>
          <a:xfrm>
            <a:off x="457200" y="2761488"/>
            <a:ext cx="438912" cy="438912"/>
          </a:xfrm>
          <a:prstGeom prst="ellipse">
            <a:avLst/>
          </a:prstGeom>
          <a:solidFill>
            <a:srgbClr val="F5D07A"/>
          </a:solidFill>
          <a:ln/>
        </p:spPr>
      </p:sp>
      <p:pic>
        <p:nvPicPr>
          <p:cNvPr id="13" name="Image 2" descr="preencoded.png">    </p:cNvPr>
          <p:cNvPicPr>
            <a:picLocks noChangeAspect="1"/>
          </p:cNvPicPr>
          <p:nvPr/>
        </p:nvPicPr>
        <p:blipFill>
          <a:blip r:embed="rId3"/>
          <a:stretch>
            <a:fillRect/>
          </a:stretch>
        </p:blipFill>
        <p:spPr>
          <a:xfrm>
            <a:off x="566928" y="2871216"/>
            <a:ext cx="219456" cy="219456"/>
          </a:xfrm>
          <a:prstGeom prst="rect">
            <a:avLst/>
          </a:prstGeom>
        </p:spPr>
      </p:pic>
      <p:sp>
        <p:nvSpPr>
          <p:cNvPr id="14" name="Text 9"/>
          <p:cNvSpPr txBox="1"/>
          <p:nvPr/>
        </p:nvSpPr>
        <p:spPr>
          <a:xfrm>
            <a:off x="1051560" y="2706624"/>
            <a:ext cx="3200400" cy="548640"/>
          </a:xfrm>
          <a:prstGeom prst="rect">
            <a:avLst/>
          </a:prstGeom>
          <a:noFill/>
          <a:ln/>
        </p:spPr>
        <p:txBody>
          <a:bodyPr wrap="square" lIns="0" tIns="0" rIns="0" bIns="0" rtlCol="0" anchor="ctr"/>
          <a:lstStyle/>
          <a:p>
            <a:pPr indent="0" marL="0">
              <a:buNone/>
            </a:pPr>
            <a:r>
              <a:rPr lang="en-US" sz="1300" dirty="0">
                <a:solidFill>
                  <a:srgbClr val="33413A"/>
                </a:solidFill>
                <a:latin typeface="Malgun Gothic" pitchFamily="34" charset="0"/>
                <a:ea typeface="Malgun Gothic" pitchFamily="34" charset="-122"/>
                <a:cs typeface="Malgun Gothic" pitchFamily="34" charset="-120"/>
              </a:rPr>
              <a:t>소속 지역의 유아교육 방향</a:t>
            </a:r>
            <a:endParaRPr lang="en-US" sz="1300" dirty="0"/>
          </a:p>
        </p:txBody>
      </p:sp>
      <p:sp>
        <p:nvSpPr>
          <p:cNvPr id="15" name="Shape 10"/>
          <p:cNvSpPr/>
          <p:nvPr/>
        </p:nvSpPr>
        <p:spPr>
          <a:xfrm>
            <a:off x="457200" y="3364992"/>
            <a:ext cx="438912" cy="438912"/>
          </a:xfrm>
          <a:prstGeom prst="ellipse">
            <a:avLst/>
          </a:prstGeom>
          <a:solidFill>
            <a:srgbClr val="E8A1A8"/>
          </a:solidFill>
          <a:ln/>
        </p:spPr>
      </p:sp>
      <p:pic>
        <p:nvPicPr>
          <p:cNvPr id="16" name="Image 3" descr="preencoded.png">    </p:cNvPr>
          <p:cNvPicPr>
            <a:picLocks noChangeAspect="1"/>
          </p:cNvPicPr>
          <p:nvPr/>
        </p:nvPicPr>
        <p:blipFill>
          <a:blip r:embed="rId4"/>
          <a:stretch>
            <a:fillRect/>
          </a:stretch>
        </p:blipFill>
        <p:spPr>
          <a:xfrm>
            <a:off x="566928" y="3474720"/>
            <a:ext cx="219456" cy="219456"/>
          </a:xfrm>
          <a:prstGeom prst="rect">
            <a:avLst/>
          </a:prstGeom>
        </p:spPr>
      </p:pic>
      <p:sp>
        <p:nvSpPr>
          <p:cNvPr id="17" name="Text 11"/>
          <p:cNvSpPr txBox="1"/>
          <p:nvPr/>
        </p:nvSpPr>
        <p:spPr>
          <a:xfrm>
            <a:off x="1051560" y="3310128"/>
            <a:ext cx="3200400" cy="548640"/>
          </a:xfrm>
          <a:prstGeom prst="rect">
            <a:avLst/>
          </a:prstGeom>
          <a:noFill/>
          <a:ln/>
        </p:spPr>
        <p:txBody>
          <a:bodyPr wrap="square" lIns="0" tIns="0" rIns="0" bIns="0" rtlCol="0" anchor="ctr"/>
          <a:lstStyle/>
          <a:p>
            <a:pPr indent="0" marL="0">
              <a:buNone/>
            </a:pPr>
            <a:r>
              <a:rPr lang="en-US" sz="1300" dirty="0">
                <a:solidFill>
                  <a:srgbClr val="33413A"/>
                </a:solidFill>
                <a:latin typeface="Malgun Gothic" pitchFamily="34" charset="0"/>
                <a:ea typeface="Malgun Gothic" pitchFamily="34" charset="-122"/>
                <a:cs typeface="Malgun Gothic" pitchFamily="34" charset="-120"/>
              </a:rPr>
              <a:t>해당 연도 유치원 교육과정</a:t>
            </a:r>
            <a:endParaRPr lang="en-US" sz="1300" dirty="0"/>
          </a:p>
          <a:p>
            <a:pPr indent="0" marL="0">
              <a:buNone/>
            </a:pPr>
            <a:r>
              <a:rPr lang="en-US" sz="1300" dirty="0">
                <a:solidFill>
                  <a:srgbClr val="33413A"/>
                </a:solidFill>
                <a:latin typeface="Malgun Gothic" pitchFamily="34" charset="0"/>
                <a:ea typeface="Malgun Gothic" pitchFamily="34" charset="-122"/>
                <a:cs typeface="Malgun Gothic" pitchFamily="34" charset="-120"/>
              </a:rPr>
              <a:t>편성·운영 지침</a:t>
            </a:r>
            <a:endParaRPr lang="en-US" sz="1300" dirty="0"/>
          </a:p>
        </p:txBody>
      </p:sp>
      <p:sp>
        <p:nvSpPr>
          <p:cNvPr id="18" name="Shape 12"/>
          <p:cNvSpPr/>
          <p:nvPr/>
        </p:nvSpPr>
        <p:spPr>
          <a:xfrm>
            <a:off x="457200" y="3968496"/>
            <a:ext cx="438912" cy="438912"/>
          </a:xfrm>
          <a:prstGeom prst="ellipse">
            <a:avLst/>
          </a:prstGeom>
          <a:solidFill>
            <a:srgbClr val="A9CBB0"/>
          </a:solidFill>
          <a:ln/>
        </p:spPr>
      </p:sp>
      <p:pic>
        <p:nvPicPr>
          <p:cNvPr id="19" name="Image 4" descr="preencoded.png">    </p:cNvPr>
          <p:cNvPicPr>
            <a:picLocks noChangeAspect="1"/>
          </p:cNvPicPr>
          <p:nvPr/>
        </p:nvPicPr>
        <p:blipFill>
          <a:blip r:embed="rId5"/>
          <a:stretch>
            <a:fillRect/>
          </a:stretch>
        </p:blipFill>
        <p:spPr>
          <a:xfrm>
            <a:off x="566928" y="4078224"/>
            <a:ext cx="219456" cy="219456"/>
          </a:xfrm>
          <a:prstGeom prst="rect">
            <a:avLst/>
          </a:prstGeom>
        </p:spPr>
      </p:pic>
      <p:sp>
        <p:nvSpPr>
          <p:cNvPr id="20" name="Text 13"/>
          <p:cNvSpPr txBox="1"/>
          <p:nvPr/>
        </p:nvSpPr>
        <p:spPr>
          <a:xfrm>
            <a:off x="1051560" y="3913632"/>
            <a:ext cx="3200400" cy="548640"/>
          </a:xfrm>
          <a:prstGeom prst="rect">
            <a:avLst/>
          </a:prstGeom>
          <a:noFill/>
          <a:ln/>
        </p:spPr>
        <p:txBody>
          <a:bodyPr wrap="square" lIns="0" tIns="0" rIns="0" bIns="0" rtlCol="0" anchor="ctr"/>
          <a:lstStyle/>
          <a:p>
            <a:pPr indent="0" marL="0">
              <a:buNone/>
            </a:pPr>
            <a:r>
              <a:rPr lang="en-US" sz="1300" dirty="0">
                <a:solidFill>
                  <a:srgbClr val="33413A"/>
                </a:solidFill>
                <a:latin typeface="Malgun Gothic" pitchFamily="34" charset="0"/>
                <a:ea typeface="Malgun Gothic" pitchFamily="34" charset="-122"/>
                <a:cs typeface="Malgun Gothic" pitchFamily="34" charset="-120"/>
              </a:rPr>
              <a:t>어린이집 보육사업안내</a:t>
            </a:r>
            <a:endParaRPr lang="en-US" sz="1300" dirty="0"/>
          </a:p>
        </p:txBody>
      </p:sp>
      <p:sp>
        <p:nvSpPr>
          <p:cNvPr id="21" name="Text 14"/>
          <p:cNvSpPr txBox="1"/>
          <p:nvPr/>
        </p:nvSpPr>
        <p:spPr>
          <a:xfrm>
            <a:off x="4572000" y="1097280"/>
            <a:ext cx="4114800" cy="320040"/>
          </a:xfrm>
          <a:prstGeom prst="rect">
            <a:avLst/>
          </a:prstGeom>
          <a:noFill/>
          <a:ln/>
        </p:spPr>
        <p:txBody>
          <a:bodyPr wrap="square" lIns="0" tIns="0" rIns="0" bIns="0" rtlCol="0" anchor="ctr"/>
          <a:lstStyle/>
          <a:p>
            <a:pPr indent="0" marL="0">
              <a:buNone/>
            </a:pPr>
            <a:r>
              <a:rPr lang="en-US" sz="1200" b="1" dirty="0">
                <a:solidFill>
                  <a:srgbClr val="6E7B73"/>
                </a:solidFill>
                <a:latin typeface="Malgun Gothic" pitchFamily="34" charset="0"/>
                <a:ea typeface="Malgun Gothic" pitchFamily="34" charset="-122"/>
                <a:cs typeface="Malgun Gothic" pitchFamily="34" charset="-120"/>
              </a:rPr>
              <a:t>〈표 5-1〉 어린이집과 유치원의 국가수준 교육과정</a:t>
            </a:r>
            <a:endParaRPr lang="en-US" sz="1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0" y="1463040"/>
          <a:ext cx="4114800" cy="914400"/>
        </p:xfrm>
        <a:graphic>
          <a:graphicData uri="http://schemas.openxmlformats.org/drawingml/2006/table">
            <a:tbl>
              <a:tblPr/>
              <a:tblGrid>
                <a:gridCol w="822960"/>
                <a:gridCol w="1645920"/>
                <a:gridCol w="1645920"/>
              </a:tblGrid>
              <a:tr h="365760">
                <a:tc>
                  <a:txBody>
                    <a:bodyPr/>
                    <a:lstStyle/>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구분</a:t>
                      </a:r>
                      <a:endParaRPr lang="en-US" sz="1100" dirty="0">
                        <a:latin typeface="Malgun Gothic" charset="0"/>
                        <a:ea typeface="Malgun Gothic" charset="0"/>
                        <a:cs typeface="Malgun Gothic" charset="0"/>
                      </a:endParaRPr>
                    </a:p>
                  </a:txBody>
                  <a:tcPr marL="45720" marR="45720" marT="45720" marB="45720" anchor="ctr">
                    <a:lnL w="12700" cap="flat" cmpd="sng" algn="ctr">
                      <a:solidFill>
                        <a:srgbClr val="C9D6CC"/>
                      </a:solidFill>
                      <a:prstDash val="solid"/>
                      <a:round/>
                      <a:headEnd type="none" w="med" len="med"/>
                      <a:tailEnd type="none" w="med" len="med"/>
                    </a:lnL>
                    <a:lnR w="12700" cap="flat" cmpd="sng" algn="ctr">
                      <a:solidFill>
                        <a:srgbClr val="C9D6CC"/>
                      </a:solidFill>
                      <a:prstDash val="solid"/>
                      <a:round/>
                      <a:headEnd type="none" w="med" len="med"/>
                      <a:tailEnd type="none" w="med" len="med"/>
                    </a:lnR>
                    <a:lnT w="12700" cap="flat" cmpd="sng" algn="ctr">
                      <a:solidFill>
                        <a:srgbClr val="C9D6CC"/>
                      </a:solidFill>
                      <a:prstDash val="solid"/>
                      <a:round/>
                      <a:headEnd type="none" w="med" len="med"/>
                      <a:tailEnd type="none" w="med" len="med"/>
                    </a:lnT>
                    <a:lnB w="12700" cap="flat" cmpd="sng" algn="ctr">
                      <a:solidFill>
                        <a:srgbClr val="C9D6CC"/>
                      </a:solidFill>
                      <a:prstDash val="solid"/>
                      <a:round/>
                      <a:headEnd type="none" w="med" len="med"/>
                      <a:tailEnd type="none" w="med" len="med"/>
                    </a:lnB>
                    <a:solidFill>
                      <a:srgbClr val="DCEBDD"/>
                    </a:solidFill>
                  </a:tcPr>
                </a:tc>
                <a:tc>
                  <a:txBody>
                    <a:bodyPr/>
                    <a:lstStyle/>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0~2세</a:t>
                      </a:r>
                      <a:endParaRPr lang="en-US" sz="1100" dirty="0">
                        <a:latin typeface="Malgun Gothic" charset="0"/>
                        <a:ea typeface="Malgun Gothic" charset="0"/>
                        <a:cs typeface="Malgun Gothic" charset="0"/>
                      </a:endParaRPr>
                    </a:p>
                  </a:txBody>
                  <a:tcPr marL="45720" marR="45720" marT="45720" marB="45720" anchor="ctr">
                    <a:lnL w="12700" cap="flat" cmpd="sng" algn="ctr">
                      <a:solidFill>
                        <a:srgbClr val="C9D6CC"/>
                      </a:solidFill>
                      <a:prstDash val="solid"/>
                      <a:round/>
                      <a:headEnd type="none" w="med" len="med"/>
                      <a:tailEnd type="none" w="med" len="med"/>
                    </a:lnL>
                    <a:lnR w="12700" cap="flat" cmpd="sng" algn="ctr">
                      <a:solidFill>
                        <a:srgbClr val="C9D6CC"/>
                      </a:solidFill>
                      <a:prstDash val="solid"/>
                      <a:round/>
                      <a:headEnd type="none" w="med" len="med"/>
                      <a:tailEnd type="none" w="med" len="med"/>
                    </a:lnR>
                    <a:lnT w="12700" cap="flat" cmpd="sng" algn="ctr">
                      <a:solidFill>
                        <a:srgbClr val="C9D6CC"/>
                      </a:solidFill>
                      <a:prstDash val="solid"/>
                      <a:round/>
                      <a:headEnd type="none" w="med" len="med"/>
                      <a:tailEnd type="none" w="med" len="med"/>
                    </a:lnT>
                    <a:lnB w="12700" cap="flat" cmpd="sng" algn="ctr">
                      <a:solidFill>
                        <a:srgbClr val="C9D6CC"/>
                      </a:solidFill>
                      <a:prstDash val="solid"/>
                      <a:round/>
                      <a:headEnd type="none" w="med" len="med"/>
                      <a:tailEnd type="none" w="med" len="med"/>
                    </a:lnB>
                    <a:solidFill>
                      <a:srgbClr val="DCEBDD"/>
                    </a:solidFill>
                  </a:tcPr>
                </a:tc>
                <a:tc>
                  <a:txBody>
                    <a:bodyPr/>
                    <a:lstStyle/>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3~5세</a:t>
                      </a:r>
                      <a:endParaRPr lang="en-US" sz="1100" dirty="0">
                        <a:latin typeface="Malgun Gothic" charset="0"/>
                        <a:ea typeface="Malgun Gothic" charset="0"/>
                        <a:cs typeface="Malgun Gothic" charset="0"/>
                      </a:endParaRPr>
                    </a:p>
                  </a:txBody>
                  <a:tcPr marL="45720" marR="45720" marT="45720" marB="45720" anchor="ctr">
                    <a:lnL w="12700" cap="flat" cmpd="sng" algn="ctr">
                      <a:solidFill>
                        <a:srgbClr val="C9D6CC"/>
                      </a:solidFill>
                      <a:prstDash val="solid"/>
                      <a:round/>
                      <a:headEnd type="none" w="med" len="med"/>
                      <a:tailEnd type="none" w="med" len="med"/>
                    </a:lnL>
                    <a:lnR w="12700" cap="flat" cmpd="sng" algn="ctr">
                      <a:solidFill>
                        <a:srgbClr val="C9D6CC"/>
                      </a:solidFill>
                      <a:prstDash val="solid"/>
                      <a:round/>
                      <a:headEnd type="none" w="med" len="med"/>
                      <a:tailEnd type="none" w="med" len="med"/>
                    </a:lnR>
                    <a:lnT w="12700" cap="flat" cmpd="sng" algn="ctr">
                      <a:solidFill>
                        <a:srgbClr val="C9D6CC"/>
                      </a:solidFill>
                      <a:prstDash val="solid"/>
                      <a:round/>
                      <a:headEnd type="none" w="med" len="med"/>
                      <a:tailEnd type="none" w="med" len="med"/>
                    </a:lnT>
                    <a:lnB w="12700" cap="flat" cmpd="sng" algn="ctr">
                      <a:solidFill>
                        <a:srgbClr val="C9D6CC"/>
                      </a:solidFill>
                      <a:prstDash val="solid"/>
                      <a:round/>
                      <a:headEnd type="none" w="med" len="med"/>
                      <a:tailEnd type="none" w="med" len="med"/>
                    </a:lnB>
                    <a:solidFill>
                      <a:srgbClr val="DCEBDD"/>
                    </a:solidFill>
                  </a:tcPr>
                </a:tc>
              </a:tr>
              <a:tr h="685800">
                <a:tc>
                  <a:txBody>
                    <a:bodyPr/>
                    <a:lstStyle/>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어린이집</a:t>
                      </a:r>
                      <a:endParaRPr lang="en-US" sz="1100" dirty="0">
                        <a:latin typeface="Malgun Gothic" charset="0"/>
                        <a:ea typeface="Malgun Gothic" charset="0"/>
                        <a:cs typeface="Malgun Gothic" charset="0"/>
                      </a:endParaRPr>
                    </a:p>
                  </a:txBody>
                  <a:tcPr marL="45720" marR="45720" marT="45720" marB="45720" anchor="ctr">
                    <a:lnL w="12700" cap="flat" cmpd="sng" algn="ctr">
                      <a:solidFill>
                        <a:srgbClr val="C9D6CC"/>
                      </a:solidFill>
                      <a:prstDash val="solid"/>
                      <a:round/>
                      <a:headEnd type="none" w="med" len="med"/>
                      <a:tailEnd type="none" w="med" len="med"/>
                    </a:lnL>
                    <a:lnR w="12700" cap="flat" cmpd="sng" algn="ctr">
                      <a:solidFill>
                        <a:srgbClr val="C9D6CC"/>
                      </a:solidFill>
                      <a:prstDash val="solid"/>
                      <a:round/>
                      <a:headEnd type="none" w="med" len="med"/>
                      <a:tailEnd type="none" w="med" len="med"/>
                    </a:lnR>
                    <a:lnT w="12700" cap="flat" cmpd="sng" algn="ctr">
                      <a:solidFill>
                        <a:srgbClr val="C9D6CC"/>
                      </a:solidFill>
                      <a:prstDash val="solid"/>
                      <a:round/>
                      <a:headEnd type="none" w="med" len="med"/>
                      <a:tailEnd type="none" w="med" len="med"/>
                    </a:lnT>
                    <a:lnB w="12700" cap="flat" cmpd="sng" algn="ctr">
                      <a:solidFill>
                        <a:srgbClr val="C9D6CC"/>
                      </a:solidFill>
                      <a:prstDash val="solid"/>
                      <a:round/>
                      <a:headEnd type="none" w="med" len="med"/>
                      <a:tailEnd type="none" w="med" len="med"/>
                    </a:lnB>
                    <a:solidFill>
                      <a:srgbClr val="F4F7F4"/>
                    </a:solidFill>
                  </a:tcPr>
                </a:tc>
                <a:tc>
                  <a:txBody>
                    <a:bodyPr/>
                    <a:lstStyle/>
                    <a:p>
                      <a:pPr algn="ctr" indent="0" marL="0">
                        <a:buNone/>
                      </a:pPr>
                      <a:r>
                        <a:rPr lang="en-US" sz="1100" dirty="0">
                          <a:solidFill>
                            <a:srgbClr val="33413A"/>
                          </a:solidFill>
                          <a:latin typeface="Malgun Gothic" pitchFamily="34" charset="0"/>
                          <a:ea typeface="Malgun Gothic" pitchFamily="34" charset="-122"/>
                          <a:cs typeface="Malgun Gothic" pitchFamily="34" charset="-120"/>
                        </a:rPr>
                        <a:t>표준보육과정</a:t>
                      </a:r>
                      <a:endParaRPr lang="en-US" sz="1100" dirty="0">
                        <a:latin typeface="Malgun Gothic" charset="0"/>
                        <a:ea typeface="Malgun Gothic" charset="0"/>
                        <a:cs typeface="Malgun Gothic" charset="0"/>
                      </a:endParaRPr>
                    </a:p>
                    <a:p>
                      <a:pPr algn="ctr" indent="0" marL="0">
                        <a:buNone/>
                      </a:pPr>
                      <a:r>
                        <a:rPr lang="en-US" sz="1100" dirty="0">
                          <a:solidFill>
                            <a:srgbClr val="33413A"/>
                          </a:solidFill>
                          <a:latin typeface="Malgun Gothic" pitchFamily="34" charset="0"/>
                          <a:ea typeface="Malgun Gothic" pitchFamily="34" charset="-122"/>
                          <a:cs typeface="Malgun Gothic" pitchFamily="34" charset="-120"/>
                        </a:rPr>
                        <a:t>(0~1세, 2세 보육과정)</a:t>
                      </a:r>
                      <a:endParaRPr lang="en-US" sz="1100" dirty="0">
                        <a:latin typeface="Malgun Gothic" charset="0"/>
                        <a:ea typeface="Malgun Gothic" charset="0"/>
                        <a:cs typeface="Malgun Gothic" charset="0"/>
                      </a:endParaRPr>
                    </a:p>
                  </a:txBody>
                  <a:tcPr marL="45720" marR="45720" marT="45720" marB="45720" anchor="ctr">
                    <a:lnL w="12700" cap="flat" cmpd="sng" algn="ctr">
                      <a:solidFill>
                        <a:srgbClr val="C9D6CC"/>
                      </a:solidFill>
                      <a:prstDash val="solid"/>
                      <a:round/>
                      <a:headEnd type="none" w="med" len="med"/>
                      <a:tailEnd type="none" w="med" len="med"/>
                    </a:lnL>
                    <a:lnR w="12700" cap="flat" cmpd="sng" algn="ctr">
                      <a:solidFill>
                        <a:srgbClr val="C9D6CC"/>
                      </a:solidFill>
                      <a:prstDash val="solid"/>
                      <a:round/>
                      <a:headEnd type="none" w="med" len="med"/>
                      <a:tailEnd type="none" w="med" len="med"/>
                    </a:lnR>
                    <a:lnT w="12700" cap="flat" cmpd="sng" algn="ctr">
                      <a:solidFill>
                        <a:srgbClr val="C9D6CC"/>
                      </a:solidFill>
                      <a:prstDash val="solid"/>
                      <a:round/>
                      <a:headEnd type="none" w="med" len="med"/>
                      <a:tailEnd type="none" w="med" len="med"/>
                    </a:lnT>
                    <a:lnB w="12700" cap="flat" cmpd="sng" algn="ctr">
                      <a:solidFill>
                        <a:srgbClr val="C9D6CC"/>
                      </a:solidFill>
                      <a:prstDash val="solid"/>
                      <a:round/>
                      <a:headEnd type="none" w="med" len="med"/>
                      <a:tailEnd type="none" w="med" len="med"/>
                    </a:lnB>
                  </a:tcPr>
                </a:tc>
                <a:tc>
                  <a:txBody>
                    <a:bodyPr/>
                    <a:lstStyle/>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표준보육과정</a:t>
                      </a:r>
                      <a:endParaRPr lang="en-US" sz="1100" dirty="0">
                        <a:latin typeface="Malgun Gothic" charset="0"/>
                        <a:ea typeface="Malgun Gothic" charset="0"/>
                        <a:cs typeface="Malgun Gothic" charset="0"/>
                      </a:endParaRPr>
                    </a:p>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(3~5세 = 누리과정)</a:t>
                      </a:r>
                      <a:endParaRPr lang="en-US" sz="1100" dirty="0">
                        <a:latin typeface="Malgun Gothic" charset="0"/>
                        <a:ea typeface="Malgun Gothic" charset="0"/>
                        <a:cs typeface="Malgun Gothic" charset="0"/>
                      </a:endParaRPr>
                    </a:p>
                  </a:txBody>
                  <a:tcPr marL="45720" marR="45720" marT="45720" marB="45720" anchor="ctr">
                    <a:lnL w="12700" cap="flat" cmpd="sng" algn="ctr">
                      <a:solidFill>
                        <a:srgbClr val="C9D6CC"/>
                      </a:solidFill>
                      <a:prstDash val="solid"/>
                      <a:round/>
                      <a:headEnd type="none" w="med" len="med"/>
                      <a:tailEnd type="none" w="med" len="med"/>
                    </a:lnL>
                    <a:lnR w="12700" cap="flat" cmpd="sng" algn="ctr">
                      <a:solidFill>
                        <a:srgbClr val="C9D6CC"/>
                      </a:solidFill>
                      <a:prstDash val="solid"/>
                      <a:round/>
                      <a:headEnd type="none" w="med" len="med"/>
                      <a:tailEnd type="none" w="med" len="med"/>
                    </a:lnR>
                    <a:lnT w="12700" cap="flat" cmpd="sng" algn="ctr">
                      <a:solidFill>
                        <a:srgbClr val="C9D6CC"/>
                      </a:solidFill>
                      <a:prstDash val="solid"/>
                      <a:round/>
                      <a:headEnd type="none" w="med" len="med"/>
                      <a:tailEnd type="none" w="med" len="med"/>
                    </a:lnT>
                    <a:lnB w="12700" cap="flat" cmpd="sng" algn="ctr">
                      <a:solidFill>
                        <a:srgbClr val="C9D6CC"/>
                      </a:solidFill>
                      <a:prstDash val="solid"/>
                      <a:round/>
                      <a:headEnd type="none" w="med" len="med"/>
                      <a:tailEnd type="none" w="med" len="med"/>
                    </a:lnB>
                    <a:solidFill>
                      <a:srgbClr val="FDF3D6"/>
                    </a:solidFill>
                  </a:tcPr>
                </a:tc>
              </a:tr>
              <a:tr h="685800">
                <a:tc>
                  <a:txBody>
                    <a:bodyPr/>
                    <a:lstStyle/>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유치원</a:t>
                      </a:r>
                      <a:endParaRPr lang="en-US" sz="1100" dirty="0">
                        <a:latin typeface="Malgun Gothic" charset="0"/>
                        <a:ea typeface="Malgun Gothic" charset="0"/>
                        <a:cs typeface="Malgun Gothic" charset="0"/>
                      </a:endParaRPr>
                    </a:p>
                  </a:txBody>
                  <a:tcPr marL="45720" marR="45720" marT="45720" marB="45720" anchor="ctr">
                    <a:lnL w="12700" cap="flat" cmpd="sng" algn="ctr">
                      <a:solidFill>
                        <a:srgbClr val="C9D6CC"/>
                      </a:solidFill>
                      <a:prstDash val="solid"/>
                      <a:round/>
                      <a:headEnd type="none" w="med" len="med"/>
                      <a:tailEnd type="none" w="med" len="med"/>
                    </a:lnL>
                    <a:lnR w="12700" cap="flat" cmpd="sng" algn="ctr">
                      <a:solidFill>
                        <a:srgbClr val="C9D6CC"/>
                      </a:solidFill>
                      <a:prstDash val="solid"/>
                      <a:round/>
                      <a:headEnd type="none" w="med" len="med"/>
                      <a:tailEnd type="none" w="med" len="med"/>
                    </a:lnR>
                    <a:lnT w="12700" cap="flat" cmpd="sng" algn="ctr">
                      <a:solidFill>
                        <a:srgbClr val="C9D6CC"/>
                      </a:solidFill>
                      <a:prstDash val="solid"/>
                      <a:round/>
                      <a:headEnd type="none" w="med" len="med"/>
                      <a:tailEnd type="none" w="med" len="med"/>
                    </a:lnT>
                    <a:lnB w="12700" cap="flat" cmpd="sng" algn="ctr">
                      <a:solidFill>
                        <a:srgbClr val="C9D6CC"/>
                      </a:solidFill>
                      <a:prstDash val="solid"/>
                      <a:round/>
                      <a:headEnd type="none" w="med" len="med"/>
                      <a:tailEnd type="none" w="med" len="med"/>
                    </a:lnB>
                    <a:solidFill>
                      <a:srgbClr val="F4F7F4"/>
                    </a:solidFill>
                  </a:tcPr>
                </a:tc>
                <a:tc>
                  <a:txBody>
                    <a:bodyPr/>
                    <a:lstStyle/>
                    <a:p>
                      <a:pPr algn="ctr" indent="0" marL="0">
                        <a:buNone/>
                      </a:pPr>
                      <a:r>
                        <a:rPr lang="en-US" sz="1100" dirty="0">
                          <a:solidFill>
                            <a:srgbClr val="6E7B73"/>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45720" marR="45720" marT="45720" marB="45720" anchor="ctr">
                    <a:lnL w="12700" cap="flat" cmpd="sng" algn="ctr">
                      <a:solidFill>
                        <a:srgbClr val="C9D6CC"/>
                      </a:solidFill>
                      <a:prstDash val="solid"/>
                      <a:round/>
                      <a:headEnd type="none" w="med" len="med"/>
                      <a:tailEnd type="none" w="med" len="med"/>
                    </a:lnL>
                    <a:lnR w="12700" cap="flat" cmpd="sng" algn="ctr">
                      <a:solidFill>
                        <a:srgbClr val="C9D6CC"/>
                      </a:solidFill>
                      <a:prstDash val="solid"/>
                      <a:round/>
                      <a:headEnd type="none" w="med" len="med"/>
                      <a:tailEnd type="none" w="med" len="med"/>
                    </a:lnR>
                    <a:lnT w="12700" cap="flat" cmpd="sng" algn="ctr">
                      <a:solidFill>
                        <a:srgbClr val="C9D6CC"/>
                      </a:solidFill>
                      <a:prstDash val="solid"/>
                      <a:round/>
                      <a:headEnd type="none" w="med" len="med"/>
                      <a:tailEnd type="none" w="med" len="med"/>
                    </a:lnT>
                    <a:lnB w="12700" cap="flat" cmpd="sng" algn="ctr">
                      <a:solidFill>
                        <a:srgbClr val="C9D6CC"/>
                      </a:solidFill>
                      <a:prstDash val="solid"/>
                      <a:round/>
                      <a:headEnd type="none" w="med" len="med"/>
                      <a:tailEnd type="none" w="med" len="med"/>
                    </a:lnB>
                  </a:tcPr>
                </a:tc>
                <a:tc>
                  <a:txBody>
                    <a:bodyPr/>
                    <a:lstStyle/>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유치원 교육과정</a:t>
                      </a:r>
                      <a:endParaRPr lang="en-US" sz="1100" dirty="0">
                        <a:latin typeface="Malgun Gothic" charset="0"/>
                        <a:ea typeface="Malgun Gothic" charset="0"/>
                        <a:cs typeface="Malgun Gothic" charset="0"/>
                      </a:endParaRPr>
                    </a:p>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(누리과정)</a:t>
                      </a:r>
                      <a:endParaRPr lang="en-US" sz="1100" dirty="0">
                        <a:latin typeface="Malgun Gothic" charset="0"/>
                        <a:ea typeface="Malgun Gothic" charset="0"/>
                        <a:cs typeface="Malgun Gothic" charset="0"/>
                      </a:endParaRPr>
                    </a:p>
                  </a:txBody>
                  <a:tcPr marL="45720" marR="45720" marT="45720" marB="45720" anchor="ctr">
                    <a:lnL w="12700" cap="flat" cmpd="sng" algn="ctr">
                      <a:solidFill>
                        <a:srgbClr val="C9D6CC"/>
                      </a:solidFill>
                      <a:prstDash val="solid"/>
                      <a:round/>
                      <a:headEnd type="none" w="med" len="med"/>
                      <a:tailEnd type="none" w="med" len="med"/>
                    </a:lnL>
                    <a:lnR w="12700" cap="flat" cmpd="sng" algn="ctr">
                      <a:solidFill>
                        <a:srgbClr val="C9D6CC"/>
                      </a:solidFill>
                      <a:prstDash val="solid"/>
                      <a:round/>
                      <a:headEnd type="none" w="med" len="med"/>
                      <a:tailEnd type="none" w="med" len="med"/>
                    </a:lnR>
                    <a:lnT w="12700" cap="flat" cmpd="sng" algn="ctr">
                      <a:solidFill>
                        <a:srgbClr val="C9D6CC"/>
                      </a:solidFill>
                      <a:prstDash val="solid"/>
                      <a:round/>
                      <a:headEnd type="none" w="med" len="med"/>
                      <a:tailEnd type="none" w="med" len="med"/>
                    </a:lnT>
                    <a:lnB w="12700" cap="flat" cmpd="sng" algn="ctr">
                      <a:solidFill>
                        <a:srgbClr val="C9D6CC"/>
                      </a:solidFill>
                      <a:prstDash val="solid"/>
                      <a:round/>
                      <a:headEnd type="none" w="med" len="med"/>
                      <a:tailEnd type="none" w="med" len="med"/>
                    </a:lnB>
                    <a:solidFill>
                      <a:srgbClr val="FDF3D6"/>
                    </a:solidFill>
                  </a:tcPr>
                </a:tc>
              </a:tr>
            </a:tbl>
          </a:graphicData>
        </a:graphic>
      </p:graphicFrame>
      <p:sp>
        <p:nvSpPr>
          <p:cNvPr id="23" name="Shape 15"/>
          <p:cNvSpPr/>
          <p:nvPr/>
        </p:nvSpPr>
        <p:spPr>
          <a:xfrm>
            <a:off x="4572000" y="3429000"/>
            <a:ext cx="4114800" cy="1143000"/>
          </a:xfrm>
          <a:prstGeom prst="roundRect">
            <a:avLst>
              <a:gd name="adj" fmla="val 12000"/>
            </a:avLst>
          </a:prstGeom>
          <a:solidFill>
            <a:srgbClr val="FDF3D6"/>
          </a:solidFill>
          <a:ln/>
        </p:spPr>
      </p:sp>
      <p:sp>
        <p:nvSpPr>
          <p:cNvPr id="24" name="Text 16"/>
          <p:cNvSpPr txBox="1"/>
          <p:nvPr/>
        </p:nvSpPr>
        <p:spPr>
          <a:xfrm>
            <a:off x="4754880" y="3520440"/>
            <a:ext cx="3749040" cy="960120"/>
          </a:xfrm>
          <a:prstGeom prst="rect">
            <a:avLst/>
          </a:prstGeom>
          <a:noFill/>
          <a:ln/>
        </p:spPr>
        <p:txBody>
          <a:bodyPr wrap="square" lIns="0" tIns="0" rIns="0" bIns="0" rtlCol="0" anchor="ctr"/>
          <a:lstStyle/>
          <a:p>
            <a:pPr indent="0" marL="0">
              <a:spcAft>
                <a:spcPts val="400"/>
              </a:spcAft>
              <a:buNone/>
            </a:pPr>
            <a:r>
              <a:rPr lang="en-US" sz="1200" b="1" dirty="0">
                <a:solidFill>
                  <a:srgbClr val="33413A"/>
                </a:solidFill>
                <a:latin typeface="Malgun Gothic" pitchFamily="34" charset="0"/>
                <a:ea typeface="Malgun Gothic" pitchFamily="34" charset="-122"/>
                <a:cs typeface="Malgun Gothic" pitchFamily="34" charset="-120"/>
              </a:rPr>
              <a:t>3~5세는 공통교육과정(누리과정)으로 내용이 동일</a:t>
            </a:r>
            <a:endParaRPr lang="en-US" sz="1200" dirty="0"/>
          </a:p>
          <a:p>
            <a:pPr indent="0" marL="0">
              <a:spcAft>
                <a:spcPts val="400"/>
              </a:spcAft>
              <a:buNone/>
            </a:pPr>
            <a:r>
              <a:rPr lang="en-US" sz="1200" dirty="0">
                <a:solidFill>
                  <a:srgbClr val="33413A"/>
                </a:solidFill>
                <a:latin typeface="Malgun Gothic" pitchFamily="34" charset="0"/>
                <a:ea typeface="Malgun Gothic" pitchFamily="34" charset="-122"/>
                <a:cs typeface="Malgun Gothic" pitchFamily="34" charset="-120"/>
              </a:rPr>
              <a:t>→ 교원이 함께 연구하고 각 기관의 교육에 어떻게 반영할지 협의</a:t>
            </a:r>
            <a:endParaRPr lang="en-US" sz="1200" dirty="0"/>
          </a:p>
          <a:p>
            <a:pPr indent="0" marL="0">
              <a:spcAft>
                <a:spcPts val="400"/>
              </a:spcAft>
              <a:buNone/>
            </a:pPr>
            <a:r>
              <a:rPr lang="en-US" sz="1050" dirty="0">
                <a:solidFill>
                  <a:srgbClr val="6E7B73"/>
                </a:solidFill>
                <a:latin typeface="Malgun Gothic" pitchFamily="34" charset="0"/>
                <a:ea typeface="Malgun Gothic" pitchFamily="34" charset="-122"/>
                <a:cs typeface="Malgun Gothic" pitchFamily="34" charset="-120"/>
              </a:rPr>
              <a:t>※ 제4차 표준보육과정(보건복지부 고시 제2020-75호) 중심</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02920" cy="502920"/>
          </a:xfrm>
          <a:prstGeom prst="ellipse">
            <a:avLst/>
          </a:prstGeom>
          <a:solidFill>
            <a:srgbClr val="5E8C6A"/>
          </a:solidFill>
          <a:ln/>
        </p:spPr>
      </p:sp>
      <p:sp>
        <p:nvSpPr>
          <p:cNvPr id="3" name="Text 1"/>
          <p:cNvSpPr txBox="1"/>
          <p:nvPr/>
        </p:nvSpPr>
        <p:spPr>
          <a:xfrm>
            <a:off x="457200" y="38404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03</a:t>
            </a:r>
            <a:endParaRPr lang="en-US" sz="1400" dirty="0"/>
          </a:p>
        </p:txBody>
      </p:sp>
      <p:sp>
        <p:nvSpPr>
          <p:cNvPr id="4" name="Text 2"/>
          <p:cNvSpPr txBox="1"/>
          <p:nvPr/>
        </p:nvSpPr>
        <p:spPr>
          <a:xfrm>
            <a:off x="1097280" y="320040"/>
            <a:ext cx="7589520" cy="640080"/>
          </a:xfrm>
          <a:prstGeom prst="rect">
            <a:avLst/>
          </a:prstGeom>
          <a:noFill/>
          <a:ln/>
        </p:spPr>
        <p:txBody>
          <a:bodyPr wrap="square" lIns="0" tIns="0" rIns="0" bIns="0" rtlCol="0" anchor="ctr"/>
          <a:lstStyle/>
          <a:p>
            <a:pPr indent="0" marL="0">
              <a:buNone/>
            </a:pPr>
            <a:r>
              <a:rPr lang="en-US" sz="2800" b="1" dirty="0">
                <a:solidFill>
                  <a:srgbClr val="33413A"/>
                </a:solidFill>
                <a:latin typeface="Malgun Gothic" pitchFamily="34" charset="0"/>
                <a:ea typeface="Malgun Gothic" pitchFamily="34" charset="-122"/>
                <a:cs typeface="Malgun Gothic" pitchFamily="34" charset="-120"/>
              </a:rPr>
              <a:t>추구하는 인간상과 목표</a:t>
            </a:r>
            <a:endParaRPr lang="en-US" sz="2800" dirty="0"/>
          </a:p>
        </p:txBody>
      </p:sp>
      <p:sp>
        <p:nvSpPr>
          <p:cNvPr id="5" name="Text 3"/>
          <p:cNvSpPr txBox="1"/>
          <p:nvPr/>
        </p:nvSpPr>
        <p:spPr>
          <a:xfrm>
            <a:off x="457200" y="1005840"/>
            <a:ext cx="3657600" cy="274320"/>
          </a:xfrm>
          <a:prstGeom prst="rect">
            <a:avLst/>
          </a:prstGeom>
          <a:noFill/>
          <a:ln/>
        </p:spPr>
        <p:txBody>
          <a:bodyPr wrap="square" lIns="0" tIns="0" rIns="0" bIns="0" rtlCol="0" anchor="ctr"/>
          <a:lstStyle/>
          <a:p>
            <a:pPr indent="0" marL="0">
              <a:buNone/>
            </a:pPr>
            <a:r>
              <a:rPr lang="en-US" sz="1300" b="1" dirty="0">
                <a:solidFill>
                  <a:srgbClr val="5E8C6A"/>
                </a:solidFill>
                <a:latin typeface="Malgun Gothic" pitchFamily="34" charset="0"/>
                <a:ea typeface="Malgun Gothic" pitchFamily="34" charset="-122"/>
                <a:cs typeface="Malgun Gothic" pitchFamily="34" charset="-120"/>
              </a:rPr>
              <a:t>추구하는 인간상</a:t>
            </a:r>
            <a:endParaRPr lang="en-US" sz="1300" dirty="0"/>
          </a:p>
        </p:txBody>
      </p:sp>
      <p:sp>
        <p:nvSpPr>
          <p:cNvPr id="6" name="Shape 4"/>
          <p:cNvSpPr/>
          <p:nvPr/>
        </p:nvSpPr>
        <p:spPr>
          <a:xfrm>
            <a:off x="457200" y="1325880"/>
            <a:ext cx="1517904" cy="411480"/>
          </a:xfrm>
          <a:prstGeom prst="roundRect">
            <a:avLst>
              <a:gd name="adj" fmla="val 48889"/>
            </a:avLst>
          </a:prstGeom>
          <a:solidFill>
            <a:srgbClr val="FCE4D8"/>
          </a:solidFill>
          <a:ln/>
        </p:spPr>
      </p:sp>
      <p:sp>
        <p:nvSpPr>
          <p:cNvPr id="7" name="Text 5"/>
          <p:cNvSpPr txBox="1"/>
          <p:nvPr/>
        </p:nvSpPr>
        <p:spPr>
          <a:xfrm>
            <a:off x="457200" y="1325880"/>
            <a:ext cx="1517904" cy="411480"/>
          </a:xfrm>
          <a:prstGeom prst="rect">
            <a:avLst/>
          </a:prstGeom>
          <a:noFill/>
          <a:ln/>
        </p:spPr>
        <p:txBody>
          <a:bodyPr wrap="square" lIns="0" tIns="0" rIns="0" bIns="0" rtlCol="0" anchor="ctr"/>
          <a:lstStyle/>
          <a:p>
            <a:pPr algn="ctr" indent="0" marL="0">
              <a:buNone/>
            </a:pPr>
            <a:r>
              <a:rPr lang="en-US" sz="1200" b="1" dirty="0">
                <a:solidFill>
                  <a:srgbClr val="33413A"/>
                </a:solidFill>
                <a:latin typeface="Malgun Gothic" pitchFamily="34" charset="0"/>
                <a:ea typeface="Malgun Gothic" pitchFamily="34" charset="-122"/>
                <a:cs typeface="Malgun Gothic" pitchFamily="34" charset="-120"/>
              </a:rPr>
              <a:t>건강한 사람</a:t>
            </a:r>
            <a:endParaRPr lang="en-US" sz="1200" dirty="0"/>
          </a:p>
        </p:txBody>
      </p:sp>
      <p:sp>
        <p:nvSpPr>
          <p:cNvPr id="8" name="Shape 6"/>
          <p:cNvSpPr/>
          <p:nvPr/>
        </p:nvSpPr>
        <p:spPr>
          <a:xfrm>
            <a:off x="2139696" y="1325880"/>
            <a:ext cx="1517904" cy="411480"/>
          </a:xfrm>
          <a:prstGeom prst="roundRect">
            <a:avLst>
              <a:gd name="adj" fmla="val 48889"/>
            </a:avLst>
          </a:prstGeom>
          <a:solidFill>
            <a:srgbClr val="FDF3D6"/>
          </a:solidFill>
          <a:ln/>
        </p:spPr>
      </p:sp>
      <p:sp>
        <p:nvSpPr>
          <p:cNvPr id="9" name="Text 7"/>
          <p:cNvSpPr txBox="1"/>
          <p:nvPr/>
        </p:nvSpPr>
        <p:spPr>
          <a:xfrm>
            <a:off x="2139696" y="1325880"/>
            <a:ext cx="1517904" cy="411480"/>
          </a:xfrm>
          <a:prstGeom prst="rect">
            <a:avLst/>
          </a:prstGeom>
          <a:noFill/>
          <a:ln/>
        </p:spPr>
        <p:txBody>
          <a:bodyPr wrap="square" lIns="0" tIns="0" rIns="0" bIns="0" rtlCol="0" anchor="ctr"/>
          <a:lstStyle/>
          <a:p>
            <a:pPr algn="ctr" indent="0" marL="0">
              <a:buNone/>
            </a:pPr>
            <a:r>
              <a:rPr lang="en-US" sz="1200" b="1" dirty="0">
                <a:solidFill>
                  <a:srgbClr val="33413A"/>
                </a:solidFill>
                <a:latin typeface="Malgun Gothic" pitchFamily="34" charset="0"/>
                <a:ea typeface="Malgun Gothic" pitchFamily="34" charset="-122"/>
                <a:cs typeface="Malgun Gothic" pitchFamily="34" charset="-120"/>
              </a:rPr>
              <a:t>자주적인 사람</a:t>
            </a:r>
            <a:endParaRPr lang="en-US" sz="1200" dirty="0"/>
          </a:p>
        </p:txBody>
      </p:sp>
      <p:sp>
        <p:nvSpPr>
          <p:cNvPr id="10" name="Shape 8"/>
          <p:cNvSpPr/>
          <p:nvPr/>
        </p:nvSpPr>
        <p:spPr>
          <a:xfrm>
            <a:off x="3822192" y="1325880"/>
            <a:ext cx="1517904" cy="411480"/>
          </a:xfrm>
          <a:prstGeom prst="roundRect">
            <a:avLst>
              <a:gd name="adj" fmla="val 48889"/>
            </a:avLst>
          </a:prstGeom>
          <a:solidFill>
            <a:srgbClr val="DCEBDD"/>
          </a:solidFill>
          <a:ln/>
        </p:spPr>
      </p:sp>
      <p:sp>
        <p:nvSpPr>
          <p:cNvPr id="11" name="Text 9"/>
          <p:cNvSpPr txBox="1"/>
          <p:nvPr/>
        </p:nvSpPr>
        <p:spPr>
          <a:xfrm>
            <a:off x="3822192" y="1325880"/>
            <a:ext cx="1517904" cy="411480"/>
          </a:xfrm>
          <a:prstGeom prst="rect">
            <a:avLst/>
          </a:prstGeom>
          <a:noFill/>
          <a:ln/>
        </p:spPr>
        <p:txBody>
          <a:bodyPr wrap="square" lIns="0" tIns="0" rIns="0" bIns="0" rtlCol="0" anchor="ctr"/>
          <a:lstStyle/>
          <a:p>
            <a:pPr algn="ctr" indent="0" marL="0">
              <a:buNone/>
            </a:pPr>
            <a:r>
              <a:rPr lang="en-US" sz="1200" b="1" dirty="0">
                <a:solidFill>
                  <a:srgbClr val="33413A"/>
                </a:solidFill>
                <a:latin typeface="Malgun Gothic" pitchFamily="34" charset="0"/>
                <a:ea typeface="Malgun Gothic" pitchFamily="34" charset="-122"/>
                <a:cs typeface="Malgun Gothic" pitchFamily="34" charset="-120"/>
              </a:rPr>
              <a:t>창의적인 사람</a:t>
            </a:r>
            <a:endParaRPr lang="en-US" sz="1200" dirty="0"/>
          </a:p>
        </p:txBody>
      </p:sp>
      <p:sp>
        <p:nvSpPr>
          <p:cNvPr id="12" name="Shape 10"/>
          <p:cNvSpPr/>
          <p:nvPr/>
        </p:nvSpPr>
        <p:spPr>
          <a:xfrm>
            <a:off x="5504688" y="1325880"/>
            <a:ext cx="1517904" cy="411480"/>
          </a:xfrm>
          <a:prstGeom prst="roundRect">
            <a:avLst>
              <a:gd name="adj" fmla="val 48889"/>
            </a:avLst>
          </a:prstGeom>
          <a:solidFill>
            <a:srgbClr val="F9E1E3"/>
          </a:solidFill>
          <a:ln/>
        </p:spPr>
      </p:sp>
      <p:sp>
        <p:nvSpPr>
          <p:cNvPr id="13" name="Text 11"/>
          <p:cNvSpPr txBox="1"/>
          <p:nvPr/>
        </p:nvSpPr>
        <p:spPr>
          <a:xfrm>
            <a:off x="5504688" y="1325880"/>
            <a:ext cx="1517904" cy="411480"/>
          </a:xfrm>
          <a:prstGeom prst="rect">
            <a:avLst/>
          </a:prstGeom>
          <a:noFill/>
          <a:ln/>
        </p:spPr>
        <p:txBody>
          <a:bodyPr wrap="square" lIns="0" tIns="0" rIns="0" bIns="0" rtlCol="0" anchor="ctr"/>
          <a:lstStyle/>
          <a:p>
            <a:pPr algn="ctr" indent="0" marL="0">
              <a:buNone/>
            </a:pPr>
            <a:r>
              <a:rPr lang="en-US" sz="1200" b="1" dirty="0">
                <a:solidFill>
                  <a:srgbClr val="33413A"/>
                </a:solidFill>
                <a:latin typeface="Malgun Gothic" pitchFamily="34" charset="0"/>
                <a:ea typeface="Malgun Gothic" pitchFamily="34" charset="-122"/>
                <a:cs typeface="Malgun Gothic" pitchFamily="34" charset="-120"/>
              </a:rPr>
              <a:t>감성이 풍부한 사람</a:t>
            </a:r>
            <a:endParaRPr lang="en-US" sz="1200" dirty="0"/>
          </a:p>
        </p:txBody>
      </p:sp>
      <p:sp>
        <p:nvSpPr>
          <p:cNvPr id="14" name="Shape 12"/>
          <p:cNvSpPr/>
          <p:nvPr/>
        </p:nvSpPr>
        <p:spPr>
          <a:xfrm>
            <a:off x="7187184" y="1325880"/>
            <a:ext cx="1517904" cy="411480"/>
          </a:xfrm>
          <a:prstGeom prst="roundRect">
            <a:avLst>
              <a:gd name="adj" fmla="val 48889"/>
            </a:avLst>
          </a:prstGeom>
          <a:solidFill>
            <a:srgbClr val="EDE6F3"/>
          </a:solidFill>
          <a:ln/>
        </p:spPr>
      </p:sp>
      <p:sp>
        <p:nvSpPr>
          <p:cNvPr id="15" name="Text 13"/>
          <p:cNvSpPr txBox="1"/>
          <p:nvPr/>
        </p:nvSpPr>
        <p:spPr>
          <a:xfrm>
            <a:off x="7187184" y="1325880"/>
            <a:ext cx="1517904" cy="411480"/>
          </a:xfrm>
          <a:prstGeom prst="rect">
            <a:avLst/>
          </a:prstGeom>
          <a:noFill/>
          <a:ln/>
        </p:spPr>
        <p:txBody>
          <a:bodyPr wrap="square" lIns="0" tIns="0" rIns="0" bIns="0" rtlCol="0" anchor="ctr"/>
          <a:lstStyle/>
          <a:p>
            <a:pPr algn="ctr" indent="0" marL="0">
              <a:buNone/>
            </a:pPr>
            <a:r>
              <a:rPr lang="en-US" sz="1200" b="1" dirty="0">
                <a:solidFill>
                  <a:srgbClr val="33413A"/>
                </a:solidFill>
                <a:latin typeface="Malgun Gothic" pitchFamily="34" charset="0"/>
                <a:ea typeface="Malgun Gothic" pitchFamily="34" charset="-122"/>
                <a:cs typeface="Malgun Gothic" pitchFamily="34" charset="-120"/>
              </a:rPr>
              <a:t>더불어 사는 사람</a:t>
            </a:r>
            <a:endParaRPr lang="en-US" sz="1200" dirty="0"/>
          </a:p>
        </p:txBody>
      </p:sp>
      <p:sp>
        <p:nvSpPr>
          <p:cNvPr id="16" name="Shape 14"/>
          <p:cNvSpPr/>
          <p:nvPr/>
        </p:nvSpPr>
        <p:spPr>
          <a:xfrm>
            <a:off x="457200" y="1874520"/>
            <a:ext cx="8229600" cy="502920"/>
          </a:xfrm>
          <a:prstGeom prst="roundRect">
            <a:avLst>
              <a:gd name="adj" fmla="val 27273"/>
            </a:avLst>
          </a:prstGeom>
          <a:solidFill>
            <a:srgbClr val="F4F7F4"/>
          </a:solidFill>
          <a:ln/>
        </p:spPr>
      </p:sp>
      <p:sp>
        <p:nvSpPr>
          <p:cNvPr id="17" name="Text 15"/>
          <p:cNvSpPr txBox="1"/>
          <p:nvPr/>
        </p:nvSpPr>
        <p:spPr>
          <a:xfrm>
            <a:off x="640080" y="1874520"/>
            <a:ext cx="7863840" cy="502920"/>
          </a:xfrm>
          <a:prstGeom prst="rect">
            <a:avLst/>
          </a:prstGeom>
          <a:noFill/>
          <a:ln/>
        </p:spPr>
        <p:txBody>
          <a:bodyPr wrap="square" lIns="0" tIns="0" rIns="0" bIns="0" rtlCol="0" anchor="ctr"/>
          <a:lstStyle/>
          <a:p>
            <a:pPr indent="0" marL="0">
              <a:buNone/>
            </a:pPr>
            <a:r>
              <a:rPr lang="en-US" sz="1200" b="1" dirty="0">
                <a:solidFill>
                  <a:srgbClr val="5E8C6A"/>
                </a:solidFill>
                <a:latin typeface="Malgun Gothic" pitchFamily="34" charset="0"/>
                <a:ea typeface="Malgun Gothic" pitchFamily="34" charset="-122"/>
                <a:cs typeface="Malgun Gothic" pitchFamily="34" charset="-120"/>
              </a:rPr>
              <a:t>목적  </a:t>
            </a:r>
            <a:pPr indent="0" marL="0">
              <a:buNone/>
            </a:pPr>
            <a:r>
              <a:rPr lang="en-US" sz="1200" dirty="0">
                <a:solidFill>
                  <a:srgbClr val="33413A"/>
                </a:solidFill>
                <a:latin typeface="Malgun Gothic" pitchFamily="34" charset="0"/>
                <a:ea typeface="Malgun Gothic" pitchFamily="34" charset="-122"/>
                <a:cs typeface="Malgun Gothic" pitchFamily="34" charset="-120"/>
              </a:rPr>
              <a:t>영유아가 놀이를 통해 심신의 건강과 조화로운 발달을 이루고, 바른 인성과 민주 시민의 기초를 형성</a:t>
            </a:r>
            <a:endParaRPr lang="en-US" sz="1200" dirty="0"/>
          </a:p>
        </p:txBody>
      </p:sp>
      <p:sp>
        <p:nvSpPr>
          <p:cNvPr id="18" name="Shape 16"/>
          <p:cNvSpPr/>
          <p:nvPr/>
        </p:nvSpPr>
        <p:spPr>
          <a:xfrm>
            <a:off x="457200" y="2514600"/>
            <a:ext cx="4023360" cy="2240280"/>
          </a:xfrm>
          <a:prstGeom prst="roundRect">
            <a:avLst>
              <a:gd name="adj" fmla="val 6122"/>
            </a:avLst>
          </a:prstGeom>
          <a:solidFill>
            <a:srgbClr val="FCE4D8"/>
          </a:solidFill>
          <a:ln/>
        </p:spPr>
      </p:sp>
      <p:sp>
        <p:nvSpPr>
          <p:cNvPr id="19" name="Text 17"/>
          <p:cNvSpPr txBox="1"/>
          <p:nvPr/>
        </p:nvSpPr>
        <p:spPr>
          <a:xfrm>
            <a:off x="640080" y="2587752"/>
            <a:ext cx="3657600" cy="320040"/>
          </a:xfrm>
          <a:prstGeom prst="rect">
            <a:avLst/>
          </a:prstGeom>
          <a:noFill/>
          <a:ln/>
        </p:spPr>
        <p:txBody>
          <a:bodyPr wrap="square" lIns="0" tIns="0" rIns="0" bIns="0" rtlCol="0" anchor="ctr"/>
          <a:lstStyle/>
          <a:p>
            <a:pPr indent="0" marL="0">
              <a:buNone/>
            </a:pPr>
            <a:r>
              <a:rPr lang="en-US" sz="1250" b="1" dirty="0">
                <a:solidFill>
                  <a:srgbClr val="C0643E"/>
                </a:solidFill>
                <a:latin typeface="Malgun Gothic" pitchFamily="34" charset="0"/>
                <a:ea typeface="Malgun Gothic" pitchFamily="34" charset="-122"/>
                <a:cs typeface="Malgun Gothic" pitchFamily="34" charset="-120"/>
              </a:rPr>
              <a:t>0~1세 보육과정 및 2세 보육과정 목표</a:t>
            </a:r>
            <a:endParaRPr lang="en-US" sz="1250" dirty="0"/>
          </a:p>
        </p:txBody>
      </p:sp>
      <p:sp>
        <p:nvSpPr>
          <p:cNvPr id="20" name="Text 18"/>
          <p:cNvSpPr txBox="1"/>
          <p:nvPr/>
        </p:nvSpPr>
        <p:spPr>
          <a:xfrm>
            <a:off x="640080" y="2926080"/>
            <a:ext cx="3703320" cy="178308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자신의 소중함을 알고, 건강하고 안전한 환경에서 즐겁게 생활한다.</a:t>
            </a:r>
            <a:endParaRPr lang="en-US" sz="1050" dirty="0"/>
          </a:p>
          <a:p>
            <a:pPr marL="342900" indent="-342900">
              <a:spcAft>
                <a:spcPts val="3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자신의 일을 스스로 하고자 한다.</a:t>
            </a:r>
            <a:endParaRPr lang="en-US" sz="1050" dirty="0"/>
          </a:p>
          <a:p>
            <a:pPr marL="342900" indent="-342900">
              <a:spcAft>
                <a:spcPts val="3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호기심을 가지고 탐색하며 상상력을 기른다.</a:t>
            </a:r>
            <a:endParaRPr lang="en-US" sz="1050" dirty="0"/>
          </a:p>
          <a:p>
            <a:pPr marL="342900" indent="-342900">
              <a:spcAft>
                <a:spcPts val="3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일상에서 아름다움에 관심을 가지고 감성을 기른다.</a:t>
            </a:r>
            <a:endParaRPr lang="en-US" sz="1050" dirty="0"/>
          </a:p>
          <a:p>
            <a:pPr marL="342900" indent="-342900">
              <a:spcAft>
                <a:spcPts val="3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사람과 자연을 존중하고 소통하는 데 관심을 가진다.</a:t>
            </a:r>
            <a:endParaRPr lang="en-US" sz="1050" dirty="0"/>
          </a:p>
        </p:txBody>
      </p:sp>
      <p:sp>
        <p:nvSpPr>
          <p:cNvPr id="21" name="Shape 19"/>
          <p:cNvSpPr/>
          <p:nvPr/>
        </p:nvSpPr>
        <p:spPr>
          <a:xfrm>
            <a:off x="4663440" y="2514600"/>
            <a:ext cx="4023360" cy="2240280"/>
          </a:xfrm>
          <a:prstGeom prst="roundRect">
            <a:avLst>
              <a:gd name="adj" fmla="val 6122"/>
            </a:avLst>
          </a:prstGeom>
          <a:solidFill>
            <a:srgbClr val="FDF3D6"/>
          </a:solidFill>
          <a:ln/>
        </p:spPr>
      </p:sp>
      <p:sp>
        <p:nvSpPr>
          <p:cNvPr id="22" name="Text 20"/>
          <p:cNvSpPr txBox="1"/>
          <p:nvPr/>
        </p:nvSpPr>
        <p:spPr>
          <a:xfrm>
            <a:off x="4846320" y="2587752"/>
            <a:ext cx="3657600" cy="320040"/>
          </a:xfrm>
          <a:prstGeom prst="rect">
            <a:avLst/>
          </a:prstGeom>
          <a:noFill/>
          <a:ln/>
        </p:spPr>
        <p:txBody>
          <a:bodyPr wrap="square" lIns="0" tIns="0" rIns="0" bIns="0" rtlCol="0" anchor="ctr"/>
          <a:lstStyle/>
          <a:p>
            <a:pPr indent="0" marL="0">
              <a:buNone/>
            </a:pPr>
            <a:r>
              <a:rPr lang="en-US" sz="1250" b="1" dirty="0">
                <a:solidFill>
                  <a:srgbClr val="B08A2E"/>
                </a:solidFill>
                <a:latin typeface="Malgun Gothic" pitchFamily="34" charset="0"/>
                <a:ea typeface="Malgun Gothic" pitchFamily="34" charset="-122"/>
                <a:cs typeface="Malgun Gothic" pitchFamily="34" charset="-120"/>
              </a:rPr>
              <a:t>3~5세 보육과정 목표</a:t>
            </a:r>
            <a:endParaRPr lang="en-US" sz="1250" dirty="0"/>
          </a:p>
        </p:txBody>
      </p:sp>
      <p:sp>
        <p:nvSpPr>
          <p:cNvPr id="23" name="Text 21"/>
          <p:cNvSpPr txBox="1"/>
          <p:nvPr/>
        </p:nvSpPr>
        <p:spPr>
          <a:xfrm>
            <a:off x="4846320" y="2926080"/>
            <a:ext cx="3703320" cy="178308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자신의 소중함을 알고, 건강하고 안전한 생활습관을 기른다.</a:t>
            </a:r>
            <a:endParaRPr lang="en-US" sz="1050" dirty="0"/>
          </a:p>
          <a:p>
            <a:pPr marL="342900" indent="-342900">
              <a:spcAft>
                <a:spcPts val="3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자신의 일을 스스로 해결하는 기초능력을 기른다.</a:t>
            </a:r>
            <a:endParaRPr lang="en-US" sz="1050" dirty="0"/>
          </a:p>
          <a:p>
            <a:pPr marL="342900" indent="-342900">
              <a:spcAft>
                <a:spcPts val="3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호기심과 탐구심을 가지고 상상력과 창의력을 기른다.</a:t>
            </a:r>
            <a:endParaRPr lang="en-US" sz="1050" dirty="0"/>
          </a:p>
          <a:p>
            <a:pPr marL="342900" indent="-342900">
              <a:spcAft>
                <a:spcPts val="3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일상에서 아름다움을 느끼고 문화적 감수성을 기른다.</a:t>
            </a:r>
            <a:endParaRPr lang="en-US" sz="1050" dirty="0"/>
          </a:p>
          <a:p>
            <a:pPr marL="342900" indent="-342900">
              <a:spcAft>
                <a:spcPts val="3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사람과 자연을 존중하고 배려하며 소통하는 태도를 기른다.</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02920" cy="502920"/>
          </a:xfrm>
          <a:prstGeom prst="ellipse">
            <a:avLst/>
          </a:prstGeom>
          <a:solidFill>
            <a:srgbClr val="5E8C6A"/>
          </a:solidFill>
          <a:ln/>
        </p:spPr>
      </p:sp>
      <p:sp>
        <p:nvSpPr>
          <p:cNvPr id="3" name="Text 1"/>
          <p:cNvSpPr txBox="1"/>
          <p:nvPr/>
        </p:nvSpPr>
        <p:spPr>
          <a:xfrm>
            <a:off x="457200" y="38404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04</a:t>
            </a:r>
            <a:endParaRPr lang="en-US" sz="1400" dirty="0"/>
          </a:p>
        </p:txBody>
      </p:sp>
      <p:sp>
        <p:nvSpPr>
          <p:cNvPr id="4" name="Text 2"/>
          <p:cNvSpPr txBox="1"/>
          <p:nvPr/>
        </p:nvSpPr>
        <p:spPr>
          <a:xfrm>
            <a:off x="1097280" y="320040"/>
            <a:ext cx="7589520" cy="640080"/>
          </a:xfrm>
          <a:prstGeom prst="rect">
            <a:avLst/>
          </a:prstGeom>
          <a:noFill/>
          <a:ln/>
        </p:spPr>
        <p:txBody>
          <a:bodyPr wrap="square" lIns="0" tIns="0" rIns="0" bIns="0" rtlCol="0" anchor="ctr"/>
          <a:lstStyle/>
          <a:p>
            <a:pPr indent="0" marL="0">
              <a:buNone/>
            </a:pPr>
            <a:r>
              <a:rPr lang="en-US" sz="2800" b="1" dirty="0">
                <a:solidFill>
                  <a:srgbClr val="33413A"/>
                </a:solidFill>
                <a:latin typeface="Malgun Gothic" pitchFamily="34" charset="0"/>
                <a:ea typeface="Malgun Gothic" pitchFamily="34" charset="-122"/>
                <a:cs typeface="Malgun Gothic" pitchFamily="34" charset="-120"/>
              </a:rPr>
              <a:t>표준보육과정 구성의 중점</a:t>
            </a:r>
            <a:endParaRPr lang="en-US" sz="2800" dirty="0"/>
          </a:p>
        </p:txBody>
      </p:sp>
      <p:sp>
        <p:nvSpPr>
          <p:cNvPr id="5" name="Text 3"/>
          <p:cNvSpPr txBox="1"/>
          <p:nvPr/>
        </p:nvSpPr>
        <p:spPr>
          <a:xfrm>
            <a:off x="1097280" y="914400"/>
            <a:ext cx="7589520" cy="274320"/>
          </a:xfrm>
          <a:prstGeom prst="rect">
            <a:avLst/>
          </a:prstGeom>
          <a:noFill/>
          <a:ln/>
        </p:spPr>
        <p:txBody>
          <a:bodyPr wrap="square" lIns="0" tIns="0" rIns="0" bIns="0" rtlCol="0" anchor="ctr"/>
          <a:lstStyle/>
          <a:p>
            <a:pPr indent="0" marL="0">
              <a:buNone/>
            </a:pPr>
            <a:r>
              <a:rPr lang="en-US" sz="1300" dirty="0">
                <a:solidFill>
                  <a:srgbClr val="6E7B73"/>
                </a:solidFill>
                <a:latin typeface="Malgun Gothic" pitchFamily="34" charset="0"/>
                <a:ea typeface="Malgun Gothic" pitchFamily="34" charset="-122"/>
                <a:cs typeface="Malgun Gothic" pitchFamily="34" charset="-120"/>
              </a:rPr>
              <a:t>전제: 영유아는 개별적인 특성을 지닌 고유한 존재</a:t>
            </a:r>
            <a:endParaRPr lang="en-US" sz="1300" dirty="0"/>
          </a:p>
        </p:txBody>
      </p:sp>
      <p:sp>
        <p:nvSpPr>
          <p:cNvPr id="6" name="Shape 4"/>
          <p:cNvSpPr/>
          <p:nvPr/>
        </p:nvSpPr>
        <p:spPr>
          <a:xfrm>
            <a:off x="457200" y="1417320"/>
            <a:ext cx="1517904" cy="1920240"/>
          </a:xfrm>
          <a:prstGeom prst="roundRect">
            <a:avLst>
              <a:gd name="adj" fmla="val 9036"/>
            </a:avLst>
          </a:prstGeom>
          <a:solidFill>
            <a:srgbClr val="FCE4D8"/>
          </a:solidFill>
          <a:ln/>
        </p:spPr>
      </p:sp>
      <p:sp>
        <p:nvSpPr>
          <p:cNvPr id="7" name="Shape 5"/>
          <p:cNvSpPr/>
          <p:nvPr/>
        </p:nvSpPr>
        <p:spPr>
          <a:xfrm>
            <a:off x="941832" y="1645920"/>
            <a:ext cx="548640" cy="548640"/>
          </a:xfrm>
          <a:prstGeom prst="ellipse">
            <a:avLst/>
          </a:prstGeom>
          <a:solidFill>
            <a:srgbClr val="F2A27E"/>
          </a:solidFill>
          <a:ln/>
        </p:spPr>
      </p:sp>
      <p:pic>
        <p:nvPicPr>
          <p:cNvPr id="8" name="Image 0" descr="preencoded.png">    </p:cNvPr>
          <p:cNvPicPr>
            <a:picLocks noChangeAspect="1"/>
          </p:cNvPicPr>
          <p:nvPr/>
        </p:nvPicPr>
        <p:blipFill>
          <a:blip r:embed="rId1"/>
          <a:stretch>
            <a:fillRect/>
          </a:stretch>
        </p:blipFill>
        <p:spPr>
          <a:xfrm>
            <a:off x="1078992" y="1783080"/>
            <a:ext cx="274320" cy="274320"/>
          </a:xfrm>
          <a:prstGeom prst="rect">
            <a:avLst/>
          </a:prstGeom>
        </p:spPr>
      </p:pic>
      <p:sp>
        <p:nvSpPr>
          <p:cNvPr id="9" name="Text 6"/>
          <p:cNvSpPr txBox="1"/>
          <p:nvPr/>
        </p:nvSpPr>
        <p:spPr>
          <a:xfrm>
            <a:off x="530352" y="2331720"/>
            <a:ext cx="1371600" cy="822960"/>
          </a:xfrm>
          <a:prstGeom prst="rect">
            <a:avLst/>
          </a:prstGeom>
          <a:noFill/>
          <a:ln/>
        </p:spPr>
        <p:txBody>
          <a:bodyPr wrap="square" lIns="0" tIns="0" rIns="0" bIns="0" rtlCol="0" anchor="t"/>
          <a:lstStyle/>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0~5세 모든 영유아에게</a:t>
            </a:r>
            <a:endParaRPr lang="en-US" sz="1100" dirty="0"/>
          </a:p>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적용할 수 있도록</a:t>
            </a:r>
            <a:endParaRPr lang="en-US" sz="1100" dirty="0"/>
          </a:p>
        </p:txBody>
      </p:sp>
      <p:sp>
        <p:nvSpPr>
          <p:cNvPr id="10" name="Shape 7"/>
          <p:cNvSpPr/>
          <p:nvPr/>
        </p:nvSpPr>
        <p:spPr>
          <a:xfrm>
            <a:off x="2139696" y="1417320"/>
            <a:ext cx="1517904" cy="1920240"/>
          </a:xfrm>
          <a:prstGeom prst="roundRect">
            <a:avLst>
              <a:gd name="adj" fmla="val 9036"/>
            </a:avLst>
          </a:prstGeom>
          <a:solidFill>
            <a:srgbClr val="FDF3D6"/>
          </a:solidFill>
          <a:ln/>
        </p:spPr>
      </p:sp>
      <p:sp>
        <p:nvSpPr>
          <p:cNvPr id="11" name="Shape 8"/>
          <p:cNvSpPr/>
          <p:nvPr/>
        </p:nvSpPr>
        <p:spPr>
          <a:xfrm>
            <a:off x="2624328" y="1645920"/>
            <a:ext cx="548640" cy="548640"/>
          </a:xfrm>
          <a:prstGeom prst="ellipse">
            <a:avLst/>
          </a:prstGeom>
          <a:solidFill>
            <a:srgbClr val="F5D07A"/>
          </a:solidFill>
          <a:ln/>
        </p:spPr>
      </p:sp>
      <p:pic>
        <p:nvPicPr>
          <p:cNvPr id="12" name="Image 1" descr="preencoded.png">    </p:cNvPr>
          <p:cNvPicPr>
            <a:picLocks noChangeAspect="1"/>
          </p:cNvPicPr>
          <p:nvPr/>
        </p:nvPicPr>
        <p:blipFill>
          <a:blip r:embed="rId2"/>
          <a:stretch>
            <a:fillRect/>
          </a:stretch>
        </p:blipFill>
        <p:spPr>
          <a:xfrm>
            <a:off x="2761488" y="1783080"/>
            <a:ext cx="274320" cy="274320"/>
          </a:xfrm>
          <a:prstGeom prst="rect">
            <a:avLst/>
          </a:prstGeom>
        </p:spPr>
      </p:pic>
      <p:sp>
        <p:nvSpPr>
          <p:cNvPr id="13" name="Text 9"/>
          <p:cNvSpPr txBox="1"/>
          <p:nvPr/>
        </p:nvSpPr>
        <p:spPr>
          <a:xfrm>
            <a:off x="2212848" y="2331720"/>
            <a:ext cx="1371600" cy="822960"/>
          </a:xfrm>
          <a:prstGeom prst="rect">
            <a:avLst/>
          </a:prstGeom>
          <a:noFill/>
          <a:ln/>
        </p:spPr>
        <p:txBody>
          <a:bodyPr wrap="square" lIns="0" tIns="0" rIns="0" bIns="0" rtlCol="0" anchor="t"/>
          <a:lstStyle/>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인간상 구현을 위한</a:t>
            </a:r>
            <a:endParaRPr lang="en-US" sz="1100" dirty="0"/>
          </a:p>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지식, 기능, 태도</a:t>
            </a:r>
            <a:endParaRPr lang="en-US" sz="1100" dirty="0"/>
          </a:p>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및 가치 반영</a:t>
            </a:r>
            <a:endParaRPr lang="en-US" sz="1100" dirty="0"/>
          </a:p>
        </p:txBody>
      </p:sp>
      <p:sp>
        <p:nvSpPr>
          <p:cNvPr id="14" name="Shape 10"/>
          <p:cNvSpPr/>
          <p:nvPr/>
        </p:nvSpPr>
        <p:spPr>
          <a:xfrm>
            <a:off x="3822192" y="1417320"/>
            <a:ext cx="1517904" cy="1920240"/>
          </a:xfrm>
          <a:prstGeom prst="roundRect">
            <a:avLst>
              <a:gd name="adj" fmla="val 9036"/>
            </a:avLst>
          </a:prstGeom>
          <a:solidFill>
            <a:srgbClr val="DCEBDD"/>
          </a:solidFill>
          <a:ln/>
        </p:spPr>
      </p:sp>
      <p:sp>
        <p:nvSpPr>
          <p:cNvPr id="15" name="Shape 11"/>
          <p:cNvSpPr/>
          <p:nvPr/>
        </p:nvSpPr>
        <p:spPr>
          <a:xfrm>
            <a:off x="4306824" y="1645920"/>
            <a:ext cx="548640" cy="548640"/>
          </a:xfrm>
          <a:prstGeom prst="ellipse">
            <a:avLst/>
          </a:prstGeom>
          <a:solidFill>
            <a:srgbClr val="5E8C6A"/>
          </a:solidFill>
          <a:ln/>
        </p:spPr>
      </p:sp>
      <p:pic>
        <p:nvPicPr>
          <p:cNvPr id="16" name="Image 2" descr="preencoded.png">    </p:cNvPr>
          <p:cNvPicPr>
            <a:picLocks noChangeAspect="1"/>
          </p:cNvPicPr>
          <p:nvPr/>
        </p:nvPicPr>
        <p:blipFill>
          <a:blip r:embed="rId3"/>
          <a:stretch>
            <a:fillRect/>
          </a:stretch>
        </p:blipFill>
        <p:spPr>
          <a:xfrm>
            <a:off x="4443984" y="1783080"/>
            <a:ext cx="274320" cy="274320"/>
          </a:xfrm>
          <a:prstGeom prst="rect">
            <a:avLst/>
          </a:prstGeom>
        </p:spPr>
      </p:pic>
      <p:sp>
        <p:nvSpPr>
          <p:cNvPr id="17" name="Text 12"/>
          <p:cNvSpPr txBox="1"/>
          <p:nvPr/>
        </p:nvSpPr>
        <p:spPr>
          <a:xfrm>
            <a:off x="3895344" y="2331720"/>
            <a:ext cx="1371600" cy="822960"/>
          </a:xfrm>
          <a:prstGeom prst="rect">
            <a:avLst/>
          </a:prstGeom>
          <a:noFill/>
          <a:ln/>
        </p:spPr>
        <p:txBody>
          <a:bodyPr wrap="square" lIns="0" tIns="0" rIns="0" bIns="0" rtlCol="0" anchor="t"/>
          <a:lstStyle/>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5개 영역 중심</a:t>
            </a:r>
            <a:endParaRPr lang="en-US" sz="1100" dirty="0"/>
          </a:p>
        </p:txBody>
      </p:sp>
      <p:sp>
        <p:nvSpPr>
          <p:cNvPr id="18" name="Shape 13"/>
          <p:cNvSpPr/>
          <p:nvPr/>
        </p:nvSpPr>
        <p:spPr>
          <a:xfrm>
            <a:off x="5504688" y="1417320"/>
            <a:ext cx="1517904" cy="1920240"/>
          </a:xfrm>
          <a:prstGeom prst="roundRect">
            <a:avLst>
              <a:gd name="adj" fmla="val 9036"/>
            </a:avLst>
          </a:prstGeom>
          <a:solidFill>
            <a:srgbClr val="F9E1E3"/>
          </a:solidFill>
          <a:ln/>
        </p:spPr>
      </p:sp>
      <p:sp>
        <p:nvSpPr>
          <p:cNvPr id="19" name="Shape 14"/>
          <p:cNvSpPr/>
          <p:nvPr/>
        </p:nvSpPr>
        <p:spPr>
          <a:xfrm>
            <a:off x="5989320" y="1645920"/>
            <a:ext cx="548640" cy="548640"/>
          </a:xfrm>
          <a:prstGeom prst="ellipse">
            <a:avLst/>
          </a:prstGeom>
          <a:solidFill>
            <a:srgbClr val="E8A1A8"/>
          </a:solidFill>
          <a:ln/>
        </p:spPr>
      </p:sp>
      <p:pic>
        <p:nvPicPr>
          <p:cNvPr id="20" name="Image 3" descr="preencoded.png">    </p:cNvPr>
          <p:cNvPicPr>
            <a:picLocks noChangeAspect="1"/>
          </p:cNvPicPr>
          <p:nvPr/>
        </p:nvPicPr>
        <p:blipFill>
          <a:blip r:embed="rId4"/>
          <a:stretch>
            <a:fillRect/>
          </a:stretch>
        </p:blipFill>
        <p:spPr>
          <a:xfrm>
            <a:off x="6126480" y="1783080"/>
            <a:ext cx="274320" cy="274320"/>
          </a:xfrm>
          <a:prstGeom prst="rect">
            <a:avLst/>
          </a:prstGeom>
        </p:spPr>
      </p:pic>
      <p:sp>
        <p:nvSpPr>
          <p:cNvPr id="21" name="Text 15"/>
          <p:cNvSpPr txBox="1"/>
          <p:nvPr/>
        </p:nvSpPr>
        <p:spPr>
          <a:xfrm>
            <a:off x="5577840" y="2331720"/>
            <a:ext cx="1371600" cy="822960"/>
          </a:xfrm>
          <a:prstGeom prst="rect">
            <a:avLst/>
          </a:prstGeom>
          <a:noFill/>
          <a:ln/>
        </p:spPr>
        <p:txBody>
          <a:bodyPr wrap="square" lIns="0" tIns="0" rIns="0" bIns="0" rtlCol="0" anchor="t"/>
          <a:lstStyle/>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0~5세 영유아가</a:t>
            </a:r>
            <a:endParaRPr lang="en-US" sz="1100" dirty="0"/>
          </a:p>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경험해야 할 내용</a:t>
            </a:r>
            <a:endParaRPr lang="en-US" sz="1100" dirty="0"/>
          </a:p>
        </p:txBody>
      </p:sp>
      <p:sp>
        <p:nvSpPr>
          <p:cNvPr id="22" name="Shape 16"/>
          <p:cNvSpPr/>
          <p:nvPr/>
        </p:nvSpPr>
        <p:spPr>
          <a:xfrm>
            <a:off x="7187184" y="1417320"/>
            <a:ext cx="1517904" cy="1920240"/>
          </a:xfrm>
          <a:prstGeom prst="roundRect">
            <a:avLst>
              <a:gd name="adj" fmla="val 9036"/>
            </a:avLst>
          </a:prstGeom>
          <a:solidFill>
            <a:srgbClr val="EEF4EF"/>
          </a:solidFill>
          <a:ln/>
        </p:spPr>
      </p:sp>
      <p:sp>
        <p:nvSpPr>
          <p:cNvPr id="23" name="Shape 17"/>
          <p:cNvSpPr/>
          <p:nvPr/>
        </p:nvSpPr>
        <p:spPr>
          <a:xfrm>
            <a:off x="7671816" y="1645920"/>
            <a:ext cx="548640" cy="548640"/>
          </a:xfrm>
          <a:prstGeom prst="ellipse">
            <a:avLst/>
          </a:prstGeom>
          <a:solidFill>
            <a:srgbClr val="A9CBB0"/>
          </a:solidFill>
          <a:ln/>
        </p:spPr>
      </p:sp>
      <p:pic>
        <p:nvPicPr>
          <p:cNvPr id="24" name="Image 4" descr="preencoded.png">    </p:cNvPr>
          <p:cNvPicPr>
            <a:picLocks noChangeAspect="1"/>
          </p:cNvPicPr>
          <p:nvPr/>
        </p:nvPicPr>
        <p:blipFill>
          <a:blip r:embed="rId5"/>
          <a:stretch>
            <a:fillRect/>
          </a:stretch>
        </p:blipFill>
        <p:spPr>
          <a:xfrm>
            <a:off x="7808976" y="1783080"/>
            <a:ext cx="274320" cy="274320"/>
          </a:xfrm>
          <a:prstGeom prst="rect">
            <a:avLst/>
          </a:prstGeom>
        </p:spPr>
      </p:pic>
      <p:sp>
        <p:nvSpPr>
          <p:cNvPr id="25" name="Text 18"/>
          <p:cNvSpPr txBox="1"/>
          <p:nvPr/>
        </p:nvSpPr>
        <p:spPr>
          <a:xfrm>
            <a:off x="7260336" y="2331720"/>
            <a:ext cx="1371600" cy="822960"/>
          </a:xfrm>
          <a:prstGeom prst="rect">
            <a:avLst/>
          </a:prstGeom>
          <a:noFill/>
          <a:ln/>
        </p:spPr>
        <p:txBody>
          <a:bodyPr wrap="square" lIns="0" tIns="0" rIns="0" bIns="0" rtlCol="0" anchor="t"/>
          <a:lstStyle/>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초등학교 교육과정</a:t>
            </a:r>
            <a:endParaRPr lang="en-US" sz="1100" dirty="0"/>
          </a:p>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과의 연계성 고려</a:t>
            </a:r>
            <a:endParaRPr lang="en-US" sz="1100" dirty="0"/>
          </a:p>
        </p:txBody>
      </p:sp>
      <p:sp>
        <p:nvSpPr>
          <p:cNvPr id="26" name="Text 19"/>
          <p:cNvSpPr txBox="1"/>
          <p:nvPr/>
        </p:nvSpPr>
        <p:spPr>
          <a:xfrm>
            <a:off x="457200" y="3611880"/>
            <a:ext cx="8229600" cy="274320"/>
          </a:xfrm>
          <a:prstGeom prst="rect">
            <a:avLst/>
          </a:prstGeom>
          <a:noFill/>
          <a:ln/>
        </p:spPr>
        <p:txBody>
          <a:bodyPr wrap="square" lIns="0" tIns="0" rIns="0" bIns="0" rtlCol="0" anchor="ctr"/>
          <a:lstStyle/>
          <a:p>
            <a:pPr indent="0" marL="0">
              <a:buNone/>
            </a:pPr>
            <a:r>
              <a:rPr lang="en-US" sz="1300" b="1" dirty="0">
                <a:solidFill>
                  <a:srgbClr val="5E8C6A"/>
                </a:solidFill>
                <a:latin typeface="Malgun Gothic" pitchFamily="34" charset="0"/>
                <a:ea typeface="Malgun Gothic" pitchFamily="34" charset="-122"/>
                <a:cs typeface="Malgun Gothic" pitchFamily="34" charset="-120"/>
              </a:rPr>
              <a:t>5개 영역</a:t>
            </a:r>
            <a:endParaRPr lang="en-US" sz="1300" dirty="0"/>
          </a:p>
        </p:txBody>
      </p:sp>
      <p:sp>
        <p:nvSpPr>
          <p:cNvPr id="27" name="Shape 20"/>
          <p:cNvSpPr/>
          <p:nvPr/>
        </p:nvSpPr>
        <p:spPr>
          <a:xfrm>
            <a:off x="457200" y="3977640"/>
            <a:ext cx="1517904" cy="548640"/>
          </a:xfrm>
          <a:prstGeom prst="roundRect">
            <a:avLst>
              <a:gd name="adj" fmla="val 50000"/>
            </a:avLst>
          </a:prstGeom>
          <a:solidFill>
            <a:srgbClr val="F2A27E"/>
          </a:solidFill>
          <a:ln/>
        </p:spPr>
      </p:sp>
      <p:sp>
        <p:nvSpPr>
          <p:cNvPr id="28" name="Text 21"/>
          <p:cNvSpPr txBox="1"/>
          <p:nvPr/>
        </p:nvSpPr>
        <p:spPr>
          <a:xfrm>
            <a:off x="457200" y="3977640"/>
            <a:ext cx="1517904"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신체운동·건강</a:t>
            </a:r>
            <a:endParaRPr lang="en-US" sz="1300" dirty="0"/>
          </a:p>
        </p:txBody>
      </p:sp>
      <p:sp>
        <p:nvSpPr>
          <p:cNvPr id="29" name="Shape 22"/>
          <p:cNvSpPr/>
          <p:nvPr/>
        </p:nvSpPr>
        <p:spPr>
          <a:xfrm>
            <a:off x="2139696" y="3977640"/>
            <a:ext cx="1517904" cy="548640"/>
          </a:xfrm>
          <a:prstGeom prst="roundRect">
            <a:avLst>
              <a:gd name="adj" fmla="val 50000"/>
            </a:avLst>
          </a:prstGeom>
          <a:solidFill>
            <a:srgbClr val="F5D07A"/>
          </a:solidFill>
          <a:ln/>
        </p:spPr>
      </p:sp>
      <p:sp>
        <p:nvSpPr>
          <p:cNvPr id="30" name="Text 23"/>
          <p:cNvSpPr txBox="1"/>
          <p:nvPr/>
        </p:nvSpPr>
        <p:spPr>
          <a:xfrm>
            <a:off x="2139696" y="3977640"/>
            <a:ext cx="1517904" cy="548640"/>
          </a:xfrm>
          <a:prstGeom prst="rect">
            <a:avLst/>
          </a:prstGeom>
          <a:noFill/>
          <a:ln/>
        </p:spPr>
        <p:txBody>
          <a:bodyPr wrap="square" lIns="0" tIns="0" rIns="0" bIns="0" rtlCol="0" anchor="ctr"/>
          <a:lstStyle/>
          <a:p>
            <a:pPr algn="ctr" indent="0" marL="0">
              <a:buNone/>
            </a:pPr>
            <a:r>
              <a:rPr lang="en-US" sz="1300" b="1" dirty="0">
                <a:solidFill>
                  <a:srgbClr val="33413A"/>
                </a:solidFill>
                <a:latin typeface="Malgun Gothic" pitchFamily="34" charset="0"/>
                <a:ea typeface="Malgun Gothic" pitchFamily="34" charset="-122"/>
                <a:cs typeface="Malgun Gothic" pitchFamily="34" charset="-120"/>
              </a:rPr>
              <a:t>의사소통</a:t>
            </a:r>
            <a:endParaRPr lang="en-US" sz="1300" dirty="0"/>
          </a:p>
        </p:txBody>
      </p:sp>
      <p:sp>
        <p:nvSpPr>
          <p:cNvPr id="31" name="Shape 24"/>
          <p:cNvSpPr/>
          <p:nvPr/>
        </p:nvSpPr>
        <p:spPr>
          <a:xfrm>
            <a:off x="3822192" y="3977640"/>
            <a:ext cx="1517904" cy="548640"/>
          </a:xfrm>
          <a:prstGeom prst="roundRect">
            <a:avLst>
              <a:gd name="adj" fmla="val 50000"/>
            </a:avLst>
          </a:prstGeom>
          <a:solidFill>
            <a:srgbClr val="5E8C6A"/>
          </a:solidFill>
          <a:ln/>
        </p:spPr>
      </p:sp>
      <p:sp>
        <p:nvSpPr>
          <p:cNvPr id="32" name="Text 25"/>
          <p:cNvSpPr txBox="1"/>
          <p:nvPr/>
        </p:nvSpPr>
        <p:spPr>
          <a:xfrm>
            <a:off x="3822192" y="3977640"/>
            <a:ext cx="1517904"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사회관계</a:t>
            </a:r>
            <a:endParaRPr lang="en-US" sz="1300" dirty="0"/>
          </a:p>
        </p:txBody>
      </p:sp>
      <p:sp>
        <p:nvSpPr>
          <p:cNvPr id="33" name="Shape 26"/>
          <p:cNvSpPr/>
          <p:nvPr/>
        </p:nvSpPr>
        <p:spPr>
          <a:xfrm>
            <a:off x="5504688" y="3977640"/>
            <a:ext cx="1517904" cy="548640"/>
          </a:xfrm>
          <a:prstGeom prst="roundRect">
            <a:avLst>
              <a:gd name="adj" fmla="val 50000"/>
            </a:avLst>
          </a:prstGeom>
          <a:solidFill>
            <a:srgbClr val="E8A1A8"/>
          </a:solidFill>
          <a:ln/>
        </p:spPr>
      </p:sp>
      <p:sp>
        <p:nvSpPr>
          <p:cNvPr id="34" name="Text 27"/>
          <p:cNvSpPr txBox="1"/>
          <p:nvPr/>
        </p:nvSpPr>
        <p:spPr>
          <a:xfrm>
            <a:off x="5504688" y="3977640"/>
            <a:ext cx="1517904"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예술경험</a:t>
            </a:r>
            <a:endParaRPr lang="en-US" sz="1300" dirty="0"/>
          </a:p>
        </p:txBody>
      </p:sp>
      <p:sp>
        <p:nvSpPr>
          <p:cNvPr id="35" name="Shape 28"/>
          <p:cNvSpPr/>
          <p:nvPr/>
        </p:nvSpPr>
        <p:spPr>
          <a:xfrm>
            <a:off x="7187184" y="3977640"/>
            <a:ext cx="1517904" cy="548640"/>
          </a:xfrm>
          <a:prstGeom prst="roundRect">
            <a:avLst>
              <a:gd name="adj" fmla="val 50000"/>
            </a:avLst>
          </a:prstGeom>
          <a:solidFill>
            <a:srgbClr val="A9CBB0"/>
          </a:solidFill>
          <a:ln/>
        </p:spPr>
      </p:sp>
      <p:sp>
        <p:nvSpPr>
          <p:cNvPr id="36" name="Text 29"/>
          <p:cNvSpPr txBox="1"/>
          <p:nvPr/>
        </p:nvSpPr>
        <p:spPr>
          <a:xfrm>
            <a:off x="7187184" y="3977640"/>
            <a:ext cx="1517904"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자연탐구</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02920" cy="502920"/>
          </a:xfrm>
          <a:prstGeom prst="ellipse">
            <a:avLst/>
          </a:prstGeom>
          <a:solidFill>
            <a:srgbClr val="5E8C6A"/>
          </a:solidFill>
          <a:ln/>
        </p:spPr>
      </p:sp>
      <p:sp>
        <p:nvSpPr>
          <p:cNvPr id="3" name="Text 1"/>
          <p:cNvSpPr txBox="1"/>
          <p:nvPr/>
        </p:nvSpPr>
        <p:spPr>
          <a:xfrm>
            <a:off x="457200" y="38404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05</a:t>
            </a:r>
            <a:endParaRPr lang="en-US" sz="1400" dirty="0"/>
          </a:p>
        </p:txBody>
      </p:sp>
      <p:sp>
        <p:nvSpPr>
          <p:cNvPr id="4" name="Text 2"/>
          <p:cNvSpPr txBox="1"/>
          <p:nvPr/>
        </p:nvSpPr>
        <p:spPr>
          <a:xfrm>
            <a:off x="1097280" y="320040"/>
            <a:ext cx="7589520" cy="640080"/>
          </a:xfrm>
          <a:prstGeom prst="rect">
            <a:avLst/>
          </a:prstGeom>
          <a:noFill/>
          <a:ln/>
        </p:spPr>
        <p:txBody>
          <a:bodyPr wrap="square" lIns="0" tIns="0" rIns="0" bIns="0" rtlCol="0" anchor="ctr"/>
          <a:lstStyle/>
          <a:p>
            <a:pPr indent="0" marL="0">
              <a:buNone/>
            </a:pPr>
            <a:r>
              <a:rPr lang="en-US" sz="2800" b="1" dirty="0">
                <a:solidFill>
                  <a:srgbClr val="33413A"/>
                </a:solidFill>
                <a:latin typeface="Malgun Gothic" pitchFamily="34" charset="0"/>
                <a:ea typeface="Malgun Gothic" pitchFamily="34" charset="-122"/>
                <a:cs typeface="Malgun Gothic" pitchFamily="34" charset="-120"/>
              </a:rPr>
              <a:t>표준보육과정의 운영</a:t>
            </a:r>
            <a:endParaRPr lang="en-US" sz="2800" dirty="0"/>
          </a:p>
        </p:txBody>
      </p:sp>
      <p:sp>
        <p:nvSpPr>
          <p:cNvPr id="5" name="Shape 3"/>
          <p:cNvSpPr/>
          <p:nvPr/>
        </p:nvSpPr>
        <p:spPr>
          <a:xfrm>
            <a:off x="457200" y="1097280"/>
            <a:ext cx="2615184" cy="3611880"/>
          </a:xfrm>
          <a:prstGeom prst="roundRect">
            <a:avLst>
              <a:gd name="adj" fmla="val 5245"/>
            </a:avLst>
          </a:prstGeom>
          <a:solidFill>
            <a:srgbClr val="FCE4D8"/>
          </a:solidFill>
          <a:ln/>
        </p:spPr>
      </p:sp>
      <p:sp>
        <p:nvSpPr>
          <p:cNvPr id="6" name="Shape 4"/>
          <p:cNvSpPr/>
          <p:nvPr/>
        </p:nvSpPr>
        <p:spPr>
          <a:xfrm>
            <a:off x="640080" y="1234440"/>
            <a:ext cx="457200" cy="457200"/>
          </a:xfrm>
          <a:prstGeom prst="ellipse">
            <a:avLst/>
          </a:prstGeom>
          <a:solidFill>
            <a:srgbClr val="F2A27E"/>
          </a:solidFill>
          <a:ln/>
        </p:spPr>
      </p:sp>
      <p:pic>
        <p:nvPicPr>
          <p:cNvPr id="7" name="Image 0" descr="preencoded.png">    </p:cNvPr>
          <p:cNvPicPr>
            <a:picLocks noChangeAspect="1"/>
          </p:cNvPicPr>
          <p:nvPr/>
        </p:nvPicPr>
        <p:blipFill>
          <a:blip r:embed="rId1"/>
          <a:stretch>
            <a:fillRect/>
          </a:stretch>
        </p:blipFill>
        <p:spPr>
          <a:xfrm>
            <a:off x="754380" y="1348740"/>
            <a:ext cx="228600" cy="228600"/>
          </a:xfrm>
          <a:prstGeom prst="rect">
            <a:avLst/>
          </a:prstGeom>
        </p:spPr>
      </p:pic>
      <p:sp>
        <p:nvSpPr>
          <p:cNvPr id="8" name="Text 5"/>
          <p:cNvSpPr txBox="1"/>
          <p:nvPr/>
        </p:nvSpPr>
        <p:spPr>
          <a:xfrm>
            <a:off x="1188720" y="1234440"/>
            <a:ext cx="1737360" cy="457200"/>
          </a:xfrm>
          <a:prstGeom prst="rect">
            <a:avLst/>
          </a:prstGeom>
          <a:noFill/>
          <a:ln/>
        </p:spPr>
        <p:txBody>
          <a:bodyPr wrap="square" lIns="0" tIns="0" rIns="0" bIns="0" rtlCol="0" anchor="ctr"/>
          <a:lstStyle/>
          <a:p>
            <a:pPr indent="0" marL="0">
              <a:buNone/>
            </a:pPr>
            <a:r>
              <a:rPr lang="en-US" sz="1600" b="1" dirty="0">
                <a:solidFill>
                  <a:srgbClr val="33413A"/>
                </a:solidFill>
                <a:latin typeface="Malgun Gothic" pitchFamily="34" charset="0"/>
                <a:ea typeface="Malgun Gothic" pitchFamily="34" charset="-122"/>
                <a:cs typeface="Malgun Gothic" pitchFamily="34" charset="-120"/>
              </a:rPr>
              <a:t>① 편성·운영</a:t>
            </a:r>
            <a:endParaRPr lang="en-US" sz="1600" dirty="0"/>
          </a:p>
        </p:txBody>
      </p:sp>
      <p:sp>
        <p:nvSpPr>
          <p:cNvPr id="9" name="Text 6"/>
          <p:cNvSpPr txBox="1"/>
          <p:nvPr/>
        </p:nvSpPr>
        <p:spPr>
          <a:xfrm>
            <a:off x="594360" y="1783080"/>
            <a:ext cx="2377440" cy="288036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각 기관의 운영 시간에 맞추어 편성</a:t>
            </a:r>
            <a:endParaRPr lang="en-US" sz="1050" dirty="0"/>
          </a:p>
          <a:p>
            <a:pPr marL="342900" indent="-342900">
              <a:spcAft>
                <a:spcPts val="4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기관의 실정에 적합한 계획 수립</a:t>
            </a:r>
            <a:endParaRPr lang="en-US" sz="1050" dirty="0"/>
          </a:p>
          <a:p>
            <a:pPr marL="342900" indent="-342900">
              <a:spcAft>
                <a:spcPts val="4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바깥놀이를 포함하여 놀이가 충분히 이루어지도록</a:t>
            </a:r>
            <a:endParaRPr lang="en-US" sz="1050" dirty="0"/>
          </a:p>
          <a:p>
            <a:pPr marL="342900" indent="-342900">
              <a:spcAft>
                <a:spcPts val="4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성, 신체적 특성, 장애, 종교, 가족 및 문화적 배경 등에 따른 차별이 없도록</a:t>
            </a:r>
            <a:endParaRPr lang="en-US" sz="1050" dirty="0"/>
          </a:p>
          <a:p>
            <a:pPr marL="342900" indent="-342900">
              <a:spcAft>
                <a:spcPts val="4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발달과 장애 정도에 따라 조정</a:t>
            </a:r>
            <a:endParaRPr lang="en-US" sz="1050" dirty="0"/>
          </a:p>
          <a:p>
            <a:pPr marL="342900" indent="-342900">
              <a:spcAft>
                <a:spcPts val="4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가정과 지역사회와의 협력과 참여에 기반</a:t>
            </a:r>
            <a:endParaRPr lang="en-US" sz="1050" dirty="0"/>
          </a:p>
          <a:p>
            <a:pPr marL="342900" indent="-342900">
              <a:spcAft>
                <a:spcPts val="4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교사 연수를 통해 운영 개선</a:t>
            </a:r>
            <a:endParaRPr lang="en-US" sz="1050" dirty="0"/>
          </a:p>
        </p:txBody>
      </p:sp>
      <p:sp>
        <p:nvSpPr>
          <p:cNvPr id="10" name="Shape 7"/>
          <p:cNvSpPr/>
          <p:nvPr/>
        </p:nvSpPr>
        <p:spPr>
          <a:xfrm>
            <a:off x="3264408" y="1097280"/>
            <a:ext cx="2615184" cy="3611880"/>
          </a:xfrm>
          <a:prstGeom prst="roundRect">
            <a:avLst>
              <a:gd name="adj" fmla="val 5245"/>
            </a:avLst>
          </a:prstGeom>
          <a:solidFill>
            <a:srgbClr val="DCEBDD"/>
          </a:solidFill>
          <a:ln/>
        </p:spPr>
      </p:sp>
      <p:sp>
        <p:nvSpPr>
          <p:cNvPr id="11" name="Shape 8"/>
          <p:cNvSpPr/>
          <p:nvPr/>
        </p:nvSpPr>
        <p:spPr>
          <a:xfrm>
            <a:off x="3447288" y="1234440"/>
            <a:ext cx="457200" cy="457200"/>
          </a:xfrm>
          <a:prstGeom prst="ellipse">
            <a:avLst/>
          </a:prstGeom>
          <a:solidFill>
            <a:srgbClr val="5E8C6A"/>
          </a:solidFill>
          <a:ln/>
        </p:spPr>
      </p:sp>
      <p:pic>
        <p:nvPicPr>
          <p:cNvPr id="12" name="Image 1" descr="preencoded.png">    </p:cNvPr>
          <p:cNvPicPr>
            <a:picLocks noChangeAspect="1"/>
          </p:cNvPicPr>
          <p:nvPr/>
        </p:nvPicPr>
        <p:blipFill>
          <a:blip r:embed="rId2"/>
          <a:stretch>
            <a:fillRect/>
          </a:stretch>
        </p:blipFill>
        <p:spPr>
          <a:xfrm>
            <a:off x="3561588" y="1348740"/>
            <a:ext cx="228600" cy="228600"/>
          </a:xfrm>
          <a:prstGeom prst="rect">
            <a:avLst/>
          </a:prstGeom>
        </p:spPr>
      </p:pic>
      <p:sp>
        <p:nvSpPr>
          <p:cNvPr id="13" name="Text 9"/>
          <p:cNvSpPr txBox="1"/>
          <p:nvPr/>
        </p:nvSpPr>
        <p:spPr>
          <a:xfrm>
            <a:off x="3995928" y="1234440"/>
            <a:ext cx="1737360" cy="457200"/>
          </a:xfrm>
          <a:prstGeom prst="rect">
            <a:avLst/>
          </a:prstGeom>
          <a:noFill/>
          <a:ln/>
        </p:spPr>
        <p:txBody>
          <a:bodyPr wrap="square" lIns="0" tIns="0" rIns="0" bIns="0" rtlCol="0" anchor="ctr"/>
          <a:lstStyle/>
          <a:p>
            <a:pPr indent="0" marL="0">
              <a:buNone/>
            </a:pPr>
            <a:r>
              <a:rPr lang="en-US" sz="1600" b="1" dirty="0">
                <a:solidFill>
                  <a:srgbClr val="33413A"/>
                </a:solidFill>
                <a:latin typeface="Malgun Gothic" pitchFamily="34" charset="0"/>
                <a:ea typeface="Malgun Gothic" pitchFamily="34" charset="-122"/>
                <a:cs typeface="Malgun Gothic" pitchFamily="34" charset="-120"/>
              </a:rPr>
              <a:t>② 교수·학습</a:t>
            </a:r>
            <a:endParaRPr lang="en-US" sz="1600" dirty="0"/>
          </a:p>
        </p:txBody>
      </p:sp>
      <p:sp>
        <p:nvSpPr>
          <p:cNvPr id="14" name="Text 10"/>
          <p:cNvSpPr txBox="1"/>
          <p:nvPr/>
        </p:nvSpPr>
        <p:spPr>
          <a:xfrm>
            <a:off x="3401568" y="1783080"/>
            <a:ext cx="2377440" cy="288036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흥미와 관심에 따라 놀이에 자유롭게 참여하고 즐기도록</a:t>
            </a:r>
            <a:endParaRPr lang="en-US" sz="1050" dirty="0"/>
          </a:p>
          <a:p>
            <a:pPr marL="342900" indent="-342900">
              <a:spcAft>
                <a:spcPts val="4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놀이를 통해 배우도록</a:t>
            </a:r>
            <a:endParaRPr lang="en-US" sz="1050" dirty="0"/>
          </a:p>
          <a:p>
            <a:pPr marL="342900" indent="-342900">
              <a:spcAft>
                <a:spcPts val="4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다양한 놀이와 활동을 경험하도록 실내외 환경 구성</a:t>
            </a:r>
            <a:endParaRPr lang="en-US" sz="1050" dirty="0"/>
          </a:p>
          <a:p>
            <a:pPr marL="342900" indent="-342900">
              <a:spcAft>
                <a:spcPts val="4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영유아와 영유아·교사·환경 사이 능동적 상호작용</a:t>
            </a:r>
            <a:endParaRPr lang="en-US" sz="1050" dirty="0"/>
          </a:p>
          <a:p>
            <a:pPr marL="342900" indent="-342900">
              <a:spcAft>
                <a:spcPts val="4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5개 영역의 내용이 통합적으로 경험과 연계</a:t>
            </a:r>
            <a:endParaRPr lang="en-US" sz="1050" dirty="0"/>
          </a:p>
          <a:p>
            <a:pPr marL="342900" indent="-342900">
              <a:spcAft>
                <a:spcPts val="4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개별 요구에 따라 휴식과 일상생활이 원활히</a:t>
            </a:r>
            <a:endParaRPr lang="en-US" sz="1050" dirty="0"/>
          </a:p>
          <a:p>
            <a:pPr marL="342900" indent="-342900">
              <a:spcAft>
                <a:spcPts val="4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연령, 발달, 장애, 배경 등을 고려해 개별 특성에 적합한 방식으로</a:t>
            </a:r>
            <a:endParaRPr lang="en-US" sz="1050" dirty="0"/>
          </a:p>
        </p:txBody>
      </p:sp>
      <p:sp>
        <p:nvSpPr>
          <p:cNvPr id="15" name="Shape 11"/>
          <p:cNvSpPr/>
          <p:nvPr/>
        </p:nvSpPr>
        <p:spPr>
          <a:xfrm>
            <a:off x="6071616" y="1097280"/>
            <a:ext cx="2615184" cy="3611880"/>
          </a:xfrm>
          <a:prstGeom prst="roundRect">
            <a:avLst>
              <a:gd name="adj" fmla="val 5245"/>
            </a:avLst>
          </a:prstGeom>
          <a:solidFill>
            <a:srgbClr val="FDF3D6"/>
          </a:solidFill>
          <a:ln/>
        </p:spPr>
      </p:sp>
      <p:sp>
        <p:nvSpPr>
          <p:cNvPr id="16" name="Shape 12"/>
          <p:cNvSpPr/>
          <p:nvPr/>
        </p:nvSpPr>
        <p:spPr>
          <a:xfrm>
            <a:off x="6254496" y="1234440"/>
            <a:ext cx="457200" cy="457200"/>
          </a:xfrm>
          <a:prstGeom prst="ellipse">
            <a:avLst/>
          </a:prstGeom>
          <a:solidFill>
            <a:srgbClr val="F5D07A"/>
          </a:solidFill>
          <a:ln/>
        </p:spPr>
      </p:sp>
      <p:pic>
        <p:nvPicPr>
          <p:cNvPr id="17" name="Image 2" descr="preencoded.png">    </p:cNvPr>
          <p:cNvPicPr>
            <a:picLocks noChangeAspect="1"/>
          </p:cNvPicPr>
          <p:nvPr/>
        </p:nvPicPr>
        <p:blipFill>
          <a:blip r:embed="rId3"/>
          <a:stretch>
            <a:fillRect/>
          </a:stretch>
        </p:blipFill>
        <p:spPr>
          <a:xfrm>
            <a:off x="6368796" y="1348740"/>
            <a:ext cx="228600" cy="228600"/>
          </a:xfrm>
          <a:prstGeom prst="rect">
            <a:avLst/>
          </a:prstGeom>
        </p:spPr>
      </p:pic>
      <p:sp>
        <p:nvSpPr>
          <p:cNvPr id="18" name="Text 13"/>
          <p:cNvSpPr txBox="1"/>
          <p:nvPr/>
        </p:nvSpPr>
        <p:spPr>
          <a:xfrm>
            <a:off x="6803136" y="1234440"/>
            <a:ext cx="1737360" cy="457200"/>
          </a:xfrm>
          <a:prstGeom prst="rect">
            <a:avLst/>
          </a:prstGeom>
          <a:noFill/>
          <a:ln/>
        </p:spPr>
        <p:txBody>
          <a:bodyPr wrap="square" lIns="0" tIns="0" rIns="0" bIns="0" rtlCol="0" anchor="ctr"/>
          <a:lstStyle/>
          <a:p>
            <a:pPr indent="0" marL="0">
              <a:buNone/>
            </a:pPr>
            <a:r>
              <a:rPr lang="en-US" sz="1600" b="1" dirty="0">
                <a:solidFill>
                  <a:srgbClr val="33413A"/>
                </a:solidFill>
                <a:latin typeface="Malgun Gothic" pitchFamily="34" charset="0"/>
                <a:ea typeface="Malgun Gothic" pitchFamily="34" charset="-122"/>
                <a:cs typeface="Malgun Gothic" pitchFamily="34" charset="-120"/>
              </a:rPr>
              <a:t>③ 평가</a:t>
            </a:r>
            <a:endParaRPr lang="en-US" sz="1600" dirty="0"/>
          </a:p>
        </p:txBody>
      </p:sp>
      <p:sp>
        <p:nvSpPr>
          <p:cNvPr id="19" name="Text 14"/>
          <p:cNvSpPr txBox="1"/>
          <p:nvPr/>
        </p:nvSpPr>
        <p:spPr>
          <a:xfrm>
            <a:off x="6208776" y="1783080"/>
            <a:ext cx="2377440" cy="288036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운영의 질을 진단하고 개선하기 위해 평가를 계획하고 실시</a:t>
            </a:r>
            <a:endParaRPr lang="en-US" sz="1050" dirty="0"/>
          </a:p>
          <a:p>
            <a:pPr marL="342900" indent="-342900">
              <a:spcAft>
                <a:spcPts val="4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영유아의 특성 및 변화 정도와 표준보육과정의 운영을 평가</a:t>
            </a:r>
            <a:endParaRPr lang="en-US" sz="1050" dirty="0"/>
          </a:p>
          <a:p>
            <a:pPr marL="342900" indent="-342900">
              <a:spcAft>
                <a:spcPts val="4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평가의 목적에 따라 적합한 방법 사용</a:t>
            </a:r>
            <a:endParaRPr lang="en-US" sz="1050" dirty="0"/>
          </a:p>
          <a:p>
            <a:pPr marL="342900" indent="-342900">
              <a:spcAft>
                <a:spcPts val="4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결과는 영유아에 대한 이해와 운영 개선을 위한 자료로 활용</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02920" cy="502920"/>
          </a:xfrm>
          <a:prstGeom prst="ellipse">
            <a:avLst/>
          </a:prstGeom>
          <a:solidFill>
            <a:srgbClr val="5E8C6A"/>
          </a:solidFill>
          <a:ln/>
        </p:spPr>
      </p:sp>
      <p:sp>
        <p:nvSpPr>
          <p:cNvPr id="3" name="Text 1"/>
          <p:cNvSpPr txBox="1"/>
          <p:nvPr/>
        </p:nvSpPr>
        <p:spPr>
          <a:xfrm>
            <a:off x="457200" y="38404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06</a:t>
            </a:r>
            <a:endParaRPr lang="en-US" sz="1400" dirty="0"/>
          </a:p>
        </p:txBody>
      </p:sp>
      <p:sp>
        <p:nvSpPr>
          <p:cNvPr id="4" name="Text 2"/>
          <p:cNvSpPr txBox="1"/>
          <p:nvPr/>
        </p:nvSpPr>
        <p:spPr>
          <a:xfrm>
            <a:off x="1097280" y="320040"/>
            <a:ext cx="7589520" cy="640080"/>
          </a:xfrm>
          <a:prstGeom prst="rect">
            <a:avLst/>
          </a:prstGeom>
          <a:noFill/>
          <a:ln/>
        </p:spPr>
        <p:txBody>
          <a:bodyPr wrap="square" lIns="0" tIns="0" rIns="0" bIns="0" rtlCol="0" anchor="ctr"/>
          <a:lstStyle/>
          <a:p>
            <a:pPr indent="0" marL="0">
              <a:buNone/>
            </a:pPr>
            <a:r>
              <a:rPr lang="en-US" sz="2800" b="1" dirty="0">
                <a:solidFill>
                  <a:srgbClr val="33413A"/>
                </a:solidFill>
                <a:latin typeface="Malgun Gothic" pitchFamily="34" charset="0"/>
                <a:ea typeface="Malgun Gothic" pitchFamily="34" charset="-122"/>
                <a:cs typeface="Malgun Gothic" pitchFamily="34" charset="-120"/>
              </a:rPr>
              <a:t>연령별 목표 및 내용: 5개 영역과 내용범주</a:t>
            </a:r>
            <a:endParaRPr lang="en-US" sz="2800" dirty="0"/>
          </a:p>
        </p:txBody>
      </p:sp>
      <p:sp>
        <p:nvSpPr>
          <p:cNvPr id="5" name="Text 3"/>
          <p:cNvSpPr txBox="1"/>
          <p:nvPr/>
        </p:nvSpPr>
        <p:spPr>
          <a:xfrm>
            <a:off x="1097280" y="914400"/>
            <a:ext cx="7589520" cy="274320"/>
          </a:xfrm>
          <a:prstGeom prst="rect">
            <a:avLst/>
          </a:prstGeom>
          <a:noFill/>
          <a:ln/>
        </p:spPr>
        <p:txBody>
          <a:bodyPr wrap="square" lIns="0" tIns="0" rIns="0" bIns="0" rtlCol="0" anchor="ctr"/>
          <a:lstStyle/>
          <a:p>
            <a:pPr indent="0" marL="0">
              <a:buNone/>
            </a:pPr>
            <a:r>
              <a:rPr lang="en-US" sz="1200" dirty="0">
                <a:solidFill>
                  <a:srgbClr val="6E7B73"/>
                </a:solidFill>
                <a:latin typeface="Malgun Gothic" pitchFamily="34" charset="0"/>
                <a:ea typeface="Malgun Gothic" pitchFamily="34" charset="-122"/>
                <a:cs typeface="Malgun Gothic" pitchFamily="34" charset="-120"/>
              </a:rPr>
              <a:t>0~1세 · 2세 · 3~5세 모두 같은 5개 영역 (교육부고시 제2024-23호)</a:t>
            </a:r>
            <a:endParaRPr lang="en-US" sz="1200" dirty="0"/>
          </a:p>
        </p:txBody>
      </p:sp>
      <p:sp>
        <p:nvSpPr>
          <p:cNvPr id="6" name="Shape 4"/>
          <p:cNvSpPr/>
          <p:nvPr/>
        </p:nvSpPr>
        <p:spPr>
          <a:xfrm>
            <a:off x="457200" y="1325880"/>
            <a:ext cx="1517904" cy="457200"/>
          </a:xfrm>
          <a:prstGeom prst="roundRect">
            <a:avLst>
              <a:gd name="adj" fmla="val 24000"/>
            </a:avLst>
          </a:prstGeom>
          <a:solidFill>
            <a:srgbClr val="F2A27E"/>
          </a:solidFill>
          <a:ln/>
        </p:spPr>
      </p:sp>
      <p:sp>
        <p:nvSpPr>
          <p:cNvPr id="7" name="Text 5"/>
          <p:cNvSpPr txBox="1"/>
          <p:nvPr/>
        </p:nvSpPr>
        <p:spPr>
          <a:xfrm>
            <a:off x="457200" y="1325880"/>
            <a:ext cx="1517904"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신체운동·건강</a:t>
            </a:r>
            <a:endParaRPr lang="en-US" sz="1300" dirty="0"/>
          </a:p>
        </p:txBody>
      </p:sp>
      <p:sp>
        <p:nvSpPr>
          <p:cNvPr id="8" name="Shape 6"/>
          <p:cNvSpPr/>
          <p:nvPr/>
        </p:nvSpPr>
        <p:spPr>
          <a:xfrm>
            <a:off x="457200" y="1874520"/>
            <a:ext cx="1517904" cy="438912"/>
          </a:xfrm>
          <a:prstGeom prst="roundRect">
            <a:avLst>
              <a:gd name="adj" fmla="val 20833"/>
            </a:avLst>
          </a:prstGeom>
          <a:solidFill>
            <a:srgbClr val="F4F7F4"/>
          </a:solidFill>
          <a:ln/>
        </p:spPr>
      </p:sp>
      <p:sp>
        <p:nvSpPr>
          <p:cNvPr id="9" name="Text 7"/>
          <p:cNvSpPr txBox="1"/>
          <p:nvPr/>
        </p:nvSpPr>
        <p:spPr>
          <a:xfrm>
            <a:off x="502920" y="1874520"/>
            <a:ext cx="1426464" cy="438912"/>
          </a:xfrm>
          <a:prstGeom prst="rect">
            <a:avLst/>
          </a:prstGeom>
          <a:noFill/>
          <a:ln/>
        </p:spPr>
        <p:txBody>
          <a:bodyPr wrap="square" lIns="0" tIns="0" rIns="0" bIns="0" rtlCol="0" anchor="ctr"/>
          <a:lstStyle/>
          <a:p>
            <a:pPr algn="ctr" indent="0" marL="0">
              <a:buNone/>
            </a:pPr>
            <a:r>
              <a:rPr lang="en-US" sz="1050" dirty="0">
                <a:solidFill>
                  <a:srgbClr val="33413A"/>
                </a:solidFill>
                <a:latin typeface="Malgun Gothic" pitchFamily="34" charset="0"/>
                <a:ea typeface="Malgun Gothic" pitchFamily="34" charset="-122"/>
                <a:cs typeface="Malgun Gothic" pitchFamily="34" charset="-120"/>
              </a:rPr>
              <a:t>신체활동 즐기기</a:t>
            </a:r>
            <a:endParaRPr lang="en-US" sz="1050" dirty="0"/>
          </a:p>
        </p:txBody>
      </p:sp>
      <p:sp>
        <p:nvSpPr>
          <p:cNvPr id="10" name="Shape 8"/>
          <p:cNvSpPr/>
          <p:nvPr/>
        </p:nvSpPr>
        <p:spPr>
          <a:xfrm>
            <a:off x="457200" y="2386584"/>
            <a:ext cx="1517904" cy="438912"/>
          </a:xfrm>
          <a:prstGeom prst="roundRect">
            <a:avLst>
              <a:gd name="adj" fmla="val 20833"/>
            </a:avLst>
          </a:prstGeom>
          <a:solidFill>
            <a:srgbClr val="F4F7F4"/>
          </a:solidFill>
          <a:ln/>
        </p:spPr>
      </p:sp>
      <p:sp>
        <p:nvSpPr>
          <p:cNvPr id="11" name="Text 9"/>
          <p:cNvSpPr txBox="1"/>
          <p:nvPr/>
        </p:nvSpPr>
        <p:spPr>
          <a:xfrm>
            <a:off x="502920" y="2386584"/>
            <a:ext cx="1426464" cy="438912"/>
          </a:xfrm>
          <a:prstGeom prst="rect">
            <a:avLst/>
          </a:prstGeom>
          <a:noFill/>
          <a:ln/>
        </p:spPr>
        <p:txBody>
          <a:bodyPr wrap="square" lIns="0" tIns="0" rIns="0" bIns="0" rtlCol="0" anchor="ctr"/>
          <a:lstStyle/>
          <a:p>
            <a:pPr algn="ctr" indent="0" marL="0">
              <a:buNone/>
            </a:pPr>
            <a:r>
              <a:rPr lang="en-US" sz="1050" dirty="0">
                <a:solidFill>
                  <a:srgbClr val="33413A"/>
                </a:solidFill>
                <a:latin typeface="Malgun Gothic" pitchFamily="34" charset="0"/>
                <a:ea typeface="Malgun Gothic" pitchFamily="34" charset="-122"/>
                <a:cs typeface="Malgun Gothic" pitchFamily="34" charset="-120"/>
              </a:rPr>
              <a:t>건강하게 생활하기</a:t>
            </a:r>
            <a:endParaRPr lang="en-US" sz="1050" dirty="0"/>
          </a:p>
        </p:txBody>
      </p:sp>
      <p:sp>
        <p:nvSpPr>
          <p:cNvPr id="12" name="Shape 10"/>
          <p:cNvSpPr/>
          <p:nvPr/>
        </p:nvSpPr>
        <p:spPr>
          <a:xfrm>
            <a:off x="457200" y="2898648"/>
            <a:ext cx="1517904" cy="438912"/>
          </a:xfrm>
          <a:prstGeom prst="roundRect">
            <a:avLst>
              <a:gd name="adj" fmla="val 20833"/>
            </a:avLst>
          </a:prstGeom>
          <a:solidFill>
            <a:srgbClr val="F4F7F4"/>
          </a:solidFill>
          <a:ln/>
        </p:spPr>
      </p:sp>
      <p:sp>
        <p:nvSpPr>
          <p:cNvPr id="13" name="Text 11"/>
          <p:cNvSpPr txBox="1"/>
          <p:nvPr/>
        </p:nvSpPr>
        <p:spPr>
          <a:xfrm>
            <a:off x="502920" y="2898648"/>
            <a:ext cx="1426464" cy="438912"/>
          </a:xfrm>
          <a:prstGeom prst="rect">
            <a:avLst/>
          </a:prstGeom>
          <a:noFill/>
          <a:ln/>
        </p:spPr>
        <p:txBody>
          <a:bodyPr wrap="square" lIns="0" tIns="0" rIns="0" bIns="0" rtlCol="0" anchor="ctr"/>
          <a:lstStyle/>
          <a:p>
            <a:pPr algn="ctr" indent="0" marL="0">
              <a:buNone/>
            </a:pPr>
            <a:r>
              <a:rPr lang="en-US" sz="1050" dirty="0">
                <a:solidFill>
                  <a:srgbClr val="33413A"/>
                </a:solidFill>
                <a:latin typeface="Malgun Gothic" pitchFamily="34" charset="0"/>
                <a:ea typeface="Malgun Gothic" pitchFamily="34" charset="-122"/>
                <a:cs typeface="Malgun Gothic" pitchFamily="34" charset="-120"/>
              </a:rPr>
              <a:t>안전하게 생활하기</a:t>
            </a:r>
            <a:endParaRPr lang="en-US" sz="1050" dirty="0"/>
          </a:p>
        </p:txBody>
      </p:sp>
      <p:sp>
        <p:nvSpPr>
          <p:cNvPr id="14" name="Shape 12"/>
          <p:cNvSpPr/>
          <p:nvPr/>
        </p:nvSpPr>
        <p:spPr>
          <a:xfrm>
            <a:off x="2139696" y="1325880"/>
            <a:ext cx="1517904" cy="457200"/>
          </a:xfrm>
          <a:prstGeom prst="roundRect">
            <a:avLst>
              <a:gd name="adj" fmla="val 24000"/>
            </a:avLst>
          </a:prstGeom>
          <a:solidFill>
            <a:srgbClr val="F5D07A"/>
          </a:solidFill>
          <a:ln/>
        </p:spPr>
      </p:sp>
      <p:sp>
        <p:nvSpPr>
          <p:cNvPr id="15" name="Text 13"/>
          <p:cNvSpPr txBox="1"/>
          <p:nvPr/>
        </p:nvSpPr>
        <p:spPr>
          <a:xfrm>
            <a:off x="2139696" y="1325880"/>
            <a:ext cx="1517904" cy="457200"/>
          </a:xfrm>
          <a:prstGeom prst="rect">
            <a:avLst/>
          </a:prstGeom>
          <a:noFill/>
          <a:ln/>
        </p:spPr>
        <p:txBody>
          <a:bodyPr wrap="square" lIns="0" tIns="0" rIns="0" bIns="0" rtlCol="0" anchor="ctr"/>
          <a:lstStyle/>
          <a:p>
            <a:pPr algn="ctr" indent="0" marL="0">
              <a:buNone/>
            </a:pPr>
            <a:r>
              <a:rPr lang="en-US" sz="1300" b="1" dirty="0">
                <a:solidFill>
                  <a:srgbClr val="33413A"/>
                </a:solidFill>
                <a:latin typeface="Malgun Gothic" pitchFamily="34" charset="0"/>
                <a:ea typeface="Malgun Gothic" pitchFamily="34" charset="-122"/>
                <a:cs typeface="Malgun Gothic" pitchFamily="34" charset="-120"/>
              </a:rPr>
              <a:t>의사소통</a:t>
            </a:r>
            <a:endParaRPr lang="en-US" sz="1300" dirty="0"/>
          </a:p>
        </p:txBody>
      </p:sp>
      <p:sp>
        <p:nvSpPr>
          <p:cNvPr id="16" name="Shape 14"/>
          <p:cNvSpPr/>
          <p:nvPr/>
        </p:nvSpPr>
        <p:spPr>
          <a:xfrm>
            <a:off x="2139696" y="1874520"/>
            <a:ext cx="1517904" cy="438912"/>
          </a:xfrm>
          <a:prstGeom prst="roundRect">
            <a:avLst>
              <a:gd name="adj" fmla="val 20833"/>
            </a:avLst>
          </a:prstGeom>
          <a:solidFill>
            <a:srgbClr val="F4F7F4"/>
          </a:solidFill>
          <a:ln/>
        </p:spPr>
      </p:sp>
      <p:sp>
        <p:nvSpPr>
          <p:cNvPr id="17" name="Text 15"/>
          <p:cNvSpPr txBox="1"/>
          <p:nvPr/>
        </p:nvSpPr>
        <p:spPr>
          <a:xfrm>
            <a:off x="2185416" y="1874520"/>
            <a:ext cx="1426464" cy="438912"/>
          </a:xfrm>
          <a:prstGeom prst="rect">
            <a:avLst/>
          </a:prstGeom>
          <a:noFill/>
          <a:ln/>
        </p:spPr>
        <p:txBody>
          <a:bodyPr wrap="square" lIns="0" tIns="0" rIns="0" bIns="0" rtlCol="0" anchor="ctr"/>
          <a:lstStyle/>
          <a:p>
            <a:pPr algn="ctr" indent="0" marL="0">
              <a:buNone/>
            </a:pPr>
            <a:r>
              <a:rPr lang="en-US" sz="1050" dirty="0">
                <a:solidFill>
                  <a:srgbClr val="33413A"/>
                </a:solidFill>
                <a:latin typeface="Malgun Gothic" pitchFamily="34" charset="0"/>
                <a:ea typeface="Malgun Gothic" pitchFamily="34" charset="-122"/>
                <a:cs typeface="Malgun Gothic" pitchFamily="34" charset="-120"/>
              </a:rPr>
              <a:t>듣기와 말하기</a:t>
            </a:r>
            <a:endParaRPr lang="en-US" sz="1050" dirty="0"/>
          </a:p>
        </p:txBody>
      </p:sp>
      <p:sp>
        <p:nvSpPr>
          <p:cNvPr id="18" name="Shape 16"/>
          <p:cNvSpPr/>
          <p:nvPr/>
        </p:nvSpPr>
        <p:spPr>
          <a:xfrm>
            <a:off x="2139696" y="2386584"/>
            <a:ext cx="1517904" cy="438912"/>
          </a:xfrm>
          <a:prstGeom prst="roundRect">
            <a:avLst>
              <a:gd name="adj" fmla="val 20833"/>
            </a:avLst>
          </a:prstGeom>
          <a:solidFill>
            <a:srgbClr val="F4F7F4"/>
          </a:solidFill>
          <a:ln/>
        </p:spPr>
      </p:sp>
      <p:sp>
        <p:nvSpPr>
          <p:cNvPr id="19" name="Text 17"/>
          <p:cNvSpPr txBox="1"/>
          <p:nvPr/>
        </p:nvSpPr>
        <p:spPr>
          <a:xfrm>
            <a:off x="2185416" y="2386584"/>
            <a:ext cx="1426464" cy="438912"/>
          </a:xfrm>
          <a:prstGeom prst="rect">
            <a:avLst/>
          </a:prstGeom>
          <a:noFill/>
          <a:ln/>
        </p:spPr>
        <p:txBody>
          <a:bodyPr wrap="square" lIns="0" tIns="0" rIns="0" bIns="0" rtlCol="0" anchor="ctr"/>
          <a:lstStyle/>
          <a:p>
            <a:pPr algn="ctr" indent="0" marL="0">
              <a:buNone/>
            </a:pPr>
            <a:r>
              <a:rPr lang="en-US" sz="1050" dirty="0">
                <a:solidFill>
                  <a:srgbClr val="33413A"/>
                </a:solidFill>
                <a:latin typeface="Malgun Gothic" pitchFamily="34" charset="0"/>
                <a:ea typeface="Malgun Gothic" pitchFamily="34" charset="-122"/>
                <a:cs typeface="Malgun Gothic" pitchFamily="34" charset="-120"/>
              </a:rPr>
              <a:t>읽기와 쓰기에</a:t>
            </a:r>
            <a:endParaRPr lang="en-US" sz="1050" dirty="0"/>
          </a:p>
          <a:p>
            <a:pPr algn="ctr" indent="0" marL="0">
              <a:buNone/>
            </a:pPr>
            <a:r>
              <a:rPr lang="en-US" sz="1050" dirty="0">
                <a:solidFill>
                  <a:srgbClr val="33413A"/>
                </a:solidFill>
                <a:latin typeface="Malgun Gothic" pitchFamily="34" charset="0"/>
                <a:ea typeface="Malgun Gothic" pitchFamily="34" charset="-122"/>
                <a:cs typeface="Malgun Gothic" pitchFamily="34" charset="-120"/>
              </a:rPr>
              <a:t>관심 가지기</a:t>
            </a:r>
            <a:endParaRPr lang="en-US" sz="1050" dirty="0"/>
          </a:p>
        </p:txBody>
      </p:sp>
      <p:sp>
        <p:nvSpPr>
          <p:cNvPr id="20" name="Shape 18"/>
          <p:cNvSpPr/>
          <p:nvPr/>
        </p:nvSpPr>
        <p:spPr>
          <a:xfrm>
            <a:off x="2139696" y="2898648"/>
            <a:ext cx="1517904" cy="438912"/>
          </a:xfrm>
          <a:prstGeom prst="roundRect">
            <a:avLst>
              <a:gd name="adj" fmla="val 20833"/>
            </a:avLst>
          </a:prstGeom>
          <a:solidFill>
            <a:srgbClr val="F4F7F4"/>
          </a:solidFill>
          <a:ln/>
        </p:spPr>
      </p:sp>
      <p:sp>
        <p:nvSpPr>
          <p:cNvPr id="21" name="Text 19"/>
          <p:cNvSpPr txBox="1"/>
          <p:nvPr/>
        </p:nvSpPr>
        <p:spPr>
          <a:xfrm>
            <a:off x="2185416" y="2898648"/>
            <a:ext cx="1426464" cy="438912"/>
          </a:xfrm>
          <a:prstGeom prst="rect">
            <a:avLst/>
          </a:prstGeom>
          <a:noFill/>
          <a:ln/>
        </p:spPr>
        <p:txBody>
          <a:bodyPr wrap="square" lIns="0" tIns="0" rIns="0" bIns="0" rtlCol="0" anchor="ctr"/>
          <a:lstStyle/>
          <a:p>
            <a:pPr algn="ctr" indent="0" marL="0">
              <a:buNone/>
            </a:pPr>
            <a:r>
              <a:rPr lang="en-US" sz="1050" dirty="0">
                <a:solidFill>
                  <a:srgbClr val="33413A"/>
                </a:solidFill>
                <a:latin typeface="Malgun Gothic" pitchFamily="34" charset="0"/>
                <a:ea typeface="Malgun Gothic" pitchFamily="34" charset="-122"/>
                <a:cs typeface="Malgun Gothic" pitchFamily="34" charset="-120"/>
              </a:rPr>
              <a:t>책과 이야기 즐기기</a:t>
            </a:r>
            <a:endParaRPr lang="en-US" sz="1050" dirty="0"/>
          </a:p>
        </p:txBody>
      </p:sp>
      <p:sp>
        <p:nvSpPr>
          <p:cNvPr id="22" name="Shape 20"/>
          <p:cNvSpPr/>
          <p:nvPr/>
        </p:nvSpPr>
        <p:spPr>
          <a:xfrm>
            <a:off x="3822192" y="1325880"/>
            <a:ext cx="1517904" cy="457200"/>
          </a:xfrm>
          <a:prstGeom prst="roundRect">
            <a:avLst>
              <a:gd name="adj" fmla="val 24000"/>
            </a:avLst>
          </a:prstGeom>
          <a:solidFill>
            <a:srgbClr val="5E8C6A"/>
          </a:solidFill>
          <a:ln/>
        </p:spPr>
      </p:sp>
      <p:sp>
        <p:nvSpPr>
          <p:cNvPr id="23" name="Text 21"/>
          <p:cNvSpPr txBox="1"/>
          <p:nvPr/>
        </p:nvSpPr>
        <p:spPr>
          <a:xfrm>
            <a:off x="3822192" y="1325880"/>
            <a:ext cx="1517904"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사회관계</a:t>
            </a:r>
            <a:endParaRPr lang="en-US" sz="1300" dirty="0"/>
          </a:p>
        </p:txBody>
      </p:sp>
      <p:sp>
        <p:nvSpPr>
          <p:cNvPr id="24" name="Shape 22"/>
          <p:cNvSpPr/>
          <p:nvPr/>
        </p:nvSpPr>
        <p:spPr>
          <a:xfrm>
            <a:off x="3822192" y="1874520"/>
            <a:ext cx="1517904" cy="438912"/>
          </a:xfrm>
          <a:prstGeom prst="roundRect">
            <a:avLst>
              <a:gd name="adj" fmla="val 20833"/>
            </a:avLst>
          </a:prstGeom>
          <a:solidFill>
            <a:srgbClr val="F4F7F4"/>
          </a:solidFill>
          <a:ln/>
        </p:spPr>
      </p:sp>
      <p:sp>
        <p:nvSpPr>
          <p:cNvPr id="25" name="Text 23"/>
          <p:cNvSpPr txBox="1"/>
          <p:nvPr/>
        </p:nvSpPr>
        <p:spPr>
          <a:xfrm>
            <a:off x="3867912" y="1874520"/>
            <a:ext cx="1426464" cy="438912"/>
          </a:xfrm>
          <a:prstGeom prst="rect">
            <a:avLst/>
          </a:prstGeom>
          <a:noFill/>
          <a:ln/>
        </p:spPr>
        <p:txBody>
          <a:bodyPr wrap="square" lIns="0" tIns="0" rIns="0" bIns="0" rtlCol="0" anchor="ctr"/>
          <a:lstStyle/>
          <a:p>
            <a:pPr algn="ctr" indent="0" marL="0">
              <a:buNone/>
            </a:pPr>
            <a:r>
              <a:rPr lang="en-US" sz="1050" dirty="0">
                <a:solidFill>
                  <a:srgbClr val="33413A"/>
                </a:solidFill>
                <a:latin typeface="Malgun Gothic" pitchFamily="34" charset="0"/>
                <a:ea typeface="Malgun Gothic" pitchFamily="34" charset="-122"/>
                <a:cs typeface="Malgun Gothic" pitchFamily="34" charset="-120"/>
              </a:rPr>
              <a:t>나를 알고 존중하기</a:t>
            </a:r>
            <a:endParaRPr lang="en-US" sz="1050" dirty="0"/>
          </a:p>
        </p:txBody>
      </p:sp>
      <p:sp>
        <p:nvSpPr>
          <p:cNvPr id="26" name="Shape 24"/>
          <p:cNvSpPr/>
          <p:nvPr/>
        </p:nvSpPr>
        <p:spPr>
          <a:xfrm>
            <a:off x="3822192" y="2386584"/>
            <a:ext cx="1517904" cy="438912"/>
          </a:xfrm>
          <a:prstGeom prst="roundRect">
            <a:avLst>
              <a:gd name="adj" fmla="val 20833"/>
            </a:avLst>
          </a:prstGeom>
          <a:solidFill>
            <a:srgbClr val="F4F7F4"/>
          </a:solidFill>
          <a:ln/>
        </p:spPr>
      </p:sp>
      <p:sp>
        <p:nvSpPr>
          <p:cNvPr id="27" name="Text 25"/>
          <p:cNvSpPr txBox="1"/>
          <p:nvPr/>
        </p:nvSpPr>
        <p:spPr>
          <a:xfrm>
            <a:off x="3867912" y="2386584"/>
            <a:ext cx="1426464" cy="438912"/>
          </a:xfrm>
          <a:prstGeom prst="rect">
            <a:avLst/>
          </a:prstGeom>
          <a:noFill/>
          <a:ln/>
        </p:spPr>
        <p:txBody>
          <a:bodyPr wrap="square" lIns="0" tIns="0" rIns="0" bIns="0" rtlCol="0" anchor="ctr"/>
          <a:lstStyle/>
          <a:p>
            <a:pPr algn="ctr" indent="0" marL="0">
              <a:buNone/>
            </a:pPr>
            <a:r>
              <a:rPr lang="en-US" sz="1050" dirty="0">
                <a:solidFill>
                  <a:srgbClr val="33413A"/>
                </a:solidFill>
                <a:latin typeface="Malgun Gothic" pitchFamily="34" charset="0"/>
                <a:ea typeface="Malgun Gothic" pitchFamily="34" charset="-122"/>
                <a:cs typeface="Malgun Gothic" pitchFamily="34" charset="-120"/>
              </a:rPr>
              <a:t>더불어 생활하기</a:t>
            </a:r>
            <a:endParaRPr lang="en-US" sz="1050" dirty="0"/>
          </a:p>
        </p:txBody>
      </p:sp>
      <p:sp>
        <p:nvSpPr>
          <p:cNvPr id="28" name="Shape 26"/>
          <p:cNvSpPr/>
          <p:nvPr/>
        </p:nvSpPr>
        <p:spPr>
          <a:xfrm>
            <a:off x="3822192" y="2898648"/>
            <a:ext cx="1517904" cy="438912"/>
          </a:xfrm>
          <a:prstGeom prst="roundRect">
            <a:avLst>
              <a:gd name="adj" fmla="val 20833"/>
            </a:avLst>
          </a:prstGeom>
          <a:solidFill>
            <a:srgbClr val="FFFFFF"/>
          </a:solidFill>
          <a:ln w="15875">
            <a:solidFill>
              <a:srgbClr val="F2A27E"/>
            </a:solidFill>
            <a:prstDash val="dash"/>
          </a:ln>
        </p:spPr>
      </p:sp>
      <p:sp>
        <p:nvSpPr>
          <p:cNvPr id="29" name="Text 27"/>
          <p:cNvSpPr txBox="1"/>
          <p:nvPr/>
        </p:nvSpPr>
        <p:spPr>
          <a:xfrm>
            <a:off x="3867912" y="2898648"/>
            <a:ext cx="1426464" cy="438912"/>
          </a:xfrm>
          <a:prstGeom prst="rect">
            <a:avLst/>
          </a:prstGeom>
          <a:noFill/>
          <a:ln/>
        </p:spPr>
        <p:txBody>
          <a:bodyPr wrap="square" lIns="0" tIns="0" rIns="0" bIns="0" rtlCol="0" anchor="ctr"/>
          <a:lstStyle/>
          <a:p>
            <a:pPr algn="ctr" indent="0" marL="0">
              <a:buNone/>
            </a:pPr>
            <a:r>
              <a:rPr lang="en-US" sz="1050" dirty="0">
                <a:solidFill>
                  <a:srgbClr val="C0643E"/>
                </a:solidFill>
                <a:latin typeface="Malgun Gothic" pitchFamily="34" charset="0"/>
                <a:ea typeface="Malgun Gothic" pitchFamily="34" charset="-122"/>
                <a:cs typeface="Malgun Gothic" pitchFamily="34" charset="-120"/>
              </a:rPr>
              <a:t>사회에 관심 가지기</a:t>
            </a:r>
            <a:endParaRPr lang="en-US" sz="1050" dirty="0"/>
          </a:p>
        </p:txBody>
      </p:sp>
      <p:sp>
        <p:nvSpPr>
          <p:cNvPr id="30" name="Shape 28"/>
          <p:cNvSpPr/>
          <p:nvPr/>
        </p:nvSpPr>
        <p:spPr>
          <a:xfrm>
            <a:off x="5504688" y="1325880"/>
            <a:ext cx="1517904" cy="457200"/>
          </a:xfrm>
          <a:prstGeom prst="roundRect">
            <a:avLst>
              <a:gd name="adj" fmla="val 24000"/>
            </a:avLst>
          </a:prstGeom>
          <a:solidFill>
            <a:srgbClr val="E8A1A8"/>
          </a:solidFill>
          <a:ln/>
        </p:spPr>
      </p:sp>
      <p:sp>
        <p:nvSpPr>
          <p:cNvPr id="31" name="Text 29"/>
          <p:cNvSpPr txBox="1"/>
          <p:nvPr/>
        </p:nvSpPr>
        <p:spPr>
          <a:xfrm>
            <a:off x="5504688" y="1325880"/>
            <a:ext cx="1517904"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예술경험</a:t>
            </a:r>
            <a:endParaRPr lang="en-US" sz="1300" dirty="0"/>
          </a:p>
        </p:txBody>
      </p:sp>
      <p:sp>
        <p:nvSpPr>
          <p:cNvPr id="32" name="Shape 30"/>
          <p:cNvSpPr/>
          <p:nvPr/>
        </p:nvSpPr>
        <p:spPr>
          <a:xfrm>
            <a:off x="5504688" y="1874520"/>
            <a:ext cx="1517904" cy="438912"/>
          </a:xfrm>
          <a:prstGeom prst="roundRect">
            <a:avLst>
              <a:gd name="adj" fmla="val 20833"/>
            </a:avLst>
          </a:prstGeom>
          <a:solidFill>
            <a:srgbClr val="F4F7F4"/>
          </a:solidFill>
          <a:ln/>
        </p:spPr>
      </p:sp>
      <p:sp>
        <p:nvSpPr>
          <p:cNvPr id="33" name="Text 31"/>
          <p:cNvSpPr txBox="1"/>
          <p:nvPr/>
        </p:nvSpPr>
        <p:spPr>
          <a:xfrm>
            <a:off x="5550408" y="1874520"/>
            <a:ext cx="1426464" cy="438912"/>
          </a:xfrm>
          <a:prstGeom prst="rect">
            <a:avLst/>
          </a:prstGeom>
          <a:noFill/>
          <a:ln/>
        </p:spPr>
        <p:txBody>
          <a:bodyPr wrap="square" lIns="0" tIns="0" rIns="0" bIns="0" rtlCol="0" anchor="ctr"/>
          <a:lstStyle/>
          <a:p>
            <a:pPr algn="ctr" indent="0" marL="0">
              <a:buNone/>
            </a:pPr>
            <a:r>
              <a:rPr lang="en-US" sz="1050" dirty="0">
                <a:solidFill>
                  <a:srgbClr val="33413A"/>
                </a:solidFill>
                <a:latin typeface="Malgun Gothic" pitchFamily="34" charset="0"/>
                <a:ea typeface="Malgun Gothic" pitchFamily="34" charset="-122"/>
                <a:cs typeface="Malgun Gothic" pitchFamily="34" charset="-120"/>
              </a:rPr>
              <a:t>아름다움 찾아보기</a:t>
            </a:r>
            <a:endParaRPr lang="en-US" sz="1050" dirty="0"/>
          </a:p>
        </p:txBody>
      </p:sp>
      <p:sp>
        <p:nvSpPr>
          <p:cNvPr id="34" name="Shape 32"/>
          <p:cNvSpPr/>
          <p:nvPr/>
        </p:nvSpPr>
        <p:spPr>
          <a:xfrm>
            <a:off x="5504688" y="2386584"/>
            <a:ext cx="1517904" cy="438912"/>
          </a:xfrm>
          <a:prstGeom prst="roundRect">
            <a:avLst>
              <a:gd name="adj" fmla="val 20833"/>
            </a:avLst>
          </a:prstGeom>
          <a:solidFill>
            <a:srgbClr val="F4F7F4"/>
          </a:solidFill>
          <a:ln/>
        </p:spPr>
      </p:sp>
      <p:sp>
        <p:nvSpPr>
          <p:cNvPr id="35" name="Text 33"/>
          <p:cNvSpPr txBox="1"/>
          <p:nvPr/>
        </p:nvSpPr>
        <p:spPr>
          <a:xfrm>
            <a:off x="5550408" y="2386584"/>
            <a:ext cx="1426464" cy="438912"/>
          </a:xfrm>
          <a:prstGeom prst="rect">
            <a:avLst/>
          </a:prstGeom>
          <a:noFill/>
          <a:ln/>
        </p:spPr>
        <p:txBody>
          <a:bodyPr wrap="square" lIns="0" tIns="0" rIns="0" bIns="0" rtlCol="0" anchor="ctr"/>
          <a:lstStyle/>
          <a:p>
            <a:pPr algn="ctr" indent="0" marL="0">
              <a:buNone/>
            </a:pPr>
            <a:r>
              <a:rPr lang="en-US" sz="1050" dirty="0">
                <a:solidFill>
                  <a:srgbClr val="33413A"/>
                </a:solidFill>
                <a:latin typeface="Malgun Gothic" pitchFamily="34" charset="0"/>
                <a:ea typeface="Malgun Gothic" pitchFamily="34" charset="-122"/>
                <a:cs typeface="Malgun Gothic" pitchFamily="34" charset="-120"/>
              </a:rPr>
              <a:t>창의적으로 표현하기</a:t>
            </a:r>
            <a:endParaRPr lang="en-US" sz="1050" dirty="0"/>
          </a:p>
        </p:txBody>
      </p:sp>
      <p:sp>
        <p:nvSpPr>
          <p:cNvPr id="36" name="Shape 34"/>
          <p:cNvSpPr/>
          <p:nvPr/>
        </p:nvSpPr>
        <p:spPr>
          <a:xfrm>
            <a:off x="5504688" y="2898648"/>
            <a:ext cx="1517904" cy="438912"/>
          </a:xfrm>
          <a:prstGeom prst="roundRect">
            <a:avLst>
              <a:gd name="adj" fmla="val 20833"/>
            </a:avLst>
          </a:prstGeom>
          <a:solidFill>
            <a:srgbClr val="FFFFFF"/>
          </a:solidFill>
          <a:ln w="15875">
            <a:solidFill>
              <a:srgbClr val="F2A27E"/>
            </a:solidFill>
            <a:prstDash val="dash"/>
          </a:ln>
        </p:spPr>
      </p:sp>
      <p:sp>
        <p:nvSpPr>
          <p:cNvPr id="37" name="Text 35"/>
          <p:cNvSpPr txBox="1"/>
          <p:nvPr/>
        </p:nvSpPr>
        <p:spPr>
          <a:xfrm>
            <a:off x="5550408" y="2898648"/>
            <a:ext cx="1426464" cy="438912"/>
          </a:xfrm>
          <a:prstGeom prst="rect">
            <a:avLst/>
          </a:prstGeom>
          <a:noFill/>
          <a:ln/>
        </p:spPr>
        <p:txBody>
          <a:bodyPr wrap="square" lIns="0" tIns="0" rIns="0" bIns="0" rtlCol="0" anchor="ctr"/>
          <a:lstStyle/>
          <a:p>
            <a:pPr algn="ctr" indent="0" marL="0">
              <a:buNone/>
            </a:pPr>
            <a:r>
              <a:rPr lang="en-US" sz="1050" dirty="0">
                <a:solidFill>
                  <a:srgbClr val="C0643E"/>
                </a:solidFill>
                <a:latin typeface="Malgun Gothic" pitchFamily="34" charset="0"/>
                <a:ea typeface="Malgun Gothic" pitchFamily="34" charset="-122"/>
                <a:cs typeface="Malgun Gothic" pitchFamily="34" charset="-120"/>
              </a:rPr>
              <a:t>예술 감상하기</a:t>
            </a:r>
            <a:endParaRPr lang="en-US" sz="1050" dirty="0"/>
          </a:p>
        </p:txBody>
      </p:sp>
      <p:sp>
        <p:nvSpPr>
          <p:cNvPr id="38" name="Shape 36"/>
          <p:cNvSpPr/>
          <p:nvPr/>
        </p:nvSpPr>
        <p:spPr>
          <a:xfrm>
            <a:off x="7187184" y="1325880"/>
            <a:ext cx="1517904" cy="457200"/>
          </a:xfrm>
          <a:prstGeom prst="roundRect">
            <a:avLst>
              <a:gd name="adj" fmla="val 24000"/>
            </a:avLst>
          </a:prstGeom>
          <a:solidFill>
            <a:srgbClr val="A9CBB0"/>
          </a:solidFill>
          <a:ln/>
        </p:spPr>
      </p:sp>
      <p:sp>
        <p:nvSpPr>
          <p:cNvPr id="39" name="Text 37"/>
          <p:cNvSpPr txBox="1"/>
          <p:nvPr/>
        </p:nvSpPr>
        <p:spPr>
          <a:xfrm>
            <a:off x="7187184" y="1325880"/>
            <a:ext cx="1517904"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자연탐구</a:t>
            </a:r>
            <a:endParaRPr lang="en-US" sz="1300" dirty="0"/>
          </a:p>
        </p:txBody>
      </p:sp>
      <p:sp>
        <p:nvSpPr>
          <p:cNvPr id="40" name="Shape 38"/>
          <p:cNvSpPr/>
          <p:nvPr/>
        </p:nvSpPr>
        <p:spPr>
          <a:xfrm>
            <a:off x="7187184" y="1874520"/>
            <a:ext cx="1517904" cy="438912"/>
          </a:xfrm>
          <a:prstGeom prst="roundRect">
            <a:avLst>
              <a:gd name="adj" fmla="val 20833"/>
            </a:avLst>
          </a:prstGeom>
          <a:solidFill>
            <a:srgbClr val="F4F7F4"/>
          </a:solidFill>
          <a:ln/>
        </p:spPr>
      </p:sp>
      <p:sp>
        <p:nvSpPr>
          <p:cNvPr id="41" name="Text 39"/>
          <p:cNvSpPr txBox="1"/>
          <p:nvPr/>
        </p:nvSpPr>
        <p:spPr>
          <a:xfrm>
            <a:off x="7232904" y="1874520"/>
            <a:ext cx="1426464" cy="438912"/>
          </a:xfrm>
          <a:prstGeom prst="rect">
            <a:avLst/>
          </a:prstGeom>
          <a:noFill/>
          <a:ln/>
        </p:spPr>
        <p:txBody>
          <a:bodyPr wrap="square" lIns="0" tIns="0" rIns="0" bIns="0" rtlCol="0" anchor="ctr"/>
          <a:lstStyle/>
          <a:p>
            <a:pPr algn="ctr" indent="0" marL="0">
              <a:buNone/>
            </a:pPr>
            <a:r>
              <a:rPr lang="en-US" sz="1050" dirty="0">
                <a:solidFill>
                  <a:srgbClr val="33413A"/>
                </a:solidFill>
                <a:latin typeface="Malgun Gothic" pitchFamily="34" charset="0"/>
                <a:ea typeface="Malgun Gothic" pitchFamily="34" charset="-122"/>
                <a:cs typeface="Malgun Gothic" pitchFamily="34" charset="-120"/>
              </a:rPr>
              <a:t>탐구 과정 즐기기</a:t>
            </a:r>
            <a:endParaRPr lang="en-US" sz="1050" dirty="0"/>
          </a:p>
        </p:txBody>
      </p:sp>
      <p:sp>
        <p:nvSpPr>
          <p:cNvPr id="42" name="Shape 40"/>
          <p:cNvSpPr/>
          <p:nvPr/>
        </p:nvSpPr>
        <p:spPr>
          <a:xfrm>
            <a:off x="7187184" y="2386584"/>
            <a:ext cx="1517904" cy="438912"/>
          </a:xfrm>
          <a:prstGeom prst="roundRect">
            <a:avLst>
              <a:gd name="adj" fmla="val 20833"/>
            </a:avLst>
          </a:prstGeom>
          <a:solidFill>
            <a:srgbClr val="F4F7F4"/>
          </a:solidFill>
          <a:ln/>
        </p:spPr>
      </p:sp>
      <p:sp>
        <p:nvSpPr>
          <p:cNvPr id="43" name="Text 41"/>
          <p:cNvSpPr txBox="1"/>
          <p:nvPr/>
        </p:nvSpPr>
        <p:spPr>
          <a:xfrm>
            <a:off x="7232904" y="2386584"/>
            <a:ext cx="1426464" cy="438912"/>
          </a:xfrm>
          <a:prstGeom prst="rect">
            <a:avLst/>
          </a:prstGeom>
          <a:noFill/>
          <a:ln/>
        </p:spPr>
        <p:txBody>
          <a:bodyPr wrap="square" lIns="0" tIns="0" rIns="0" bIns="0" rtlCol="0" anchor="ctr"/>
          <a:lstStyle/>
          <a:p>
            <a:pPr algn="ctr" indent="0" marL="0">
              <a:buNone/>
            </a:pPr>
            <a:r>
              <a:rPr lang="en-US" sz="1050" dirty="0">
                <a:solidFill>
                  <a:srgbClr val="33413A"/>
                </a:solidFill>
                <a:latin typeface="Malgun Gothic" pitchFamily="34" charset="0"/>
                <a:ea typeface="Malgun Gothic" pitchFamily="34" charset="-122"/>
                <a:cs typeface="Malgun Gothic" pitchFamily="34" charset="-120"/>
              </a:rPr>
              <a:t>생활 속에서 탐구하기</a:t>
            </a:r>
            <a:endParaRPr lang="en-US" sz="1050" dirty="0"/>
          </a:p>
        </p:txBody>
      </p:sp>
      <p:sp>
        <p:nvSpPr>
          <p:cNvPr id="44" name="Shape 42"/>
          <p:cNvSpPr/>
          <p:nvPr/>
        </p:nvSpPr>
        <p:spPr>
          <a:xfrm>
            <a:off x="7187184" y="2898648"/>
            <a:ext cx="1517904" cy="438912"/>
          </a:xfrm>
          <a:prstGeom prst="roundRect">
            <a:avLst>
              <a:gd name="adj" fmla="val 20833"/>
            </a:avLst>
          </a:prstGeom>
          <a:solidFill>
            <a:srgbClr val="F4F7F4"/>
          </a:solidFill>
          <a:ln/>
        </p:spPr>
      </p:sp>
      <p:sp>
        <p:nvSpPr>
          <p:cNvPr id="45" name="Text 43"/>
          <p:cNvSpPr txBox="1"/>
          <p:nvPr/>
        </p:nvSpPr>
        <p:spPr>
          <a:xfrm>
            <a:off x="7232904" y="2898648"/>
            <a:ext cx="1426464" cy="438912"/>
          </a:xfrm>
          <a:prstGeom prst="rect">
            <a:avLst/>
          </a:prstGeom>
          <a:noFill/>
          <a:ln/>
        </p:spPr>
        <p:txBody>
          <a:bodyPr wrap="square" lIns="0" tIns="0" rIns="0" bIns="0" rtlCol="0" anchor="ctr"/>
          <a:lstStyle/>
          <a:p>
            <a:pPr algn="ctr" indent="0" marL="0">
              <a:buNone/>
            </a:pPr>
            <a:r>
              <a:rPr lang="en-US" sz="1050" dirty="0">
                <a:solidFill>
                  <a:srgbClr val="33413A"/>
                </a:solidFill>
                <a:latin typeface="Malgun Gothic" pitchFamily="34" charset="0"/>
                <a:ea typeface="Malgun Gothic" pitchFamily="34" charset="-122"/>
                <a:cs typeface="Malgun Gothic" pitchFamily="34" charset="-120"/>
              </a:rPr>
              <a:t>자연과 더불어 살기</a:t>
            </a:r>
            <a:endParaRPr lang="en-US" sz="1050" dirty="0"/>
          </a:p>
        </p:txBody>
      </p:sp>
      <p:sp>
        <p:nvSpPr>
          <p:cNvPr id="46" name="Text 44"/>
          <p:cNvSpPr txBox="1"/>
          <p:nvPr/>
        </p:nvSpPr>
        <p:spPr>
          <a:xfrm>
            <a:off x="457200" y="3429000"/>
            <a:ext cx="8229600" cy="228600"/>
          </a:xfrm>
          <a:prstGeom prst="rect">
            <a:avLst/>
          </a:prstGeom>
          <a:noFill/>
          <a:ln/>
        </p:spPr>
        <p:txBody>
          <a:bodyPr wrap="square" lIns="0" tIns="0" rIns="0" bIns="0" rtlCol="0" anchor="ctr"/>
          <a:lstStyle/>
          <a:p>
            <a:pPr algn="r" indent="0" marL="0">
              <a:buNone/>
            </a:pPr>
            <a:r>
              <a:rPr lang="en-US" sz="1000" dirty="0">
                <a:solidFill>
                  <a:srgbClr val="C0643E"/>
                </a:solidFill>
                <a:latin typeface="Malgun Gothic" pitchFamily="34" charset="0"/>
                <a:ea typeface="Malgun Gothic" pitchFamily="34" charset="-122"/>
                <a:cs typeface="Malgun Gothic" pitchFamily="34" charset="-120"/>
              </a:rPr>
              <a:t>점선 = 3~5세에 추가되는 내용범주</a:t>
            </a:r>
            <a:endParaRPr lang="en-US" sz="1000" dirty="0"/>
          </a:p>
        </p:txBody>
      </p:sp>
      <p:sp>
        <p:nvSpPr>
          <p:cNvPr id="47" name="Shape 45"/>
          <p:cNvSpPr/>
          <p:nvPr/>
        </p:nvSpPr>
        <p:spPr>
          <a:xfrm>
            <a:off x="457200" y="3703320"/>
            <a:ext cx="8229600" cy="1051560"/>
          </a:xfrm>
          <a:prstGeom prst="roundRect">
            <a:avLst>
              <a:gd name="adj" fmla="val 13043"/>
            </a:avLst>
          </a:prstGeom>
          <a:solidFill>
            <a:srgbClr val="FDF3D6"/>
          </a:solidFill>
          <a:ln/>
        </p:spPr>
      </p:sp>
      <p:sp>
        <p:nvSpPr>
          <p:cNvPr id="48" name="Text 46"/>
          <p:cNvSpPr txBox="1"/>
          <p:nvPr/>
        </p:nvSpPr>
        <p:spPr>
          <a:xfrm>
            <a:off x="640080" y="3767328"/>
            <a:ext cx="2743200" cy="274320"/>
          </a:xfrm>
          <a:prstGeom prst="rect">
            <a:avLst/>
          </a:prstGeom>
          <a:noFill/>
          <a:ln/>
        </p:spPr>
        <p:txBody>
          <a:bodyPr wrap="square" lIns="0" tIns="0" rIns="0" bIns="0" rtlCol="0" anchor="ctr"/>
          <a:lstStyle/>
          <a:p>
            <a:pPr indent="0" marL="0">
              <a:buNone/>
            </a:pPr>
            <a:r>
              <a:rPr lang="en-US" sz="1200" b="1" dirty="0">
                <a:solidFill>
                  <a:srgbClr val="B08A2E"/>
                </a:solidFill>
                <a:latin typeface="Malgun Gothic" pitchFamily="34" charset="0"/>
                <a:ea typeface="Malgun Gothic" pitchFamily="34" charset="-122"/>
                <a:cs typeface="Malgun Gothic" pitchFamily="34" charset="-120"/>
              </a:rPr>
              <a:t>예) '안전하게 생활하기'</a:t>
            </a:r>
            <a:endParaRPr lang="en-US" sz="1200" dirty="0"/>
          </a:p>
        </p:txBody>
      </p:sp>
      <p:sp>
        <p:nvSpPr>
          <p:cNvPr id="49" name="Text 47"/>
          <p:cNvSpPr txBox="1"/>
          <p:nvPr/>
        </p:nvSpPr>
        <p:spPr>
          <a:xfrm>
            <a:off x="640080" y="4041648"/>
            <a:ext cx="2286000" cy="237744"/>
          </a:xfrm>
          <a:prstGeom prst="rect">
            <a:avLst/>
          </a:prstGeom>
          <a:noFill/>
          <a:ln/>
        </p:spPr>
        <p:txBody>
          <a:bodyPr wrap="square" lIns="0" tIns="0" rIns="0" bIns="0" rtlCol="0" anchor="ctr"/>
          <a:lstStyle/>
          <a:p>
            <a:pPr indent="0" marL="0">
              <a:buNone/>
            </a:pPr>
            <a:r>
              <a:rPr lang="en-US" sz="1200" b="1" dirty="0">
                <a:solidFill>
                  <a:srgbClr val="5E8C6A"/>
                </a:solidFill>
                <a:latin typeface="Malgun Gothic" pitchFamily="34" charset="0"/>
                <a:ea typeface="Malgun Gothic" pitchFamily="34" charset="-122"/>
                <a:cs typeface="Malgun Gothic" pitchFamily="34" charset="-120"/>
              </a:rPr>
              <a:t>0~1세</a:t>
            </a:r>
            <a:endParaRPr lang="en-US" sz="1200" dirty="0"/>
          </a:p>
        </p:txBody>
      </p:sp>
      <p:sp>
        <p:nvSpPr>
          <p:cNvPr id="50" name="Text 48"/>
          <p:cNvSpPr txBox="1"/>
          <p:nvPr/>
        </p:nvSpPr>
        <p:spPr>
          <a:xfrm>
            <a:off x="640080" y="4297680"/>
            <a:ext cx="2331720" cy="411480"/>
          </a:xfrm>
          <a:prstGeom prst="rect">
            <a:avLst/>
          </a:prstGeom>
          <a:noFill/>
          <a:ln/>
        </p:spPr>
        <p:txBody>
          <a:bodyPr wrap="square" lIns="0" tIns="0" rIns="0" bIns="0" rtlCol="0" anchor="t"/>
          <a:lstStyle/>
          <a:p>
            <a:pPr indent="0" marL="0">
              <a:buNone/>
            </a:pPr>
            <a:r>
              <a:rPr lang="en-US" sz="1050" dirty="0">
                <a:solidFill>
                  <a:srgbClr val="33413A"/>
                </a:solidFill>
                <a:latin typeface="Malgun Gothic" pitchFamily="34" charset="0"/>
                <a:ea typeface="Malgun Gothic" pitchFamily="34" charset="-122"/>
                <a:cs typeface="Malgun Gothic" pitchFamily="34" charset="-120"/>
              </a:rPr>
              <a:t>위험하다는 말에 주의한다</a:t>
            </a:r>
            <a:endParaRPr lang="en-US" sz="1050" dirty="0"/>
          </a:p>
        </p:txBody>
      </p:sp>
      <p:sp>
        <p:nvSpPr>
          <p:cNvPr id="51" name="Text 49"/>
          <p:cNvSpPr txBox="1"/>
          <p:nvPr/>
        </p:nvSpPr>
        <p:spPr>
          <a:xfrm>
            <a:off x="2971800" y="4114800"/>
            <a:ext cx="320040" cy="457200"/>
          </a:xfrm>
          <a:prstGeom prst="rect">
            <a:avLst/>
          </a:prstGeom>
          <a:noFill/>
          <a:ln/>
        </p:spPr>
        <p:txBody>
          <a:bodyPr wrap="square" lIns="0" tIns="0" rIns="0" bIns="0" rtlCol="0" anchor="ctr"/>
          <a:lstStyle/>
          <a:p>
            <a:pPr algn="ctr" indent="0" marL="0">
              <a:buNone/>
            </a:pPr>
            <a:r>
              <a:rPr lang="en-US" sz="1600" b="1" dirty="0">
                <a:solidFill>
                  <a:srgbClr val="B08A2E"/>
                </a:solidFill>
                <a:latin typeface="Malgun Gothic" pitchFamily="34" charset="0"/>
                <a:ea typeface="Malgun Gothic" pitchFamily="34" charset="-122"/>
                <a:cs typeface="Malgun Gothic" pitchFamily="34" charset="-120"/>
              </a:rPr>
              <a:t>→</a:t>
            </a:r>
            <a:endParaRPr lang="en-US" sz="1600" dirty="0"/>
          </a:p>
        </p:txBody>
      </p:sp>
      <p:sp>
        <p:nvSpPr>
          <p:cNvPr id="52" name="Text 50"/>
          <p:cNvSpPr txBox="1"/>
          <p:nvPr/>
        </p:nvSpPr>
        <p:spPr>
          <a:xfrm>
            <a:off x="3337560" y="4041648"/>
            <a:ext cx="2286000" cy="237744"/>
          </a:xfrm>
          <a:prstGeom prst="rect">
            <a:avLst/>
          </a:prstGeom>
          <a:noFill/>
          <a:ln/>
        </p:spPr>
        <p:txBody>
          <a:bodyPr wrap="square" lIns="0" tIns="0" rIns="0" bIns="0" rtlCol="0" anchor="ctr"/>
          <a:lstStyle/>
          <a:p>
            <a:pPr indent="0" marL="0">
              <a:buNone/>
            </a:pPr>
            <a:r>
              <a:rPr lang="en-US" sz="1200" b="1" dirty="0">
                <a:solidFill>
                  <a:srgbClr val="5E8C6A"/>
                </a:solidFill>
                <a:latin typeface="Malgun Gothic" pitchFamily="34" charset="0"/>
                <a:ea typeface="Malgun Gothic" pitchFamily="34" charset="-122"/>
                <a:cs typeface="Malgun Gothic" pitchFamily="34" charset="-120"/>
              </a:rPr>
              <a:t>2세</a:t>
            </a:r>
            <a:endParaRPr lang="en-US" sz="1200" dirty="0"/>
          </a:p>
        </p:txBody>
      </p:sp>
      <p:sp>
        <p:nvSpPr>
          <p:cNvPr id="53" name="Text 51"/>
          <p:cNvSpPr txBox="1"/>
          <p:nvPr/>
        </p:nvSpPr>
        <p:spPr>
          <a:xfrm>
            <a:off x="3337560" y="4297680"/>
            <a:ext cx="2331720" cy="411480"/>
          </a:xfrm>
          <a:prstGeom prst="rect">
            <a:avLst/>
          </a:prstGeom>
          <a:noFill/>
          <a:ln/>
        </p:spPr>
        <p:txBody>
          <a:bodyPr wrap="square" lIns="0" tIns="0" rIns="0" bIns="0" rtlCol="0" anchor="t"/>
          <a:lstStyle/>
          <a:p>
            <a:pPr indent="0" marL="0">
              <a:buNone/>
            </a:pPr>
            <a:r>
              <a:rPr lang="en-US" sz="1050" dirty="0">
                <a:solidFill>
                  <a:srgbClr val="33413A"/>
                </a:solidFill>
                <a:latin typeface="Malgun Gothic" pitchFamily="34" charset="0"/>
                <a:ea typeface="Malgun Gothic" pitchFamily="34" charset="-122"/>
                <a:cs typeface="Malgun Gothic" pitchFamily="34" charset="-120"/>
              </a:rPr>
              <a:t>위험한 상황에 대처하는</a:t>
            </a:r>
            <a:endParaRPr lang="en-US" sz="1050" dirty="0"/>
          </a:p>
          <a:p>
            <a:pPr indent="0" marL="0">
              <a:buNone/>
            </a:pPr>
            <a:r>
              <a:rPr lang="en-US" sz="1050" dirty="0">
                <a:solidFill>
                  <a:srgbClr val="33413A"/>
                </a:solidFill>
                <a:latin typeface="Malgun Gothic" pitchFamily="34" charset="0"/>
                <a:ea typeface="Malgun Gothic" pitchFamily="34" charset="-122"/>
                <a:cs typeface="Malgun Gothic" pitchFamily="34" charset="-120"/>
              </a:rPr>
              <a:t>방법을 경험한다</a:t>
            </a:r>
            <a:endParaRPr lang="en-US" sz="1050" dirty="0"/>
          </a:p>
        </p:txBody>
      </p:sp>
      <p:sp>
        <p:nvSpPr>
          <p:cNvPr id="54" name="Text 52"/>
          <p:cNvSpPr txBox="1"/>
          <p:nvPr/>
        </p:nvSpPr>
        <p:spPr>
          <a:xfrm>
            <a:off x="5669280" y="4114800"/>
            <a:ext cx="320040" cy="457200"/>
          </a:xfrm>
          <a:prstGeom prst="rect">
            <a:avLst/>
          </a:prstGeom>
          <a:noFill/>
          <a:ln/>
        </p:spPr>
        <p:txBody>
          <a:bodyPr wrap="square" lIns="0" tIns="0" rIns="0" bIns="0" rtlCol="0" anchor="ctr"/>
          <a:lstStyle/>
          <a:p>
            <a:pPr algn="ctr" indent="0" marL="0">
              <a:buNone/>
            </a:pPr>
            <a:r>
              <a:rPr lang="en-US" sz="1600" b="1" dirty="0">
                <a:solidFill>
                  <a:srgbClr val="B08A2E"/>
                </a:solidFill>
                <a:latin typeface="Malgun Gothic" pitchFamily="34" charset="0"/>
                <a:ea typeface="Malgun Gothic" pitchFamily="34" charset="-122"/>
                <a:cs typeface="Malgun Gothic" pitchFamily="34" charset="-120"/>
              </a:rPr>
              <a:t>→</a:t>
            </a:r>
            <a:endParaRPr lang="en-US" sz="1600" dirty="0"/>
          </a:p>
        </p:txBody>
      </p:sp>
      <p:sp>
        <p:nvSpPr>
          <p:cNvPr id="55" name="Text 53"/>
          <p:cNvSpPr txBox="1"/>
          <p:nvPr/>
        </p:nvSpPr>
        <p:spPr>
          <a:xfrm>
            <a:off x="6035040" y="4041648"/>
            <a:ext cx="2286000" cy="237744"/>
          </a:xfrm>
          <a:prstGeom prst="rect">
            <a:avLst/>
          </a:prstGeom>
          <a:noFill/>
          <a:ln/>
        </p:spPr>
        <p:txBody>
          <a:bodyPr wrap="square" lIns="0" tIns="0" rIns="0" bIns="0" rtlCol="0" anchor="ctr"/>
          <a:lstStyle/>
          <a:p>
            <a:pPr indent="0" marL="0">
              <a:buNone/>
            </a:pPr>
            <a:r>
              <a:rPr lang="en-US" sz="1200" b="1" dirty="0">
                <a:solidFill>
                  <a:srgbClr val="5E8C6A"/>
                </a:solidFill>
                <a:latin typeface="Malgun Gothic" pitchFamily="34" charset="0"/>
                <a:ea typeface="Malgun Gothic" pitchFamily="34" charset="-122"/>
                <a:cs typeface="Malgun Gothic" pitchFamily="34" charset="-120"/>
              </a:rPr>
              <a:t>3~5세</a:t>
            </a:r>
            <a:endParaRPr lang="en-US" sz="1200" dirty="0"/>
          </a:p>
        </p:txBody>
      </p:sp>
      <p:sp>
        <p:nvSpPr>
          <p:cNvPr id="56" name="Text 54"/>
          <p:cNvSpPr txBox="1"/>
          <p:nvPr/>
        </p:nvSpPr>
        <p:spPr>
          <a:xfrm>
            <a:off x="6035040" y="4297680"/>
            <a:ext cx="2331720" cy="411480"/>
          </a:xfrm>
          <a:prstGeom prst="rect">
            <a:avLst/>
          </a:prstGeom>
          <a:noFill/>
          <a:ln/>
        </p:spPr>
        <p:txBody>
          <a:bodyPr wrap="square" lIns="0" tIns="0" rIns="0" bIns="0" rtlCol="0" anchor="t"/>
          <a:lstStyle/>
          <a:p>
            <a:pPr indent="0" marL="0">
              <a:buNone/>
            </a:pPr>
            <a:r>
              <a:rPr lang="en-US" sz="1050" dirty="0">
                <a:solidFill>
                  <a:srgbClr val="33413A"/>
                </a:solidFill>
                <a:latin typeface="Malgun Gothic" pitchFamily="34" charset="0"/>
                <a:ea typeface="Malgun Gothic" pitchFamily="34" charset="-122"/>
                <a:cs typeface="Malgun Gothic" pitchFamily="34" charset="-120"/>
              </a:rPr>
              <a:t>안전사고·화재·재난·학대·유괴 등에</a:t>
            </a:r>
            <a:endParaRPr lang="en-US" sz="1050" dirty="0"/>
          </a:p>
          <a:p>
            <a:pPr indent="0" marL="0">
              <a:buNone/>
            </a:pPr>
            <a:r>
              <a:rPr lang="en-US" sz="1050" dirty="0">
                <a:solidFill>
                  <a:srgbClr val="33413A"/>
                </a:solidFill>
                <a:latin typeface="Malgun Gothic" pitchFamily="34" charset="0"/>
                <a:ea typeface="Malgun Gothic" pitchFamily="34" charset="-122"/>
                <a:cs typeface="Malgun Gothic" pitchFamily="34" charset="-120"/>
              </a:rPr>
              <a:t>대처하는 방법을 경험한다</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02920" cy="502920"/>
          </a:xfrm>
          <a:prstGeom prst="ellipse">
            <a:avLst/>
          </a:prstGeom>
          <a:solidFill>
            <a:srgbClr val="5E8C6A"/>
          </a:solidFill>
          <a:ln/>
        </p:spPr>
      </p:sp>
      <p:sp>
        <p:nvSpPr>
          <p:cNvPr id="3" name="Text 1"/>
          <p:cNvSpPr txBox="1"/>
          <p:nvPr/>
        </p:nvSpPr>
        <p:spPr>
          <a:xfrm>
            <a:off x="457200" y="38404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07</a:t>
            </a:r>
            <a:endParaRPr lang="en-US" sz="1400" dirty="0"/>
          </a:p>
        </p:txBody>
      </p:sp>
      <p:sp>
        <p:nvSpPr>
          <p:cNvPr id="4" name="Text 2"/>
          <p:cNvSpPr txBox="1"/>
          <p:nvPr/>
        </p:nvSpPr>
        <p:spPr>
          <a:xfrm>
            <a:off x="1097280" y="320040"/>
            <a:ext cx="7589520" cy="640080"/>
          </a:xfrm>
          <a:prstGeom prst="rect">
            <a:avLst/>
          </a:prstGeom>
          <a:noFill/>
          <a:ln/>
        </p:spPr>
        <p:txBody>
          <a:bodyPr wrap="square" lIns="0" tIns="0" rIns="0" bIns="0" rtlCol="0" anchor="ctr"/>
          <a:lstStyle/>
          <a:p>
            <a:pPr indent="0" marL="0">
              <a:buNone/>
            </a:pPr>
            <a:r>
              <a:rPr lang="en-US" sz="2800" b="1" dirty="0">
                <a:solidFill>
                  <a:srgbClr val="33413A"/>
                </a:solidFill>
                <a:latin typeface="Malgun Gothic" pitchFamily="34" charset="0"/>
                <a:ea typeface="Malgun Gothic" pitchFamily="34" charset="-122"/>
                <a:cs typeface="Malgun Gothic" pitchFamily="34" charset="-120"/>
              </a:rPr>
              <a:t>관련 법규와 지침의 이해</a:t>
            </a:r>
            <a:endParaRPr lang="en-US" sz="2800" dirty="0"/>
          </a:p>
        </p:txBody>
      </p:sp>
      <p:sp>
        <p:nvSpPr>
          <p:cNvPr id="5" name="Text 3"/>
          <p:cNvSpPr txBox="1"/>
          <p:nvPr/>
        </p:nvSpPr>
        <p:spPr>
          <a:xfrm>
            <a:off x="457200" y="1097280"/>
            <a:ext cx="4114800" cy="11887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33413A"/>
                </a:solidFill>
                <a:latin typeface="Malgun Gothic" pitchFamily="34" charset="0"/>
                <a:ea typeface="Malgun Gothic" pitchFamily="34" charset="-122"/>
                <a:cs typeface="Malgun Gothic" pitchFamily="34" charset="-120"/>
              </a:rPr>
              <a:t>사전에 교육청의 지침 파악, 필수 교육 내용은 교육과정에 반영</a:t>
            </a:r>
            <a:endParaRPr lang="en-US" sz="1150" dirty="0"/>
          </a:p>
          <a:p>
            <a:pPr marL="342900" indent="-342900">
              <a:spcAft>
                <a:spcPts val="400"/>
              </a:spcAft>
              <a:buSzPct val="100000"/>
              <a:buChar char="•"/>
            </a:pPr>
            <a:r>
              <a:rPr lang="en-US" sz="1150" dirty="0">
                <a:solidFill>
                  <a:srgbClr val="33413A"/>
                </a:solidFill>
                <a:latin typeface="Malgun Gothic" pitchFamily="34" charset="0"/>
                <a:ea typeface="Malgun Gothic" pitchFamily="34" charset="-122"/>
                <a:cs typeface="Malgun Gothic" pitchFamily="34" charset="-120"/>
              </a:rPr>
              <a:t>교육청이 정하는 내용은 교육청마다 다를 수 있음 → 소속 교육청의 계획서와 지침 참조</a:t>
            </a:r>
            <a:endParaRPr lang="en-US" sz="1150" dirty="0"/>
          </a:p>
          <a:p>
            <a:pPr marL="342900" indent="-342900">
              <a:spcAft>
                <a:spcPts val="400"/>
              </a:spcAft>
              <a:buSzPct val="100000"/>
              <a:buChar char="•"/>
            </a:pPr>
            <a:r>
              <a:rPr lang="en-US" sz="1150" dirty="0">
                <a:solidFill>
                  <a:srgbClr val="33413A"/>
                </a:solidFill>
                <a:latin typeface="Malgun Gothic" pitchFamily="34" charset="0"/>
                <a:ea typeface="Malgun Gothic" pitchFamily="34" charset="-122"/>
                <a:cs typeface="Malgun Gothic" pitchFamily="34" charset="-120"/>
              </a:rPr>
              <a:t>운영계획서 작성, 연간 학사일정 결정 시에도 소속청의 지침 숙지·반영</a:t>
            </a:r>
            <a:endParaRPr lang="en-US" sz="1150" dirty="0"/>
          </a:p>
        </p:txBody>
      </p:sp>
      <p:sp>
        <p:nvSpPr>
          <p:cNvPr id="6" name="Shape 4"/>
          <p:cNvSpPr/>
          <p:nvPr/>
        </p:nvSpPr>
        <p:spPr>
          <a:xfrm>
            <a:off x="457200" y="2423160"/>
            <a:ext cx="1965960" cy="1417320"/>
          </a:xfrm>
          <a:prstGeom prst="roundRect">
            <a:avLst>
              <a:gd name="adj" fmla="val 9677"/>
            </a:avLst>
          </a:prstGeom>
          <a:solidFill>
            <a:srgbClr val="FCE4D8"/>
          </a:solidFill>
          <a:ln/>
        </p:spPr>
      </p:sp>
      <p:sp>
        <p:nvSpPr>
          <p:cNvPr id="7" name="Text 5"/>
          <p:cNvSpPr txBox="1"/>
          <p:nvPr/>
        </p:nvSpPr>
        <p:spPr>
          <a:xfrm>
            <a:off x="594360" y="2514600"/>
            <a:ext cx="1737360" cy="320040"/>
          </a:xfrm>
          <a:prstGeom prst="rect">
            <a:avLst/>
          </a:prstGeom>
          <a:noFill/>
          <a:ln/>
        </p:spPr>
        <p:txBody>
          <a:bodyPr wrap="square" lIns="0" tIns="0" rIns="0" bIns="0" rtlCol="0" anchor="ctr"/>
          <a:lstStyle/>
          <a:p>
            <a:pPr indent="0" marL="0">
              <a:buNone/>
            </a:pPr>
            <a:r>
              <a:rPr lang="en-US" sz="1400" b="1" dirty="0">
                <a:solidFill>
                  <a:srgbClr val="C0643E"/>
                </a:solidFill>
                <a:latin typeface="Malgun Gothic" pitchFamily="34" charset="0"/>
                <a:ea typeface="Malgun Gothic" pitchFamily="34" charset="-122"/>
                <a:cs typeface="Malgun Gothic" pitchFamily="34" charset="-120"/>
              </a:rPr>
              <a:t>유치원</a:t>
            </a:r>
            <a:endParaRPr lang="en-US" sz="1400" dirty="0"/>
          </a:p>
        </p:txBody>
      </p:sp>
      <p:sp>
        <p:nvSpPr>
          <p:cNvPr id="8" name="Text 6"/>
          <p:cNvSpPr txBox="1"/>
          <p:nvPr/>
        </p:nvSpPr>
        <p:spPr>
          <a:xfrm>
            <a:off x="594360" y="2834640"/>
            <a:ext cx="1737360" cy="914400"/>
          </a:xfrm>
          <a:prstGeom prst="rect">
            <a:avLst/>
          </a:prstGeom>
          <a:noFill/>
          <a:ln/>
        </p:spPr>
        <p:txBody>
          <a:bodyPr wrap="square" lIns="0" tIns="0" rIns="0" bIns="0" rtlCol="0" anchor="t"/>
          <a:lstStyle/>
          <a:p>
            <a:pPr indent="0" marL="0">
              <a:buNone/>
            </a:pPr>
            <a:r>
              <a:rPr lang="en-US" sz="1100" dirty="0">
                <a:solidFill>
                  <a:srgbClr val="33413A"/>
                </a:solidFill>
                <a:latin typeface="Malgun Gothic" pitchFamily="34" charset="0"/>
                <a:ea typeface="Malgun Gothic" pitchFamily="34" charset="-122"/>
                <a:cs typeface="Malgun Gothic" pitchFamily="34" charset="-120"/>
              </a:rPr>
              <a:t>교육청별 유치원 교육과정 편성·운영 지침</a:t>
            </a:r>
            <a:endParaRPr lang="en-US" sz="1100" dirty="0"/>
          </a:p>
          <a:p>
            <a:pPr indent="0" marL="0">
              <a:buNone/>
            </a:pPr>
            <a:r>
              <a:rPr lang="en-US" sz="1100" dirty="0">
                <a:solidFill>
                  <a:srgbClr val="33413A"/>
                </a:solidFill>
                <a:latin typeface="Malgun Gothic" pitchFamily="34" charset="0"/>
                <a:ea typeface="Malgun Gothic" pitchFamily="34" charset="-122"/>
                <a:cs typeface="Malgun Gothic" pitchFamily="34" charset="-120"/>
              </a:rPr>
              <a:t>유아교육계획</a:t>
            </a:r>
            <a:endParaRPr lang="en-US" sz="1100" dirty="0"/>
          </a:p>
        </p:txBody>
      </p:sp>
      <p:sp>
        <p:nvSpPr>
          <p:cNvPr id="9" name="Shape 7"/>
          <p:cNvSpPr/>
          <p:nvPr/>
        </p:nvSpPr>
        <p:spPr>
          <a:xfrm>
            <a:off x="2560320" y="2423160"/>
            <a:ext cx="1965960" cy="1417320"/>
          </a:xfrm>
          <a:prstGeom prst="roundRect">
            <a:avLst>
              <a:gd name="adj" fmla="val 9677"/>
            </a:avLst>
          </a:prstGeom>
          <a:solidFill>
            <a:srgbClr val="DCEBDD"/>
          </a:solidFill>
          <a:ln/>
        </p:spPr>
      </p:sp>
      <p:sp>
        <p:nvSpPr>
          <p:cNvPr id="10" name="Text 8"/>
          <p:cNvSpPr txBox="1"/>
          <p:nvPr/>
        </p:nvSpPr>
        <p:spPr>
          <a:xfrm>
            <a:off x="2697480" y="2514600"/>
            <a:ext cx="1737360" cy="320040"/>
          </a:xfrm>
          <a:prstGeom prst="rect">
            <a:avLst/>
          </a:prstGeom>
          <a:noFill/>
          <a:ln/>
        </p:spPr>
        <p:txBody>
          <a:bodyPr wrap="square" lIns="0" tIns="0" rIns="0" bIns="0" rtlCol="0" anchor="ctr"/>
          <a:lstStyle/>
          <a:p>
            <a:pPr indent="0" marL="0">
              <a:buNone/>
            </a:pPr>
            <a:r>
              <a:rPr lang="en-US" sz="1400" b="1" dirty="0">
                <a:solidFill>
                  <a:srgbClr val="5E8C6A"/>
                </a:solidFill>
                <a:latin typeface="Malgun Gothic" pitchFamily="34" charset="0"/>
                <a:ea typeface="Malgun Gothic" pitchFamily="34" charset="-122"/>
                <a:cs typeface="Malgun Gothic" pitchFamily="34" charset="-120"/>
              </a:rPr>
              <a:t>어린이집</a:t>
            </a:r>
            <a:endParaRPr lang="en-US" sz="1400" dirty="0"/>
          </a:p>
        </p:txBody>
      </p:sp>
      <p:sp>
        <p:nvSpPr>
          <p:cNvPr id="11" name="Text 9"/>
          <p:cNvSpPr txBox="1"/>
          <p:nvPr/>
        </p:nvSpPr>
        <p:spPr>
          <a:xfrm>
            <a:off x="2697480" y="2834640"/>
            <a:ext cx="1737360" cy="914400"/>
          </a:xfrm>
          <a:prstGeom prst="rect">
            <a:avLst/>
          </a:prstGeom>
          <a:noFill/>
          <a:ln/>
        </p:spPr>
        <p:txBody>
          <a:bodyPr wrap="square" lIns="0" tIns="0" rIns="0" bIns="0" rtlCol="0" anchor="t"/>
          <a:lstStyle/>
          <a:p>
            <a:pPr indent="0" marL="0">
              <a:buNone/>
            </a:pPr>
            <a:r>
              <a:rPr lang="en-US" sz="1100" dirty="0">
                <a:solidFill>
                  <a:srgbClr val="33413A"/>
                </a:solidFill>
                <a:latin typeface="Malgun Gothic" pitchFamily="34" charset="0"/>
                <a:ea typeface="Malgun Gothic" pitchFamily="34" charset="-122"/>
                <a:cs typeface="Malgun Gothic" pitchFamily="34" charset="-120"/>
              </a:rPr>
              <a:t>보육사업안내서</a:t>
            </a:r>
            <a:endParaRPr lang="en-US" sz="1100" dirty="0"/>
          </a:p>
          <a:p>
            <a:pPr indent="0" marL="0">
              <a:buNone/>
            </a:pPr>
            <a:r>
              <a:rPr lang="en-US" sz="1100" dirty="0">
                <a:solidFill>
                  <a:srgbClr val="33413A"/>
                </a:solidFill>
                <a:latin typeface="Malgun Gothic" pitchFamily="34" charset="0"/>
                <a:ea typeface="Malgun Gothic" pitchFamily="34" charset="-122"/>
                <a:cs typeface="Malgun Gothic" pitchFamily="34" charset="-120"/>
              </a:rPr>
              <a:t>업무별 매뉴얼</a:t>
            </a:r>
            <a:endParaRPr lang="en-US" sz="1100" dirty="0"/>
          </a:p>
        </p:txBody>
      </p:sp>
      <p:sp>
        <p:nvSpPr>
          <p:cNvPr id="12" name="Shape 10"/>
          <p:cNvSpPr/>
          <p:nvPr/>
        </p:nvSpPr>
        <p:spPr>
          <a:xfrm>
            <a:off x="4754880" y="1097280"/>
            <a:ext cx="3931920" cy="2743200"/>
          </a:xfrm>
          <a:prstGeom prst="roundRect">
            <a:avLst>
              <a:gd name="adj" fmla="val 5000"/>
            </a:avLst>
          </a:prstGeom>
          <a:solidFill>
            <a:srgbClr val="F4F7F4"/>
          </a:solidFill>
          <a:ln/>
        </p:spPr>
      </p:sp>
      <p:sp>
        <p:nvSpPr>
          <p:cNvPr id="13" name="Text 11"/>
          <p:cNvSpPr txBox="1"/>
          <p:nvPr/>
        </p:nvSpPr>
        <p:spPr>
          <a:xfrm>
            <a:off x="4937760" y="1188720"/>
            <a:ext cx="3566160" cy="548640"/>
          </a:xfrm>
          <a:prstGeom prst="rect">
            <a:avLst/>
          </a:prstGeom>
          <a:noFill/>
          <a:ln/>
        </p:spPr>
        <p:txBody>
          <a:bodyPr wrap="square" lIns="0" tIns="0" rIns="0" bIns="0" rtlCol="0" anchor="ctr"/>
          <a:lstStyle/>
          <a:p>
            <a:pPr indent="0" marL="0">
              <a:buNone/>
            </a:pPr>
            <a:r>
              <a:rPr lang="en-US" sz="1200" b="1" dirty="0">
                <a:solidFill>
                  <a:srgbClr val="6E7B73"/>
                </a:solidFill>
                <a:latin typeface="Malgun Gothic" pitchFamily="34" charset="0"/>
                <a:ea typeface="Malgun Gothic" pitchFamily="34" charset="-122"/>
                <a:cs typeface="Malgun Gothic" pitchFamily="34" charset="-120"/>
              </a:rPr>
              <a:t>〈표 5-5〉 2025학년도 경기도 유치원</a:t>
            </a:r>
            <a:endParaRPr lang="en-US" sz="1200" dirty="0"/>
          </a:p>
          <a:p>
            <a:pPr indent="0" marL="0">
              <a:buNone/>
            </a:pPr>
            <a:r>
              <a:rPr lang="en-US" sz="1200" b="1" dirty="0">
                <a:solidFill>
                  <a:srgbClr val="6E7B73"/>
                </a:solidFill>
                <a:latin typeface="Malgun Gothic" pitchFamily="34" charset="0"/>
                <a:ea typeface="Malgun Gothic" pitchFamily="34" charset="-122"/>
                <a:cs typeface="Malgun Gothic" pitchFamily="34" charset="-120"/>
              </a:rPr>
              <a:t>교육과정 편성·운영 지침 구성</a:t>
            </a:r>
            <a:endParaRPr lang="en-US" sz="1200" dirty="0"/>
          </a:p>
        </p:txBody>
      </p:sp>
      <p:sp>
        <p:nvSpPr>
          <p:cNvPr id="14" name="Shape 12"/>
          <p:cNvSpPr/>
          <p:nvPr/>
        </p:nvSpPr>
        <p:spPr>
          <a:xfrm>
            <a:off x="4937760" y="1828800"/>
            <a:ext cx="685800" cy="292608"/>
          </a:xfrm>
          <a:prstGeom prst="roundRect">
            <a:avLst>
              <a:gd name="adj" fmla="val 50000"/>
            </a:avLst>
          </a:prstGeom>
          <a:solidFill>
            <a:srgbClr val="5E8C6A"/>
          </a:solidFill>
          <a:ln/>
        </p:spPr>
      </p:sp>
      <p:sp>
        <p:nvSpPr>
          <p:cNvPr id="15" name="Text 13"/>
          <p:cNvSpPr txBox="1"/>
          <p:nvPr/>
        </p:nvSpPr>
        <p:spPr>
          <a:xfrm>
            <a:off x="4937760" y="1828800"/>
            <a:ext cx="6858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제1부</a:t>
            </a:r>
            <a:endParaRPr lang="en-US" sz="1050" dirty="0"/>
          </a:p>
        </p:txBody>
      </p:sp>
      <p:sp>
        <p:nvSpPr>
          <p:cNvPr id="16" name="Text 14"/>
          <p:cNvSpPr txBox="1"/>
          <p:nvPr/>
        </p:nvSpPr>
        <p:spPr>
          <a:xfrm>
            <a:off x="5760720" y="1828800"/>
            <a:ext cx="2834640" cy="292608"/>
          </a:xfrm>
          <a:prstGeom prst="rect">
            <a:avLst/>
          </a:prstGeom>
          <a:noFill/>
          <a:ln/>
        </p:spPr>
        <p:txBody>
          <a:bodyPr wrap="square" lIns="0" tIns="0" rIns="0" bIns="0" rtlCol="0" anchor="ctr"/>
          <a:lstStyle/>
          <a:p>
            <a:pPr indent="0" marL="0">
              <a:buNone/>
            </a:pPr>
            <a:r>
              <a:rPr lang="en-US" sz="1200" dirty="0">
                <a:solidFill>
                  <a:srgbClr val="33413A"/>
                </a:solidFill>
                <a:latin typeface="Malgun Gothic" pitchFamily="34" charset="0"/>
                <a:ea typeface="Malgun Gothic" pitchFamily="34" charset="-122"/>
                <a:cs typeface="Malgun Gothic" pitchFamily="34" charset="-120"/>
              </a:rPr>
              <a:t>경기교육의 방향</a:t>
            </a:r>
            <a:endParaRPr lang="en-US" sz="1200" dirty="0"/>
          </a:p>
        </p:txBody>
      </p:sp>
      <p:sp>
        <p:nvSpPr>
          <p:cNvPr id="17" name="Shape 15"/>
          <p:cNvSpPr/>
          <p:nvPr/>
        </p:nvSpPr>
        <p:spPr>
          <a:xfrm>
            <a:off x="4937760" y="2212848"/>
            <a:ext cx="685800" cy="292608"/>
          </a:xfrm>
          <a:prstGeom prst="roundRect">
            <a:avLst>
              <a:gd name="adj" fmla="val 50000"/>
            </a:avLst>
          </a:prstGeom>
          <a:solidFill>
            <a:srgbClr val="5E8C6A"/>
          </a:solidFill>
          <a:ln/>
        </p:spPr>
      </p:sp>
      <p:sp>
        <p:nvSpPr>
          <p:cNvPr id="18" name="Text 16"/>
          <p:cNvSpPr txBox="1"/>
          <p:nvPr/>
        </p:nvSpPr>
        <p:spPr>
          <a:xfrm>
            <a:off x="4937760" y="2212848"/>
            <a:ext cx="6858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제2부</a:t>
            </a:r>
            <a:endParaRPr lang="en-US" sz="1050" dirty="0"/>
          </a:p>
        </p:txBody>
      </p:sp>
      <p:sp>
        <p:nvSpPr>
          <p:cNvPr id="19" name="Text 17"/>
          <p:cNvSpPr txBox="1"/>
          <p:nvPr/>
        </p:nvSpPr>
        <p:spPr>
          <a:xfrm>
            <a:off x="5760720" y="2212848"/>
            <a:ext cx="2834640" cy="292608"/>
          </a:xfrm>
          <a:prstGeom prst="rect">
            <a:avLst/>
          </a:prstGeom>
          <a:noFill/>
          <a:ln/>
        </p:spPr>
        <p:txBody>
          <a:bodyPr wrap="square" lIns="0" tIns="0" rIns="0" bIns="0" rtlCol="0" anchor="ctr"/>
          <a:lstStyle/>
          <a:p>
            <a:pPr indent="0" marL="0">
              <a:buNone/>
            </a:pPr>
            <a:r>
              <a:rPr lang="en-US" sz="1200" dirty="0">
                <a:solidFill>
                  <a:srgbClr val="33413A"/>
                </a:solidFill>
                <a:latin typeface="Malgun Gothic" pitchFamily="34" charset="0"/>
                <a:ea typeface="Malgun Gothic" pitchFamily="34" charset="-122"/>
                <a:cs typeface="Malgun Gothic" pitchFamily="34" charset="-120"/>
              </a:rPr>
              <a:t>경기유아교육의 방향</a:t>
            </a:r>
            <a:endParaRPr lang="en-US" sz="1200" dirty="0"/>
          </a:p>
        </p:txBody>
      </p:sp>
      <p:sp>
        <p:nvSpPr>
          <p:cNvPr id="20" name="Shape 18"/>
          <p:cNvSpPr/>
          <p:nvPr/>
        </p:nvSpPr>
        <p:spPr>
          <a:xfrm>
            <a:off x="4937760" y="2596896"/>
            <a:ext cx="685800" cy="292608"/>
          </a:xfrm>
          <a:prstGeom prst="roundRect">
            <a:avLst>
              <a:gd name="adj" fmla="val 50000"/>
            </a:avLst>
          </a:prstGeom>
          <a:solidFill>
            <a:srgbClr val="5E8C6A"/>
          </a:solidFill>
          <a:ln/>
        </p:spPr>
      </p:sp>
      <p:sp>
        <p:nvSpPr>
          <p:cNvPr id="21" name="Text 19"/>
          <p:cNvSpPr txBox="1"/>
          <p:nvPr/>
        </p:nvSpPr>
        <p:spPr>
          <a:xfrm>
            <a:off x="4937760" y="2596896"/>
            <a:ext cx="6858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제3부</a:t>
            </a:r>
            <a:endParaRPr lang="en-US" sz="1050" dirty="0"/>
          </a:p>
        </p:txBody>
      </p:sp>
      <p:sp>
        <p:nvSpPr>
          <p:cNvPr id="22" name="Text 20"/>
          <p:cNvSpPr txBox="1"/>
          <p:nvPr/>
        </p:nvSpPr>
        <p:spPr>
          <a:xfrm>
            <a:off x="5760720" y="2596896"/>
            <a:ext cx="2834640" cy="292608"/>
          </a:xfrm>
          <a:prstGeom prst="rect">
            <a:avLst/>
          </a:prstGeom>
          <a:noFill/>
          <a:ln/>
        </p:spPr>
        <p:txBody>
          <a:bodyPr wrap="square" lIns="0" tIns="0" rIns="0" bIns="0" rtlCol="0" anchor="ctr"/>
          <a:lstStyle/>
          <a:p>
            <a:pPr indent="0" marL="0">
              <a:buNone/>
            </a:pPr>
            <a:r>
              <a:rPr lang="en-US" sz="1200" dirty="0">
                <a:solidFill>
                  <a:srgbClr val="33413A"/>
                </a:solidFill>
                <a:latin typeface="Malgun Gothic" pitchFamily="34" charset="0"/>
                <a:ea typeface="Malgun Gothic" pitchFamily="34" charset="-122"/>
                <a:cs typeface="Malgun Gothic" pitchFamily="34" charset="-120"/>
              </a:rPr>
              <a:t>교육과정 편성·운영</a:t>
            </a:r>
            <a:endParaRPr lang="en-US" sz="1200" dirty="0"/>
          </a:p>
        </p:txBody>
      </p:sp>
      <p:sp>
        <p:nvSpPr>
          <p:cNvPr id="23" name="Shape 21"/>
          <p:cNvSpPr/>
          <p:nvPr/>
        </p:nvSpPr>
        <p:spPr>
          <a:xfrm>
            <a:off x="4937760" y="2980944"/>
            <a:ext cx="685800" cy="292608"/>
          </a:xfrm>
          <a:prstGeom prst="roundRect">
            <a:avLst>
              <a:gd name="adj" fmla="val 50000"/>
            </a:avLst>
          </a:prstGeom>
          <a:solidFill>
            <a:srgbClr val="5E8C6A"/>
          </a:solidFill>
          <a:ln/>
        </p:spPr>
      </p:sp>
      <p:sp>
        <p:nvSpPr>
          <p:cNvPr id="24" name="Text 22"/>
          <p:cNvSpPr txBox="1"/>
          <p:nvPr/>
        </p:nvSpPr>
        <p:spPr>
          <a:xfrm>
            <a:off x="4937760" y="2980944"/>
            <a:ext cx="6858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제4부</a:t>
            </a:r>
            <a:endParaRPr lang="en-US" sz="1050" dirty="0"/>
          </a:p>
        </p:txBody>
      </p:sp>
      <p:sp>
        <p:nvSpPr>
          <p:cNvPr id="25" name="Text 23"/>
          <p:cNvSpPr txBox="1"/>
          <p:nvPr/>
        </p:nvSpPr>
        <p:spPr>
          <a:xfrm>
            <a:off x="5760720" y="2980944"/>
            <a:ext cx="2834640" cy="292608"/>
          </a:xfrm>
          <a:prstGeom prst="rect">
            <a:avLst/>
          </a:prstGeom>
          <a:noFill/>
          <a:ln/>
        </p:spPr>
        <p:txBody>
          <a:bodyPr wrap="square" lIns="0" tIns="0" rIns="0" bIns="0" rtlCol="0" anchor="ctr"/>
          <a:lstStyle/>
          <a:p>
            <a:pPr indent="0" marL="0">
              <a:buNone/>
            </a:pPr>
            <a:r>
              <a:rPr lang="en-US" sz="1200" dirty="0">
                <a:solidFill>
                  <a:srgbClr val="33413A"/>
                </a:solidFill>
                <a:latin typeface="Malgun Gothic" pitchFamily="34" charset="0"/>
                <a:ea typeface="Malgun Gothic" pitchFamily="34" charset="-122"/>
                <a:cs typeface="Malgun Gothic" pitchFamily="34" charset="-120"/>
              </a:rPr>
              <a:t>영역별 목표 및 내용</a:t>
            </a:r>
            <a:endParaRPr lang="en-US" sz="1200" dirty="0"/>
          </a:p>
        </p:txBody>
      </p:sp>
      <p:sp>
        <p:nvSpPr>
          <p:cNvPr id="26" name="Shape 24"/>
          <p:cNvSpPr/>
          <p:nvPr/>
        </p:nvSpPr>
        <p:spPr>
          <a:xfrm>
            <a:off x="4937760" y="3364992"/>
            <a:ext cx="685800" cy="292608"/>
          </a:xfrm>
          <a:prstGeom prst="roundRect">
            <a:avLst>
              <a:gd name="adj" fmla="val 50000"/>
            </a:avLst>
          </a:prstGeom>
          <a:solidFill>
            <a:srgbClr val="5E8C6A"/>
          </a:solidFill>
          <a:ln/>
        </p:spPr>
      </p:sp>
      <p:sp>
        <p:nvSpPr>
          <p:cNvPr id="27" name="Text 25"/>
          <p:cNvSpPr txBox="1"/>
          <p:nvPr/>
        </p:nvSpPr>
        <p:spPr>
          <a:xfrm>
            <a:off x="4937760" y="3364992"/>
            <a:ext cx="6858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제5부</a:t>
            </a:r>
            <a:endParaRPr lang="en-US" sz="1050" dirty="0"/>
          </a:p>
        </p:txBody>
      </p:sp>
      <p:sp>
        <p:nvSpPr>
          <p:cNvPr id="28" name="Text 26"/>
          <p:cNvSpPr txBox="1"/>
          <p:nvPr/>
        </p:nvSpPr>
        <p:spPr>
          <a:xfrm>
            <a:off x="5760720" y="3364992"/>
            <a:ext cx="2834640" cy="292608"/>
          </a:xfrm>
          <a:prstGeom prst="rect">
            <a:avLst/>
          </a:prstGeom>
          <a:noFill/>
          <a:ln/>
        </p:spPr>
        <p:txBody>
          <a:bodyPr wrap="square" lIns="0" tIns="0" rIns="0" bIns="0" rtlCol="0" anchor="ctr"/>
          <a:lstStyle/>
          <a:p>
            <a:pPr indent="0" marL="0">
              <a:buNone/>
            </a:pPr>
            <a:r>
              <a:rPr lang="en-US" sz="1200" dirty="0">
                <a:solidFill>
                  <a:srgbClr val="33413A"/>
                </a:solidFill>
                <a:latin typeface="Malgun Gothic" pitchFamily="34" charset="0"/>
                <a:ea typeface="Malgun Gothic" pitchFamily="34" charset="-122"/>
                <a:cs typeface="Malgun Gothic" pitchFamily="34" charset="-120"/>
              </a:rPr>
              <a:t>교육과정 편성·운영 지원</a:t>
            </a:r>
            <a:endParaRPr lang="en-US" sz="1200" dirty="0"/>
          </a:p>
        </p:txBody>
      </p:sp>
      <p:sp>
        <p:nvSpPr>
          <p:cNvPr id="29" name="Shape 27"/>
          <p:cNvSpPr/>
          <p:nvPr/>
        </p:nvSpPr>
        <p:spPr>
          <a:xfrm>
            <a:off x="457200" y="4069080"/>
            <a:ext cx="8229600" cy="640080"/>
          </a:xfrm>
          <a:prstGeom prst="roundRect">
            <a:avLst>
              <a:gd name="adj" fmla="val 50000"/>
            </a:avLst>
          </a:prstGeom>
          <a:solidFill>
            <a:srgbClr val="5E8C6A"/>
          </a:solidFill>
          <a:ln/>
        </p:spPr>
      </p:sp>
      <p:sp>
        <p:nvSpPr>
          <p:cNvPr id="30" name="Text 28"/>
          <p:cNvSpPr txBox="1"/>
          <p:nvPr/>
        </p:nvSpPr>
        <p:spPr>
          <a:xfrm>
            <a:off x="457200" y="4069080"/>
            <a:ext cx="822960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반드시 소속 교육청의 계획서와 지침을 참조</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영유아교육과정의 계획 및 운영</dc:title>
  <dc:subject>PptxGenJS Presentation</dc:subject>
  <dc:creator>PptxGenJS</dc:creator>
  <cp:lastModifiedBy>PptxGenJS</cp:lastModifiedBy>
  <cp:revision>1</cp:revision>
  <dcterms:created xsi:type="dcterms:W3CDTF">2026-09-27T12:40:47Z</dcterms:created>
  <dcterms:modified xsi:type="dcterms:W3CDTF">2026-09-27T12:40:47Z</dcterms:modified>
</cp:coreProperties>
</file>