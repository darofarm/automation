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오늘 제가 발표할 내용은 '영유아교육과정의 구성'입니다.
교육과정이 무엇으로 이루어져 있는지, 그리고 영유아를 위한 교육과정은 어떤 특징을 가져야 하는지 차례로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교육과정의 구성 요소는 학자마다 조금씩 다르게 말하지만, 가장 많이 쓰는 네 가지는 교육목적, 교육내용, 교육방법, 교육평가입니다.
이 네 가지는 타일러(Tyler)라는 학자가 던진 네 가지 질문과 연결됩니다. 타일러는 교육과정을 짤 때 이 네 가지를 꼭 물어봐야 한다고 했어요.
첫째, 무엇을 목표로 할까? 이것이 교육목표입니다.
둘째, 목표를 이루려면 어떤 경험을 줘야 할까? 이것이 교육내용입니다.
셋째, 그 경험을 어떻게 짜야 가장 효과적일까? 이것이 교수-학습 방법입니다.
넷째, 목표를 이뤘는지 어떻게 알 수 있을까? 이것이 평가입니다.
여행 계획에 비유하면, 어디로 갈지 정하고, 무엇을 볼지 고르고, 어떤 순서로 다닐지 짜고, 다녀와서 어땠는지 돌아보는 것과 같아요.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네 가지 요소는 그냥 나열된 것이 아니라, 교육과정이 실제로 진행되는 순서이기도 합니다.
먼저 우리 기관의 생각과 철학에 맞는 교육목표를 세웁니다. 다음으로 그 목표를 이루는 데 꼭 필요한 교육내용을 고릅니다. 그리고 고른 내용을 잘 정리하고, 아이들의 발달과 흥미에 맞는 가르치는 방법을 정합니다. 그다음 평가를 하고, 평가 결과를 다음 교육계획에 반영합니다.
그래서 그림처럼 한 바퀴 돌고 나면 다시 처음으로 이어지는 구조예요.
타일러의 모형은 비판도 받지만, 우리나라 초·중·고 교육과정은 이 틀을 바탕으로 만들어져 왔습니다. 영유아교육과정도 마찬가지로 이 네 가지 요소를 담고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영유아교육과정을 짤 때 어떤 특징이 있어야 하는지 네 가지로 살펴보겠습니다. 먼저 두 가지입니다.
첫째, 교육내용 간의 통합입니다. 아이들은 국어, 과학, 미술처럼 과목을 나눠서 배우는 것보다, 여러 가지가 섞인 경험을 통해 더 잘 배웁니다. 예를 들어 '가을'이라는 주제로 놀면, 가을 과일을 만들고, 과일가게 놀이를 하고, 간판과 가격표도 쓰면서 여러 영역을 한꺼번에 자연스럽게 배우게 됩니다.
둘째, 놀이 중심으로 운영하는 것입니다. 선생님이 지식을 가르치려고 하기보다, 아이가 스스로 놀면서 배우도록 해야 합니다. 그래서 놀이 시간을 충분히 주고, 바깥놀이나 익숙한 물건, 자연물을 이용한 놀이도 권장합니다.
이때 선생님은 놀이를 이끄는 사람이 아니라, 아이를 잘 지켜보고 필요할 때 도와주는 '놀이지원자'입니다.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나머지 두 가지 특징입니다.
셋째, 흥미와 요구를 반영하는 것입니다. 교육과정은 아이들의 흥미를 최대한 존중하면서 발달에 맞는 내용을 골라야 해요. 그런데 주의할 점이 있습니다. 흥미를 반영한다는 것이 '아이가 좋아하는 것이면 다 좋은 교육과정'이라는 뜻은 아니에요. 선생님이 아이들을 잘 관찰하고 평가해서, 의미 있는 주제나 놀이를 골라 교육적인 활동으로 이어 줘야 합니다.
넷째, 다양성을 반영하는 것입니다. 아이들마다 발달 속도, 기질, 자라 온 문화적 배경이 모두 다릅니다. 특히 영아는 한 명 한 명의 차이가 크고 몇 개월 차이로도 많이 달라서, 반 전체 계획보다 개인별 보육계획이 더 알맞습니다. 누리과정도 나이별로 되어 있지만, 실제로 쓸 때는 아이 한 명 한 명을 평가해서 수준에 맞는 계획을 세우는 것이 좋습니다.
또 우리 사회가 다문화 사회가 된 만큼, 아이와 가정의 다양성을 담은 다문화교육도 계획해야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정리하겠습니다.
교육과정은 목표, 내용, 방법, 평가의 네 가지 요소로 이루어지고, 이것은 교육이 진행되는 순서이기도 합니다.
그리고 영유아교육과정은 네 가지 특징을 가져야 합니다. 여러 내용을 통합하고, 놀이를 중심으로 하고, 아이의 흥미와 요구를 반영하고, 아이마다 다른 다양성을 반영하는 것입니다.
한마디로, 아이가 놀이 속에서 자연스럽게 배우도록 짜는 것이 영유아교육과정 구성의 핵심입니다.
이상으로 발표를 마치겠습니다. 들어 주셔서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5E8C6A"/>
        </a:solidFill>
      </p:bgPr>
    </p:bg>
    <p:spTree>
      <p:nvGrpSpPr>
        <p:cNvPr id="1" name=""/>
        <p:cNvGrpSpPr/>
        <p:nvPr/>
      </p:nvGrpSpPr>
      <p:grpSpPr>
        <a:xfrm>
          <a:off x="0" y="0"/>
          <a:ext cx="0" cy="0"/>
          <a:chOff x="0" y="0"/>
          <a:chExt cx="0" cy="0"/>
        </a:xfrm>
      </p:grpSpPr>
      <p:sp>
        <p:nvSpPr>
          <p:cNvPr id="2" name="Shape 0"/>
          <p:cNvSpPr/>
          <p:nvPr/>
        </p:nvSpPr>
        <p:spPr>
          <a:xfrm>
            <a:off x="6400800" y="-274320"/>
            <a:ext cx="2926080" cy="2926080"/>
          </a:xfrm>
          <a:prstGeom prst="ellipse">
            <a:avLst/>
          </a:prstGeom>
          <a:solidFill>
            <a:srgbClr val="7FA88A"/>
          </a:solidFill>
          <a:ln/>
        </p:spPr>
      </p:sp>
      <p:sp>
        <p:nvSpPr>
          <p:cNvPr id="3" name="Shape 1"/>
          <p:cNvSpPr/>
          <p:nvPr/>
        </p:nvSpPr>
        <p:spPr>
          <a:xfrm>
            <a:off x="6766560" y="91440"/>
            <a:ext cx="2194560" cy="2194560"/>
          </a:xfrm>
          <a:prstGeom prst="ellipse">
            <a:avLst/>
          </a:prstGeom>
          <a:solidFill>
            <a:srgbClr val="A9CBB0"/>
          </a:solidFill>
          <a:ln/>
        </p:spPr>
      </p:sp>
      <p:sp>
        <p:nvSpPr>
          <p:cNvPr id="4" name="Shape 2"/>
          <p:cNvSpPr/>
          <p:nvPr/>
        </p:nvSpPr>
        <p:spPr>
          <a:xfrm>
            <a:off x="7132320" y="457200"/>
            <a:ext cx="1463040" cy="1463040"/>
          </a:xfrm>
          <a:prstGeom prst="ellipse">
            <a:avLst/>
          </a:prstGeom>
          <a:solidFill>
            <a:srgbClr val="DCEBDD"/>
          </a:solidFill>
          <a:ln/>
        </p:spPr>
      </p:sp>
      <p:sp>
        <p:nvSpPr>
          <p:cNvPr id="5" name="Shape 3"/>
          <p:cNvSpPr/>
          <p:nvPr/>
        </p:nvSpPr>
        <p:spPr>
          <a:xfrm>
            <a:off x="7498080" y="822960"/>
            <a:ext cx="731520" cy="731520"/>
          </a:xfrm>
          <a:prstGeom prst="ellipse">
            <a:avLst/>
          </a:prstGeom>
          <a:solidFill>
            <a:srgbClr val="F5D07A"/>
          </a:solidFill>
          <a:ln/>
        </p:spPr>
      </p:sp>
      <p:sp>
        <p:nvSpPr>
          <p:cNvPr id="6" name="Shape 4"/>
          <p:cNvSpPr/>
          <p:nvPr/>
        </p:nvSpPr>
        <p:spPr>
          <a:xfrm>
            <a:off x="7863840" y="3566160"/>
            <a:ext cx="1463040" cy="1463040"/>
          </a:xfrm>
          <a:prstGeom prst="ellipse">
            <a:avLst/>
          </a:prstGeom>
          <a:solidFill>
            <a:srgbClr val="F2A27E"/>
          </a:solidFill>
          <a:ln/>
        </p:spPr>
      </p:sp>
      <p:sp>
        <p:nvSpPr>
          <p:cNvPr id="7" name="Shape 5"/>
          <p:cNvSpPr/>
          <p:nvPr/>
        </p:nvSpPr>
        <p:spPr>
          <a:xfrm>
            <a:off x="8107680" y="3810000"/>
            <a:ext cx="975360" cy="975360"/>
          </a:xfrm>
          <a:prstGeom prst="ellipse">
            <a:avLst/>
          </a:prstGeom>
          <a:solidFill>
            <a:srgbClr val="FCE4D8"/>
          </a:solidFill>
          <a:ln/>
        </p:spPr>
      </p:sp>
      <p:sp>
        <p:nvSpPr>
          <p:cNvPr id="8" name="Shape 6"/>
          <p:cNvSpPr/>
          <p:nvPr/>
        </p:nvSpPr>
        <p:spPr>
          <a:xfrm>
            <a:off x="8351520" y="4053840"/>
            <a:ext cx="487680" cy="487680"/>
          </a:xfrm>
          <a:prstGeom prst="ellipse">
            <a:avLst/>
          </a:prstGeom>
          <a:solidFill>
            <a:srgbClr val="F2A27E"/>
          </a:solidFill>
          <a:ln/>
        </p:spPr>
      </p:sp>
      <p:sp>
        <p:nvSpPr>
          <p:cNvPr id="9" name="Text 7"/>
          <p:cNvSpPr txBox="1"/>
          <p:nvPr/>
        </p:nvSpPr>
        <p:spPr>
          <a:xfrm>
            <a:off x="640080" y="1234440"/>
            <a:ext cx="5486400" cy="365760"/>
          </a:xfrm>
          <a:prstGeom prst="rect">
            <a:avLst/>
          </a:prstGeom>
          <a:noFill/>
          <a:ln/>
        </p:spPr>
        <p:txBody>
          <a:bodyPr wrap="square" lIns="0" tIns="0" rIns="0" bIns="0" rtlCol="0" anchor="ctr"/>
          <a:lstStyle/>
          <a:p>
            <a:pPr indent="0" marL="0">
              <a:buNone/>
            </a:pPr>
            <a:r>
              <a:rPr lang="en-US" sz="1600" dirty="0">
                <a:solidFill>
                  <a:srgbClr val="FDF3D6"/>
                </a:solidFill>
                <a:latin typeface="Malgun Gothic" pitchFamily="34" charset="0"/>
                <a:ea typeface="Malgun Gothic" pitchFamily="34" charset="-122"/>
                <a:cs typeface="Malgun Gothic" pitchFamily="34" charset="-120"/>
              </a:rPr>
              <a:t>05  교육과정의 계획과 운영</a:t>
            </a:r>
            <a:endParaRPr lang="en-US" sz="1600" dirty="0"/>
          </a:p>
        </p:txBody>
      </p:sp>
      <p:sp>
        <p:nvSpPr>
          <p:cNvPr id="10" name="Text 8"/>
          <p:cNvSpPr txBox="1"/>
          <p:nvPr/>
        </p:nvSpPr>
        <p:spPr>
          <a:xfrm>
            <a:off x="640080" y="1645920"/>
            <a:ext cx="6400800" cy="914400"/>
          </a:xfrm>
          <a:prstGeom prst="rect">
            <a:avLst/>
          </a:prstGeom>
          <a:noFill/>
          <a:ln/>
        </p:spPr>
        <p:txBody>
          <a:bodyPr wrap="square" lIns="0" tIns="0" rIns="0" bIns="0" rtlCol="0" anchor="ctr"/>
          <a:lstStyle/>
          <a:p>
            <a:pPr indent="0" marL="0">
              <a:buNone/>
            </a:pPr>
            <a:r>
              <a:rPr lang="en-US" sz="4400" b="1" dirty="0">
                <a:solidFill>
                  <a:srgbClr val="FFFFFF"/>
                </a:solidFill>
                <a:latin typeface="Malgun Gothic" pitchFamily="34" charset="0"/>
                <a:ea typeface="Malgun Gothic" pitchFamily="34" charset="-122"/>
                <a:cs typeface="Malgun Gothic" pitchFamily="34" charset="-120"/>
              </a:rPr>
              <a:t>영유아교육과정의 구성</a:t>
            </a:r>
            <a:endParaRPr lang="en-US" sz="4400" dirty="0"/>
          </a:p>
        </p:txBody>
      </p:sp>
      <p:sp>
        <p:nvSpPr>
          <p:cNvPr id="11" name="Text 9"/>
          <p:cNvSpPr txBox="1"/>
          <p:nvPr/>
        </p:nvSpPr>
        <p:spPr>
          <a:xfrm>
            <a:off x="640080" y="2606040"/>
            <a:ext cx="6400800" cy="411480"/>
          </a:xfrm>
          <a:prstGeom prst="rect">
            <a:avLst/>
          </a:prstGeom>
          <a:noFill/>
          <a:ln/>
        </p:spPr>
        <p:txBody>
          <a:bodyPr wrap="square" lIns="0" tIns="0" rIns="0" bIns="0" rtlCol="0" anchor="ctr"/>
          <a:lstStyle/>
          <a:p>
            <a:pPr indent="0" marL="0">
              <a:buNone/>
            </a:pPr>
            <a:r>
              <a:rPr lang="en-US" sz="1800" dirty="0">
                <a:solidFill>
                  <a:srgbClr val="FFFFFF"/>
                </a:solidFill>
                <a:latin typeface="Malgun Gothic" pitchFamily="34" charset="0"/>
                <a:ea typeface="Malgun Gothic" pitchFamily="34" charset="-122"/>
                <a:cs typeface="Malgun Gothic" pitchFamily="34" charset="-120"/>
              </a:rPr>
              <a:t>구성 요소와 구성의 네 가지 특징</a:t>
            </a:r>
            <a:endParaRPr lang="en-US" sz="1800" dirty="0"/>
          </a:p>
        </p:txBody>
      </p:sp>
      <p:sp>
        <p:nvSpPr>
          <p:cNvPr id="12" name="Text 10"/>
          <p:cNvSpPr txBox="1"/>
          <p:nvPr/>
        </p:nvSpPr>
        <p:spPr>
          <a:xfrm>
            <a:off x="640080" y="3931920"/>
            <a:ext cx="5486400" cy="365760"/>
          </a:xfrm>
          <a:prstGeom prst="rect">
            <a:avLst/>
          </a:prstGeom>
          <a:noFill/>
          <a:ln/>
        </p:spPr>
        <p:txBody>
          <a:bodyPr wrap="square" lIns="0" tIns="0" rIns="0" bIns="0" rtlCol="0" anchor="ctr"/>
          <a:lstStyle/>
          <a:p>
            <a:pPr indent="0" marL="0">
              <a:buNone/>
            </a:pPr>
            <a:r>
              <a:rPr lang="en-US" sz="1400" dirty="0">
                <a:solidFill>
                  <a:srgbClr val="DCEBDD"/>
                </a:solidFill>
                <a:latin typeface="Malgun Gothic" pitchFamily="34" charset="0"/>
                <a:ea typeface="Malgun Gothic" pitchFamily="34" charset="-122"/>
                <a:cs typeface="Malgun Gothic" pitchFamily="34" charset="-120"/>
              </a:rPr>
              <a:t>과목명  |  학번  |  발표자 이름</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02920" cy="502920"/>
          </a:xfrm>
          <a:prstGeom prst="ellipse">
            <a:avLst/>
          </a:prstGeom>
          <a:solidFill>
            <a:srgbClr val="5E8C6A"/>
          </a:solidFill>
          <a:ln/>
        </p:spPr>
      </p:sp>
      <p:sp>
        <p:nvSpPr>
          <p:cNvPr id="3" name="Text 1"/>
          <p:cNvSpPr txBox="1"/>
          <p:nvPr/>
        </p:nvSpPr>
        <p:spPr>
          <a:xfrm>
            <a:off x="457200" y="38404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02</a:t>
            </a:r>
            <a:endParaRPr lang="en-US" sz="1400" dirty="0"/>
          </a:p>
        </p:txBody>
      </p:sp>
      <p:sp>
        <p:nvSpPr>
          <p:cNvPr id="4" name="Text 2"/>
          <p:cNvSpPr txBox="1"/>
          <p:nvPr/>
        </p:nvSpPr>
        <p:spPr>
          <a:xfrm>
            <a:off x="1097280" y="320040"/>
            <a:ext cx="7589520" cy="640080"/>
          </a:xfrm>
          <a:prstGeom prst="rect">
            <a:avLst/>
          </a:prstGeom>
          <a:noFill/>
          <a:ln/>
        </p:spPr>
        <p:txBody>
          <a:bodyPr wrap="square" lIns="0" tIns="0" rIns="0" bIns="0" rtlCol="0" anchor="ctr"/>
          <a:lstStyle/>
          <a:p>
            <a:pPr indent="0" marL="0">
              <a:buNone/>
            </a:pPr>
            <a:r>
              <a:rPr lang="en-US" sz="2800" b="1" dirty="0">
                <a:solidFill>
                  <a:srgbClr val="33413A"/>
                </a:solidFill>
                <a:latin typeface="Malgun Gothic" pitchFamily="34" charset="0"/>
                <a:ea typeface="Malgun Gothic" pitchFamily="34" charset="-122"/>
                <a:cs typeface="Malgun Gothic" pitchFamily="34" charset="-120"/>
              </a:rPr>
              <a:t>교육과정의 구성 요소</a:t>
            </a:r>
            <a:endParaRPr lang="en-US" sz="2800" dirty="0"/>
          </a:p>
        </p:txBody>
      </p:sp>
      <p:sp>
        <p:nvSpPr>
          <p:cNvPr id="5" name="Text 3"/>
          <p:cNvSpPr txBox="1"/>
          <p:nvPr/>
        </p:nvSpPr>
        <p:spPr>
          <a:xfrm>
            <a:off x="1097280" y="914400"/>
            <a:ext cx="7589520" cy="274320"/>
          </a:xfrm>
          <a:prstGeom prst="rect">
            <a:avLst/>
          </a:prstGeom>
          <a:noFill/>
          <a:ln/>
        </p:spPr>
        <p:txBody>
          <a:bodyPr wrap="square" lIns="0" tIns="0" rIns="0" bIns="0" rtlCol="0" anchor="ctr"/>
          <a:lstStyle/>
          <a:p>
            <a:pPr indent="0" marL="0">
              <a:buNone/>
            </a:pPr>
            <a:r>
              <a:rPr lang="en-US" sz="1300" dirty="0">
                <a:solidFill>
                  <a:srgbClr val="6E7B73"/>
                </a:solidFill>
                <a:latin typeface="Malgun Gothic" pitchFamily="34" charset="0"/>
                <a:ea typeface="Malgun Gothic" pitchFamily="34" charset="-122"/>
                <a:cs typeface="Malgun Gothic" pitchFamily="34" charset="-120"/>
              </a:rPr>
              <a:t>타일러(Tyler)가 제시한 네 가지 질문</a:t>
            </a:r>
            <a:endParaRPr lang="en-US" sz="1300" dirty="0"/>
          </a:p>
        </p:txBody>
      </p:sp>
      <p:sp>
        <p:nvSpPr>
          <p:cNvPr id="6" name="Shape 4"/>
          <p:cNvSpPr/>
          <p:nvPr/>
        </p:nvSpPr>
        <p:spPr>
          <a:xfrm>
            <a:off x="457200" y="1371600"/>
            <a:ext cx="1920240" cy="2834640"/>
          </a:xfrm>
          <a:prstGeom prst="roundRect">
            <a:avLst>
              <a:gd name="adj" fmla="val 7143"/>
            </a:avLst>
          </a:prstGeom>
          <a:solidFill>
            <a:srgbClr val="FCE4D8"/>
          </a:solidFill>
          <a:ln/>
        </p:spPr>
      </p:sp>
      <p:sp>
        <p:nvSpPr>
          <p:cNvPr id="7" name="Shape 5"/>
          <p:cNvSpPr/>
          <p:nvPr/>
        </p:nvSpPr>
        <p:spPr>
          <a:xfrm>
            <a:off x="1097280" y="1600200"/>
            <a:ext cx="640080" cy="640080"/>
          </a:xfrm>
          <a:prstGeom prst="ellipse">
            <a:avLst/>
          </a:prstGeom>
          <a:solidFill>
            <a:srgbClr val="F2A27E"/>
          </a:solidFill>
          <a:ln/>
        </p:spPr>
      </p:sp>
      <p:pic>
        <p:nvPicPr>
          <p:cNvPr id="8" name="Image 0" descr="preencoded.png">    </p:cNvPr>
          <p:cNvPicPr>
            <a:picLocks noChangeAspect="1"/>
          </p:cNvPicPr>
          <p:nvPr/>
        </p:nvPicPr>
        <p:blipFill>
          <a:blip r:embed="rId1"/>
          <a:stretch>
            <a:fillRect/>
          </a:stretch>
        </p:blipFill>
        <p:spPr>
          <a:xfrm>
            <a:off x="1257300" y="1760220"/>
            <a:ext cx="320040" cy="320040"/>
          </a:xfrm>
          <a:prstGeom prst="rect">
            <a:avLst/>
          </a:prstGeom>
        </p:spPr>
      </p:pic>
      <p:sp>
        <p:nvSpPr>
          <p:cNvPr id="9" name="Text 6"/>
          <p:cNvSpPr txBox="1"/>
          <p:nvPr/>
        </p:nvSpPr>
        <p:spPr>
          <a:xfrm>
            <a:off x="594360" y="2423160"/>
            <a:ext cx="1645920" cy="822960"/>
          </a:xfrm>
          <a:prstGeom prst="rect">
            <a:avLst/>
          </a:prstGeom>
          <a:noFill/>
          <a:ln/>
        </p:spPr>
        <p:txBody>
          <a:bodyPr wrap="square" lIns="0" tIns="0" rIns="0" bIns="0" rtlCol="0" anchor="t"/>
          <a:lstStyle/>
          <a:p>
            <a:pPr algn="ctr" indent="0" marL="0">
              <a:buNone/>
            </a:pPr>
            <a:r>
              <a:rPr lang="en-US" sz="1200" dirty="0">
                <a:solidFill>
                  <a:srgbClr val="6E7B73"/>
                </a:solidFill>
                <a:latin typeface="Malgun Gothic" pitchFamily="34" charset="0"/>
                <a:ea typeface="Malgun Gothic" pitchFamily="34" charset="-122"/>
                <a:cs typeface="Malgun Gothic" pitchFamily="34" charset="-120"/>
              </a:rPr>
              <a:t>학교가 성취해야 할</a:t>
            </a:r>
            <a:endParaRPr lang="en-US" sz="1200" dirty="0"/>
          </a:p>
          <a:p>
            <a:pPr algn="ctr" indent="0" marL="0">
              <a:buNone/>
            </a:pPr>
            <a:r>
              <a:rPr lang="en-US" sz="1200" dirty="0">
                <a:solidFill>
                  <a:srgbClr val="6E7B73"/>
                </a:solidFill>
                <a:latin typeface="Malgun Gothic" pitchFamily="34" charset="0"/>
                <a:ea typeface="Malgun Gothic" pitchFamily="34" charset="-122"/>
                <a:cs typeface="Malgun Gothic" pitchFamily="34" charset="-120"/>
              </a:rPr>
              <a:t>교육목표는 무엇인가?</a:t>
            </a:r>
            <a:endParaRPr lang="en-US" sz="1200" dirty="0"/>
          </a:p>
        </p:txBody>
      </p:sp>
      <p:sp>
        <p:nvSpPr>
          <p:cNvPr id="10" name="Text 7"/>
          <p:cNvSpPr txBox="1"/>
          <p:nvPr/>
        </p:nvSpPr>
        <p:spPr>
          <a:xfrm>
            <a:off x="594360" y="3200400"/>
            <a:ext cx="1645920" cy="274320"/>
          </a:xfrm>
          <a:prstGeom prst="rect">
            <a:avLst/>
          </a:prstGeom>
          <a:noFill/>
          <a:ln/>
        </p:spPr>
        <p:txBody>
          <a:bodyPr wrap="square" lIns="0" tIns="0" rIns="0" bIns="0" rtlCol="0" anchor="ctr"/>
          <a:lstStyle/>
          <a:p>
            <a:pPr algn="ctr" indent="0" marL="0">
              <a:buNone/>
            </a:pPr>
            <a:r>
              <a:rPr lang="en-US" sz="1100" dirty="0">
                <a:solidFill>
                  <a:srgbClr val="F2A27E"/>
                </a:solidFill>
                <a:latin typeface="Malgun Gothic" pitchFamily="34" charset="0"/>
                <a:ea typeface="Malgun Gothic" pitchFamily="34" charset="-122"/>
                <a:cs typeface="Malgun Gothic" pitchFamily="34" charset="-120"/>
              </a:rPr>
              <a:t>▼</a:t>
            </a:r>
            <a:endParaRPr lang="en-US" sz="1100" dirty="0"/>
          </a:p>
        </p:txBody>
      </p:sp>
      <p:sp>
        <p:nvSpPr>
          <p:cNvPr id="11" name="Text 8"/>
          <p:cNvSpPr txBox="1"/>
          <p:nvPr/>
        </p:nvSpPr>
        <p:spPr>
          <a:xfrm>
            <a:off x="548640" y="3520440"/>
            <a:ext cx="1737360" cy="457200"/>
          </a:xfrm>
          <a:prstGeom prst="rect">
            <a:avLst/>
          </a:prstGeom>
          <a:noFill/>
          <a:ln/>
        </p:spPr>
        <p:txBody>
          <a:bodyPr wrap="square" lIns="0" tIns="0" rIns="0" bIns="0" rtlCol="0" anchor="ctr"/>
          <a:lstStyle/>
          <a:p>
            <a:pPr algn="ctr" indent="0" marL="0">
              <a:buNone/>
            </a:pPr>
            <a:r>
              <a:rPr lang="en-US" sz="1700" b="1" dirty="0">
                <a:solidFill>
                  <a:srgbClr val="33413A"/>
                </a:solidFill>
                <a:latin typeface="Malgun Gothic" pitchFamily="34" charset="0"/>
                <a:ea typeface="Malgun Gothic" pitchFamily="34" charset="-122"/>
                <a:cs typeface="Malgun Gothic" pitchFamily="34" charset="-120"/>
              </a:rPr>
              <a:t>교육목표</a:t>
            </a:r>
            <a:endParaRPr lang="en-US" sz="1700" dirty="0"/>
          </a:p>
        </p:txBody>
      </p:sp>
      <p:sp>
        <p:nvSpPr>
          <p:cNvPr id="12" name="Shape 9"/>
          <p:cNvSpPr/>
          <p:nvPr/>
        </p:nvSpPr>
        <p:spPr>
          <a:xfrm>
            <a:off x="2560320" y="1371600"/>
            <a:ext cx="1920240" cy="2834640"/>
          </a:xfrm>
          <a:prstGeom prst="roundRect">
            <a:avLst>
              <a:gd name="adj" fmla="val 7143"/>
            </a:avLst>
          </a:prstGeom>
          <a:solidFill>
            <a:srgbClr val="FDF3D6"/>
          </a:solidFill>
          <a:ln/>
        </p:spPr>
      </p:sp>
      <p:sp>
        <p:nvSpPr>
          <p:cNvPr id="13" name="Shape 10"/>
          <p:cNvSpPr/>
          <p:nvPr/>
        </p:nvSpPr>
        <p:spPr>
          <a:xfrm>
            <a:off x="3200400" y="1600200"/>
            <a:ext cx="640080" cy="640080"/>
          </a:xfrm>
          <a:prstGeom prst="ellipse">
            <a:avLst/>
          </a:prstGeom>
          <a:solidFill>
            <a:srgbClr val="F5D07A"/>
          </a:solidFill>
          <a:ln/>
        </p:spPr>
      </p:sp>
      <p:pic>
        <p:nvPicPr>
          <p:cNvPr id="14" name="Image 1" descr="preencoded.png">    </p:cNvPr>
          <p:cNvPicPr>
            <a:picLocks noChangeAspect="1"/>
          </p:cNvPicPr>
          <p:nvPr/>
        </p:nvPicPr>
        <p:blipFill>
          <a:blip r:embed="rId2"/>
          <a:stretch>
            <a:fillRect/>
          </a:stretch>
        </p:blipFill>
        <p:spPr>
          <a:xfrm>
            <a:off x="3360420" y="1760220"/>
            <a:ext cx="320040" cy="320040"/>
          </a:xfrm>
          <a:prstGeom prst="rect">
            <a:avLst/>
          </a:prstGeom>
        </p:spPr>
      </p:pic>
      <p:sp>
        <p:nvSpPr>
          <p:cNvPr id="15" name="Text 11"/>
          <p:cNvSpPr txBox="1"/>
          <p:nvPr/>
        </p:nvSpPr>
        <p:spPr>
          <a:xfrm>
            <a:off x="2697480" y="2423160"/>
            <a:ext cx="1645920" cy="822960"/>
          </a:xfrm>
          <a:prstGeom prst="rect">
            <a:avLst/>
          </a:prstGeom>
          <a:noFill/>
          <a:ln/>
        </p:spPr>
        <p:txBody>
          <a:bodyPr wrap="square" lIns="0" tIns="0" rIns="0" bIns="0" rtlCol="0" anchor="t"/>
          <a:lstStyle/>
          <a:p>
            <a:pPr algn="ctr" indent="0" marL="0">
              <a:buNone/>
            </a:pPr>
            <a:r>
              <a:rPr lang="en-US" sz="1200" dirty="0">
                <a:solidFill>
                  <a:srgbClr val="6E7B73"/>
                </a:solidFill>
                <a:latin typeface="Malgun Gothic" pitchFamily="34" charset="0"/>
                <a:ea typeface="Malgun Gothic" pitchFamily="34" charset="-122"/>
                <a:cs typeface="Malgun Gothic" pitchFamily="34" charset="-120"/>
              </a:rPr>
              <a:t>목표 달성을 위해 어떤</a:t>
            </a:r>
            <a:endParaRPr lang="en-US" sz="1200" dirty="0"/>
          </a:p>
          <a:p>
            <a:pPr algn="ctr" indent="0" marL="0">
              <a:buNone/>
            </a:pPr>
            <a:r>
              <a:rPr lang="en-US" sz="1200" dirty="0">
                <a:solidFill>
                  <a:srgbClr val="6E7B73"/>
                </a:solidFill>
                <a:latin typeface="Malgun Gothic" pitchFamily="34" charset="0"/>
                <a:ea typeface="Malgun Gothic" pitchFamily="34" charset="-122"/>
                <a:cs typeface="Malgun Gothic" pitchFamily="34" charset="-120"/>
              </a:rPr>
              <a:t>교육적 경험을 제공할까?</a:t>
            </a:r>
            <a:endParaRPr lang="en-US" sz="1200" dirty="0"/>
          </a:p>
        </p:txBody>
      </p:sp>
      <p:sp>
        <p:nvSpPr>
          <p:cNvPr id="16" name="Text 12"/>
          <p:cNvSpPr txBox="1"/>
          <p:nvPr/>
        </p:nvSpPr>
        <p:spPr>
          <a:xfrm>
            <a:off x="2697480" y="3200400"/>
            <a:ext cx="1645920" cy="274320"/>
          </a:xfrm>
          <a:prstGeom prst="rect">
            <a:avLst/>
          </a:prstGeom>
          <a:noFill/>
          <a:ln/>
        </p:spPr>
        <p:txBody>
          <a:bodyPr wrap="square" lIns="0" tIns="0" rIns="0" bIns="0" rtlCol="0" anchor="ctr"/>
          <a:lstStyle/>
          <a:p>
            <a:pPr algn="ctr" indent="0" marL="0">
              <a:buNone/>
            </a:pPr>
            <a:r>
              <a:rPr lang="en-US" sz="1100" dirty="0">
                <a:solidFill>
                  <a:srgbClr val="B08A2E"/>
                </a:solidFill>
                <a:latin typeface="Malgun Gothic" pitchFamily="34" charset="0"/>
                <a:ea typeface="Malgun Gothic" pitchFamily="34" charset="-122"/>
                <a:cs typeface="Malgun Gothic" pitchFamily="34" charset="-120"/>
              </a:rPr>
              <a:t>▼</a:t>
            </a:r>
            <a:endParaRPr lang="en-US" sz="1100" dirty="0"/>
          </a:p>
        </p:txBody>
      </p:sp>
      <p:sp>
        <p:nvSpPr>
          <p:cNvPr id="17" name="Text 13"/>
          <p:cNvSpPr txBox="1"/>
          <p:nvPr/>
        </p:nvSpPr>
        <p:spPr>
          <a:xfrm>
            <a:off x="2651760" y="3520440"/>
            <a:ext cx="1737360" cy="457200"/>
          </a:xfrm>
          <a:prstGeom prst="rect">
            <a:avLst/>
          </a:prstGeom>
          <a:noFill/>
          <a:ln/>
        </p:spPr>
        <p:txBody>
          <a:bodyPr wrap="square" lIns="0" tIns="0" rIns="0" bIns="0" rtlCol="0" anchor="ctr"/>
          <a:lstStyle/>
          <a:p>
            <a:pPr algn="ctr" indent="0" marL="0">
              <a:buNone/>
            </a:pPr>
            <a:r>
              <a:rPr lang="en-US" sz="1700" b="1" dirty="0">
                <a:solidFill>
                  <a:srgbClr val="33413A"/>
                </a:solidFill>
                <a:latin typeface="Malgun Gothic" pitchFamily="34" charset="0"/>
                <a:ea typeface="Malgun Gothic" pitchFamily="34" charset="-122"/>
                <a:cs typeface="Malgun Gothic" pitchFamily="34" charset="-120"/>
              </a:rPr>
              <a:t>교육내용</a:t>
            </a:r>
            <a:endParaRPr lang="en-US" sz="1700" dirty="0"/>
          </a:p>
        </p:txBody>
      </p:sp>
      <p:sp>
        <p:nvSpPr>
          <p:cNvPr id="18" name="Shape 14"/>
          <p:cNvSpPr/>
          <p:nvPr/>
        </p:nvSpPr>
        <p:spPr>
          <a:xfrm>
            <a:off x="4663440" y="1371600"/>
            <a:ext cx="1920240" cy="2834640"/>
          </a:xfrm>
          <a:prstGeom prst="roundRect">
            <a:avLst>
              <a:gd name="adj" fmla="val 7143"/>
            </a:avLst>
          </a:prstGeom>
          <a:solidFill>
            <a:srgbClr val="DCEBDD"/>
          </a:solidFill>
          <a:ln/>
        </p:spPr>
      </p:sp>
      <p:sp>
        <p:nvSpPr>
          <p:cNvPr id="19" name="Shape 15"/>
          <p:cNvSpPr/>
          <p:nvPr/>
        </p:nvSpPr>
        <p:spPr>
          <a:xfrm>
            <a:off x="5303520" y="1600200"/>
            <a:ext cx="640080" cy="640080"/>
          </a:xfrm>
          <a:prstGeom prst="ellipse">
            <a:avLst/>
          </a:prstGeom>
          <a:solidFill>
            <a:srgbClr val="5E8C6A"/>
          </a:solidFill>
          <a:ln/>
        </p:spPr>
      </p:sp>
      <p:pic>
        <p:nvPicPr>
          <p:cNvPr id="20" name="Image 2" descr="preencoded.png">    </p:cNvPr>
          <p:cNvPicPr>
            <a:picLocks noChangeAspect="1"/>
          </p:cNvPicPr>
          <p:nvPr/>
        </p:nvPicPr>
        <p:blipFill>
          <a:blip r:embed="rId3"/>
          <a:stretch>
            <a:fillRect/>
          </a:stretch>
        </p:blipFill>
        <p:spPr>
          <a:xfrm>
            <a:off x="5463540" y="1760220"/>
            <a:ext cx="320040" cy="320040"/>
          </a:xfrm>
          <a:prstGeom prst="rect">
            <a:avLst/>
          </a:prstGeom>
        </p:spPr>
      </p:pic>
      <p:sp>
        <p:nvSpPr>
          <p:cNvPr id="21" name="Text 16"/>
          <p:cNvSpPr txBox="1"/>
          <p:nvPr/>
        </p:nvSpPr>
        <p:spPr>
          <a:xfrm>
            <a:off x="4800600" y="2423160"/>
            <a:ext cx="1645920" cy="822960"/>
          </a:xfrm>
          <a:prstGeom prst="rect">
            <a:avLst/>
          </a:prstGeom>
          <a:noFill/>
          <a:ln/>
        </p:spPr>
        <p:txBody>
          <a:bodyPr wrap="square" lIns="0" tIns="0" rIns="0" bIns="0" rtlCol="0" anchor="t"/>
          <a:lstStyle/>
          <a:p>
            <a:pPr algn="ctr" indent="0" marL="0">
              <a:buNone/>
            </a:pPr>
            <a:r>
              <a:rPr lang="en-US" sz="1200" dirty="0">
                <a:solidFill>
                  <a:srgbClr val="6E7B73"/>
                </a:solidFill>
                <a:latin typeface="Malgun Gothic" pitchFamily="34" charset="0"/>
                <a:ea typeface="Malgun Gothic" pitchFamily="34" charset="-122"/>
                <a:cs typeface="Malgun Gothic" pitchFamily="34" charset="-120"/>
              </a:rPr>
              <a:t>교육적 경험을 어떻게</a:t>
            </a:r>
            <a:endParaRPr lang="en-US" sz="1200" dirty="0"/>
          </a:p>
          <a:p>
            <a:pPr algn="ctr" indent="0" marL="0">
              <a:buNone/>
            </a:pPr>
            <a:r>
              <a:rPr lang="en-US" sz="1200" dirty="0">
                <a:solidFill>
                  <a:srgbClr val="6E7B73"/>
                </a:solidFill>
                <a:latin typeface="Malgun Gothic" pitchFamily="34" charset="0"/>
                <a:ea typeface="Malgun Gothic" pitchFamily="34" charset="-122"/>
                <a:cs typeface="Malgun Gothic" pitchFamily="34" charset="-120"/>
              </a:rPr>
              <a:t>효과적으로 조직할까?</a:t>
            </a:r>
            <a:endParaRPr lang="en-US" sz="1200" dirty="0"/>
          </a:p>
        </p:txBody>
      </p:sp>
      <p:sp>
        <p:nvSpPr>
          <p:cNvPr id="22" name="Text 17"/>
          <p:cNvSpPr txBox="1"/>
          <p:nvPr/>
        </p:nvSpPr>
        <p:spPr>
          <a:xfrm>
            <a:off x="4800600" y="3200400"/>
            <a:ext cx="1645920" cy="274320"/>
          </a:xfrm>
          <a:prstGeom prst="rect">
            <a:avLst/>
          </a:prstGeom>
          <a:noFill/>
          <a:ln/>
        </p:spPr>
        <p:txBody>
          <a:bodyPr wrap="square" lIns="0" tIns="0" rIns="0" bIns="0" rtlCol="0" anchor="ctr"/>
          <a:lstStyle/>
          <a:p>
            <a:pPr algn="ctr" indent="0" marL="0">
              <a:buNone/>
            </a:pPr>
            <a:r>
              <a:rPr lang="en-US" sz="1100" dirty="0">
                <a:solidFill>
                  <a:srgbClr val="5E8C6A"/>
                </a:solidFill>
                <a:latin typeface="Malgun Gothic" pitchFamily="34" charset="0"/>
                <a:ea typeface="Malgun Gothic" pitchFamily="34" charset="-122"/>
                <a:cs typeface="Malgun Gothic" pitchFamily="34" charset="-120"/>
              </a:rPr>
              <a:t>▼</a:t>
            </a:r>
            <a:endParaRPr lang="en-US" sz="1100" dirty="0"/>
          </a:p>
        </p:txBody>
      </p:sp>
      <p:sp>
        <p:nvSpPr>
          <p:cNvPr id="23" name="Text 18"/>
          <p:cNvSpPr txBox="1"/>
          <p:nvPr/>
        </p:nvSpPr>
        <p:spPr>
          <a:xfrm>
            <a:off x="4754880" y="3520440"/>
            <a:ext cx="1737360" cy="457200"/>
          </a:xfrm>
          <a:prstGeom prst="rect">
            <a:avLst/>
          </a:prstGeom>
          <a:noFill/>
          <a:ln/>
        </p:spPr>
        <p:txBody>
          <a:bodyPr wrap="square" lIns="0" tIns="0" rIns="0" bIns="0" rtlCol="0" anchor="ctr"/>
          <a:lstStyle/>
          <a:p>
            <a:pPr algn="ctr" indent="0" marL="0">
              <a:buNone/>
            </a:pPr>
            <a:r>
              <a:rPr lang="en-US" sz="1700" b="1" dirty="0">
                <a:solidFill>
                  <a:srgbClr val="33413A"/>
                </a:solidFill>
                <a:latin typeface="Malgun Gothic" pitchFamily="34" charset="0"/>
                <a:ea typeface="Malgun Gothic" pitchFamily="34" charset="-122"/>
                <a:cs typeface="Malgun Gothic" pitchFamily="34" charset="-120"/>
              </a:rPr>
              <a:t>교수-학습 방법</a:t>
            </a:r>
            <a:endParaRPr lang="en-US" sz="1700" dirty="0"/>
          </a:p>
        </p:txBody>
      </p:sp>
      <p:sp>
        <p:nvSpPr>
          <p:cNvPr id="24" name="Shape 19"/>
          <p:cNvSpPr/>
          <p:nvPr/>
        </p:nvSpPr>
        <p:spPr>
          <a:xfrm>
            <a:off x="6766560" y="1371600"/>
            <a:ext cx="1920240" cy="2834640"/>
          </a:xfrm>
          <a:prstGeom prst="roundRect">
            <a:avLst>
              <a:gd name="adj" fmla="val 7143"/>
            </a:avLst>
          </a:prstGeom>
          <a:solidFill>
            <a:srgbClr val="F9E1E3"/>
          </a:solidFill>
          <a:ln/>
        </p:spPr>
      </p:sp>
      <p:sp>
        <p:nvSpPr>
          <p:cNvPr id="25" name="Shape 20"/>
          <p:cNvSpPr/>
          <p:nvPr/>
        </p:nvSpPr>
        <p:spPr>
          <a:xfrm>
            <a:off x="7406640" y="1600200"/>
            <a:ext cx="640080" cy="640080"/>
          </a:xfrm>
          <a:prstGeom prst="ellipse">
            <a:avLst/>
          </a:prstGeom>
          <a:solidFill>
            <a:srgbClr val="E8A1A8"/>
          </a:solidFill>
          <a:ln/>
        </p:spPr>
      </p:sp>
      <p:pic>
        <p:nvPicPr>
          <p:cNvPr id="26" name="Image 3" descr="preencoded.png">    </p:cNvPr>
          <p:cNvPicPr>
            <a:picLocks noChangeAspect="1"/>
          </p:cNvPicPr>
          <p:nvPr/>
        </p:nvPicPr>
        <p:blipFill>
          <a:blip r:embed="rId4"/>
          <a:stretch>
            <a:fillRect/>
          </a:stretch>
        </p:blipFill>
        <p:spPr>
          <a:xfrm>
            <a:off x="7566660" y="1760220"/>
            <a:ext cx="320040" cy="320040"/>
          </a:xfrm>
          <a:prstGeom prst="rect">
            <a:avLst/>
          </a:prstGeom>
        </p:spPr>
      </p:pic>
      <p:sp>
        <p:nvSpPr>
          <p:cNvPr id="27" name="Text 21"/>
          <p:cNvSpPr txBox="1"/>
          <p:nvPr/>
        </p:nvSpPr>
        <p:spPr>
          <a:xfrm>
            <a:off x="6903720" y="2423160"/>
            <a:ext cx="1645920" cy="822960"/>
          </a:xfrm>
          <a:prstGeom prst="rect">
            <a:avLst/>
          </a:prstGeom>
          <a:noFill/>
          <a:ln/>
        </p:spPr>
        <p:txBody>
          <a:bodyPr wrap="square" lIns="0" tIns="0" rIns="0" bIns="0" rtlCol="0" anchor="t"/>
          <a:lstStyle/>
          <a:p>
            <a:pPr algn="ctr" indent="0" marL="0">
              <a:buNone/>
            </a:pPr>
            <a:r>
              <a:rPr lang="en-US" sz="1200" dirty="0">
                <a:solidFill>
                  <a:srgbClr val="6E7B73"/>
                </a:solidFill>
                <a:latin typeface="Malgun Gothic" pitchFamily="34" charset="0"/>
                <a:ea typeface="Malgun Gothic" pitchFamily="34" charset="-122"/>
                <a:cs typeface="Malgun Gothic" pitchFamily="34" charset="-120"/>
              </a:rPr>
              <a:t>목표가 달성되었는지</a:t>
            </a:r>
            <a:endParaRPr lang="en-US" sz="1200" dirty="0"/>
          </a:p>
          <a:p>
            <a:pPr algn="ctr" indent="0" marL="0">
              <a:buNone/>
            </a:pPr>
            <a:r>
              <a:rPr lang="en-US" sz="1200" dirty="0">
                <a:solidFill>
                  <a:srgbClr val="6E7B73"/>
                </a:solidFill>
                <a:latin typeface="Malgun Gothic" pitchFamily="34" charset="0"/>
                <a:ea typeface="Malgun Gothic" pitchFamily="34" charset="-122"/>
                <a:cs typeface="Malgun Gothic" pitchFamily="34" charset="-120"/>
              </a:rPr>
              <a:t>어떻게 알 수 있을까?</a:t>
            </a:r>
            <a:endParaRPr lang="en-US" sz="1200" dirty="0"/>
          </a:p>
        </p:txBody>
      </p:sp>
      <p:sp>
        <p:nvSpPr>
          <p:cNvPr id="28" name="Text 22"/>
          <p:cNvSpPr txBox="1"/>
          <p:nvPr/>
        </p:nvSpPr>
        <p:spPr>
          <a:xfrm>
            <a:off x="6903720" y="3200400"/>
            <a:ext cx="1645920" cy="274320"/>
          </a:xfrm>
          <a:prstGeom prst="rect">
            <a:avLst/>
          </a:prstGeom>
          <a:noFill/>
          <a:ln/>
        </p:spPr>
        <p:txBody>
          <a:bodyPr wrap="square" lIns="0" tIns="0" rIns="0" bIns="0" rtlCol="0" anchor="ctr"/>
          <a:lstStyle/>
          <a:p>
            <a:pPr algn="ctr" indent="0" marL="0">
              <a:buNone/>
            </a:pPr>
            <a:r>
              <a:rPr lang="en-US" sz="1100" dirty="0">
                <a:solidFill>
                  <a:srgbClr val="E8A1A8"/>
                </a:solidFill>
                <a:latin typeface="Malgun Gothic" pitchFamily="34" charset="0"/>
                <a:ea typeface="Malgun Gothic" pitchFamily="34" charset="-122"/>
                <a:cs typeface="Malgun Gothic" pitchFamily="34" charset="-120"/>
              </a:rPr>
              <a:t>▼</a:t>
            </a:r>
            <a:endParaRPr lang="en-US" sz="1100" dirty="0"/>
          </a:p>
        </p:txBody>
      </p:sp>
      <p:sp>
        <p:nvSpPr>
          <p:cNvPr id="29" name="Text 23"/>
          <p:cNvSpPr txBox="1"/>
          <p:nvPr/>
        </p:nvSpPr>
        <p:spPr>
          <a:xfrm>
            <a:off x="6858000" y="3520440"/>
            <a:ext cx="1737360" cy="457200"/>
          </a:xfrm>
          <a:prstGeom prst="rect">
            <a:avLst/>
          </a:prstGeom>
          <a:noFill/>
          <a:ln/>
        </p:spPr>
        <p:txBody>
          <a:bodyPr wrap="square" lIns="0" tIns="0" rIns="0" bIns="0" rtlCol="0" anchor="ctr"/>
          <a:lstStyle/>
          <a:p>
            <a:pPr algn="ctr" indent="0" marL="0">
              <a:buNone/>
            </a:pPr>
            <a:r>
              <a:rPr lang="en-US" sz="1700" b="1" dirty="0">
                <a:solidFill>
                  <a:srgbClr val="33413A"/>
                </a:solidFill>
                <a:latin typeface="Malgun Gothic" pitchFamily="34" charset="0"/>
                <a:ea typeface="Malgun Gothic" pitchFamily="34" charset="-122"/>
                <a:cs typeface="Malgun Gothic" pitchFamily="34" charset="-120"/>
              </a:rPr>
              <a:t>평가</a:t>
            </a:r>
            <a:endParaRPr lang="en-US" sz="1700" dirty="0"/>
          </a:p>
        </p:txBody>
      </p:sp>
      <p:sp>
        <p:nvSpPr>
          <p:cNvPr id="30" name="Text 24"/>
          <p:cNvSpPr txBox="1"/>
          <p:nvPr/>
        </p:nvSpPr>
        <p:spPr>
          <a:xfrm>
            <a:off x="457200" y="4434840"/>
            <a:ext cx="8229600" cy="320040"/>
          </a:xfrm>
          <a:prstGeom prst="rect">
            <a:avLst/>
          </a:prstGeom>
          <a:noFill/>
          <a:ln/>
        </p:spPr>
        <p:txBody>
          <a:bodyPr wrap="square" lIns="0" tIns="0" rIns="0" bIns="0" rtlCol="0" anchor="ctr"/>
          <a:lstStyle/>
          <a:p>
            <a:pPr indent="0" marL="0">
              <a:buNone/>
            </a:pPr>
            <a:r>
              <a:rPr lang="en-US" sz="1400" b="1" dirty="0">
                <a:solidFill>
                  <a:srgbClr val="5E8C6A"/>
                </a:solidFill>
                <a:latin typeface="Malgun Gothic" pitchFamily="34" charset="0"/>
                <a:ea typeface="Malgun Gothic" pitchFamily="34" charset="-122"/>
                <a:cs typeface="Malgun Gothic" pitchFamily="34" charset="-120"/>
              </a:rPr>
              <a:t>→ 우리나라 영유아교육과정에도 이 네 가지 요소가 포함된다</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02920" cy="502920"/>
          </a:xfrm>
          <a:prstGeom prst="ellipse">
            <a:avLst/>
          </a:prstGeom>
          <a:solidFill>
            <a:srgbClr val="5E8C6A"/>
          </a:solidFill>
          <a:ln/>
        </p:spPr>
      </p:sp>
      <p:sp>
        <p:nvSpPr>
          <p:cNvPr id="3" name="Text 1"/>
          <p:cNvSpPr txBox="1"/>
          <p:nvPr/>
        </p:nvSpPr>
        <p:spPr>
          <a:xfrm>
            <a:off x="457200" y="38404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03</a:t>
            </a:r>
            <a:endParaRPr lang="en-US" sz="1400" dirty="0"/>
          </a:p>
        </p:txBody>
      </p:sp>
      <p:sp>
        <p:nvSpPr>
          <p:cNvPr id="4" name="Text 2"/>
          <p:cNvSpPr txBox="1"/>
          <p:nvPr/>
        </p:nvSpPr>
        <p:spPr>
          <a:xfrm>
            <a:off x="1097280" y="320040"/>
            <a:ext cx="7589520" cy="640080"/>
          </a:xfrm>
          <a:prstGeom prst="rect">
            <a:avLst/>
          </a:prstGeom>
          <a:noFill/>
          <a:ln/>
        </p:spPr>
        <p:txBody>
          <a:bodyPr wrap="square" lIns="0" tIns="0" rIns="0" bIns="0" rtlCol="0" anchor="ctr"/>
          <a:lstStyle/>
          <a:p>
            <a:pPr indent="0" marL="0">
              <a:buNone/>
            </a:pPr>
            <a:r>
              <a:rPr lang="en-US" sz="2800" b="1" dirty="0">
                <a:solidFill>
                  <a:srgbClr val="33413A"/>
                </a:solidFill>
                <a:latin typeface="Malgun Gothic" pitchFamily="34" charset="0"/>
                <a:ea typeface="Malgun Gothic" pitchFamily="34" charset="-122"/>
                <a:cs typeface="Malgun Gothic" pitchFamily="34" charset="-120"/>
              </a:rPr>
              <a:t>구성 요소 = 교육과정의 실행 순서</a:t>
            </a:r>
            <a:endParaRPr lang="en-US" sz="2800" dirty="0"/>
          </a:p>
        </p:txBody>
      </p:sp>
      <p:sp>
        <p:nvSpPr>
          <p:cNvPr id="5" name="Shape 3"/>
          <p:cNvSpPr/>
          <p:nvPr/>
        </p:nvSpPr>
        <p:spPr>
          <a:xfrm>
            <a:off x="1188720" y="1645920"/>
            <a:ext cx="3200400" cy="2651760"/>
          </a:xfrm>
          <a:prstGeom prst="ellipse">
            <a:avLst/>
          </a:prstGeom>
          <a:noFill/>
          <a:ln w="38100">
            <a:solidFill>
              <a:srgbClr val="C9D6CC"/>
            </a:solidFill>
            <a:prstDash val="dash"/>
          </a:ln>
        </p:spPr>
      </p:sp>
      <p:sp>
        <p:nvSpPr>
          <p:cNvPr id="6" name="Text 4"/>
          <p:cNvSpPr txBox="1"/>
          <p:nvPr/>
        </p:nvSpPr>
        <p:spPr>
          <a:xfrm>
            <a:off x="2240280" y="2651760"/>
            <a:ext cx="1097280" cy="640080"/>
          </a:xfrm>
          <a:prstGeom prst="rect">
            <a:avLst/>
          </a:prstGeom>
          <a:noFill/>
          <a:ln/>
        </p:spPr>
        <p:txBody>
          <a:bodyPr wrap="square" lIns="0" tIns="0" rIns="0" bIns="0" rtlCol="0" anchor="ctr"/>
          <a:lstStyle/>
          <a:p>
            <a:pPr algn="ctr" indent="0" marL="0">
              <a:buNone/>
            </a:pPr>
            <a:r>
              <a:rPr lang="en-US" sz="1400" b="1" dirty="0">
                <a:solidFill>
                  <a:srgbClr val="6E7B73"/>
                </a:solidFill>
                <a:latin typeface="Malgun Gothic" pitchFamily="34" charset="0"/>
                <a:ea typeface="Malgun Gothic" pitchFamily="34" charset="-122"/>
                <a:cs typeface="Malgun Gothic" pitchFamily="34" charset="-120"/>
              </a:rPr>
              <a:t>계속</a:t>
            </a:r>
            <a:endParaRPr lang="en-US" sz="1400" dirty="0"/>
          </a:p>
          <a:p>
            <a:pPr algn="ctr" indent="0" marL="0">
              <a:buNone/>
            </a:pPr>
            <a:r>
              <a:rPr lang="en-US" sz="1400" b="1" dirty="0">
                <a:solidFill>
                  <a:srgbClr val="6E7B73"/>
                </a:solidFill>
                <a:latin typeface="Malgun Gothic" pitchFamily="34" charset="0"/>
                <a:ea typeface="Malgun Gothic" pitchFamily="34" charset="-122"/>
                <a:cs typeface="Malgun Gothic" pitchFamily="34" charset="-120"/>
              </a:rPr>
              <a:t>순환</a:t>
            </a:r>
            <a:endParaRPr lang="en-US" sz="1400" dirty="0"/>
          </a:p>
        </p:txBody>
      </p:sp>
      <p:sp>
        <p:nvSpPr>
          <p:cNvPr id="7" name="Shape 5"/>
          <p:cNvSpPr/>
          <p:nvPr/>
        </p:nvSpPr>
        <p:spPr>
          <a:xfrm>
            <a:off x="2011680" y="1344168"/>
            <a:ext cx="1554480" cy="603504"/>
          </a:xfrm>
          <a:prstGeom prst="roundRect">
            <a:avLst>
              <a:gd name="adj" fmla="val 22727"/>
            </a:avLst>
          </a:prstGeom>
          <a:solidFill>
            <a:srgbClr val="FFFFFF"/>
          </a:solidFill>
          <a:ln w="25400">
            <a:solidFill>
              <a:srgbClr val="F2A27E"/>
            </a:solidFill>
            <a:prstDash val="solid"/>
          </a:ln>
        </p:spPr>
      </p:sp>
      <p:sp>
        <p:nvSpPr>
          <p:cNvPr id="8" name="Shape 6"/>
          <p:cNvSpPr/>
          <p:nvPr/>
        </p:nvSpPr>
        <p:spPr>
          <a:xfrm>
            <a:off x="2103120" y="1499616"/>
            <a:ext cx="292608" cy="292608"/>
          </a:xfrm>
          <a:prstGeom prst="ellipse">
            <a:avLst/>
          </a:prstGeom>
          <a:solidFill>
            <a:srgbClr val="F2A27E"/>
          </a:solidFill>
          <a:ln/>
        </p:spPr>
      </p:sp>
      <p:sp>
        <p:nvSpPr>
          <p:cNvPr id="9" name="Text 7"/>
          <p:cNvSpPr txBox="1"/>
          <p:nvPr/>
        </p:nvSpPr>
        <p:spPr>
          <a:xfrm>
            <a:off x="2103120" y="149961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1</a:t>
            </a:r>
            <a:endParaRPr lang="en-US" sz="1100" dirty="0"/>
          </a:p>
        </p:txBody>
      </p:sp>
      <p:sp>
        <p:nvSpPr>
          <p:cNvPr id="10" name="Text 8"/>
          <p:cNvSpPr txBox="1"/>
          <p:nvPr/>
        </p:nvSpPr>
        <p:spPr>
          <a:xfrm>
            <a:off x="2468880" y="1344168"/>
            <a:ext cx="1005840" cy="603504"/>
          </a:xfrm>
          <a:prstGeom prst="rect">
            <a:avLst/>
          </a:prstGeom>
          <a:noFill/>
          <a:ln/>
        </p:spPr>
        <p:txBody>
          <a:bodyPr wrap="square" lIns="0" tIns="0" rIns="0" bIns="0" rtlCol="0" anchor="ctr"/>
          <a:lstStyle/>
          <a:p>
            <a:pPr indent="0" marL="0">
              <a:buNone/>
            </a:pPr>
            <a:r>
              <a:rPr lang="en-US" sz="1100" b="1" dirty="0">
                <a:solidFill>
                  <a:srgbClr val="33413A"/>
                </a:solidFill>
                <a:latin typeface="Malgun Gothic" pitchFamily="34" charset="0"/>
                <a:ea typeface="Malgun Gothic" pitchFamily="34" charset="-122"/>
                <a:cs typeface="Malgun Gothic" pitchFamily="34" charset="-120"/>
              </a:rPr>
              <a:t>교육목표 설정</a:t>
            </a:r>
            <a:endParaRPr lang="en-US" sz="1100" dirty="0"/>
          </a:p>
        </p:txBody>
      </p:sp>
      <p:sp>
        <p:nvSpPr>
          <p:cNvPr id="11" name="Shape 9"/>
          <p:cNvSpPr/>
          <p:nvPr/>
        </p:nvSpPr>
        <p:spPr>
          <a:xfrm>
            <a:off x="3533561" y="2260329"/>
            <a:ext cx="1554480" cy="603504"/>
          </a:xfrm>
          <a:prstGeom prst="roundRect">
            <a:avLst>
              <a:gd name="adj" fmla="val 22727"/>
            </a:avLst>
          </a:prstGeom>
          <a:solidFill>
            <a:srgbClr val="FFFFFF"/>
          </a:solidFill>
          <a:ln w="25400">
            <a:solidFill>
              <a:srgbClr val="F5D07A"/>
            </a:solidFill>
            <a:prstDash val="solid"/>
          </a:ln>
        </p:spPr>
      </p:sp>
      <p:sp>
        <p:nvSpPr>
          <p:cNvPr id="12" name="Shape 10"/>
          <p:cNvSpPr/>
          <p:nvPr/>
        </p:nvSpPr>
        <p:spPr>
          <a:xfrm>
            <a:off x="3625001" y="2415777"/>
            <a:ext cx="292608" cy="292608"/>
          </a:xfrm>
          <a:prstGeom prst="ellipse">
            <a:avLst/>
          </a:prstGeom>
          <a:solidFill>
            <a:srgbClr val="F5D07A"/>
          </a:solidFill>
          <a:ln/>
        </p:spPr>
      </p:sp>
      <p:sp>
        <p:nvSpPr>
          <p:cNvPr id="13" name="Text 11"/>
          <p:cNvSpPr txBox="1"/>
          <p:nvPr/>
        </p:nvSpPr>
        <p:spPr>
          <a:xfrm>
            <a:off x="3625001" y="2415777"/>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2</a:t>
            </a:r>
            <a:endParaRPr lang="en-US" sz="1100" dirty="0"/>
          </a:p>
        </p:txBody>
      </p:sp>
      <p:sp>
        <p:nvSpPr>
          <p:cNvPr id="14" name="Text 12"/>
          <p:cNvSpPr txBox="1"/>
          <p:nvPr/>
        </p:nvSpPr>
        <p:spPr>
          <a:xfrm>
            <a:off x="3990761" y="2260329"/>
            <a:ext cx="1005840" cy="603504"/>
          </a:xfrm>
          <a:prstGeom prst="rect">
            <a:avLst/>
          </a:prstGeom>
          <a:noFill/>
          <a:ln/>
        </p:spPr>
        <p:txBody>
          <a:bodyPr wrap="square" lIns="0" tIns="0" rIns="0" bIns="0" rtlCol="0" anchor="ctr"/>
          <a:lstStyle/>
          <a:p>
            <a:pPr indent="0" marL="0">
              <a:buNone/>
            </a:pPr>
            <a:r>
              <a:rPr lang="en-US" sz="1100" b="1" dirty="0">
                <a:solidFill>
                  <a:srgbClr val="33413A"/>
                </a:solidFill>
                <a:latin typeface="Malgun Gothic" pitchFamily="34" charset="0"/>
                <a:ea typeface="Malgun Gothic" pitchFamily="34" charset="-122"/>
                <a:cs typeface="Malgun Gothic" pitchFamily="34" charset="-120"/>
              </a:rPr>
              <a:t>교육내용 선정</a:t>
            </a:r>
            <a:endParaRPr lang="en-US" sz="1100" dirty="0"/>
          </a:p>
        </p:txBody>
      </p:sp>
      <p:sp>
        <p:nvSpPr>
          <p:cNvPr id="15" name="Shape 13"/>
          <p:cNvSpPr/>
          <p:nvPr/>
        </p:nvSpPr>
        <p:spPr>
          <a:xfrm>
            <a:off x="2952254" y="3742707"/>
            <a:ext cx="1554480" cy="603504"/>
          </a:xfrm>
          <a:prstGeom prst="roundRect">
            <a:avLst>
              <a:gd name="adj" fmla="val 22727"/>
            </a:avLst>
          </a:prstGeom>
          <a:solidFill>
            <a:srgbClr val="FFFFFF"/>
          </a:solidFill>
          <a:ln w="25400">
            <a:solidFill>
              <a:srgbClr val="5E8C6A"/>
            </a:solidFill>
            <a:prstDash val="solid"/>
          </a:ln>
        </p:spPr>
      </p:sp>
      <p:sp>
        <p:nvSpPr>
          <p:cNvPr id="16" name="Shape 14"/>
          <p:cNvSpPr/>
          <p:nvPr/>
        </p:nvSpPr>
        <p:spPr>
          <a:xfrm>
            <a:off x="3043694" y="3898155"/>
            <a:ext cx="292608" cy="292608"/>
          </a:xfrm>
          <a:prstGeom prst="ellipse">
            <a:avLst/>
          </a:prstGeom>
          <a:solidFill>
            <a:srgbClr val="5E8C6A"/>
          </a:solidFill>
          <a:ln/>
        </p:spPr>
      </p:sp>
      <p:sp>
        <p:nvSpPr>
          <p:cNvPr id="17" name="Text 15"/>
          <p:cNvSpPr txBox="1"/>
          <p:nvPr/>
        </p:nvSpPr>
        <p:spPr>
          <a:xfrm>
            <a:off x="3043694" y="3898155"/>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3</a:t>
            </a:r>
            <a:endParaRPr lang="en-US" sz="1100" dirty="0"/>
          </a:p>
        </p:txBody>
      </p:sp>
      <p:sp>
        <p:nvSpPr>
          <p:cNvPr id="18" name="Text 16"/>
          <p:cNvSpPr txBox="1"/>
          <p:nvPr/>
        </p:nvSpPr>
        <p:spPr>
          <a:xfrm>
            <a:off x="3409454" y="3742707"/>
            <a:ext cx="1005840" cy="603504"/>
          </a:xfrm>
          <a:prstGeom prst="rect">
            <a:avLst/>
          </a:prstGeom>
          <a:noFill/>
          <a:ln/>
        </p:spPr>
        <p:txBody>
          <a:bodyPr wrap="square" lIns="0" tIns="0" rIns="0" bIns="0" rtlCol="0" anchor="ctr"/>
          <a:lstStyle/>
          <a:p>
            <a:pPr indent="0" marL="0">
              <a:buNone/>
            </a:pPr>
            <a:r>
              <a:rPr lang="en-US" sz="1100" b="1" dirty="0">
                <a:solidFill>
                  <a:srgbClr val="33413A"/>
                </a:solidFill>
                <a:latin typeface="Malgun Gothic" pitchFamily="34" charset="0"/>
                <a:ea typeface="Malgun Gothic" pitchFamily="34" charset="-122"/>
                <a:cs typeface="Malgun Gothic" pitchFamily="34" charset="-120"/>
              </a:rPr>
              <a:t>내용 조직·</a:t>
            </a:r>
            <a:endParaRPr lang="en-US" sz="1100" dirty="0"/>
          </a:p>
          <a:p>
            <a:pPr indent="0" marL="0">
              <a:buNone/>
            </a:pPr>
            <a:r>
              <a:rPr lang="en-US" sz="1100" b="1" dirty="0">
                <a:solidFill>
                  <a:srgbClr val="33413A"/>
                </a:solidFill>
                <a:latin typeface="Malgun Gothic" pitchFamily="34" charset="0"/>
                <a:ea typeface="Malgun Gothic" pitchFamily="34" charset="-122"/>
                <a:cs typeface="Malgun Gothic" pitchFamily="34" charset="-120"/>
              </a:rPr>
              <a:t>교수방법 결정</a:t>
            </a:r>
            <a:endParaRPr lang="en-US" sz="1100" dirty="0"/>
          </a:p>
        </p:txBody>
      </p:sp>
      <p:sp>
        <p:nvSpPr>
          <p:cNvPr id="19" name="Shape 17"/>
          <p:cNvSpPr/>
          <p:nvPr/>
        </p:nvSpPr>
        <p:spPr>
          <a:xfrm>
            <a:off x="1071106" y="3742707"/>
            <a:ext cx="1554480" cy="603504"/>
          </a:xfrm>
          <a:prstGeom prst="roundRect">
            <a:avLst>
              <a:gd name="adj" fmla="val 22727"/>
            </a:avLst>
          </a:prstGeom>
          <a:solidFill>
            <a:srgbClr val="FFFFFF"/>
          </a:solidFill>
          <a:ln w="25400">
            <a:solidFill>
              <a:srgbClr val="E8A1A8"/>
            </a:solidFill>
            <a:prstDash val="solid"/>
          </a:ln>
        </p:spPr>
      </p:sp>
      <p:sp>
        <p:nvSpPr>
          <p:cNvPr id="20" name="Shape 18"/>
          <p:cNvSpPr/>
          <p:nvPr/>
        </p:nvSpPr>
        <p:spPr>
          <a:xfrm>
            <a:off x="1162546" y="3898155"/>
            <a:ext cx="292608" cy="292608"/>
          </a:xfrm>
          <a:prstGeom prst="ellipse">
            <a:avLst/>
          </a:prstGeom>
          <a:solidFill>
            <a:srgbClr val="E8A1A8"/>
          </a:solidFill>
          <a:ln/>
        </p:spPr>
      </p:sp>
      <p:sp>
        <p:nvSpPr>
          <p:cNvPr id="21" name="Text 19"/>
          <p:cNvSpPr txBox="1"/>
          <p:nvPr/>
        </p:nvSpPr>
        <p:spPr>
          <a:xfrm>
            <a:off x="1162546" y="3898155"/>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4</a:t>
            </a:r>
            <a:endParaRPr lang="en-US" sz="1100" dirty="0"/>
          </a:p>
        </p:txBody>
      </p:sp>
      <p:sp>
        <p:nvSpPr>
          <p:cNvPr id="22" name="Text 20"/>
          <p:cNvSpPr txBox="1"/>
          <p:nvPr/>
        </p:nvSpPr>
        <p:spPr>
          <a:xfrm>
            <a:off x="1528306" y="3742707"/>
            <a:ext cx="1005840" cy="603504"/>
          </a:xfrm>
          <a:prstGeom prst="rect">
            <a:avLst/>
          </a:prstGeom>
          <a:noFill/>
          <a:ln/>
        </p:spPr>
        <p:txBody>
          <a:bodyPr wrap="square" lIns="0" tIns="0" rIns="0" bIns="0" rtlCol="0" anchor="ctr"/>
          <a:lstStyle/>
          <a:p>
            <a:pPr indent="0" marL="0">
              <a:buNone/>
            </a:pPr>
            <a:r>
              <a:rPr lang="en-US" sz="1100" b="1" dirty="0">
                <a:solidFill>
                  <a:srgbClr val="33413A"/>
                </a:solidFill>
                <a:latin typeface="Malgun Gothic" pitchFamily="34" charset="0"/>
                <a:ea typeface="Malgun Gothic" pitchFamily="34" charset="-122"/>
                <a:cs typeface="Malgun Gothic" pitchFamily="34" charset="-120"/>
              </a:rPr>
              <a:t>평가</a:t>
            </a:r>
            <a:endParaRPr lang="en-US" sz="1100" dirty="0"/>
          </a:p>
        </p:txBody>
      </p:sp>
      <p:sp>
        <p:nvSpPr>
          <p:cNvPr id="23" name="Shape 21"/>
          <p:cNvSpPr/>
          <p:nvPr/>
        </p:nvSpPr>
        <p:spPr>
          <a:xfrm>
            <a:off x="489799" y="2260329"/>
            <a:ext cx="1554480" cy="603504"/>
          </a:xfrm>
          <a:prstGeom prst="roundRect">
            <a:avLst>
              <a:gd name="adj" fmla="val 22727"/>
            </a:avLst>
          </a:prstGeom>
          <a:solidFill>
            <a:srgbClr val="FFFFFF"/>
          </a:solidFill>
          <a:ln w="25400">
            <a:solidFill>
              <a:srgbClr val="A9CBB0"/>
            </a:solidFill>
            <a:prstDash val="solid"/>
          </a:ln>
        </p:spPr>
      </p:sp>
      <p:sp>
        <p:nvSpPr>
          <p:cNvPr id="24" name="Shape 22"/>
          <p:cNvSpPr/>
          <p:nvPr/>
        </p:nvSpPr>
        <p:spPr>
          <a:xfrm>
            <a:off x="581239" y="2415777"/>
            <a:ext cx="292608" cy="292608"/>
          </a:xfrm>
          <a:prstGeom prst="ellipse">
            <a:avLst/>
          </a:prstGeom>
          <a:solidFill>
            <a:srgbClr val="A9CBB0"/>
          </a:solidFill>
          <a:ln/>
        </p:spPr>
      </p:sp>
      <p:sp>
        <p:nvSpPr>
          <p:cNvPr id="25" name="Text 23"/>
          <p:cNvSpPr txBox="1"/>
          <p:nvPr/>
        </p:nvSpPr>
        <p:spPr>
          <a:xfrm>
            <a:off x="581239" y="2415777"/>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5</a:t>
            </a:r>
            <a:endParaRPr lang="en-US" sz="1100" dirty="0"/>
          </a:p>
        </p:txBody>
      </p:sp>
      <p:sp>
        <p:nvSpPr>
          <p:cNvPr id="26" name="Text 24"/>
          <p:cNvSpPr txBox="1"/>
          <p:nvPr/>
        </p:nvSpPr>
        <p:spPr>
          <a:xfrm>
            <a:off x="946999" y="2260329"/>
            <a:ext cx="1005840" cy="603504"/>
          </a:xfrm>
          <a:prstGeom prst="rect">
            <a:avLst/>
          </a:prstGeom>
          <a:noFill/>
          <a:ln/>
        </p:spPr>
        <p:txBody>
          <a:bodyPr wrap="square" lIns="0" tIns="0" rIns="0" bIns="0" rtlCol="0" anchor="ctr"/>
          <a:lstStyle/>
          <a:p>
            <a:pPr indent="0" marL="0">
              <a:buNone/>
            </a:pPr>
            <a:r>
              <a:rPr lang="en-US" sz="1100" b="1" dirty="0">
                <a:solidFill>
                  <a:srgbClr val="33413A"/>
                </a:solidFill>
                <a:latin typeface="Malgun Gothic" pitchFamily="34" charset="0"/>
                <a:ea typeface="Malgun Gothic" pitchFamily="34" charset="-122"/>
                <a:cs typeface="Malgun Gothic" pitchFamily="34" charset="-120"/>
              </a:rPr>
              <a:t>다음 계획에</a:t>
            </a:r>
            <a:endParaRPr lang="en-US" sz="1100" dirty="0"/>
          </a:p>
          <a:p>
            <a:pPr indent="0" marL="0">
              <a:buNone/>
            </a:pPr>
            <a:r>
              <a:rPr lang="en-US" sz="1100" b="1" dirty="0">
                <a:solidFill>
                  <a:srgbClr val="33413A"/>
                </a:solidFill>
                <a:latin typeface="Malgun Gothic" pitchFamily="34" charset="0"/>
                <a:ea typeface="Malgun Gothic" pitchFamily="34" charset="-122"/>
                <a:cs typeface="Malgun Gothic" pitchFamily="34" charset="-120"/>
              </a:rPr>
              <a:t>반영</a:t>
            </a:r>
            <a:endParaRPr lang="en-US" sz="1100" dirty="0"/>
          </a:p>
        </p:txBody>
      </p:sp>
      <p:sp>
        <p:nvSpPr>
          <p:cNvPr id="27" name="Shape 25"/>
          <p:cNvSpPr/>
          <p:nvPr/>
        </p:nvSpPr>
        <p:spPr>
          <a:xfrm>
            <a:off x="5394960" y="1280160"/>
            <a:ext cx="3291840" cy="1463040"/>
          </a:xfrm>
          <a:prstGeom prst="roundRect">
            <a:avLst>
              <a:gd name="adj" fmla="val 9375"/>
            </a:avLst>
          </a:prstGeom>
          <a:solidFill>
            <a:srgbClr val="DCEBDD"/>
          </a:solidFill>
          <a:ln/>
        </p:spPr>
      </p:sp>
      <p:sp>
        <p:nvSpPr>
          <p:cNvPr id="28" name="Text 26"/>
          <p:cNvSpPr txBox="1"/>
          <p:nvPr/>
        </p:nvSpPr>
        <p:spPr>
          <a:xfrm>
            <a:off x="5577840" y="1371600"/>
            <a:ext cx="2926080" cy="320040"/>
          </a:xfrm>
          <a:prstGeom prst="rect">
            <a:avLst/>
          </a:prstGeom>
          <a:noFill/>
          <a:ln/>
        </p:spPr>
        <p:txBody>
          <a:bodyPr wrap="square" lIns="0" tIns="0" rIns="0" bIns="0" rtlCol="0" anchor="ctr"/>
          <a:lstStyle/>
          <a:p>
            <a:pPr indent="0" marL="0">
              <a:buNone/>
            </a:pPr>
            <a:r>
              <a:rPr lang="en-US" sz="1400" b="1" dirty="0">
                <a:solidFill>
                  <a:srgbClr val="5E8C6A"/>
                </a:solidFill>
                <a:latin typeface="Malgun Gothic" pitchFamily="34" charset="0"/>
                <a:ea typeface="Malgun Gothic" pitchFamily="34" charset="-122"/>
                <a:cs typeface="Malgun Gothic" pitchFamily="34" charset="-120"/>
              </a:rPr>
              <a:t>각 단계의 기준</a:t>
            </a:r>
            <a:endParaRPr lang="en-US" sz="1400" dirty="0"/>
          </a:p>
        </p:txBody>
      </p:sp>
      <p:sp>
        <p:nvSpPr>
          <p:cNvPr id="29" name="Text 27"/>
          <p:cNvSpPr txBox="1"/>
          <p:nvPr/>
        </p:nvSpPr>
        <p:spPr>
          <a:xfrm>
            <a:off x="5577840" y="1737360"/>
            <a:ext cx="3017520" cy="914400"/>
          </a:xfrm>
          <a:prstGeom prst="rect">
            <a:avLst/>
          </a:prstGeom>
          <a:noFill/>
          <a:ln/>
        </p:spPr>
        <p:txBody>
          <a:bodyPr wrap="square" lIns="0" tIns="0" rIns="0" bIns="0" rtlCol="0" anchor="ctr"/>
          <a:lstStyle/>
          <a:p>
            <a:pPr marL="342900" indent="-342900">
              <a:spcAft>
                <a:spcPts val="400"/>
              </a:spcAft>
              <a:buSzPct val="100000"/>
              <a:buChar char="•"/>
            </a:pPr>
            <a:r>
              <a:rPr lang="en-US" sz="1200" dirty="0">
                <a:solidFill>
                  <a:srgbClr val="33413A"/>
                </a:solidFill>
                <a:latin typeface="Malgun Gothic" pitchFamily="34" charset="0"/>
                <a:ea typeface="Malgun Gothic" pitchFamily="34" charset="-122"/>
                <a:cs typeface="Malgun Gothic" pitchFamily="34" charset="-120"/>
              </a:rPr>
              <a:t>목표: 기관의 철학에 부합</a:t>
            </a:r>
            <a:endParaRPr lang="en-US" sz="1200" dirty="0"/>
          </a:p>
          <a:p>
            <a:pPr marL="342900" indent="-342900">
              <a:spcAft>
                <a:spcPts val="400"/>
              </a:spcAft>
              <a:buSzPct val="100000"/>
              <a:buChar char="•"/>
            </a:pPr>
            <a:r>
              <a:rPr lang="en-US" sz="1200" dirty="0">
                <a:solidFill>
                  <a:srgbClr val="33413A"/>
                </a:solidFill>
                <a:latin typeface="Malgun Gothic" pitchFamily="34" charset="0"/>
                <a:ea typeface="Malgun Gothic" pitchFamily="34" charset="-122"/>
                <a:cs typeface="Malgun Gothic" pitchFamily="34" charset="-120"/>
              </a:rPr>
              <a:t>내용: 목표 달성에 꼭 필요한 것</a:t>
            </a:r>
            <a:endParaRPr lang="en-US" sz="1200" dirty="0"/>
          </a:p>
          <a:p>
            <a:pPr marL="342900" indent="-342900">
              <a:spcAft>
                <a:spcPts val="400"/>
              </a:spcAft>
              <a:buSzPct val="100000"/>
              <a:buChar char="•"/>
            </a:pPr>
            <a:r>
              <a:rPr lang="en-US" sz="1200" dirty="0">
                <a:solidFill>
                  <a:srgbClr val="33413A"/>
                </a:solidFill>
                <a:latin typeface="Malgun Gothic" pitchFamily="34" charset="0"/>
                <a:ea typeface="Malgun Gothic" pitchFamily="34" charset="-122"/>
                <a:cs typeface="Malgun Gothic" pitchFamily="34" charset="-120"/>
              </a:rPr>
              <a:t>방법: 영유아의 발달과 흥미에 적합</a:t>
            </a:r>
            <a:endParaRPr lang="en-US" sz="1200" dirty="0"/>
          </a:p>
        </p:txBody>
      </p:sp>
      <p:sp>
        <p:nvSpPr>
          <p:cNvPr id="30" name="Shape 28"/>
          <p:cNvSpPr/>
          <p:nvPr/>
        </p:nvSpPr>
        <p:spPr>
          <a:xfrm>
            <a:off x="5394960" y="2926080"/>
            <a:ext cx="3291840" cy="1417320"/>
          </a:xfrm>
          <a:prstGeom prst="roundRect">
            <a:avLst>
              <a:gd name="adj" fmla="val 9677"/>
            </a:avLst>
          </a:prstGeom>
          <a:solidFill>
            <a:srgbClr val="FDF3D6"/>
          </a:solidFill>
          <a:ln/>
        </p:spPr>
      </p:sp>
      <p:sp>
        <p:nvSpPr>
          <p:cNvPr id="31" name="Text 29"/>
          <p:cNvSpPr txBox="1"/>
          <p:nvPr/>
        </p:nvSpPr>
        <p:spPr>
          <a:xfrm>
            <a:off x="5577840" y="3017520"/>
            <a:ext cx="2926080" cy="320040"/>
          </a:xfrm>
          <a:prstGeom prst="rect">
            <a:avLst/>
          </a:prstGeom>
          <a:noFill/>
          <a:ln/>
        </p:spPr>
        <p:txBody>
          <a:bodyPr wrap="square" lIns="0" tIns="0" rIns="0" bIns="0" rtlCol="0" anchor="ctr"/>
          <a:lstStyle/>
          <a:p>
            <a:pPr indent="0" marL="0">
              <a:buNone/>
            </a:pPr>
            <a:r>
              <a:rPr lang="en-US" sz="1400" b="1" dirty="0">
                <a:solidFill>
                  <a:srgbClr val="B08A2E"/>
                </a:solidFill>
                <a:latin typeface="Malgun Gothic" pitchFamily="34" charset="0"/>
                <a:ea typeface="Malgun Gothic" pitchFamily="34" charset="-122"/>
                <a:cs typeface="Malgun Gothic" pitchFamily="34" charset="-120"/>
              </a:rPr>
              <a:t>타일러 모형의 영향</a:t>
            </a:r>
            <a:endParaRPr lang="en-US" sz="1400" dirty="0"/>
          </a:p>
        </p:txBody>
      </p:sp>
      <p:sp>
        <p:nvSpPr>
          <p:cNvPr id="32" name="Text 30"/>
          <p:cNvSpPr txBox="1"/>
          <p:nvPr/>
        </p:nvSpPr>
        <p:spPr>
          <a:xfrm>
            <a:off x="5577840" y="3383280"/>
            <a:ext cx="2971800" cy="868680"/>
          </a:xfrm>
          <a:prstGeom prst="rect">
            <a:avLst/>
          </a:prstGeom>
          <a:noFill/>
          <a:ln/>
        </p:spPr>
        <p:txBody>
          <a:bodyPr wrap="square" lIns="0" tIns="0" rIns="0" bIns="0" rtlCol="0" anchor="t"/>
          <a:lstStyle/>
          <a:p>
            <a:pPr indent="0" marL="0">
              <a:buNone/>
            </a:pPr>
            <a:r>
              <a:rPr lang="en-US" sz="1200" dirty="0">
                <a:solidFill>
                  <a:srgbClr val="33413A"/>
                </a:solidFill>
                <a:latin typeface="Malgun Gothic" pitchFamily="34" charset="0"/>
                <a:ea typeface="Malgun Gothic" pitchFamily="34" charset="-122"/>
                <a:cs typeface="Malgun Gothic" pitchFamily="34" charset="-120"/>
              </a:rPr>
              <a:t>비판을 받으면서도 우리나라 초·중·고 교육과정의 기본 틀이 되었고, 교육과정 개념화에도 큰 영향을 미침</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02920" cy="502920"/>
          </a:xfrm>
          <a:prstGeom prst="ellipse">
            <a:avLst/>
          </a:prstGeom>
          <a:solidFill>
            <a:srgbClr val="5E8C6A"/>
          </a:solidFill>
          <a:ln/>
        </p:spPr>
      </p:sp>
      <p:sp>
        <p:nvSpPr>
          <p:cNvPr id="3" name="Text 1"/>
          <p:cNvSpPr txBox="1"/>
          <p:nvPr/>
        </p:nvSpPr>
        <p:spPr>
          <a:xfrm>
            <a:off x="457200" y="38404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04</a:t>
            </a:r>
            <a:endParaRPr lang="en-US" sz="1400" dirty="0"/>
          </a:p>
        </p:txBody>
      </p:sp>
      <p:sp>
        <p:nvSpPr>
          <p:cNvPr id="4" name="Text 2"/>
          <p:cNvSpPr txBox="1"/>
          <p:nvPr/>
        </p:nvSpPr>
        <p:spPr>
          <a:xfrm>
            <a:off x="1097280" y="320040"/>
            <a:ext cx="7589520" cy="640080"/>
          </a:xfrm>
          <a:prstGeom prst="rect">
            <a:avLst/>
          </a:prstGeom>
          <a:noFill/>
          <a:ln/>
        </p:spPr>
        <p:txBody>
          <a:bodyPr wrap="square" lIns="0" tIns="0" rIns="0" bIns="0" rtlCol="0" anchor="ctr"/>
          <a:lstStyle/>
          <a:p>
            <a:pPr indent="0" marL="0">
              <a:buNone/>
            </a:pPr>
            <a:r>
              <a:rPr lang="en-US" sz="2800" b="1" dirty="0">
                <a:solidFill>
                  <a:srgbClr val="33413A"/>
                </a:solidFill>
                <a:latin typeface="Malgun Gothic" pitchFamily="34" charset="0"/>
                <a:ea typeface="Malgun Gothic" pitchFamily="34" charset="-122"/>
                <a:cs typeface="Malgun Gothic" pitchFamily="34" charset="-120"/>
              </a:rPr>
              <a:t>구성의 특징 ①  ②</a:t>
            </a:r>
            <a:endParaRPr lang="en-US" sz="2800" dirty="0"/>
          </a:p>
        </p:txBody>
      </p:sp>
      <p:sp>
        <p:nvSpPr>
          <p:cNvPr id="5" name="Shape 3"/>
          <p:cNvSpPr/>
          <p:nvPr/>
        </p:nvSpPr>
        <p:spPr>
          <a:xfrm>
            <a:off x="457200" y="1097280"/>
            <a:ext cx="4023360" cy="3611880"/>
          </a:xfrm>
          <a:prstGeom prst="roundRect">
            <a:avLst>
              <a:gd name="adj" fmla="val 3797"/>
            </a:avLst>
          </a:prstGeom>
          <a:solidFill>
            <a:srgbClr val="FCE4D8"/>
          </a:solidFill>
          <a:ln/>
        </p:spPr>
      </p:sp>
      <p:sp>
        <p:nvSpPr>
          <p:cNvPr id="6" name="Text 4"/>
          <p:cNvSpPr txBox="1"/>
          <p:nvPr/>
        </p:nvSpPr>
        <p:spPr>
          <a:xfrm>
            <a:off x="640080" y="1188720"/>
            <a:ext cx="3657600" cy="365760"/>
          </a:xfrm>
          <a:prstGeom prst="rect">
            <a:avLst/>
          </a:prstGeom>
          <a:noFill/>
          <a:ln/>
        </p:spPr>
        <p:txBody>
          <a:bodyPr wrap="square" lIns="0" tIns="0" rIns="0" bIns="0" rtlCol="0" anchor="ctr"/>
          <a:lstStyle/>
          <a:p>
            <a:pPr indent="0" marL="0">
              <a:buNone/>
            </a:pPr>
            <a:r>
              <a:rPr lang="en-US" sz="1600" b="1" dirty="0">
                <a:solidFill>
                  <a:srgbClr val="33413A"/>
                </a:solidFill>
                <a:latin typeface="Malgun Gothic" pitchFamily="34" charset="0"/>
                <a:ea typeface="Malgun Gothic" pitchFamily="34" charset="-122"/>
                <a:cs typeface="Malgun Gothic" pitchFamily="34" charset="-120"/>
              </a:rPr>
              <a:t>① 교육내용 간의 통합</a:t>
            </a:r>
            <a:endParaRPr lang="en-US" sz="1600" dirty="0"/>
          </a:p>
        </p:txBody>
      </p:sp>
      <p:sp>
        <p:nvSpPr>
          <p:cNvPr id="7" name="Text 5"/>
          <p:cNvSpPr txBox="1"/>
          <p:nvPr/>
        </p:nvSpPr>
        <p:spPr>
          <a:xfrm>
            <a:off x="640080" y="1554480"/>
            <a:ext cx="3657600" cy="274320"/>
          </a:xfrm>
          <a:prstGeom prst="rect">
            <a:avLst/>
          </a:prstGeom>
          <a:noFill/>
          <a:ln/>
        </p:spPr>
        <p:txBody>
          <a:bodyPr wrap="square" lIns="0" tIns="0" rIns="0" bIns="0" rtlCol="0" anchor="ctr"/>
          <a:lstStyle/>
          <a:p>
            <a:pPr indent="0" marL="0">
              <a:buNone/>
            </a:pPr>
            <a:r>
              <a:rPr lang="en-US" sz="1100" dirty="0">
                <a:solidFill>
                  <a:srgbClr val="6E7B73"/>
                </a:solidFill>
                <a:latin typeface="Malgun Gothic" pitchFamily="34" charset="0"/>
                <a:ea typeface="Malgun Gothic" pitchFamily="34" charset="-122"/>
                <a:cs typeface="Malgun Gothic" pitchFamily="34" charset="-120"/>
              </a:rPr>
              <a:t>분리된 교과별 학습보다 통합된 경험으로 더 잘 배운다</a:t>
            </a:r>
            <a:endParaRPr lang="en-US" sz="1100" dirty="0"/>
          </a:p>
        </p:txBody>
      </p:sp>
      <p:sp>
        <p:nvSpPr>
          <p:cNvPr id="8" name="Shape 6"/>
          <p:cNvSpPr/>
          <p:nvPr/>
        </p:nvSpPr>
        <p:spPr>
          <a:xfrm>
            <a:off x="1280160" y="2240280"/>
            <a:ext cx="1188720" cy="868680"/>
          </a:xfrm>
          <a:prstGeom prst="line">
            <a:avLst/>
          </a:prstGeom>
          <a:noFill/>
          <a:ln w="25400">
            <a:solidFill>
              <a:srgbClr val="F2A27E"/>
            </a:solidFill>
            <a:prstDash val="solid"/>
          </a:ln>
        </p:spPr>
      </p:sp>
      <p:sp>
        <p:nvSpPr>
          <p:cNvPr id="9" name="Shape 7"/>
          <p:cNvSpPr/>
          <p:nvPr/>
        </p:nvSpPr>
        <p:spPr>
          <a:xfrm flipH="1">
            <a:off x="2468880" y="2240280"/>
            <a:ext cx="1188720" cy="868680"/>
          </a:xfrm>
          <a:prstGeom prst="line">
            <a:avLst/>
          </a:prstGeom>
          <a:noFill/>
          <a:ln w="25400">
            <a:solidFill>
              <a:srgbClr val="F2A27E"/>
            </a:solidFill>
            <a:prstDash val="solid"/>
          </a:ln>
        </p:spPr>
      </p:sp>
      <p:sp>
        <p:nvSpPr>
          <p:cNvPr id="10" name="Shape 8"/>
          <p:cNvSpPr/>
          <p:nvPr/>
        </p:nvSpPr>
        <p:spPr>
          <a:xfrm>
            <a:off x="2468880" y="3108960"/>
            <a:ext cx="0" cy="1051560"/>
          </a:xfrm>
          <a:prstGeom prst="line">
            <a:avLst/>
          </a:prstGeom>
          <a:noFill/>
          <a:ln w="25400">
            <a:solidFill>
              <a:srgbClr val="F2A27E"/>
            </a:solidFill>
            <a:prstDash val="solid"/>
          </a:ln>
        </p:spPr>
      </p:sp>
      <p:sp>
        <p:nvSpPr>
          <p:cNvPr id="11" name="Shape 9"/>
          <p:cNvSpPr/>
          <p:nvPr/>
        </p:nvSpPr>
        <p:spPr>
          <a:xfrm>
            <a:off x="1920240" y="2697480"/>
            <a:ext cx="1097280" cy="822960"/>
          </a:xfrm>
          <a:prstGeom prst="ellipse">
            <a:avLst/>
          </a:prstGeom>
          <a:solidFill>
            <a:srgbClr val="F2A27E"/>
          </a:solidFill>
          <a:ln/>
        </p:spPr>
      </p:sp>
      <p:sp>
        <p:nvSpPr>
          <p:cNvPr id="12" name="Text 10"/>
          <p:cNvSpPr txBox="1"/>
          <p:nvPr/>
        </p:nvSpPr>
        <p:spPr>
          <a:xfrm>
            <a:off x="1920240" y="2697480"/>
            <a:ext cx="1097280" cy="822960"/>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주제</a:t>
            </a:r>
            <a:endParaRPr lang="en-US" sz="1300" dirty="0"/>
          </a:p>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'가을'</a:t>
            </a:r>
            <a:endParaRPr lang="en-US" sz="1300" dirty="0"/>
          </a:p>
        </p:txBody>
      </p:sp>
      <p:sp>
        <p:nvSpPr>
          <p:cNvPr id="13" name="Shape 11"/>
          <p:cNvSpPr/>
          <p:nvPr/>
        </p:nvSpPr>
        <p:spPr>
          <a:xfrm>
            <a:off x="640080" y="1965960"/>
            <a:ext cx="1280160" cy="548640"/>
          </a:xfrm>
          <a:prstGeom prst="roundRect">
            <a:avLst>
              <a:gd name="adj" fmla="val 20000"/>
            </a:avLst>
          </a:prstGeom>
          <a:solidFill>
            <a:srgbClr val="FFFFFF"/>
          </a:solidFill>
          <a:ln w="19050">
            <a:solidFill>
              <a:srgbClr val="F2A27E"/>
            </a:solidFill>
            <a:prstDash val="solid"/>
          </a:ln>
        </p:spPr>
      </p:sp>
      <p:sp>
        <p:nvSpPr>
          <p:cNvPr id="14" name="Text 12"/>
          <p:cNvSpPr txBox="1"/>
          <p:nvPr/>
        </p:nvSpPr>
        <p:spPr>
          <a:xfrm>
            <a:off x="640080" y="1965960"/>
            <a:ext cx="1280160" cy="548640"/>
          </a:xfrm>
          <a:prstGeom prst="rect">
            <a:avLst/>
          </a:prstGeom>
          <a:noFill/>
          <a:ln/>
        </p:spPr>
        <p:txBody>
          <a:bodyPr wrap="square" lIns="0" tIns="0" rIns="0" bIns="0" rtlCol="0" anchor="ctr"/>
          <a:lstStyle/>
          <a:p>
            <a:pPr algn="ctr" indent="0" marL="0">
              <a:buNone/>
            </a:pPr>
            <a:r>
              <a:rPr lang="en-US" sz="1100" dirty="0">
                <a:solidFill>
                  <a:srgbClr val="33413A"/>
                </a:solidFill>
                <a:latin typeface="Malgun Gothic" pitchFamily="34" charset="0"/>
                <a:ea typeface="Malgun Gothic" pitchFamily="34" charset="-122"/>
                <a:cs typeface="Malgun Gothic" pitchFamily="34" charset="-120"/>
              </a:rPr>
              <a:t>가을 과일</a:t>
            </a:r>
            <a:endParaRPr lang="en-US" sz="1100" dirty="0"/>
          </a:p>
          <a:p>
            <a:pPr algn="ctr" indent="0" marL="0">
              <a:buNone/>
            </a:pPr>
            <a:r>
              <a:rPr lang="en-US" sz="1100" dirty="0">
                <a:solidFill>
                  <a:srgbClr val="33413A"/>
                </a:solidFill>
                <a:latin typeface="Malgun Gothic" pitchFamily="34" charset="0"/>
                <a:ea typeface="Malgun Gothic" pitchFamily="34" charset="-122"/>
                <a:cs typeface="Malgun Gothic" pitchFamily="34" charset="-120"/>
              </a:rPr>
              <a:t>만들기</a:t>
            </a:r>
            <a:endParaRPr lang="en-US" sz="1100" dirty="0"/>
          </a:p>
        </p:txBody>
      </p:sp>
      <p:sp>
        <p:nvSpPr>
          <p:cNvPr id="15" name="Shape 13"/>
          <p:cNvSpPr/>
          <p:nvPr/>
        </p:nvSpPr>
        <p:spPr>
          <a:xfrm>
            <a:off x="3017520" y="1965960"/>
            <a:ext cx="1280160" cy="548640"/>
          </a:xfrm>
          <a:prstGeom prst="roundRect">
            <a:avLst>
              <a:gd name="adj" fmla="val 20000"/>
            </a:avLst>
          </a:prstGeom>
          <a:solidFill>
            <a:srgbClr val="FFFFFF"/>
          </a:solidFill>
          <a:ln w="19050">
            <a:solidFill>
              <a:srgbClr val="F2A27E"/>
            </a:solidFill>
            <a:prstDash val="solid"/>
          </a:ln>
        </p:spPr>
      </p:sp>
      <p:sp>
        <p:nvSpPr>
          <p:cNvPr id="16" name="Text 14"/>
          <p:cNvSpPr txBox="1"/>
          <p:nvPr/>
        </p:nvSpPr>
        <p:spPr>
          <a:xfrm>
            <a:off x="3017520" y="1965960"/>
            <a:ext cx="1280160" cy="548640"/>
          </a:xfrm>
          <a:prstGeom prst="rect">
            <a:avLst/>
          </a:prstGeom>
          <a:noFill/>
          <a:ln/>
        </p:spPr>
        <p:txBody>
          <a:bodyPr wrap="square" lIns="0" tIns="0" rIns="0" bIns="0" rtlCol="0" anchor="ctr"/>
          <a:lstStyle/>
          <a:p>
            <a:pPr algn="ctr" indent="0" marL="0">
              <a:buNone/>
            </a:pPr>
            <a:r>
              <a:rPr lang="en-US" sz="1100" dirty="0">
                <a:solidFill>
                  <a:srgbClr val="33413A"/>
                </a:solidFill>
                <a:latin typeface="Malgun Gothic" pitchFamily="34" charset="0"/>
                <a:ea typeface="Malgun Gothic" pitchFamily="34" charset="-122"/>
                <a:cs typeface="Malgun Gothic" pitchFamily="34" charset="-120"/>
              </a:rPr>
              <a:t>과일가게</a:t>
            </a:r>
            <a:endParaRPr lang="en-US" sz="1100" dirty="0"/>
          </a:p>
          <a:p>
            <a:pPr algn="ctr" indent="0" marL="0">
              <a:buNone/>
            </a:pPr>
            <a:r>
              <a:rPr lang="en-US" sz="1100" dirty="0">
                <a:solidFill>
                  <a:srgbClr val="33413A"/>
                </a:solidFill>
                <a:latin typeface="Malgun Gothic" pitchFamily="34" charset="0"/>
                <a:ea typeface="Malgun Gothic" pitchFamily="34" charset="-122"/>
                <a:cs typeface="Malgun Gothic" pitchFamily="34" charset="-120"/>
              </a:rPr>
              <a:t>놀이</a:t>
            </a:r>
            <a:endParaRPr lang="en-US" sz="1100" dirty="0"/>
          </a:p>
        </p:txBody>
      </p:sp>
      <p:sp>
        <p:nvSpPr>
          <p:cNvPr id="17" name="Shape 15"/>
          <p:cNvSpPr/>
          <p:nvPr/>
        </p:nvSpPr>
        <p:spPr>
          <a:xfrm>
            <a:off x="1828800" y="3886200"/>
            <a:ext cx="1280160" cy="548640"/>
          </a:xfrm>
          <a:prstGeom prst="roundRect">
            <a:avLst>
              <a:gd name="adj" fmla="val 20000"/>
            </a:avLst>
          </a:prstGeom>
          <a:solidFill>
            <a:srgbClr val="FFFFFF"/>
          </a:solidFill>
          <a:ln w="19050">
            <a:solidFill>
              <a:srgbClr val="F2A27E"/>
            </a:solidFill>
            <a:prstDash val="solid"/>
          </a:ln>
        </p:spPr>
      </p:sp>
      <p:sp>
        <p:nvSpPr>
          <p:cNvPr id="18" name="Text 16"/>
          <p:cNvSpPr txBox="1"/>
          <p:nvPr/>
        </p:nvSpPr>
        <p:spPr>
          <a:xfrm>
            <a:off x="1828800" y="3886200"/>
            <a:ext cx="1280160" cy="548640"/>
          </a:xfrm>
          <a:prstGeom prst="rect">
            <a:avLst/>
          </a:prstGeom>
          <a:noFill/>
          <a:ln/>
        </p:spPr>
        <p:txBody>
          <a:bodyPr wrap="square" lIns="0" tIns="0" rIns="0" bIns="0" rtlCol="0" anchor="ctr"/>
          <a:lstStyle/>
          <a:p>
            <a:pPr algn="ctr" indent="0" marL="0">
              <a:buNone/>
            </a:pPr>
            <a:r>
              <a:rPr lang="en-US" sz="1100" dirty="0">
                <a:solidFill>
                  <a:srgbClr val="33413A"/>
                </a:solidFill>
                <a:latin typeface="Malgun Gothic" pitchFamily="34" charset="0"/>
                <a:ea typeface="Malgun Gothic" pitchFamily="34" charset="-122"/>
                <a:cs typeface="Malgun Gothic" pitchFamily="34" charset="-120"/>
              </a:rPr>
              <a:t>간판·가격표</a:t>
            </a:r>
            <a:endParaRPr lang="en-US" sz="1100" dirty="0"/>
          </a:p>
          <a:p>
            <a:pPr algn="ctr" indent="0" marL="0">
              <a:buNone/>
            </a:pPr>
            <a:r>
              <a:rPr lang="en-US" sz="1100" dirty="0">
                <a:solidFill>
                  <a:srgbClr val="33413A"/>
                </a:solidFill>
                <a:latin typeface="Malgun Gothic" pitchFamily="34" charset="0"/>
                <a:ea typeface="Malgun Gothic" pitchFamily="34" charset="-122"/>
                <a:cs typeface="Malgun Gothic" pitchFamily="34" charset="-120"/>
              </a:rPr>
              <a:t>쓰기</a:t>
            </a:r>
            <a:endParaRPr lang="en-US" sz="1100" dirty="0"/>
          </a:p>
        </p:txBody>
      </p:sp>
      <p:sp>
        <p:nvSpPr>
          <p:cNvPr id="19" name="Shape 17"/>
          <p:cNvSpPr/>
          <p:nvPr/>
        </p:nvSpPr>
        <p:spPr>
          <a:xfrm>
            <a:off x="4663440" y="1097280"/>
            <a:ext cx="4023360" cy="3611880"/>
          </a:xfrm>
          <a:prstGeom prst="roundRect">
            <a:avLst>
              <a:gd name="adj" fmla="val 3797"/>
            </a:avLst>
          </a:prstGeom>
          <a:solidFill>
            <a:srgbClr val="DCEBDD"/>
          </a:solidFill>
          <a:ln/>
        </p:spPr>
      </p:sp>
      <p:sp>
        <p:nvSpPr>
          <p:cNvPr id="20" name="Text 18"/>
          <p:cNvSpPr txBox="1"/>
          <p:nvPr/>
        </p:nvSpPr>
        <p:spPr>
          <a:xfrm>
            <a:off x="4846320" y="1188720"/>
            <a:ext cx="3657600" cy="365760"/>
          </a:xfrm>
          <a:prstGeom prst="rect">
            <a:avLst/>
          </a:prstGeom>
          <a:noFill/>
          <a:ln/>
        </p:spPr>
        <p:txBody>
          <a:bodyPr wrap="square" lIns="0" tIns="0" rIns="0" bIns="0" rtlCol="0" anchor="ctr"/>
          <a:lstStyle/>
          <a:p>
            <a:pPr indent="0" marL="0">
              <a:buNone/>
            </a:pPr>
            <a:r>
              <a:rPr lang="en-US" sz="1600" b="1" dirty="0">
                <a:solidFill>
                  <a:srgbClr val="33413A"/>
                </a:solidFill>
                <a:latin typeface="Malgun Gothic" pitchFamily="34" charset="0"/>
                <a:ea typeface="Malgun Gothic" pitchFamily="34" charset="-122"/>
                <a:cs typeface="Malgun Gothic" pitchFamily="34" charset="-120"/>
              </a:rPr>
              <a:t>② 놀이 중심 교육과정으로 운영</a:t>
            </a:r>
            <a:endParaRPr lang="en-US" sz="1600" dirty="0"/>
          </a:p>
        </p:txBody>
      </p:sp>
      <p:sp>
        <p:nvSpPr>
          <p:cNvPr id="21" name="Text 19"/>
          <p:cNvSpPr txBox="1"/>
          <p:nvPr/>
        </p:nvSpPr>
        <p:spPr>
          <a:xfrm>
            <a:off x="4846320" y="1554480"/>
            <a:ext cx="3657600" cy="274320"/>
          </a:xfrm>
          <a:prstGeom prst="rect">
            <a:avLst/>
          </a:prstGeom>
          <a:noFill/>
          <a:ln/>
        </p:spPr>
        <p:txBody>
          <a:bodyPr wrap="square" lIns="0" tIns="0" rIns="0" bIns="0" rtlCol="0" anchor="ctr"/>
          <a:lstStyle/>
          <a:p>
            <a:pPr indent="0" marL="0">
              <a:buNone/>
            </a:pPr>
            <a:r>
              <a:rPr lang="en-US" sz="1100" dirty="0">
                <a:solidFill>
                  <a:srgbClr val="6E7B73"/>
                </a:solidFill>
                <a:latin typeface="Malgun Gothic" pitchFamily="34" charset="0"/>
                <a:ea typeface="Malgun Gothic" pitchFamily="34" charset="-122"/>
                <a:cs typeface="Malgun Gothic" pitchFamily="34" charset="-120"/>
              </a:rPr>
              <a:t>유아와 놀이를 최우선으로 존중</a:t>
            </a:r>
            <a:endParaRPr lang="en-US" sz="1100" dirty="0"/>
          </a:p>
        </p:txBody>
      </p:sp>
      <p:sp>
        <p:nvSpPr>
          <p:cNvPr id="22" name="Shape 20"/>
          <p:cNvSpPr/>
          <p:nvPr/>
        </p:nvSpPr>
        <p:spPr>
          <a:xfrm>
            <a:off x="4892040" y="2011680"/>
            <a:ext cx="457200" cy="457200"/>
          </a:xfrm>
          <a:prstGeom prst="ellipse">
            <a:avLst/>
          </a:prstGeom>
          <a:solidFill>
            <a:srgbClr val="5E8C6A"/>
          </a:solidFill>
          <a:ln/>
        </p:spPr>
      </p:sp>
      <p:pic>
        <p:nvPicPr>
          <p:cNvPr id="23" name="Image 0" descr="preencoded.png">    </p:cNvPr>
          <p:cNvPicPr>
            <a:picLocks noChangeAspect="1"/>
          </p:cNvPicPr>
          <p:nvPr/>
        </p:nvPicPr>
        <p:blipFill>
          <a:blip r:embed="rId1"/>
          <a:stretch>
            <a:fillRect/>
          </a:stretch>
        </p:blipFill>
        <p:spPr>
          <a:xfrm>
            <a:off x="5006340" y="2125980"/>
            <a:ext cx="228600" cy="228600"/>
          </a:xfrm>
          <a:prstGeom prst="rect">
            <a:avLst/>
          </a:prstGeom>
        </p:spPr>
      </p:pic>
      <p:sp>
        <p:nvSpPr>
          <p:cNvPr id="24" name="Text 21"/>
          <p:cNvSpPr txBox="1"/>
          <p:nvPr/>
        </p:nvSpPr>
        <p:spPr>
          <a:xfrm>
            <a:off x="5486400" y="1965960"/>
            <a:ext cx="3063240" cy="548640"/>
          </a:xfrm>
          <a:prstGeom prst="rect">
            <a:avLst/>
          </a:prstGeom>
          <a:noFill/>
          <a:ln/>
        </p:spPr>
        <p:txBody>
          <a:bodyPr wrap="square" lIns="0" tIns="0" rIns="0" bIns="0" rtlCol="0" anchor="ctr"/>
          <a:lstStyle/>
          <a:p>
            <a:pPr indent="0" marL="0">
              <a:buNone/>
            </a:pPr>
            <a:r>
              <a:rPr lang="en-US" sz="1300" dirty="0">
                <a:solidFill>
                  <a:srgbClr val="33413A"/>
                </a:solidFill>
                <a:latin typeface="Malgun Gothic" pitchFamily="34" charset="0"/>
                <a:ea typeface="Malgun Gothic" pitchFamily="34" charset="-122"/>
                <a:cs typeface="Malgun Gothic" pitchFamily="34" charset="-120"/>
              </a:rPr>
              <a:t>충분한 놀이시간 확보</a:t>
            </a:r>
            <a:endParaRPr lang="en-US" sz="1300" dirty="0"/>
          </a:p>
        </p:txBody>
      </p:sp>
      <p:sp>
        <p:nvSpPr>
          <p:cNvPr id="25" name="Shape 22"/>
          <p:cNvSpPr/>
          <p:nvPr/>
        </p:nvSpPr>
        <p:spPr>
          <a:xfrm>
            <a:off x="4892040" y="2651760"/>
            <a:ext cx="457200" cy="457200"/>
          </a:xfrm>
          <a:prstGeom prst="ellipse">
            <a:avLst/>
          </a:prstGeom>
          <a:solidFill>
            <a:srgbClr val="5E8C6A"/>
          </a:solidFill>
          <a:ln/>
        </p:spPr>
      </p:sp>
      <p:pic>
        <p:nvPicPr>
          <p:cNvPr id="26" name="Image 1" descr="preencoded.png">    </p:cNvPr>
          <p:cNvPicPr>
            <a:picLocks noChangeAspect="1"/>
          </p:cNvPicPr>
          <p:nvPr/>
        </p:nvPicPr>
        <p:blipFill>
          <a:blip r:embed="rId2"/>
          <a:stretch>
            <a:fillRect/>
          </a:stretch>
        </p:blipFill>
        <p:spPr>
          <a:xfrm>
            <a:off x="5006340" y="2766060"/>
            <a:ext cx="228600" cy="228600"/>
          </a:xfrm>
          <a:prstGeom prst="rect">
            <a:avLst/>
          </a:prstGeom>
        </p:spPr>
      </p:pic>
      <p:sp>
        <p:nvSpPr>
          <p:cNvPr id="27" name="Text 23"/>
          <p:cNvSpPr txBox="1"/>
          <p:nvPr/>
        </p:nvSpPr>
        <p:spPr>
          <a:xfrm>
            <a:off x="5486400" y="2606040"/>
            <a:ext cx="3063240" cy="548640"/>
          </a:xfrm>
          <a:prstGeom prst="rect">
            <a:avLst/>
          </a:prstGeom>
          <a:noFill/>
          <a:ln/>
        </p:spPr>
        <p:txBody>
          <a:bodyPr wrap="square" lIns="0" tIns="0" rIns="0" bIns="0" rtlCol="0" anchor="ctr"/>
          <a:lstStyle/>
          <a:p>
            <a:pPr indent="0" marL="0">
              <a:buNone/>
            </a:pPr>
            <a:r>
              <a:rPr lang="en-US" sz="1300" dirty="0">
                <a:solidFill>
                  <a:srgbClr val="33413A"/>
                </a:solidFill>
                <a:latin typeface="Malgun Gothic" pitchFamily="34" charset="0"/>
                <a:ea typeface="Malgun Gothic" pitchFamily="34" charset="-122"/>
                <a:cs typeface="Malgun Gothic" pitchFamily="34" charset="-120"/>
              </a:rPr>
              <a:t>유아 스스로 놀이하며 배움</a:t>
            </a:r>
            <a:endParaRPr lang="en-US" sz="1300" dirty="0"/>
          </a:p>
        </p:txBody>
      </p:sp>
      <p:sp>
        <p:nvSpPr>
          <p:cNvPr id="28" name="Shape 24"/>
          <p:cNvSpPr/>
          <p:nvPr/>
        </p:nvSpPr>
        <p:spPr>
          <a:xfrm>
            <a:off x="4892040" y="3291840"/>
            <a:ext cx="457200" cy="457200"/>
          </a:xfrm>
          <a:prstGeom prst="ellipse">
            <a:avLst/>
          </a:prstGeom>
          <a:solidFill>
            <a:srgbClr val="5E8C6A"/>
          </a:solidFill>
          <a:ln/>
        </p:spPr>
      </p:sp>
      <p:pic>
        <p:nvPicPr>
          <p:cNvPr id="29" name="Image 2" descr="preencoded.png">    </p:cNvPr>
          <p:cNvPicPr>
            <a:picLocks noChangeAspect="1"/>
          </p:cNvPicPr>
          <p:nvPr/>
        </p:nvPicPr>
        <p:blipFill>
          <a:blip r:embed="rId3"/>
          <a:stretch>
            <a:fillRect/>
          </a:stretch>
        </p:blipFill>
        <p:spPr>
          <a:xfrm>
            <a:off x="5006340" y="3406140"/>
            <a:ext cx="228600" cy="228600"/>
          </a:xfrm>
          <a:prstGeom prst="rect">
            <a:avLst/>
          </a:prstGeom>
        </p:spPr>
      </p:pic>
      <p:sp>
        <p:nvSpPr>
          <p:cNvPr id="30" name="Text 25"/>
          <p:cNvSpPr txBox="1"/>
          <p:nvPr/>
        </p:nvSpPr>
        <p:spPr>
          <a:xfrm>
            <a:off x="5486400" y="3246120"/>
            <a:ext cx="3063240" cy="548640"/>
          </a:xfrm>
          <a:prstGeom prst="rect">
            <a:avLst/>
          </a:prstGeom>
          <a:noFill/>
          <a:ln/>
        </p:spPr>
        <p:txBody>
          <a:bodyPr wrap="square" lIns="0" tIns="0" rIns="0" bIns="0" rtlCol="0" anchor="ctr"/>
          <a:lstStyle/>
          <a:p>
            <a:pPr indent="0" marL="0">
              <a:buNone/>
            </a:pPr>
            <a:r>
              <a:rPr lang="en-US" sz="1300" dirty="0">
                <a:solidFill>
                  <a:srgbClr val="33413A"/>
                </a:solidFill>
                <a:latin typeface="Malgun Gothic" pitchFamily="34" charset="0"/>
                <a:ea typeface="Malgun Gothic" pitchFamily="34" charset="-122"/>
                <a:cs typeface="Malgun Gothic" pitchFamily="34" charset="-120"/>
              </a:rPr>
              <a:t>바깥놀이·자연물 놀이 장려</a:t>
            </a:r>
            <a:endParaRPr lang="en-US" sz="1300" dirty="0"/>
          </a:p>
        </p:txBody>
      </p:sp>
      <p:sp>
        <p:nvSpPr>
          <p:cNvPr id="31" name="Shape 26"/>
          <p:cNvSpPr/>
          <p:nvPr/>
        </p:nvSpPr>
        <p:spPr>
          <a:xfrm>
            <a:off x="4892040" y="3931920"/>
            <a:ext cx="457200" cy="457200"/>
          </a:xfrm>
          <a:prstGeom prst="ellipse">
            <a:avLst/>
          </a:prstGeom>
          <a:solidFill>
            <a:srgbClr val="5E8C6A"/>
          </a:solidFill>
          <a:ln/>
        </p:spPr>
      </p:sp>
      <p:pic>
        <p:nvPicPr>
          <p:cNvPr id="32" name="Image 3" descr="preencoded.png">    </p:cNvPr>
          <p:cNvPicPr>
            <a:picLocks noChangeAspect="1"/>
          </p:cNvPicPr>
          <p:nvPr/>
        </p:nvPicPr>
        <p:blipFill>
          <a:blip r:embed="rId4"/>
          <a:stretch>
            <a:fillRect/>
          </a:stretch>
        </p:blipFill>
        <p:spPr>
          <a:xfrm>
            <a:off x="5006340" y="4046220"/>
            <a:ext cx="228600" cy="228600"/>
          </a:xfrm>
          <a:prstGeom prst="rect">
            <a:avLst/>
          </a:prstGeom>
        </p:spPr>
      </p:pic>
      <p:sp>
        <p:nvSpPr>
          <p:cNvPr id="33" name="Text 27"/>
          <p:cNvSpPr txBox="1"/>
          <p:nvPr/>
        </p:nvSpPr>
        <p:spPr>
          <a:xfrm>
            <a:off x="5486400" y="3886200"/>
            <a:ext cx="3063240" cy="548640"/>
          </a:xfrm>
          <a:prstGeom prst="rect">
            <a:avLst/>
          </a:prstGeom>
          <a:noFill/>
          <a:ln/>
        </p:spPr>
        <p:txBody>
          <a:bodyPr wrap="square" lIns="0" tIns="0" rIns="0" bIns="0" rtlCol="0" anchor="ctr"/>
          <a:lstStyle/>
          <a:p>
            <a:pPr indent="0" marL="0">
              <a:buNone/>
            </a:pPr>
            <a:r>
              <a:rPr lang="en-US" sz="1300" b="1" dirty="0">
                <a:solidFill>
                  <a:srgbClr val="33413A"/>
                </a:solidFill>
                <a:latin typeface="Malgun Gothic" pitchFamily="34" charset="0"/>
                <a:ea typeface="Malgun Gothic" pitchFamily="34" charset="-122"/>
                <a:cs typeface="Malgun Gothic" pitchFamily="34" charset="-120"/>
              </a:rPr>
              <a:t>교사 = 놀이지원자</a:t>
            </a:r>
            <a:endParaRPr lang="en-US" sz="1300" dirty="0"/>
          </a:p>
          <a:p>
            <a:pPr indent="0" marL="0">
              <a:buNone/>
            </a:pPr>
            <a:r>
              <a:rPr lang="en-US" sz="1300" b="1" dirty="0">
                <a:solidFill>
                  <a:srgbClr val="33413A"/>
                </a:solidFill>
                <a:latin typeface="Malgun Gothic" pitchFamily="34" charset="0"/>
                <a:ea typeface="Malgun Gothic" pitchFamily="34" charset="-122"/>
                <a:cs typeface="Malgun Gothic" pitchFamily="34" charset="-120"/>
              </a:rPr>
              <a:t>(관찰·지원·상호작용)</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02920" cy="502920"/>
          </a:xfrm>
          <a:prstGeom prst="ellipse">
            <a:avLst/>
          </a:prstGeom>
          <a:solidFill>
            <a:srgbClr val="5E8C6A"/>
          </a:solidFill>
          <a:ln/>
        </p:spPr>
      </p:sp>
      <p:sp>
        <p:nvSpPr>
          <p:cNvPr id="3" name="Text 1"/>
          <p:cNvSpPr txBox="1"/>
          <p:nvPr/>
        </p:nvSpPr>
        <p:spPr>
          <a:xfrm>
            <a:off x="457200" y="38404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05</a:t>
            </a:r>
            <a:endParaRPr lang="en-US" sz="1400" dirty="0"/>
          </a:p>
        </p:txBody>
      </p:sp>
      <p:sp>
        <p:nvSpPr>
          <p:cNvPr id="4" name="Text 2"/>
          <p:cNvSpPr txBox="1"/>
          <p:nvPr/>
        </p:nvSpPr>
        <p:spPr>
          <a:xfrm>
            <a:off x="1097280" y="320040"/>
            <a:ext cx="7589520" cy="640080"/>
          </a:xfrm>
          <a:prstGeom prst="rect">
            <a:avLst/>
          </a:prstGeom>
          <a:noFill/>
          <a:ln/>
        </p:spPr>
        <p:txBody>
          <a:bodyPr wrap="square" lIns="0" tIns="0" rIns="0" bIns="0" rtlCol="0" anchor="ctr"/>
          <a:lstStyle/>
          <a:p>
            <a:pPr indent="0" marL="0">
              <a:buNone/>
            </a:pPr>
            <a:r>
              <a:rPr lang="en-US" sz="2800" b="1" dirty="0">
                <a:solidFill>
                  <a:srgbClr val="33413A"/>
                </a:solidFill>
                <a:latin typeface="Malgun Gothic" pitchFamily="34" charset="0"/>
                <a:ea typeface="Malgun Gothic" pitchFamily="34" charset="-122"/>
                <a:cs typeface="Malgun Gothic" pitchFamily="34" charset="-120"/>
              </a:rPr>
              <a:t>구성의 특징 ③  ④</a:t>
            </a:r>
            <a:endParaRPr lang="en-US" sz="2800" dirty="0"/>
          </a:p>
        </p:txBody>
      </p:sp>
      <p:sp>
        <p:nvSpPr>
          <p:cNvPr id="5" name="Shape 3"/>
          <p:cNvSpPr/>
          <p:nvPr/>
        </p:nvSpPr>
        <p:spPr>
          <a:xfrm>
            <a:off x="457200" y="1097280"/>
            <a:ext cx="4023360" cy="3611880"/>
          </a:xfrm>
          <a:prstGeom prst="roundRect">
            <a:avLst>
              <a:gd name="adj" fmla="val 3797"/>
            </a:avLst>
          </a:prstGeom>
          <a:solidFill>
            <a:srgbClr val="FDF3D6"/>
          </a:solidFill>
          <a:ln/>
        </p:spPr>
      </p:sp>
      <p:sp>
        <p:nvSpPr>
          <p:cNvPr id="6" name="Text 4"/>
          <p:cNvSpPr txBox="1"/>
          <p:nvPr/>
        </p:nvSpPr>
        <p:spPr>
          <a:xfrm>
            <a:off x="640080" y="1188720"/>
            <a:ext cx="3749040" cy="365760"/>
          </a:xfrm>
          <a:prstGeom prst="rect">
            <a:avLst/>
          </a:prstGeom>
          <a:noFill/>
          <a:ln/>
        </p:spPr>
        <p:txBody>
          <a:bodyPr wrap="square" lIns="0" tIns="0" rIns="0" bIns="0" rtlCol="0" anchor="ctr"/>
          <a:lstStyle/>
          <a:p>
            <a:pPr indent="0" marL="0">
              <a:buNone/>
            </a:pPr>
            <a:r>
              <a:rPr lang="en-US" sz="1600" b="1" dirty="0">
                <a:solidFill>
                  <a:srgbClr val="33413A"/>
                </a:solidFill>
                <a:latin typeface="Malgun Gothic" pitchFamily="34" charset="0"/>
                <a:ea typeface="Malgun Gothic" pitchFamily="34" charset="-122"/>
                <a:cs typeface="Malgun Gothic" pitchFamily="34" charset="-120"/>
              </a:rPr>
              <a:t>③ 흥미와 요구를 반영한 교육적 경험</a:t>
            </a:r>
            <a:endParaRPr lang="en-US" sz="1600" dirty="0"/>
          </a:p>
        </p:txBody>
      </p:sp>
      <p:sp>
        <p:nvSpPr>
          <p:cNvPr id="7" name="Shape 5"/>
          <p:cNvSpPr/>
          <p:nvPr/>
        </p:nvSpPr>
        <p:spPr>
          <a:xfrm>
            <a:off x="640080" y="1645920"/>
            <a:ext cx="3657600" cy="411480"/>
          </a:xfrm>
          <a:prstGeom prst="roundRect">
            <a:avLst>
              <a:gd name="adj" fmla="val 44444"/>
            </a:avLst>
          </a:prstGeom>
          <a:solidFill>
            <a:srgbClr val="FFFFFF"/>
          </a:solidFill>
          <a:ln w="19050">
            <a:solidFill>
              <a:srgbClr val="E8A1A8"/>
            </a:solidFill>
            <a:prstDash val="solid"/>
          </a:ln>
        </p:spPr>
      </p:sp>
      <p:sp>
        <p:nvSpPr>
          <p:cNvPr id="8" name="Text 6"/>
          <p:cNvSpPr txBox="1"/>
          <p:nvPr/>
        </p:nvSpPr>
        <p:spPr>
          <a:xfrm>
            <a:off x="640080" y="1645920"/>
            <a:ext cx="3657600" cy="411480"/>
          </a:xfrm>
          <a:prstGeom prst="rect">
            <a:avLst/>
          </a:prstGeom>
          <a:noFill/>
          <a:ln/>
        </p:spPr>
        <p:txBody>
          <a:bodyPr wrap="square" lIns="0" tIns="0" rIns="0" bIns="0" rtlCol="0" anchor="ctr"/>
          <a:lstStyle/>
          <a:p>
            <a:pPr algn="ctr" indent="0" marL="0">
              <a:buNone/>
            </a:pPr>
            <a:r>
              <a:rPr lang="en-US" sz="1200" b="1" dirty="0">
                <a:solidFill>
                  <a:srgbClr val="B45A64"/>
                </a:solidFill>
                <a:latin typeface="Malgun Gothic" pitchFamily="34" charset="0"/>
                <a:ea typeface="Malgun Gothic" pitchFamily="34" charset="-122"/>
                <a:cs typeface="Malgun Gothic" pitchFamily="34" charset="-120"/>
              </a:rPr>
              <a:t>주의! '좋아하는 것 = 좋은 교육과정'은 아님</a:t>
            </a:r>
            <a:endParaRPr lang="en-US" sz="1200" dirty="0"/>
          </a:p>
        </p:txBody>
      </p:sp>
      <p:sp>
        <p:nvSpPr>
          <p:cNvPr id="9" name="Shape 7"/>
          <p:cNvSpPr/>
          <p:nvPr/>
        </p:nvSpPr>
        <p:spPr>
          <a:xfrm>
            <a:off x="822960" y="2240280"/>
            <a:ext cx="3291840" cy="420624"/>
          </a:xfrm>
          <a:prstGeom prst="roundRect">
            <a:avLst>
              <a:gd name="adj" fmla="val 26087"/>
            </a:avLst>
          </a:prstGeom>
          <a:solidFill>
            <a:srgbClr val="FFFFFF"/>
          </a:solidFill>
          <a:ln/>
        </p:spPr>
      </p:sp>
      <p:sp>
        <p:nvSpPr>
          <p:cNvPr id="10" name="Text 8"/>
          <p:cNvSpPr txBox="1"/>
          <p:nvPr/>
        </p:nvSpPr>
        <p:spPr>
          <a:xfrm>
            <a:off x="822960" y="2240280"/>
            <a:ext cx="3291840" cy="420624"/>
          </a:xfrm>
          <a:prstGeom prst="rect">
            <a:avLst/>
          </a:prstGeom>
          <a:noFill/>
          <a:ln/>
        </p:spPr>
        <p:txBody>
          <a:bodyPr wrap="square" lIns="0" tIns="0" rIns="0" bIns="0" rtlCol="0" anchor="ctr"/>
          <a:lstStyle/>
          <a:p>
            <a:pPr algn="ctr" indent="0" marL="0">
              <a:buNone/>
            </a:pPr>
            <a:r>
              <a:rPr lang="en-US" sz="1200" dirty="0">
                <a:solidFill>
                  <a:srgbClr val="33413A"/>
                </a:solidFill>
                <a:latin typeface="Malgun Gothic" pitchFamily="34" charset="0"/>
                <a:ea typeface="Malgun Gothic" pitchFamily="34" charset="-122"/>
                <a:cs typeface="Malgun Gothic" pitchFamily="34" charset="-120"/>
              </a:rPr>
              <a:t>영유아의 흥미 존중 + 발달적 요구</a:t>
            </a:r>
            <a:endParaRPr lang="en-US" sz="1200" dirty="0"/>
          </a:p>
        </p:txBody>
      </p:sp>
      <p:sp>
        <p:nvSpPr>
          <p:cNvPr id="11" name="Text 9"/>
          <p:cNvSpPr txBox="1"/>
          <p:nvPr/>
        </p:nvSpPr>
        <p:spPr>
          <a:xfrm>
            <a:off x="822960" y="2660904"/>
            <a:ext cx="3291840" cy="182880"/>
          </a:xfrm>
          <a:prstGeom prst="rect">
            <a:avLst/>
          </a:prstGeom>
          <a:noFill/>
          <a:ln/>
        </p:spPr>
        <p:txBody>
          <a:bodyPr wrap="square" lIns="0" tIns="0" rIns="0" bIns="0" rtlCol="0" anchor="ctr"/>
          <a:lstStyle/>
          <a:p>
            <a:pPr algn="ctr" indent="0" marL="0">
              <a:buNone/>
            </a:pPr>
            <a:r>
              <a:rPr lang="en-US" sz="800" dirty="0">
                <a:solidFill>
                  <a:srgbClr val="B08A2E"/>
                </a:solidFill>
                <a:latin typeface="Malgun Gothic" pitchFamily="34" charset="0"/>
                <a:ea typeface="Malgun Gothic" pitchFamily="34" charset="-122"/>
                <a:cs typeface="Malgun Gothic" pitchFamily="34" charset="-120"/>
              </a:rPr>
              <a:t>▼</a:t>
            </a:r>
            <a:endParaRPr lang="en-US" sz="800" dirty="0"/>
          </a:p>
        </p:txBody>
      </p:sp>
      <p:sp>
        <p:nvSpPr>
          <p:cNvPr id="12" name="Shape 10"/>
          <p:cNvSpPr/>
          <p:nvPr/>
        </p:nvSpPr>
        <p:spPr>
          <a:xfrm>
            <a:off x="822960" y="2843784"/>
            <a:ext cx="3291840" cy="420624"/>
          </a:xfrm>
          <a:prstGeom prst="roundRect">
            <a:avLst>
              <a:gd name="adj" fmla="val 26087"/>
            </a:avLst>
          </a:prstGeom>
          <a:solidFill>
            <a:srgbClr val="FFFFFF"/>
          </a:solidFill>
          <a:ln/>
        </p:spPr>
      </p:sp>
      <p:sp>
        <p:nvSpPr>
          <p:cNvPr id="13" name="Text 11"/>
          <p:cNvSpPr txBox="1"/>
          <p:nvPr/>
        </p:nvSpPr>
        <p:spPr>
          <a:xfrm>
            <a:off x="822960" y="2843784"/>
            <a:ext cx="3291840" cy="420624"/>
          </a:xfrm>
          <a:prstGeom prst="rect">
            <a:avLst/>
          </a:prstGeom>
          <a:noFill/>
          <a:ln/>
        </p:spPr>
        <p:txBody>
          <a:bodyPr wrap="square" lIns="0" tIns="0" rIns="0" bIns="0" rtlCol="0" anchor="ctr"/>
          <a:lstStyle/>
          <a:p>
            <a:pPr algn="ctr" indent="0" marL="0">
              <a:buNone/>
            </a:pPr>
            <a:r>
              <a:rPr lang="en-US" sz="1200" dirty="0">
                <a:solidFill>
                  <a:srgbClr val="33413A"/>
                </a:solidFill>
                <a:latin typeface="Malgun Gothic" pitchFamily="34" charset="0"/>
                <a:ea typeface="Malgun Gothic" pitchFamily="34" charset="-122"/>
                <a:cs typeface="Malgun Gothic" pitchFamily="34" charset="-120"/>
              </a:rPr>
              <a:t>교사의 주의 깊은 관찰·평가</a:t>
            </a:r>
            <a:endParaRPr lang="en-US" sz="1200" dirty="0"/>
          </a:p>
        </p:txBody>
      </p:sp>
      <p:sp>
        <p:nvSpPr>
          <p:cNvPr id="14" name="Text 12"/>
          <p:cNvSpPr txBox="1"/>
          <p:nvPr/>
        </p:nvSpPr>
        <p:spPr>
          <a:xfrm>
            <a:off x="822960" y="3264408"/>
            <a:ext cx="3291840" cy="182880"/>
          </a:xfrm>
          <a:prstGeom prst="rect">
            <a:avLst/>
          </a:prstGeom>
          <a:noFill/>
          <a:ln/>
        </p:spPr>
        <p:txBody>
          <a:bodyPr wrap="square" lIns="0" tIns="0" rIns="0" bIns="0" rtlCol="0" anchor="ctr"/>
          <a:lstStyle/>
          <a:p>
            <a:pPr algn="ctr" indent="0" marL="0">
              <a:buNone/>
            </a:pPr>
            <a:r>
              <a:rPr lang="en-US" sz="800" dirty="0">
                <a:solidFill>
                  <a:srgbClr val="B08A2E"/>
                </a:solidFill>
                <a:latin typeface="Malgun Gothic" pitchFamily="34" charset="0"/>
                <a:ea typeface="Malgun Gothic" pitchFamily="34" charset="-122"/>
                <a:cs typeface="Malgun Gothic" pitchFamily="34" charset="-120"/>
              </a:rPr>
              <a:t>▼</a:t>
            </a:r>
            <a:endParaRPr lang="en-US" sz="800" dirty="0"/>
          </a:p>
        </p:txBody>
      </p:sp>
      <p:sp>
        <p:nvSpPr>
          <p:cNvPr id="15" name="Shape 13"/>
          <p:cNvSpPr/>
          <p:nvPr/>
        </p:nvSpPr>
        <p:spPr>
          <a:xfrm>
            <a:off x="822960" y="3447288"/>
            <a:ext cx="3291840" cy="420624"/>
          </a:xfrm>
          <a:prstGeom prst="roundRect">
            <a:avLst>
              <a:gd name="adj" fmla="val 26087"/>
            </a:avLst>
          </a:prstGeom>
          <a:solidFill>
            <a:srgbClr val="FFFFFF"/>
          </a:solidFill>
          <a:ln/>
        </p:spPr>
      </p:sp>
      <p:sp>
        <p:nvSpPr>
          <p:cNvPr id="16" name="Text 14"/>
          <p:cNvSpPr txBox="1"/>
          <p:nvPr/>
        </p:nvSpPr>
        <p:spPr>
          <a:xfrm>
            <a:off x="822960" y="3447288"/>
            <a:ext cx="3291840" cy="420624"/>
          </a:xfrm>
          <a:prstGeom prst="rect">
            <a:avLst/>
          </a:prstGeom>
          <a:noFill/>
          <a:ln/>
        </p:spPr>
        <p:txBody>
          <a:bodyPr wrap="square" lIns="0" tIns="0" rIns="0" bIns="0" rtlCol="0" anchor="ctr"/>
          <a:lstStyle/>
          <a:p>
            <a:pPr algn="ctr" indent="0" marL="0">
              <a:buNone/>
            </a:pPr>
            <a:r>
              <a:rPr lang="en-US" sz="1200" dirty="0">
                <a:solidFill>
                  <a:srgbClr val="33413A"/>
                </a:solidFill>
                <a:latin typeface="Malgun Gothic" pitchFamily="34" charset="0"/>
                <a:ea typeface="Malgun Gothic" pitchFamily="34" charset="-122"/>
                <a:cs typeface="Malgun Gothic" pitchFamily="34" charset="-120"/>
              </a:rPr>
              <a:t>의미 있는 주제·놀이 선별</a:t>
            </a:r>
            <a:endParaRPr lang="en-US" sz="1200" dirty="0"/>
          </a:p>
        </p:txBody>
      </p:sp>
      <p:sp>
        <p:nvSpPr>
          <p:cNvPr id="17" name="Text 15"/>
          <p:cNvSpPr txBox="1"/>
          <p:nvPr/>
        </p:nvSpPr>
        <p:spPr>
          <a:xfrm>
            <a:off x="822960" y="3867912"/>
            <a:ext cx="3291840" cy="182880"/>
          </a:xfrm>
          <a:prstGeom prst="rect">
            <a:avLst/>
          </a:prstGeom>
          <a:noFill/>
          <a:ln/>
        </p:spPr>
        <p:txBody>
          <a:bodyPr wrap="square" lIns="0" tIns="0" rIns="0" bIns="0" rtlCol="0" anchor="ctr"/>
          <a:lstStyle/>
          <a:p>
            <a:pPr algn="ctr" indent="0" marL="0">
              <a:buNone/>
            </a:pPr>
            <a:r>
              <a:rPr lang="en-US" sz="800" dirty="0">
                <a:solidFill>
                  <a:srgbClr val="B08A2E"/>
                </a:solidFill>
                <a:latin typeface="Malgun Gothic" pitchFamily="34" charset="0"/>
                <a:ea typeface="Malgun Gothic" pitchFamily="34" charset="-122"/>
                <a:cs typeface="Malgun Gothic" pitchFamily="34" charset="-120"/>
              </a:rPr>
              <a:t>▼</a:t>
            </a:r>
            <a:endParaRPr lang="en-US" sz="800" dirty="0"/>
          </a:p>
        </p:txBody>
      </p:sp>
      <p:sp>
        <p:nvSpPr>
          <p:cNvPr id="18" name="Shape 16"/>
          <p:cNvSpPr/>
          <p:nvPr/>
        </p:nvSpPr>
        <p:spPr>
          <a:xfrm>
            <a:off x="822960" y="4050792"/>
            <a:ext cx="3291840" cy="420624"/>
          </a:xfrm>
          <a:prstGeom prst="roundRect">
            <a:avLst>
              <a:gd name="adj" fmla="val 26087"/>
            </a:avLst>
          </a:prstGeom>
          <a:solidFill>
            <a:srgbClr val="F5D07A"/>
          </a:solidFill>
          <a:ln/>
        </p:spPr>
      </p:sp>
      <p:sp>
        <p:nvSpPr>
          <p:cNvPr id="19" name="Text 17"/>
          <p:cNvSpPr txBox="1"/>
          <p:nvPr/>
        </p:nvSpPr>
        <p:spPr>
          <a:xfrm>
            <a:off x="822960" y="4050792"/>
            <a:ext cx="3291840" cy="420624"/>
          </a:xfrm>
          <a:prstGeom prst="rect">
            <a:avLst/>
          </a:prstGeom>
          <a:noFill/>
          <a:ln/>
        </p:spPr>
        <p:txBody>
          <a:bodyPr wrap="square" lIns="0" tIns="0" rIns="0" bIns="0" rtlCol="0" anchor="ctr"/>
          <a:lstStyle/>
          <a:p>
            <a:pPr algn="ctr" indent="0" marL="0">
              <a:buNone/>
            </a:pPr>
            <a:r>
              <a:rPr lang="en-US" sz="1200" b="1" dirty="0">
                <a:solidFill>
                  <a:srgbClr val="33413A"/>
                </a:solidFill>
                <a:latin typeface="Malgun Gothic" pitchFamily="34" charset="0"/>
                <a:ea typeface="Malgun Gothic" pitchFamily="34" charset="-122"/>
                <a:cs typeface="Malgun Gothic" pitchFamily="34" charset="-120"/>
              </a:rPr>
              <a:t>교육적 활동으로 연결</a:t>
            </a:r>
            <a:endParaRPr lang="en-US" sz="1200" dirty="0"/>
          </a:p>
        </p:txBody>
      </p:sp>
      <p:sp>
        <p:nvSpPr>
          <p:cNvPr id="20" name="Shape 18"/>
          <p:cNvSpPr/>
          <p:nvPr/>
        </p:nvSpPr>
        <p:spPr>
          <a:xfrm>
            <a:off x="4663440" y="1097280"/>
            <a:ext cx="4023360" cy="3611880"/>
          </a:xfrm>
          <a:prstGeom prst="roundRect">
            <a:avLst>
              <a:gd name="adj" fmla="val 3797"/>
            </a:avLst>
          </a:prstGeom>
          <a:solidFill>
            <a:srgbClr val="F9E1E3"/>
          </a:solidFill>
          <a:ln/>
        </p:spPr>
      </p:sp>
      <p:sp>
        <p:nvSpPr>
          <p:cNvPr id="21" name="Text 19"/>
          <p:cNvSpPr txBox="1"/>
          <p:nvPr/>
        </p:nvSpPr>
        <p:spPr>
          <a:xfrm>
            <a:off x="4846320" y="1188720"/>
            <a:ext cx="3749040" cy="365760"/>
          </a:xfrm>
          <a:prstGeom prst="rect">
            <a:avLst/>
          </a:prstGeom>
          <a:noFill/>
          <a:ln/>
        </p:spPr>
        <p:txBody>
          <a:bodyPr wrap="square" lIns="0" tIns="0" rIns="0" bIns="0" rtlCol="0" anchor="ctr"/>
          <a:lstStyle/>
          <a:p>
            <a:pPr indent="0" marL="0">
              <a:buNone/>
            </a:pPr>
            <a:r>
              <a:rPr lang="en-US" sz="1600" b="1" dirty="0">
                <a:solidFill>
                  <a:srgbClr val="33413A"/>
                </a:solidFill>
                <a:latin typeface="Malgun Gothic" pitchFamily="34" charset="0"/>
                <a:ea typeface="Malgun Gothic" pitchFamily="34" charset="-122"/>
                <a:cs typeface="Malgun Gothic" pitchFamily="34" charset="-120"/>
              </a:rPr>
              <a:t>④ 개인차와 문화적 특성 등 다양성 반영</a:t>
            </a:r>
            <a:endParaRPr lang="en-US" sz="1600" dirty="0"/>
          </a:p>
        </p:txBody>
      </p:sp>
      <p:sp>
        <p:nvSpPr>
          <p:cNvPr id="22" name="Shape 20"/>
          <p:cNvSpPr/>
          <p:nvPr/>
        </p:nvSpPr>
        <p:spPr>
          <a:xfrm>
            <a:off x="4846320" y="1691640"/>
            <a:ext cx="868680" cy="347472"/>
          </a:xfrm>
          <a:prstGeom prst="roundRect">
            <a:avLst>
              <a:gd name="adj" fmla="val 50000"/>
            </a:avLst>
          </a:prstGeom>
          <a:solidFill>
            <a:srgbClr val="FFFFFF"/>
          </a:solidFill>
          <a:ln/>
        </p:spPr>
      </p:sp>
      <p:sp>
        <p:nvSpPr>
          <p:cNvPr id="23" name="Text 21"/>
          <p:cNvSpPr txBox="1"/>
          <p:nvPr/>
        </p:nvSpPr>
        <p:spPr>
          <a:xfrm>
            <a:off x="4846320" y="1691640"/>
            <a:ext cx="868680" cy="347472"/>
          </a:xfrm>
          <a:prstGeom prst="rect">
            <a:avLst/>
          </a:prstGeom>
          <a:noFill/>
          <a:ln/>
        </p:spPr>
        <p:txBody>
          <a:bodyPr wrap="square" lIns="0" tIns="0" rIns="0" bIns="0" rtlCol="0" anchor="ctr"/>
          <a:lstStyle/>
          <a:p>
            <a:pPr algn="ctr" indent="0" marL="0">
              <a:buNone/>
            </a:pPr>
            <a:r>
              <a:rPr lang="en-US" sz="1100" dirty="0">
                <a:solidFill>
                  <a:srgbClr val="33413A"/>
                </a:solidFill>
                <a:latin typeface="Malgun Gothic" pitchFamily="34" charset="0"/>
                <a:ea typeface="Malgun Gothic" pitchFamily="34" charset="-122"/>
                <a:cs typeface="Malgun Gothic" pitchFamily="34" charset="-120"/>
              </a:rPr>
              <a:t>발달 특성</a:t>
            </a:r>
            <a:endParaRPr lang="en-US" sz="1100" dirty="0"/>
          </a:p>
        </p:txBody>
      </p:sp>
      <p:sp>
        <p:nvSpPr>
          <p:cNvPr id="24" name="Shape 22"/>
          <p:cNvSpPr/>
          <p:nvPr/>
        </p:nvSpPr>
        <p:spPr>
          <a:xfrm>
            <a:off x="5806440" y="1691640"/>
            <a:ext cx="685800" cy="347472"/>
          </a:xfrm>
          <a:prstGeom prst="roundRect">
            <a:avLst>
              <a:gd name="adj" fmla="val 50000"/>
            </a:avLst>
          </a:prstGeom>
          <a:solidFill>
            <a:srgbClr val="FFFFFF"/>
          </a:solidFill>
          <a:ln/>
        </p:spPr>
      </p:sp>
      <p:sp>
        <p:nvSpPr>
          <p:cNvPr id="25" name="Text 23"/>
          <p:cNvSpPr txBox="1"/>
          <p:nvPr/>
        </p:nvSpPr>
        <p:spPr>
          <a:xfrm>
            <a:off x="5806440" y="1691640"/>
            <a:ext cx="685800" cy="347472"/>
          </a:xfrm>
          <a:prstGeom prst="rect">
            <a:avLst/>
          </a:prstGeom>
          <a:noFill/>
          <a:ln/>
        </p:spPr>
        <p:txBody>
          <a:bodyPr wrap="square" lIns="0" tIns="0" rIns="0" bIns="0" rtlCol="0" anchor="ctr"/>
          <a:lstStyle/>
          <a:p>
            <a:pPr algn="ctr" indent="0" marL="0">
              <a:buNone/>
            </a:pPr>
            <a:r>
              <a:rPr lang="en-US" sz="1100" dirty="0">
                <a:solidFill>
                  <a:srgbClr val="33413A"/>
                </a:solidFill>
                <a:latin typeface="Malgun Gothic" pitchFamily="34" charset="0"/>
                <a:ea typeface="Malgun Gothic" pitchFamily="34" charset="-122"/>
                <a:cs typeface="Malgun Gothic" pitchFamily="34" charset="-120"/>
              </a:rPr>
              <a:t>개인차</a:t>
            </a:r>
            <a:endParaRPr lang="en-US" sz="1100" dirty="0"/>
          </a:p>
        </p:txBody>
      </p:sp>
      <p:sp>
        <p:nvSpPr>
          <p:cNvPr id="26" name="Shape 24"/>
          <p:cNvSpPr/>
          <p:nvPr/>
        </p:nvSpPr>
        <p:spPr>
          <a:xfrm>
            <a:off x="6583680" y="1691640"/>
            <a:ext cx="548640" cy="347472"/>
          </a:xfrm>
          <a:prstGeom prst="roundRect">
            <a:avLst>
              <a:gd name="adj" fmla="val 50000"/>
            </a:avLst>
          </a:prstGeom>
          <a:solidFill>
            <a:srgbClr val="FFFFFF"/>
          </a:solidFill>
          <a:ln/>
        </p:spPr>
      </p:sp>
      <p:sp>
        <p:nvSpPr>
          <p:cNvPr id="27" name="Text 25"/>
          <p:cNvSpPr txBox="1"/>
          <p:nvPr/>
        </p:nvSpPr>
        <p:spPr>
          <a:xfrm>
            <a:off x="6583680" y="1691640"/>
            <a:ext cx="548640" cy="347472"/>
          </a:xfrm>
          <a:prstGeom prst="rect">
            <a:avLst/>
          </a:prstGeom>
          <a:noFill/>
          <a:ln/>
        </p:spPr>
        <p:txBody>
          <a:bodyPr wrap="square" lIns="0" tIns="0" rIns="0" bIns="0" rtlCol="0" anchor="ctr"/>
          <a:lstStyle/>
          <a:p>
            <a:pPr algn="ctr" indent="0" marL="0">
              <a:buNone/>
            </a:pPr>
            <a:r>
              <a:rPr lang="en-US" sz="1100" dirty="0">
                <a:solidFill>
                  <a:srgbClr val="33413A"/>
                </a:solidFill>
                <a:latin typeface="Malgun Gothic" pitchFamily="34" charset="0"/>
                <a:ea typeface="Malgun Gothic" pitchFamily="34" charset="-122"/>
                <a:cs typeface="Malgun Gothic" pitchFamily="34" charset="-120"/>
              </a:rPr>
              <a:t>기질</a:t>
            </a:r>
            <a:endParaRPr lang="en-US" sz="1100" dirty="0"/>
          </a:p>
        </p:txBody>
      </p:sp>
      <p:sp>
        <p:nvSpPr>
          <p:cNvPr id="28" name="Shape 26"/>
          <p:cNvSpPr/>
          <p:nvPr/>
        </p:nvSpPr>
        <p:spPr>
          <a:xfrm>
            <a:off x="7223760" y="1691640"/>
            <a:ext cx="1325880" cy="347472"/>
          </a:xfrm>
          <a:prstGeom prst="roundRect">
            <a:avLst>
              <a:gd name="adj" fmla="val 50000"/>
            </a:avLst>
          </a:prstGeom>
          <a:solidFill>
            <a:srgbClr val="FFFFFF"/>
          </a:solidFill>
          <a:ln/>
        </p:spPr>
      </p:sp>
      <p:sp>
        <p:nvSpPr>
          <p:cNvPr id="29" name="Text 27"/>
          <p:cNvSpPr txBox="1"/>
          <p:nvPr/>
        </p:nvSpPr>
        <p:spPr>
          <a:xfrm>
            <a:off x="7223760" y="1691640"/>
            <a:ext cx="1325880" cy="347472"/>
          </a:xfrm>
          <a:prstGeom prst="rect">
            <a:avLst/>
          </a:prstGeom>
          <a:noFill/>
          <a:ln/>
        </p:spPr>
        <p:txBody>
          <a:bodyPr wrap="square" lIns="0" tIns="0" rIns="0" bIns="0" rtlCol="0" anchor="ctr"/>
          <a:lstStyle/>
          <a:p>
            <a:pPr algn="ctr" indent="0" marL="0">
              <a:buNone/>
            </a:pPr>
            <a:r>
              <a:rPr lang="en-US" sz="1100" dirty="0">
                <a:solidFill>
                  <a:srgbClr val="33413A"/>
                </a:solidFill>
                <a:latin typeface="Malgun Gothic" pitchFamily="34" charset="0"/>
                <a:ea typeface="Malgun Gothic" pitchFamily="34" charset="-122"/>
                <a:cs typeface="Malgun Gothic" pitchFamily="34" charset="-120"/>
              </a:rPr>
              <a:t>사회문화적 배경</a:t>
            </a:r>
            <a:endParaRPr lang="en-US" sz="1100" dirty="0"/>
          </a:p>
        </p:txBody>
      </p:sp>
      <p:sp>
        <p:nvSpPr>
          <p:cNvPr id="30" name="Shape 28"/>
          <p:cNvSpPr/>
          <p:nvPr/>
        </p:nvSpPr>
        <p:spPr>
          <a:xfrm>
            <a:off x="4892040" y="2331720"/>
            <a:ext cx="457200" cy="457200"/>
          </a:xfrm>
          <a:prstGeom prst="ellipse">
            <a:avLst/>
          </a:prstGeom>
          <a:solidFill>
            <a:srgbClr val="E8A1A8"/>
          </a:solidFill>
          <a:ln/>
        </p:spPr>
      </p:sp>
      <p:pic>
        <p:nvPicPr>
          <p:cNvPr id="31" name="Image 0" descr="preencoded.png">    </p:cNvPr>
          <p:cNvPicPr>
            <a:picLocks noChangeAspect="1"/>
          </p:cNvPicPr>
          <p:nvPr/>
        </p:nvPicPr>
        <p:blipFill>
          <a:blip r:embed="rId1"/>
          <a:stretch>
            <a:fillRect/>
          </a:stretch>
        </p:blipFill>
        <p:spPr>
          <a:xfrm>
            <a:off x="5006340" y="2446020"/>
            <a:ext cx="228600" cy="228600"/>
          </a:xfrm>
          <a:prstGeom prst="rect">
            <a:avLst/>
          </a:prstGeom>
        </p:spPr>
      </p:pic>
      <p:sp>
        <p:nvSpPr>
          <p:cNvPr id="32" name="Text 29"/>
          <p:cNvSpPr txBox="1"/>
          <p:nvPr/>
        </p:nvSpPr>
        <p:spPr>
          <a:xfrm>
            <a:off x="5486400" y="2286000"/>
            <a:ext cx="3017520" cy="274320"/>
          </a:xfrm>
          <a:prstGeom prst="rect">
            <a:avLst/>
          </a:prstGeom>
          <a:noFill/>
          <a:ln/>
        </p:spPr>
        <p:txBody>
          <a:bodyPr wrap="square" lIns="0" tIns="0" rIns="0" bIns="0" rtlCol="0" anchor="ctr"/>
          <a:lstStyle/>
          <a:p>
            <a:pPr indent="0" marL="0">
              <a:buNone/>
            </a:pPr>
            <a:r>
              <a:rPr lang="en-US" sz="1100" dirty="0">
                <a:solidFill>
                  <a:srgbClr val="6E7B73"/>
                </a:solidFill>
                <a:latin typeface="Malgun Gothic" pitchFamily="34" charset="0"/>
                <a:ea typeface="Malgun Gothic" pitchFamily="34" charset="-122"/>
                <a:cs typeface="Malgun Gothic" pitchFamily="34" charset="-120"/>
              </a:rPr>
              <a:t>영아</a:t>
            </a:r>
            <a:endParaRPr lang="en-US" sz="1100" dirty="0"/>
          </a:p>
        </p:txBody>
      </p:sp>
      <p:sp>
        <p:nvSpPr>
          <p:cNvPr id="33" name="Text 30"/>
          <p:cNvSpPr txBox="1"/>
          <p:nvPr/>
        </p:nvSpPr>
        <p:spPr>
          <a:xfrm>
            <a:off x="5486400" y="2542032"/>
            <a:ext cx="3063240" cy="320040"/>
          </a:xfrm>
          <a:prstGeom prst="rect">
            <a:avLst/>
          </a:prstGeom>
          <a:noFill/>
          <a:ln/>
        </p:spPr>
        <p:txBody>
          <a:bodyPr wrap="square" lIns="0" tIns="0" rIns="0" bIns="0" rtlCol="0" anchor="ctr"/>
          <a:lstStyle/>
          <a:p>
            <a:pPr indent="0" marL="0">
              <a:buNone/>
            </a:pPr>
            <a:r>
              <a:rPr lang="en-US" sz="1300" b="1" dirty="0">
                <a:solidFill>
                  <a:srgbClr val="33413A"/>
                </a:solidFill>
                <a:latin typeface="Malgun Gothic" pitchFamily="34" charset="0"/>
                <a:ea typeface="Malgun Gothic" pitchFamily="34" charset="-122"/>
                <a:cs typeface="Malgun Gothic" pitchFamily="34" charset="-120"/>
              </a:rPr>
              <a:t>개인별 보육계획 수립</a:t>
            </a:r>
            <a:endParaRPr lang="en-US" sz="1300" dirty="0"/>
          </a:p>
        </p:txBody>
      </p:sp>
      <p:sp>
        <p:nvSpPr>
          <p:cNvPr id="34" name="Shape 31"/>
          <p:cNvSpPr/>
          <p:nvPr/>
        </p:nvSpPr>
        <p:spPr>
          <a:xfrm>
            <a:off x="4892040" y="3108960"/>
            <a:ext cx="457200" cy="457200"/>
          </a:xfrm>
          <a:prstGeom prst="ellipse">
            <a:avLst/>
          </a:prstGeom>
          <a:solidFill>
            <a:srgbClr val="E8A1A8"/>
          </a:solidFill>
          <a:ln/>
        </p:spPr>
      </p:sp>
      <p:pic>
        <p:nvPicPr>
          <p:cNvPr id="35" name="Image 1" descr="preencoded.png">    </p:cNvPr>
          <p:cNvPicPr>
            <a:picLocks noChangeAspect="1"/>
          </p:cNvPicPr>
          <p:nvPr/>
        </p:nvPicPr>
        <p:blipFill>
          <a:blip r:embed="rId2"/>
          <a:stretch>
            <a:fillRect/>
          </a:stretch>
        </p:blipFill>
        <p:spPr>
          <a:xfrm>
            <a:off x="5006340" y="3223260"/>
            <a:ext cx="228600" cy="228600"/>
          </a:xfrm>
          <a:prstGeom prst="rect">
            <a:avLst/>
          </a:prstGeom>
        </p:spPr>
      </p:pic>
      <p:sp>
        <p:nvSpPr>
          <p:cNvPr id="36" name="Text 32"/>
          <p:cNvSpPr txBox="1"/>
          <p:nvPr/>
        </p:nvSpPr>
        <p:spPr>
          <a:xfrm>
            <a:off x="5486400" y="3063240"/>
            <a:ext cx="3017520" cy="274320"/>
          </a:xfrm>
          <a:prstGeom prst="rect">
            <a:avLst/>
          </a:prstGeom>
          <a:noFill/>
          <a:ln/>
        </p:spPr>
        <p:txBody>
          <a:bodyPr wrap="square" lIns="0" tIns="0" rIns="0" bIns="0" rtlCol="0" anchor="ctr"/>
          <a:lstStyle/>
          <a:p>
            <a:pPr indent="0" marL="0">
              <a:buNone/>
            </a:pPr>
            <a:r>
              <a:rPr lang="en-US" sz="1100" dirty="0">
                <a:solidFill>
                  <a:srgbClr val="6E7B73"/>
                </a:solidFill>
                <a:latin typeface="Malgun Gothic" pitchFamily="34" charset="0"/>
                <a:ea typeface="Malgun Gothic" pitchFamily="34" charset="-122"/>
                <a:cs typeface="Malgun Gothic" pitchFamily="34" charset="-120"/>
              </a:rPr>
              <a:t>누리과정</a:t>
            </a:r>
            <a:endParaRPr lang="en-US" sz="1100" dirty="0"/>
          </a:p>
        </p:txBody>
      </p:sp>
      <p:sp>
        <p:nvSpPr>
          <p:cNvPr id="37" name="Text 33"/>
          <p:cNvSpPr txBox="1"/>
          <p:nvPr/>
        </p:nvSpPr>
        <p:spPr>
          <a:xfrm>
            <a:off x="5486400" y="3319272"/>
            <a:ext cx="3063240" cy="320040"/>
          </a:xfrm>
          <a:prstGeom prst="rect">
            <a:avLst/>
          </a:prstGeom>
          <a:noFill/>
          <a:ln/>
        </p:spPr>
        <p:txBody>
          <a:bodyPr wrap="square" lIns="0" tIns="0" rIns="0" bIns="0" rtlCol="0" anchor="ctr"/>
          <a:lstStyle/>
          <a:p>
            <a:pPr indent="0" marL="0">
              <a:buNone/>
            </a:pPr>
            <a:r>
              <a:rPr lang="en-US" sz="1300" b="1" dirty="0">
                <a:solidFill>
                  <a:srgbClr val="33413A"/>
                </a:solidFill>
                <a:latin typeface="Malgun Gothic" pitchFamily="34" charset="0"/>
                <a:ea typeface="Malgun Gothic" pitchFamily="34" charset="-122"/>
                <a:cs typeface="Malgun Gothic" pitchFamily="34" charset="-120"/>
              </a:rPr>
              <a:t>개인별 평가 기반 수준별 계획</a:t>
            </a:r>
            <a:endParaRPr lang="en-US" sz="1300" dirty="0"/>
          </a:p>
        </p:txBody>
      </p:sp>
      <p:sp>
        <p:nvSpPr>
          <p:cNvPr id="38" name="Shape 34"/>
          <p:cNvSpPr/>
          <p:nvPr/>
        </p:nvSpPr>
        <p:spPr>
          <a:xfrm>
            <a:off x="4892040" y="3886200"/>
            <a:ext cx="457200" cy="457200"/>
          </a:xfrm>
          <a:prstGeom prst="ellipse">
            <a:avLst/>
          </a:prstGeom>
          <a:solidFill>
            <a:srgbClr val="E8A1A8"/>
          </a:solidFill>
          <a:ln/>
        </p:spPr>
      </p:sp>
      <p:pic>
        <p:nvPicPr>
          <p:cNvPr id="39" name="Image 2" descr="preencoded.png">    </p:cNvPr>
          <p:cNvPicPr>
            <a:picLocks noChangeAspect="1"/>
          </p:cNvPicPr>
          <p:nvPr/>
        </p:nvPicPr>
        <p:blipFill>
          <a:blip r:embed="rId3"/>
          <a:stretch>
            <a:fillRect/>
          </a:stretch>
        </p:blipFill>
        <p:spPr>
          <a:xfrm>
            <a:off x="5006340" y="4000500"/>
            <a:ext cx="228600" cy="228600"/>
          </a:xfrm>
          <a:prstGeom prst="rect">
            <a:avLst/>
          </a:prstGeom>
        </p:spPr>
      </p:pic>
      <p:sp>
        <p:nvSpPr>
          <p:cNvPr id="40" name="Text 35"/>
          <p:cNvSpPr txBox="1"/>
          <p:nvPr/>
        </p:nvSpPr>
        <p:spPr>
          <a:xfrm>
            <a:off x="5486400" y="3840480"/>
            <a:ext cx="3017520" cy="274320"/>
          </a:xfrm>
          <a:prstGeom prst="rect">
            <a:avLst/>
          </a:prstGeom>
          <a:noFill/>
          <a:ln/>
        </p:spPr>
        <p:txBody>
          <a:bodyPr wrap="square" lIns="0" tIns="0" rIns="0" bIns="0" rtlCol="0" anchor="ctr"/>
          <a:lstStyle/>
          <a:p>
            <a:pPr indent="0" marL="0">
              <a:buNone/>
            </a:pPr>
            <a:r>
              <a:rPr lang="en-US" sz="1100" dirty="0">
                <a:solidFill>
                  <a:srgbClr val="6E7B73"/>
                </a:solidFill>
                <a:latin typeface="Malgun Gothic" pitchFamily="34" charset="0"/>
                <a:ea typeface="Malgun Gothic" pitchFamily="34" charset="-122"/>
                <a:cs typeface="Malgun Gothic" pitchFamily="34" charset="-120"/>
              </a:rPr>
              <a:t>다문화 사회</a:t>
            </a:r>
            <a:endParaRPr lang="en-US" sz="1100" dirty="0"/>
          </a:p>
        </p:txBody>
      </p:sp>
      <p:sp>
        <p:nvSpPr>
          <p:cNvPr id="41" name="Text 36"/>
          <p:cNvSpPr txBox="1"/>
          <p:nvPr/>
        </p:nvSpPr>
        <p:spPr>
          <a:xfrm>
            <a:off x="5486400" y="4096512"/>
            <a:ext cx="3063240" cy="320040"/>
          </a:xfrm>
          <a:prstGeom prst="rect">
            <a:avLst/>
          </a:prstGeom>
          <a:noFill/>
          <a:ln/>
        </p:spPr>
        <p:txBody>
          <a:bodyPr wrap="square" lIns="0" tIns="0" rIns="0" bIns="0" rtlCol="0" anchor="ctr"/>
          <a:lstStyle/>
          <a:p>
            <a:pPr indent="0" marL="0">
              <a:buNone/>
            </a:pPr>
            <a:r>
              <a:rPr lang="en-US" sz="1300" b="1" dirty="0">
                <a:solidFill>
                  <a:srgbClr val="33413A"/>
                </a:solidFill>
                <a:latin typeface="Malgun Gothic" pitchFamily="34" charset="0"/>
                <a:ea typeface="Malgun Gothic" pitchFamily="34" charset="-122"/>
                <a:cs typeface="Malgun Gothic" pitchFamily="34" charset="-120"/>
              </a:rPr>
              <a:t>다문화교육 계획</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5E8C6A"/>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640080"/>
          </a:xfrm>
          <a:prstGeom prst="rect">
            <a:avLst/>
          </a:prstGeom>
          <a:noFill/>
          <a:ln/>
        </p:spPr>
        <p:txBody>
          <a:bodyPr wrap="square" lIns="0" tIns="0" rIns="0" bIns="0" rtlCol="0" anchor="ctr"/>
          <a:lstStyle/>
          <a:p>
            <a:pPr indent="0" marL="0">
              <a:buNone/>
            </a:pPr>
            <a:r>
              <a:rPr lang="en-US" sz="3000" b="1" dirty="0">
                <a:solidFill>
                  <a:srgbClr val="FFFFFF"/>
                </a:solidFill>
                <a:latin typeface="Malgun Gothic" pitchFamily="34" charset="0"/>
                <a:ea typeface="Malgun Gothic" pitchFamily="34" charset="-122"/>
                <a:cs typeface="Malgun Gothic" pitchFamily="34" charset="-120"/>
              </a:rPr>
              <a:t>한눈에 정리</a:t>
            </a:r>
            <a:endParaRPr lang="en-US" sz="3000" dirty="0"/>
          </a:p>
        </p:txBody>
      </p:sp>
      <p:sp>
        <p:nvSpPr>
          <p:cNvPr id="3" name="Text 1"/>
          <p:cNvSpPr txBox="1"/>
          <p:nvPr/>
        </p:nvSpPr>
        <p:spPr>
          <a:xfrm>
            <a:off x="457200" y="1143000"/>
            <a:ext cx="8229600" cy="320040"/>
          </a:xfrm>
          <a:prstGeom prst="rect">
            <a:avLst/>
          </a:prstGeom>
          <a:noFill/>
          <a:ln/>
        </p:spPr>
        <p:txBody>
          <a:bodyPr wrap="square" lIns="0" tIns="0" rIns="0" bIns="0" rtlCol="0" anchor="ctr"/>
          <a:lstStyle/>
          <a:p>
            <a:pPr indent="0" marL="0">
              <a:buNone/>
            </a:pPr>
            <a:r>
              <a:rPr lang="en-US" sz="1400" b="1" dirty="0">
                <a:solidFill>
                  <a:srgbClr val="FDF3D6"/>
                </a:solidFill>
                <a:latin typeface="Malgun Gothic" pitchFamily="34" charset="0"/>
                <a:ea typeface="Malgun Gothic" pitchFamily="34" charset="-122"/>
                <a:cs typeface="Malgun Gothic" pitchFamily="34" charset="-120"/>
              </a:rPr>
              <a:t>구성 요소 (= 실행 순서)</a:t>
            </a:r>
            <a:endParaRPr lang="en-US" sz="1400" dirty="0"/>
          </a:p>
        </p:txBody>
      </p:sp>
      <p:sp>
        <p:nvSpPr>
          <p:cNvPr id="4" name="Shape 2"/>
          <p:cNvSpPr/>
          <p:nvPr/>
        </p:nvSpPr>
        <p:spPr>
          <a:xfrm>
            <a:off x="457200" y="1554480"/>
            <a:ext cx="1828800" cy="640080"/>
          </a:xfrm>
          <a:prstGeom prst="roundRect">
            <a:avLst>
              <a:gd name="adj" fmla="val 21429"/>
            </a:avLst>
          </a:prstGeom>
          <a:solidFill>
            <a:srgbClr val="DCEBDD"/>
          </a:solidFill>
          <a:ln/>
        </p:spPr>
      </p:sp>
      <p:sp>
        <p:nvSpPr>
          <p:cNvPr id="5" name="Text 3"/>
          <p:cNvSpPr txBox="1"/>
          <p:nvPr/>
        </p:nvSpPr>
        <p:spPr>
          <a:xfrm>
            <a:off x="457200" y="1554480"/>
            <a:ext cx="1828800" cy="640080"/>
          </a:xfrm>
          <a:prstGeom prst="rect">
            <a:avLst/>
          </a:prstGeom>
          <a:noFill/>
          <a:ln/>
        </p:spPr>
        <p:txBody>
          <a:bodyPr wrap="square" lIns="0" tIns="0" rIns="0" bIns="0" rtlCol="0" anchor="ctr"/>
          <a:lstStyle/>
          <a:p>
            <a:pPr algn="ctr" indent="0" marL="0">
              <a:buNone/>
            </a:pPr>
            <a:r>
              <a:rPr lang="en-US" sz="1500" b="1" dirty="0">
                <a:solidFill>
                  <a:srgbClr val="33413A"/>
                </a:solidFill>
                <a:latin typeface="Malgun Gothic" pitchFamily="34" charset="0"/>
                <a:ea typeface="Malgun Gothic" pitchFamily="34" charset="-122"/>
                <a:cs typeface="Malgun Gothic" pitchFamily="34" charset="-120"/>
              </a:rPr>
              <a:t>교육목표</a:t>
            </a:r>
            <a:endParaRPr lang="en-US" sz="1500" dirty="0"/>
          </a:p>
        </p:txBody>
      </p:sp>
      <p:sp>
        <p:nvSpPr>
          <p:cNvPr id="6" name="Text 4"/>
          <p:cNvSpPr txBox="1"/>
          <p:nvPr/>
        </p:nvSpPr>
        <p:spPr>
          <a:xfrm>
            <a:off x="2286000" y="1554480"/>
            <a:ext cx="274320"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a:t>
            </a:r>
            <a:endParaRPr lang="en-US" sz="1400" dirty="0"/>
          </a:p>
        </p:txBody>
      </p:sp>
      <p:sp>
        <p:nvSpPr>
          <p:cNvPr id="7" name="Shape 5"/>
          <p:cNvSpPr/>
          <p:nvPr/>
        </p:nvSpPr>
        <p:spPr>
          <a:xfrm>
            <a:off x="2560320" y="1554480"/>
            <a:ext cx="1828800" cy="640080"/>
          </a:xfrm>
          <a:prstGeom prst="roundRect">
            <a:avLst>
              <a:gd name="adj" fmla="val 21429"/>
            </a:avLst>
          </a:prstGeom>
          <a:solidFill>
            <a:srgbClr val="DCEBDD"/>
          </a:solidFill>
          <a:ln/>
        </p:spPr>
      </p:sp>
      <p:sp>
        <p:nvSpPr>
          <p:cNvPr id="8" name="Text 6"/>
          <p:cNvSpPr txBox="1"/>
          <p:nvPr/>
        </p:nvSpPr>
        <p:spPr>
          <a:xfrm>
            <a:off x="2560320" y="1554480"/>
            <a:ext cx="1828800" cy="640080"/>
          </a:xfrm>
          <a:prstGeom prst="rect">
            <a:avLst/>
          </a:prstGeom>
          <a:noFill/>
          <a:ln/>
        </p:spPr>
        <p:txBody>
          <a:bodyPr wrap="square" lIns="0" tIns="0" rIns="0" bIns="0" rtlCol="0" anchor="ctr"/>
          <a:lstStyle/>
          <a:p>
            <a:pPr algn="ctr" indent="0" marL="0">
              <a:buNone/>
            </a:pPr>
            <a:r>
              <a:rPr lang="en-US" sz="1500" b="1" dirty="0">
                <a:solidFill>
                  <a:srgbClr val="33413A"/>
                </a:solidFill>
                <a:latin typeface="Malgun Gothic" pitchFamily="34" charset="0"/>
                <a:ea typeface="Malgun Gothic" pitchFamily="34" charset="-122"/>
                <a:cs typeface="Malgun Gothic" pitchFamily="34" charset="-120"/>
              </a:rPr>
              <a:t>교육내용</a:t>
            </a:r>
            <a:endParaRPr lang="en-US" sz="1500" dirty="0"/>
          </a:p>
        </p:txBody>
      </p:sp>
      <p:sp>
        <p:nvSpPr>
          <p:cNvPr id="9" name="Text 7"/>
          <p:cNvSpPr txBox="1"/>
          <p:nvPr/>
        </p:nvSpPr>
        <p:spPr>
          <a:xfrm>
            <a:off x="4389120" y="1554480"/>
            <a:ext cx="274320"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a:t>
            </a:r>
            <a:endParaRPr lang="en-US" sz="1400" dirty="0"/>
          </a:p>
        </p:txBody>
      </p:sp>
      <p:sp>
        <p:nvSpPr>
          <p:cNvPr id="10" name="Shape 8"/>
          <p:cNvSpPr/>
          <p:nvPr/>
        </p:nvSpPr>
        <p:spPr>
          <a:xfrm>
            <a:off x="4663440" y="1554480"/>
            <a:ext cx="1828800" cy="640080"/>
          </a:xfrm>
          <a:prstGeom prst="roundRect">
            <a:avLst>
              <a:gd name="adj" fmla="val 21429"/>
            </a:avLst>
          </a:prstGeom>
          <a:solidFill>
            <a:srgbClr val="DCEBDD"/>
          </a:solidFill>
          <a:ln/>
        </p:spPr>
      </p:sp>
      <p:sp>
        <p:nvSpPr>
          <p:cNvPr id="11" name="Text 9"/>
          <p:cNvSpPr txBox="1"/>
          <p:nvPr/>
        </p:nvSpPr>
        <p:spPr>
          <a:xfrm>
            <a:off x="4663440" y="1554480"/>
            <a:ext cx="1828800" cy="640080"/>
          </a:xfrm>
          <a:prstGeom prst="rect">
            <a:avLst/>
          </a:prstGeom>
          <a:noFill/>
          <a:ln/>
        </p:spPr>
        <p:txBody>
          <a:bodyPr wrap="square" lIns="0" tIns="0" rIns="0" bIns="0" rtlCol="0" anchor="ctr"/>
          <a:lstStyle/>
          <a:p>
            <a:pPr algn="ctr" indent="0" marL="0">
              <a:buNone/>
            </a:pPr>
            <a:r>
              <a:rPr lang="en-US" sz="1500" b="1" dirty="0">
                <a:solidFill>
                  <a:srgbClr val="33413A"/>
                </a:solidFill>
                <a:latin typeface="Malgun Gothic" pitchFamily="34" charset="0"/>
                <a:ea typeface="Malgun Gothic" pitchFamily="34" charset="-122"/>
                <a:cs typeface="Malgun Gothic" pitchFamily="34" charset="-120"/>
              </a:rPr>
              <a:t>교수-학습 방법</a:t>
            </a:r>
            <a:endParaRPr lang="en-US" sz="1500" dirty="0"/>
          </a:p>
        </p:txBody>
      </p:sp>
      <p:sp>
        <p:nvSpPr>
          <p:cNvPr id="12" name="Text 10"/>
          <p:cNvSpPr txBox="1"/>
          <p:nvPr/>
        </p:nvSpPr>
        <p:spPr>
          <a:xfrm>
            <a:off x="6492240" y="1554480"/>
            <a:ext cx="274320"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a:t>
            </a:r>
            <a:endParaRPr lang="en-US" sz="1400" dirty="0"/>
          </a:p>
        </p:txBody>
      </p:sp>
      <p:sp>
        <p:nvSpPr>
          <p:cNvPr id="13" name="Shape 11"/>
          <p:cNvSpPr/>
          <p:nvPr/>
        </p:nvSpPr>
        <p:spPr>
          <a:xfrm>
            <a:off x="6766560" y="1554480"/>
            <a:ext cx="1828800" cy="640080"/>
          </a:xfrm>
          <a:prstGeom prst="roundRect">
            <a:avLst>
              <a:gd name="adj" fmla="val 21429"/>
            </a:avLst>
          </a:prstGeom>
          <a:solidFill>
            <a:srgbClr val="DCEBDD"/>
          </a:solidFill>
          <a:ln/>
        </p:spPr>
      </p:sp>
      <p:sp>
        <p:nvSpPr>
          <p:cNvPr id="14" name="Text 12"/>
          <p:cNvSpPr txBox="1"/>
          <p:nvPr/>
        </p:nvSpPr>
        <p:spPr>
          <a:xfrm>
            <a:off x="6766560" y="1554480"/>
            <a:ext cx="1828800" cy="640080"/>
          </a:xfrm>
          <a:prstGeom prst="rect">
            <a:avLst/>
          </a:prstGeom>
          <a:noFill/>
          <a:ln/>
        </p:spPr>
        <p:txBody>
          <a:bodyPr wrap="square" lIns="0" tIns="0" rIns="0" bIns="0" rtlCol="0" anchor="ctr"/>
          <a:lstStyle/>
          <a:p>
            <a:pPr algn="ctr" indent="0" marL="0">
              <a:buNone/>
            </a:pPr>
            <a:r>
              <a:rPr lang="en-US" sz="1500" b="1" dirty="0">
                <a:solidFill>
                  <a:srgbClr val="33413A"/>
                </a:solidFill>
                <a:latin typeface="Malgun Gothic" pitchFamily="34" charset="0"/>
                <a:ea typeface="Malgun Gothic" pitchFamily="34" charset="-122"/>
                <a:cs typeface="Malgun Gothic" pitchFamily="34" charset="-120"/>
              </a:rPr>
              <a:t>평가</a:t>
            </a:r>
            <a:endParaRPr lang="en-US" sz="1500" dirty="0"/>
          </a:p>
        </p:txBody>
      </p:sp>
      <p:sp>
        <p:nvSpPr>
          <p:cNvPr id="15" name="Text 13"/>
          <p:cNvSpPr txBox="1"/>
          <p:nvPr/>
        </p:nvSpPr>
        <p:spPr>
          <a:xfrm>
            <a:off x="457200" y="2468880"/>
            <a:ext cx="8229600" cy="320040"/>
          </a:xfrm>
          <a:prstGeom prst="rect">
            <a:avLst/>
          </a:prstGeom>
          <a:noFill/>
          <a:ln/>
        </p:spPr>
        <p:txBody>
          <a:bodyPr wrap="square" lIns="0" tIns="0" rIns="0" bIns="0" rtlCol="0" anchor="ctr"/>
          <a:lstStyle/>
          <a:p>
            <a:pPr indent="0" marL="0">
              <a:buNone/>
            </a:pPr>
            <a:r>
              <a:rPr lang="en-US" sz="1400" b="1" dirty="0">
                <a:solidFill>
                  <a:srgbClr val="FDF3D6"/>
                </a:solidFill>
                <a:latin typeface="Malgun Gothic" pitchFamily="34" charset="0"/>
                <a:ea typeface="Malgun Gothic" pitchFamily="34" charset="-122"/>
                <a:cs typeface="Malgun Gothic" pitchFamily="34" charset="-120"/>
              </a:rPr>
              <a:t>구성의 특징</a:t>
            </a:r>
            <a:endParaRPr lang="en-US" sz="1400" dirty="0"/>
          </a:p>
        </p:txBody>
      </p:sp>
      <p:sp>
        <p:nvSpPr>
          <p:cNvPr id="16" name="Shape 14"/>
          <p:cNvSpPr/>
          <p:nvPr/>
        </p:nvSpPr>
        <p:spPr>
          <a:xfrm>
            <a:off x="457200" y="2880360"/>
            <a:ext cx="1828800" cy="640080"/>
          </a:xfrm>
          <a:prstGeom prst="roundRect">
            <a:avLst>
              <a:gd name="adj" fmla="val 21429"/>
            </a:avLst>
          </a:prstGeom>
          <a:solidFill>
            <a:srgbClr val="FDF3D6"/>
          </a:solidFill>
          <a:ln/>
        </p:spPr>
      </p:sp>
      <p:sp>
        <p:nvSpPr>
          <p:cNvPr id="17" name="Text 15"/>
          <p:cNvSpPr txBox="1"/>
          <p:nvPr/>
        </p:nvSpPr>
        <p:spPr>
          <a:xfrm>
            <a:off x="457200" y="2880360"/>
            <a:ext cx="1828800" cy="640080"/>
          </a:xfrm>
          <a:prstGeom prst="rect">
            <a:avLst/>
          </a:prstGeom>
          <a:noFill/>
          <a:ln/>
        </p:spPr>
        <p:txBody>
          <a:bodyPr wrap="square" lIns="0" tIns="0" rIns="0" bIns="0" rtlCol="0" anchor="ctr"/>
          <a:lstStyle/>
          <a:p>
            <a:pPr algn="ctr" indent="0" marL="0">
              <a:buNone/>
            </a:pPr>
            <a:r>
              <a:rPr lang="en-US" sz="1500" b="1" dirty="0">
                <a:solidFill>
                  <a:srgbClr val="33413A"/>
                </a:solidFill>
                <a:latin typeface="Malgun Gothic" pitchFamily="34" charset="0"/>
                <a:ea typeface="Malgun Gothic" pitchFamily="34" charset="-122"/>
                <a:cs typeface="Malgun Gothic" pitchFamily="34" charset="-120"/>
              </a:rPr>
              <a:t>통합</a:t>
            </a:r>
            <a:endParaRPr lang="en-US" sz="1500" dirty="0"/>
          </a:p>
        </p:txBody>
      </p:sp>
      <p:sp>
        <p:nvSpPr>
          <p:cNvPr id="18" name="Shape 16"/>
          <p:cNvSpPr/>
          <p:nvPr/>
        </p:nvSpPr>
        <p:spPr>
          <a:xfrm>
            <a:off x="2560320" y="2880360"/>
            <a:ext cx="1828800" cy="640080"/>
          </a:xfrm>
          <a:prstGeom prst="roundRect">
            <a:avLst>
              <a:gd name="adj" fmla="val 21429"/>
            </a:avLst>
          </a:prstGeom>
          <a:solidFill>
            <a:srgbClr val="FDF3D6"/>
          </a:solidFill>
          <a:ln/>
        </p:spPr>
      </p:sp>
      <p:sp>
        <p:nvSpPr>
          <p:cNvPr id="19" name="Text 17"/>
          <p:cNvSpPr txBox="1"/>
          <p:nvPr/>
        </p:nvSpPr>
        <p:spPr>
          <a:xfrm>
            <a:off x="2560320" y="2880360"/>
            <a:ext cx="1828800" cy="640080"/>
          </a:xfrm>
          <a:prstGeom prst="rect">
            <a:avLst/>
          </a:prstGeom>
          <a:noFill/>
          <a:ln/>
        </p:spPr>
        <p:txBody>
          <a:bodyPr wrap="square" lIns="0" tIns="0" rIns="0" bIns="0" rtlCol="0" anchor="ctr"/>
          <a:lstStyle/>
          <a:p>
            <a:pPr algn="ctr" indent="0" marL="0">
              <a:buNone/>
            </a:pPr>
            <a:r>
              <a:rPr lang="en-US" sz="1500" b="1" dirty="0">
                <a:solidFill>
                  <a:srgbClr val="33413A"/>
                </a:solidFill>
                <a:latin typeface="Malgun Gothic" pitchFamily="34" charset="0"/>
                <a:ea typeface="Malgun Gothic" pitchFamily="34" charset="-122"/>
                <a:cs typeface="Malgun Gothic" pitchFamily="34" charset="-120"/>
              </a:rPr>
              <a:t>놀이 중심</a:t>
            </a:r>
            <a:endParaRPr lang="en-US" sz="1500" dirty="0"/>
          </a:p>
        </p:txBody>
      </p:sp>
      <p:sp>
        <p:nvSpPr>
          <p:cNvPr id="20" name="Shape 18"/>
          <p:cNvSpPr/>
          <p:nvPr/>
        </p:nvSpPr>
        <p:spPr>
          <a:xfrm>
            <a:off x="4663440" y="2880360"/>
            <a:ext cx="1828800" cy="640080"/>
          </a:xfrm>
          <a:prstGeom prst="roundRect">
            <a:avLst>
              <a:gd name="adj" fmla="val 21429"/>
            </a:avLst>
          </a:prstGeom>
          <a:solidFill>
            <a:srgbClr val="FDF3D6"/>
          </a:solidFill>
          <a:ln/>
        </p:spPr>
      </p:sp>
      <p:sp>
        <p:nvSpPr>
          <p:cNvPr id="21" name="Text 19"/>
          <p:cNvSpPr txBox="1"/>
          <p:nvPr/>
        </p:nvSpPr>
        <p:spPr>
          <a:xfrm>
            <a:off x="4663440" y="2880360"/>
            <a:ext cx="1828800" cy="640080"/>
          </a:xfrm>
          <a:prstGeom prst="rect">
            <a:avLst/>
          </a:prstGeom>
          <a:noFill/>
          <a:ln/>
        </p:spPr>
        <p:txBody>
          <a:bodyPr wrap="square" lIns="0" tIns="0" rIns="0" bIns="0" rtlCol="0" anchor="ctr"/>
          <a:lstStyle/>
          <a:p>
            <a:pPr algn="ctr" indent="0" marL="0">
              <a:buNone/>
            </a:pPr>
            <a:r>
              <a:rPr lang="en-US" sz="1500" b="1" dirty="0">
                <a:solidFill>
                  <a:srgbClr val="33413A"/>
                </a:solidFill>
                <a:latin typeface="Malgun Gothic" pitchFamily="34" charset="0"/>
                <a:ea typeface="Malgun Gothic" pitchFamily="34" charset="-122"/>
                <a:cs typeface="Malgun Gothic" pitchFamily="34" charset="-120"/>
              </a:rPr>
              <a:t>흥미·요구 반영</a:t>
            </a:r>
            <a:endParaRPr lang="en-US" sz="1500" dirty="0"/>
          </a:p>
        </p:txBody>
      </p:sp>
      <p:sp>
        <p:nvSpPr>
          <p:cNvPr id="22" name="Shape 20"/>
          <p:cNvSpPr/>
          <p:nvPr/>
        </p:nvSpPr>
        <p:spPr>
          <a:xfrm>
            <a:off x="6766560" y="2880360"/>
            <a:ext cx="1828800" cy="640080"/>
          </a:xfrm>
          <a:prstGeom prst="roundRect">
            <a:avLst>
              <a:gd name="adj" fmla="val 21429"/>
            </a:avLst>
          </a:prstGeom>
          <a:solidFill>
            <a:srgbClr val="FDF3D6"/>
          </a:solidFill>
          <a:ln/>
        </p:spPr>
      </p:sp>
      <p:sp>
        <p:nvSpPr>
          <p:cNvPr id="23" name="Text 21"/>
          <p:cNvSpPr txBox="1"/>
          <p:nvPr/>
        </p:nvSpPr>
        <p:spPr>
          <a:xfrm>
            <a:off x="6766560" y="2880360"/>
            <a:ext cx="1828800" cy="640080"/>
          </a:xfrm>
          <a:prstGeom prst="rect">
            <a:avLst/>
          </a:prstGeom>
          <a:noFill/>
          <a:ln/>
        </p:spPr>
        <p:txBody>
          <a:bodyPr wrap="square" lIns="0" tIns="0" rIns="0" bIns="0" rtlCol="0" anchor="ctr"/>
          <a:lstStyle/>
          <a:p>
            <a:pPr algn="ctr" indent="0" marL="0">
              <a:buNone/>
            </a:pPr>
            <a:r>
              <a:rPr lang="en-US" sz="1500" b="1" dirty="0">
                <a:solidFill>
                  <a:srgbClr val="33413A"/>
                </a:solidFill>
                <a:latin typeface="Malgun Gothic" pitchFamily="34" charset="0"/>
                <a:ea typeface="Malgun Gothic" pitchFamily="34" charset="-122"/>
                <a:cs typeface="Malgun Gothic" pitchFamily="34" charset="-120"/>
              </a:rPr>
              <a:t>다양성 반영</a:t>
            </a:r>
            <a:endParaRPr lang="en-US" sz="1500" dirty="0"/>
          </a:p>
        </p:txBody>
      </p:sp>
      <p:sp>
        <p:nvSpPr>
          <p:cNvPr id="24" name="Text 22"/>
          <p:cNvSpPr txBox="1"/>
          <p:nvPr/>
        </p:nvSpPr>
        <p:spPr>
          <a:xfrm>
            <a:off x="457200" y="4023360"/>
            <a:ext cx="8229600" cy="457200"/>
          </a:xfrm>
          <a:prstGeom prst="rect">
            <a:avLst/>
          </a:prstGeom>
          <a:noFill/>
          <a:ln/>
        </p:spPr>
        <p:txBody>
          <a:bodyPr wrap="square" lIns="0" tIns="0" rIns="0" bIns="0" rtlCol="0" anchor="ctr"/>
          <a:lstStyle/>
          <a:p>
            <a:pPr indent="0" marL="0">
              <a:buNone/>
            </a:pPr>
            <a:r>
              <a:rPr lang="en-US" sz="1700" b="1" dirty="0">
                <a:solidFill>
                  <a:srgbClr val="FFFFFF"/>
                </a:solidFill>
                <a:latin typeface="Malgun Gothic" pitchFamily="34" charset="0"/>
                <a:ea typeface="Malgun Gothic" pitchFamily="34" charset="-122"/>
                <a:cs typeface="Malgun Gothic" pitchFamily="34" charset="-120"/>
              </a:rPr>
              <a:t>아이가 놀이 속에서 자연스럽게 배우도록 구성하는 것이 핵심</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영유아교육과정의 구성</dc:title>
  <dc:subject>PptxGenJS Presentation</dc:subject>
  <dc:creator>PptxGenJS</dc:creator>
  <cp:lastModifiedBy>PptxGenJS</cp:lastModifiedBy>
  <cp:revision>1</cp:revision>
  <dcterms:created xsi:type="dcterms:W3CDTF">2026-09-27T00:15:04Z</dcterms:created>
  <dcterms:modified xsi:type="dcterms:W3CDTF">2026-09-27T00:15:04Z</dcterms:modified>
</cp:coreProperties>
</file>