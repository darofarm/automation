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 발표할 내용은 '영유아교육과정의 구성'입니다.
교육과정의 구성 요소와 교육과정 구성의 특징 순서로 발표하겠습니다.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교육과정에 대한 개념적 정의가 다양하므로 교육과정 구성요소 또한 학자마다 서로 다를 수 있지만, 가장 일반적인 교육과정 구성요소는 교육목적, 교육내용, 교육방법, 교육평가입니다.
타일러(Tyler)는 교육과정을 체계화하는 데 있어서 다음과 같은 네 가지 질문을 해야 한다고 제시하고 있습니다.
첫째, 학교가 성취해야 할 교육목표는 무엇인가?
둘째, 교육목표를 달성하기 위해 어떤 교육적 경험이 제공될 수 있는가?
셋째, 교육적 경험은 어떻게 하면 가장 효과적으로 조직할 수 있는가?
넷째, 교육목표들이 달성되었는지를 어떻게 알 수 있는가?
타일러가 제시한 네 가지 질문에 기초하면, 영유아교육과정의 구성은 영유아에게 가치 있는 교육목표를 설정하고, 목표를 달성하도록 돕는 적절한 교육 내용과 방법을 선정 및 조직하고, 의도한 목표가 제대로 달성되었는지를 확인하는 평가 작업 등이 핵심적인 요소가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타일러의 교육과정 모형에 대해 비판하면서도 우리나라 초·중·고등학교 교육과정은 타일러의 교육과정 체제에 의존해 왔으며, 이 모형은 교육과정을 개념화하는 데도 많은 영향을 미쳤습니다. 따라서 우리나라 영유아교육과정을 구성하는 기본 요소에도 교육목표와 교육내용, 교수-학습 방법, 평가 등의 네 가지 요소가 포함됩니다.
즉, 각 기관의 철학에 부합하는 교육목표의 설정과 그러한 교육목표를 달성하는 데 반드시 필요한 교육내용의 선정, 잘 선정된 교육내용의 조직 및 영유아의 발달과 흥미에 적합한 교수방법의 결정, 평가, 그리고 평가 결과를 차기 교육계획 수립에 적절히 반영하는 것 등은 교육과정의 구성요소이자 교육과정이 실행되는 순서이기도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교육과정 구성의 특징입니다.
첫째, 교육내용 간의 통합입니다. 영유아는 분리된 교과별 학습보다 통합된 경험을 통해 더 잘 배웁니다. 따라서 학습경험을 국어, 사회, 과학, 미술 등 교과로 분리하여 접근하는 것보다는 유아의 경험을 중심으로 교육과정의 영역이 자연스럽게 통합되면서 배움이 이루어지도록 운영해야 합니다. 영유아에게 친근하며 관심 있는 주제를 중심으로 통합한 놀이 경험, 예를 들어 주제 '가을' 전개 시 가을 과일 만들기, 과일 가게 놀이, 간판과 가격표 쓰기 등을 통해 영유아들은 각 교과 혹은 학문영역 간의 지식을 서로 잘 연관 지을 수 있고 추상적인 개념을 이해할 수 있게 됩니다.
둘째, 놀이 중심 교육과정으로 운영하는 것입니다. 유아와 놀이를 최우선으로 존중하는 교육과정으로 운영되어야 합니다. 이를 위해 충분한 놀이시간을 확보하고, 교사가 활동을 통해 지식을 가르치려는 접근보다는 유아 스스로 놀이하는 과정에서 배움이 이루어지도록 장려해야 합니다. 충분한 바깥놀이 시간을 제공하고 친숙한 사물이나 자연물을 이용한 놀이가 이루어지도록 장려합니다. 교사는 놀이지원자로서 유아를 관찰하고 필요한 지원과 상호작용을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셋째, 흥미와 요구를 반영한 교육적 경험입니다. 영유아를 위한 교육과정은 영유아의 흥미를 최대한 존중하면서 발달적 요구에 적합한 것을 내용으로 선정해야 합니다. 흥미에 기초한다는 것은 단순히 영유아가 좋아하는 것, 지금 경험하는 것이 좋은 교육과정을 의미하는 것은 아니라는 점에 유의해야 합니다. 교사는 주의 깊은 관찰과 영유아에 대한 평가를 통해 개별 및 전체 영유아에게 의미 있는 주제나 놀이를 선별하고, 이를 교육적인 활동으로 연결하는 것이 필요합니다.
넷째, 개인차와 문화적 특성 등의 다양성 반영입니다. 영유아를 위한 교육과정은 영유아기의 발달적 독특성뿐만 아니라 개별 영유아의 발달 특성, 개인차, 기질, 사회문화적 배경 차이 등의 다양성을 반영해야 합니다. 특히 영아기는 개인별 발달 차이와 월령별 발달 차이가 크게 나타나므로 학급별 계획보다는 개인별 보육계획을 수립하는 것이 적합합니다. 누리과정도 연령별로 구성되어 있으나, 이를 적용할 때는 학급별 교육계획 시 담당교사가 영유아의 개인별 평가에 기초한 수준별 교육계획을 수립하는 것이 바람직합니다. 또한 우리 사회가 다문화 사회로 진입한 만큼 유아와 가정의 다양성을 반영한 다문화교육을 계획해야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영유아교육과정을 구성하는 기본 요소는 교육목표, 교육내용, 교수-학습 방법, 평가이며, 이는 교육과정의 구성요소이자 교육과정이 실행되는 순서이기도 합니다.
그리고 교육과정 구성의 특징은 교육내용 간의 통합, 놀이 중심 교육과정으로 운영, 흥미와 요구를 반영한 교육적 경험, 개인차와 문화적 특성 등의 다양성 반영입니다.
이상으로 발표를 마치겠습니다.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E8C6A"/>
        </a:solidFill>
      </p:bgPr>
    </p:bg>
    <p:spTree>
      <p:nvGrpSpPr>
        <p:cNvPr id="1" name=""/>
        <p:cNvGrpSpPr/>
        <p:nvPr/>
      </p:nvGrpSpPr>
      <p:grpSpPr>
        <a:xfrm>
          <a:off x="0" y="0"/>
          <a:ext cx="0" cy="0"/>
          <a:chOff x="0" y="0"/>
          <a:chExt cx="0" cy="0"/>
        </a:xfrm>
      </p:grpSpPr>
      <p:sp>
        <p:nvSpPr>
          <p:cNvPr id="2" name="Shape 0"/>
          <p:cNvSpPr/>
          <p:nvPr/>
        </p:nvSpPr>
        <p:spPr>
          <a:xfrm>
            <a:off x="6400800" y="-274320"/>
            <a:ext cx="2926080" cy="2926080"/>
          </a:xfrm>
          <a:prstGeom prst="ellipse">
            <a:avLst/>
          </a:prstGeom>
          <a:solidFill>
            <a:srgbClr val="7FA88A"/>
          </a:solidFill>
          <a:ln/>
        </p:spPr>
      </p:sp>
      <p:sp>
        <p:nvSpPr>
          <p:cNvPr id="3" name="Shape 1"/>
          <p:cNvSpPr/>
          <p:nvPr/>
        </p:nvSpPr>
        <p:spPr>
          <a:xfrm>
            <a:off x="6766560" y="91440"/>
            <a:ext cx="2194560" cy="2194560"/>
          </a:xfrm>
          <a:prstGeom prst="ellipse">
            <a:avLst/>
          </a:prstGeom>
          <a:solidFill>
            <a:srgbClr val="A9CBB0"/>
          </a:solidFill>
          <a:ln/>
        </p:spPr>
      </p:sp>
      <p:sp>
        <p:nvSpPr>
          <p:cNvPr id="4" name="Shape 2"/>
          <p:cNvSpPr/>
          <p:nvPr/>
        </p:nvSpPr>
        <p:spPr>
          <a:xfrm>
            <a:off x="7132320" y="457200"/>
            <a:ext cx="1463040" cy="1463040"/>
          </a:xfrm>
          <a:prstGeom prst="ellipse">
            <a:avLst/>
          </a:prstGeom>
          <a:solidFill>
            <a:srgbClr val="DCEBDD"/>
          </a:solidFill>
          <a:ln/>
        </p:spPr>
      </p:sp>
      <p:sp>
        <p:nvSpPr>
          <p:cNvPr id="5" name="Shape 3"/>
          <p:cNvSpPr/>
          <p:nvPr/>
        </p:nvSpPr>
        <p:spPr>
          <a:xfrm>
            <a:off x="7498080" y="822960"/>
            <a:ext cx="731520" cy="731520"/>
          </a:xfrm>
          <a:prstGeom prst="ellipse">
            <a:avLst/>
          </a:prstGeom>
          <a:solidFill>
            <a:srgbClr val="F5D07A"/>
          </a:solidFill>
          <a:ln/>
        </p:spPr>
      </p:sp>
      <p:sp>
        <p:nvSpPr>
          <p:cNvPr id="6" name="Shape 4"/>
          <p:cNvSpPr/>
          <p:nvPr/>
        </p:nvSpPr>
        <p:spPr>
          <a:xfrm>
            <a:off x="7863840" y="3566160"/>
            <a:ext cx="1463040" cy="1463040"/>
          </a:xfrm>
          <a:prstGeom prst="ellipse">
            <a:avLst/>
          </a:prstGeom>
          <a:solidFill>
            <a:srgbClr val="F2A27E"/>
          </a:solidFill>
          <a:ln/>
        </p:spPr>
      </p:sp>
      <p:sp>
        <p:nvSpPr>
          <p:cNvPr id="7" name="Shape 5"/>
          <p:cNvSpPr/>
          <p:nvPr/>
        </p:nvSpPr>
        <p:spPr>
          <a:xfrm>
            <a:off x="8107680" y="3810000"/>
            <a:ext cx="975360" cy="975360"/>
          </a:xfrm>
          <a:prstGeom prst="ellipse">
            <a:avLst/>
          </a:prstGeom>
          <a:solidFill>
            <a:srgbClr val="FCE4D8"/>
          </a:solidFill>
          <a:ln/>
        </p:spPr>
      </p:sp>
      <p:sp>
        <p:nvSpPr>
          <p:cNvPr id="8" name="Shape 6"/>
          <p:cNvSpPr/>
          <p:nvPr/>
        </p:nvSpPr>
        <p:spPr>
          <a:xfrm>
            <a:off x="8351520" y="4053840"/>
            <a:ext cx="487680" cy="487680"/>
          </a:xfrm>
          <a:prstGeom prst="ellipse">
            <a:avLst/>
          </a:prstGeom>
          <a:solidFill>
            <a:srgbClr val="F2A27E"/>
          </a:solidFill>
          <a:ln/>
        </p:spPr>
      </p:sp>
      <p:sp>
        <p:nvSpPr>
          <p:cNvPr id="9" name="Text 7"/>
          <p:cNvSpPr txBox="1"/>
          <p:nvPr/>
        </p:nvSpPr>
        <p:spPr>
          <a:xfrm>
            <a:off x="640080" y="1234440"/>
            <a:ext cx="5486400" cy="365760"/>
          </a:xfrm>
          <a:prstGeom prst="rect">
            <a:avLst/>
          </a:prstGeom>
          <a:noFill/>
          <a:ln/>
        </p:spPr>
        <p:txBody>
          <a:bodyPr wrap="square" lIns="0" tIns="0" rIns="0" bIns="0" rtlCol="0" anchor="ctr"/>
          <a:lstStyle/>
          <a:p>
            <a:pPr indent="0" marL="0">
              <a:buNone/>
            </a:pPr>
            <a:r>
              <a:rPr lang="en-US" sz="1600" dirty="0">
                <a:solidFill>
                  <a:srgbClr val="FDF3D6"/>
                </a:solidFill>
                <a:latin typeface="Malgun Gothic" pitchFamily="34" charset="0"/>
                <a:ea typeface="Malgun Gothic" pitchFamily="34" charset="-122"/>
                <a:cs typeface="Malgun Gothic" pitchFamily="34" charset="-120"/>
              </a:rPr>
              <a:t>05  교육과정의 계획과 운영</a:t>
            </a:r>
            <a:endParaRPr lang="en-US" sz="1600" dirty="0"/>
          </a:p>
        </p:txBody>
      </p:sp>
      <p:sp>
        <p:nvSpPr>
          <p:cNvPr id="10" name="Text 8"/>
          <p:cNvSpPr txBox="1"/>
          <p:nvPr/>
        </p:nvSpPr>
        <p:spPr>
          <a:xfrm>
            <a:off x="640080" y="1645920"/>
            <a:ext cx="640080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영유아교육과정의 구성</a:t>
            </a:r>
            <a:endParaRPr lang="en-US" sz="4400" dirty="0"/>
          </a:p>
        </p:txBody>
      </p:sp>
      <p:sp>
        <p:nvSpPr>
          <p:cNvPr id="11" name="Text 9"/>
          <p:cNvSpPr txBox="1"/>
          <p:nvPr/>
        </p:nvSpPr>
        <p:spPr>
          <a:xfrm>
            <a:off x="640080" y="2606040"/>
            <a:ext cx="6400800" cy="411480"/>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구성 요소와 구성의 네 가지 특징</a:t>
            </a:r>
            <a:endParaRPr lang="en-US" sz="1800" dirty="0"/>
          </a:p>
        </p:txBody>
      </p:sp>
      <p:sp>
        <p:nvSpPr>
          <p:cNvPr id="12" name="Text 10"/>
          <p:cNvSpPr txBox="1"/>
          <p:nvPr/>
        </p:nvSpPr>
        <p:spPr>
          <a:xfrm>
            <a:off x="640080" y="3931920"/>
            <a:ext cx="5486400" cy="365760"/>
          </a:xfrm>
          <a:prstGeom prst="rect">
            <a:avLst/>
          </a:prstGeom>
          <a:noFill/>
          <a:ln/>
        </p:spPr>
        <p:txBody>
          <a:bodyPr wrap="square" lIns="0" tIns="0" rIns="0" bIns="0" rtlCol="0" anchor="ctr"/>
          <a:lstStyle/>
          <a:p>
            <a:pPr indent="0" marL="0">
              <a:buNone/>
            </a:pPr>
            <a:r>
              <a:rPr lang="en-US" sz="1400" dirty="0">
                <a:solidFill>
                  <a:srgbClr val="DCEBDD"/>
                </a:solidFill>
                <a:latin typeface="Malgun Gothic" pitchFamily="34" charset="0"/>
                <a:ea typeface="Malgun Gothic" pitchFamily="34" charset="-122"/>
                <a:cs typeface="Malgun Gothic" pitchFamily="34" charset="-120"/>
              </a:rPr>
              <a:t>과목명  |  학번  |  발표자 이름</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02</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교육과정의 구성 요소</a:t>
            </a:r>
            <a:endParaRPr lang="en-US" sz="2800" dirty="0"/>
          </a:p>
        </p:txBody>
      </p:sp>
      <p:sp>
        <p:nvSpPr>
          <p:cNvPr id="5" name="Text 3"/>
          <p:cNvSpPr txBox="1"/>
          <p:nvPr/>
        </p:nvSpPr>
        <p:spPr>
          <a:xfrm>
            <a:off x="1097280" y="914400"/>
            <a:ext cx="7589520" cy="274320"/>
          </a:xfrm>
          <a:prstGeom prst="rect">
            <a:avLst/>
          </a:prstGeom>
          <a:noFill/>
          <a:ln/>
        </p:spPr>
        <p:txBody>
          <a:bodyPr wrap="square" lIns="0" tIns="0" rIns="0" bIns="0" rtlCol="0" anchor="ctr"/>
          <a:lstStyle/>
          <a:p>
            <a:pPr indent="0" marL="0">
              <a:buNone/>
            </a:pPr>
            <a:r>
              <a:rPr lang="en-US" sz="1300" dirty="0">
                <a:solidFill>
                  <a:srgbClr val="6E7B73"/>
                </a:solidFill>
                <a:latin typeface="Malgun Gothic" pitchFamily="34" charset="0"/>
                <a:ea typeface="Malgun Gothic" pitchFamily="34" charset="-122"/>
                <a:cs typeface="Malgun Gothic" pitchFamily="34" charset="-120"/>
              </a:rPr>
              <a:t>타일러(Tyler)가 제시한 네 가지 질문</a:t>
            </a:r>
            <a:endParaRPr lang="en-US" sz="1300" dirty="0"/>
          </a:p>
        </p:txBody>
      </p:sp>
      <p:sp>
        <p:nvSpPr>
          <p:cNvPr id="6" name="Shape 4"/>
          <p:cNvSpPr/>
          <p:nvPr/>
        </p:nvSpPr>
        <p:spPr>
          <a:xfrm>
            <a:off x="457200" y="1371600"/>
            <a:ext cx="1920240" cy="2834640"/>
          </a:xfrm>
          <a:prstGeom prst="roundRect">
            <a:avLst>
              <a:gd name="adj" fmla="val 7143"/>
            </a:avLst>
          </a:prstGeom>
          <a:solidFill>
            <a:srgbClr val="FCE4D8"/>
          </a:solidFill>
          <a:ln/>
        </p:spPr>
      </p:sp>
      <p:sp>
        <p:nvSpPr>
          <p:cNvPr id="7" name="Shape 5"/>
          <p:cNvSpPr/>
          <p:nvPr/>
        </p:nvSpPr>
        <p:spPr>
          <a:xfrm>
            <a:off x="1097280" y="1600200"/>
            <a:ext cx="640080" cy="640080"/>
          </a:xfrm>
          <a:prstGeom prst="ellipse">
            <a:avLst/>
          </a:prstGeom>
          <a:solidFill>
            <a:srgbClr val="F2A27E"/>
          </a:solidFill>
          <a:ln/>
        </p:spPr>
      </p:sp>
      <p:pic>
        <p:nvPicPr>
          <p:cNvPr id="8" name="Image 0" descr="preencoded.png">    </p:cNvPr>
          <p:cNvPicPr>
            <a:picLocks noChangeAspect="1"/>
          </p:cNvPicPr>
          <p:nvPr/>
        </p:nvPicPr>
        <p:blipFill>
          <a:blip r:embed="rId1"/>
          <a:stretch>
            <a:fillRect/>
          </a:stretch>
        </p:blipFill>
        <p:spPr>
          <a:xfrm>
            <a:off x="1257300" y="1760220"/>
            <a:ext cx="320040" cy="320040"/>
          </a:xfrm>
          <a:prstGeom prst="rect">
            <a:avLst/>
          </a:prstGeom>
        </p:spPr>
      </p:pic>
      <p:sp>
        <p:nvSpPr>
          <p:cNvPr id="9" name="Text 6"/>
          <p:cNvSpPr txBox="1"/>
          <p:nvPr/>
        </p:nvSpPr>
        <p:spPr>
          <a:xfrm>
            <a:off x="566928" y="2331720"/>
            <a:ext cx="1700784" cy="868680"/>
          </a:xfrm>
          <a:prstGeom prst="rect">
            <a:avLst/>
          </a:prstGeom>
          <a:noFill/>
          <a:ln/>
        </p:spPr>
        <p:txBody>
          <a:bodyPr wrap="square" lIns="0" tIns="0" rIns="0" bIns="0" rtlCol="0" anchor="t"/>
          <a:lstStyle/>
          <a:p>
            <a:pPr algn="ctr" indent="0" marL="0">
              <a:buNone/>
            </a:pPr>
            <a:r>
              <a:rPr lang="en-US" sz="1100" dirty="0">
                <a:solidFill>
                  <a:srgbClr val="6E7B73"/>
                </a:solidFill>
                <a:latin typeface="Malgun Gothic" pitchFamily="34" charset="0"/>
                <a:ea typeface="Malgun Gothic" pitchFamily="34" charset="-122"/>
                <a:cs typeface="Malgun Gothic" pitchFamily="34" charset="-120"/>
              </a:rPr>
              <a:t>학교가 성취해야 할 교육목표는 무엇인가?</a:t>
            </a:r>
            <a:endParaRPr lang="en-US" sz="1100" dirty="0"/>
          </a:p>
        </p:txBody>
      </p:sp>
      <p:sp>
        <p:nvSpPr>
          <p:cNvPr id="10" name="Text 7"/>
          <p:cNvSpPr txBox="1"/>
          <p:nvPr/>
        </p:nvSpPr>
        <p:spPr>
          <a:xfrm>
            <a:off x="594360" y="3200400"/>
            <a:ext cx="1645920" cy="274320"/>
          </a:xfrm>
          <a:prstGeom prst="rect">
            <a:avLst/>
          </a:prstGeom>
          <a:noFill/>
          <a:ln/>
        </p:spPr>
        <p:txBody>
          <a:bodyPr wrap="square" lIns="0" tIns="0" rIns="0" bIns="0" rtlCol="0" anchor="ctr"/>
          <a:lstStyle/>
          <a:p>
            <a:pPr algn="ctr" indent="0" marL="0">
              <a:buNone/>
            </a:pPr>
            <a:r>
              <a:rPr lang="en-US" sz="1100" dirty="0">
                <a:solidFill>
                  <a:srgbClr val="F2A27E"/>
                </a:solidFill>
                <a:latin typeface="Malgun Gothic" pitchFamily="34" charset="0"/>
                <a:ea typeface="Malgun Gothic" pitchFamily="34" charset="-122"/>
                <a:cs typeface="Malgun Gothic" pitchFamily="34" charset="-120"/>
              </a:rPr>
              <a:t>▼</a:t>
            </a:r>
            <a:endParaRPr lang="en-US" sz="1100" dirty="0"/>
          </a:p>
        </p:txBody>
      </p:sp>
      <p:sp>
        <p:nvSpPr>
          <p:cNvPr id="11" name="Text 8"/>
          <p:cNvSpPr txBox="1"/>
          <p:nvPr/>
        </p:nvSpPr>
        <p:spPr>
          <a:xfrm>
            <a:off x="548640" y="3520440"/>
            <a:ext cx="1737360" cy="457200"/>
          </a:xfrm>
          <a:prstGeom prst="rect">
            <a:avLst/>
          </a:prstGeom>
          <a:noFill/>
          <a:ln/>
        </p:spPr>
        <p:txBody>
          <a:bodyPr wrap="square" lIns="0" tIns="0" rIns="0" bIns="0" rtlCol="0" anchor="ctr"/>
          <a:lstStyle/>
          <a:p>
            <a:pPr algn="ctr" indent="0" marL="0">
              <a:buNone/>
            </a:pPr>
            <a:r>
              <a:rPr lang="en-US" sz="1700" b="1" dirty="0">
                <a:solidFill>
                  <a:srgbClr val="33413A"/>
                </a:solidFill>
                <a:latin typeface="Malgun Gothic" pitchFamily="34" charset="0"/>
                <a:ea typeface="Malgun Gothic" pitchFamily="34" charset="-122"/>
                <a:cs typeface="Malgun Gothic" pitchFamily="34" charset="-120"/>
              </a:rPr>
              <a:t>교육목표</a:t>
            </a:r>
            <a:endParaRPr lang="en-US" sz="1700" dirty="0"/>
          </a:p>
        </p:txBody>
      </p:sp>
      <p:sp>
        <p:nvSpPr>
          <p:cNvPr id="12" name="Shape 9"/>
          <p:cNvSpPr/>
          <p:nvPr/>
        </p:nvSpPr>
        <p:spPr>
          <a:xfrm>
            <a:off x="2560320" y="1371600"/>
            <a:ext cx="1920240" cy="2834640"/>
          </a:xfrm>
          <a:prstGeom prst="roundRect">
            <a:avLst>
              <a:gd name="adj" fmla="val 7143"/>
            </a:avLst>
          </a:prstGeom>
          <a:solidFill>
            <a:srgbClr val="FDF3D6"/>
          </a:solidFill>
          <a:ln/>
        </p:spPr>
      </p:sp>
      <p:sp>
        <p:nvSpPr>
          <p:cNvPr id="13" name="Shape 10"/>
          <p:cNvSpPr/>
          <p:nvPr/>
        </p:nvSpPr>
        <p:spPr>
          <a:xfrm>
            <a:off x="3200400" y="1600200"/>
            <a:ext cx="640080" cy="640080"/>
          </a:xfrm>
          <a:prstGeom prst="ellipse">
            <a:avLst/>
          </a:prstGeom>
          <a:solidFill>
            <a:srgbClr val="F5D07A"/>
          </a:solidFill>
          <a:ln/>
        </p:spPr>
      </p:sp>
      <p:pic>
        <p:nvPicPr>
          <p:cNvPr id="14" name="Image 1" descr="preencoded.png">    </p:cNvPr>
          <p:cNvPicPr>
            <a:picLocks noChangeAspect="1"/>
          </p:cNvPicPr>
          <p:nvPr/>
        </p:nvPicPr>
        <p:blipFill>
          <a:blip r:embed="rId2"/>
          <a:stretch>
            <a:fillRect/>
          </a:stretch>
        </p:blipFill>
        <p:spPr>
          <a:xfrm>
            <a:off x="3360420" y="1760220"/>
            <a:ext cx="320040" cy="320040"/>
          </a:xfrm>
          <a:prstGeom prst="rect">
            <a:avLst/>
          </a:prstGeom>
        </p:spPr>
      </p:pic>
      <p:sp>
        <p:nvSpPr>
          <p:cNvPr id="15" name="Text 11"/>
          <p:cNvSpPr txBox="1"/>
          <p:nvPr/>
        </p:nvSpPr>
        <p:spPr>
          <a:xfrm>
            <a:off x="2670048" y="2331720"/>
            <a:ext cx="1700784" cy="868680"/>
          </a:xfrm>
          <a:prstGeom prst="rect">
            <a:avLst/>
          </a:prstGeom>
          <a:noFill/>
          <a:ln/>
        </p:spPr>
        <p:txBody>
          <a:bodyPr wrap="square" lIns="0" tIns="0" rIns="0" bIns="0" rtlCol="0" anchor="t"/>
          <a:lstStyle/>
          <a:p>
            <a:pPr algn="ctr" indent="0" marL="0">
              <a:buNone/>
            </a:pPr>
            <a:r>
              <a:rPr lang="en-US" sz="1100" dirty="0">
                <a:solidFill>
                  <a:srgbClr val="6E7B73"/>
                </a:solidFill>
                <a:latin typeface="Malgun Gothic" pitchFamily="34" charset="0"/>
                <a:ea typeface="Malgun Gothic" pitchFamily="34" charset="-122"/>
                <a:cs typeface="Malgun Gothic" pitchFamily="34" charset="-120"/>
              </a:rPr>
              <a:t>교육목표를 달성하기 위해 어떤 교육적 경험이 제공될 수 있는가?</a:t>
            </a:r>
            <a:endParaRPr lang="en-US" sz="1100" dirty="0"/>
          </a:p>
        </p:txBody>
      </p:sp>
      <p:sp>
        <p:nvSpPr>
          <p:cNvPr id="16" name="Text 12"/>
          <p:cNvSpPr txBox="1"/>
          <p:nvPr/>
        </p:nvSpPr>
        <p:spPr>
          <a:xfrm>
            <a:off x="2697480" y="3200400"/>
            <a:ext cx="1645920" cy="274320"/>
          </a:xfrm>
          <a:prstGeom prst="rect">
            <a:avLst/>
          </a:prstGeom>
          <a:noFill/>
          <a:ln/>
        </p:spPr>
        <p:txBody>
          <a:bodyPr wrap="square" lIns="0" tIns="0" rIns="0" bIns="0" rtlCol="0" anchor="ctr"/>
          <a:lstStyle/>
          <a:p>
            <a:pPr algn="ctr" indent="0" marL="0">
              <a:buNone/>
            </a:pPr>
            <a:r>
              <a:rPr lang="en-US" sz="1100" dirty="0">
                <a:solidFill>
                  <a:srgbClr val="B08A2E"/>
                </a:solidFill>
                <a:latin typeface="Malgun Gothic" pitchFamily="34" charset="0"/>
                <a:ea typeface="Malgun Gothic" pitchFamily="34" charset="-122"/>
                <a:cs typeface="Malgun Gothic" pitchFamily="34" charset="-120"/>
              </a:rPr>
              <a:t>▼</a:t>
            </a:r>
            <a:endParaRPr lang="en-US" sz="1100" dirty="0"/>
          </a:p>
        </p:txBody>
      </p:sp>
      <p:sp>
        <p:nvSpPr>
          <p:cNvPr id="17" name="Text 13"/>
          <p:cNvSpPr txBox="1"/>
          <p:nvPr/>
        </p:nvSpPr>
        <p:spPr>
          <a:xfrm>
            <a:off x="2651760" y="3520440"/>
            <a:ext cx="1737360" cy="457200"/>
          </a:xfrm>
          <a:prstGeom prst="rect">
            <a:avLst/>
          </a:prstGeom>
          <a:noFill/>
          <a:ln/>
        </p:spPr>
        <p:txBody>
          <a:bodyPr wrap="square" lIns="0" tIns="0" rIns="0" bIns="0" rtlCol="0" anchor="ctr"/>
          <a:lstStyle/>
          <a:p>
            <a:pPr algn="ctr" indent="0" marL="0">
              <a:buNone/>
            </a:pPr>
            <a:r>
              <a:rPr lang="en-US" sz="1700" b="1" dirty="0">
                <a:solidFill>
                  <a:srgbClr val="33413A"/>
                </a:solidFill>
                <a:latin typeface="Malgun Gothic" pitchFamily="34" charset="0"/>
                <a:ea typeface="Malgun Gothic" pitchFamily="34" charset="-122"/>
                <a:cs typeface="Malgun Gothic" pitchFamily="34" charset="-120"/>
              </a:rPr>
              <a:t>교육내용</a:t>
            </a:r>
            <a:endParaRPr lang="en-US" sz="1700" dirty="0"/>
          </a:p>
        </p:txBody>
      </p:sp>
      <p:sp>
        <p:nvSpPr>
          <p:cNvPr id="18" name="Shape 14"/>
          <p:cNvSpPr/>
          <p:nvPr/>
        </p:nvSpPr>
        <p:spPr>
          <a:xfrm>
            <a:off x="4663440" y="1371600"/>
            <a:ext cx="1920240" cy="2834640"/>
          </a:xfrm>
          <a:prstGeom prst="roundRect">
            <a:avLst>
              <a:gd name="adj" fmla="val 7143"/>
            </a:avLst>
          </a:prstGeom>
          <a:solidFill>
            <a:srgbClr val="DCEBDD"/>
          </a:solidFill>
          <a:ln/>
        </p:spPr>
      </p:sp>
      <p:sp>
        <p:nvSpPr>
          <p:cNvPr id="19" name="Shape 15"/>
          <p:cNvSpPr/>
          <p:nvPr/>
        </p:nvSpPr>
        <p:spPr>
          <a:xfrm>
            <a:off x="5303520" y="1600200"/>
            <a:ext cx="640080" cy="640080"/>
          </a:xfrm>
          <a:prstGeom prst="ellipse">
            <a:avLst/>
          </a:prstGeom>
          <a:solidFill>
            <a:srgbClr val="5E8C6A"/>
          </a:solidFill>
          <a:ln/>
        </p:spPr>
      </p:sp>
      <p:pic>
        <p:nvPicPr>
          <p:cNvPr id="20" name="Image 2" descr="preencoded.png">    </p:cNvPr>
          <p:cNvPicPr>
            <a:picLocks noChangeAspect="1"/>
          </p:cNvPicPr>
          <p:nvPr/>
        </p:nvPicPr>
        <p:blipFill>
          <a:blip r:embed="rId3"/>
          <a:stretch>
            <a:fillRect/>
          </a:stretch>
        </p:blipFill>
        <p:spPr>
          <a:xfrm>
            <a:off x="5463540" y="1760220"/>
            <a:ext cx="320040" cy="320040"/>
          </a:xfrm>
          <a:prstGeom prst="rect">
            <a:avLst/>
          </a:prstGeom>
        </p:spPr>
      </p:pic>
      <p:sp>
        <p:nvSpPr>
          <p:cNvPr id="21" name="Text 16"/>
          <p:cNvSpPr txBox="1"/>
          <p:nvPr/>
        </p:nvSpPr>
        <p:spPr>
          <a:xfrm>
            <a:off x="4773168" y="2331720"/>
            <a:ext cx="1700784" cy="868680"/>
          </a:xfrm>
          <a:prstGeom prst="rect">
            <a:avLst/>
          </a:prstGeom>
          <a:noFill/>
          <a:ln/>
        </p:spPr>
        <p:txBody>
          <a:bodyPr wrap="square" lIns="0" tIns="0" rIns="0" bIns="0" rtlCol="0" anchor="t"/>
          <a:lstStyle/>
          <a:p>
            <a:pPr algn="ctr" indent="0" marL="0">
              <a:buNone/>
            </a:pPr>
            <a:r>
              <a:rPr lang="en-US" sz="1100" dirty="0">
                <a:solidFill>
                  <a:srgbClr val="6E7B73"/>
                </a:solidFill>
                <a:latin typeface="Malgun Gothic" pitchFamily="34" charset="0"/>
                <a:ea typeface="Malgun Gothic" pitchFamily="34" charset="-122"/>
                <a:cs typeface="Malgun Gothic" pitchFamily="34" charset="-120"/>
              </a:rPr>
              <a:t>교육적 경험은 어떻게 하면 가장 효과적으로 조직할 수 있는가?</a:t>
            </a:r>
            <a:endParaRPr lang="en-US" sz="1100" dirty="0"/>
          </a:p>
        </p:txBody>
      </p:sp>
      <p:sp>
        <p:nvSpPr>
          <p:cNvPr id="22" name="Text 17"/>
          <p:cNvSpPr txBox="1"/>
          <p:nvPr/>
        </p:nvSpPr>
        <p:spPr>
          <a:xfrm>
            <a:off x="4800600" y="3200400"/>
            <a:ext cx="1645920" cy="274320"/>
          </a:xfrm>
          <a:prstGeom prst="rect">
            <a:avLst/>
          </a:prstGeom>
          <a:noFill/>
          <a:ln/>
        </p:spPr>
        <p:txBody>
          <a:bodyPr wrap="square" lIns="0" tIns="0" rIns="0" bIns="0" rtlCol="0" anchor="ctr"/>
          <a:lstStyle/>
          <a:p>
            <a:pPr algn="ctr" indent="0" marL="0">
              <a:buNone/>
            </a:pPr>
            <a:r>
              <a:rPr lang="en-US" sz="1100" dirty="0">
                <a:solidFill>
                  <a:srgbClr val="5E8C6A"/>
                </a:solidFill>
                <a:latin typeface="Malgun Gothic" pitchFamily="34" charset="0"/>
                <a:ea typeface="Malgun Gothic" pitchFamily="34" charset="-122"/>
                <a:cs typeface="Malgun Gothic" pitchFamily="34" charset="-120"/>
              </a:rPr>
              <a:t>▼</a:t>
            </a:r>
            <a:endParaRPr lang="en-US" sz="1100" dirty="0"/>
          </a:p>
        </p:txBody>
      </p:sp>
      <p:sp>
        <p:nvSpPr>
          <p:cNvPr id="23" name="Text 18"/>
          <p:cNvSpPr txBox="1"/>
          <p:nvPr/>
        </p:nvSpPr>
        <p:spPr>
          <a:xfrm>
            <a:off x="4754880" y="3520440"/>
            <a:ext cx="1737360" cy="457200"/>
          </a:xfrm>
          <a:prstGeom prst="rect">
            <a:avLst/>
          </a:prstGeom>
          <a:noFill/>
          <a:ln/>
        </p:spPr>
        <p:txBody>
          <a:bodyPr wrap="square" lIns="0" tIns="0" rIns="0" bIns="0" rtlCol="0" anchor="ctr"/>
          <a:lstStyle/>
          <a:p>
            <a:pPr algn="ctr" indent="0" marL="0">
              <a:buNone/>
            </a:pPr>
            <a:r>
              <a:rPr lang="en-US" sz="1700" b="1" dirty="0">
                <a:solidFill>
                  <a:srgbClr val="33413A"/>
                </a:solidFill>
                <a:latin typeface="Malgun Gothic" pitchFamily="34" charset="0"/>
                <a:ea typeface="Malgun Gothic" pitchFamily="34" charset="-122"/>
                <a:cs typeface="Malgun Gothic" pitchFamily="34" charset="-120"/>
              </a:rPr>
              <a:t>교수-학습 방법</a:t>
            </a:r>
            <a:endParaRPr lang="en-US" sz="1700" dirty="0"/>
          </a:p>
        </p:txBody>
      </p:sp>
      <p:sp>
        <p:nvSpPr>
          <p:cNvPr id="24" name="Shape 19"/>
          <p:cNvSpPr/>
          <p:nvPr/>
        </p:nvSpPr>
        <p:spPr>
          <a:xfrm>
            <a:off x="6766560" y="1371600"/>
            <a:ext cx="1920240" cy="2834640"/>
          </a:xfrm>
          <a:prstGeom prst="roundRect">
            <a:avLst>
              <a:gd name="adj" fmla="val 7143"/>
            </a:avLst>
          </a:prstGeom>
          <a:solidFill>
            <a:srgbClr val="F9E1E3"/>
          </a:solidFill>
          <a:ln/>
        </p:spPr>
      </p:sp>
      <p:sp>
        <p:nvSpPr>
          <p:cNvPr id="25" name="Shape 20"/>
          <p:cNvSpPr/>
          <p:nvPr/>
        </p:nvSpPr>
        <p:spPr>
          <a:xfrm>
            <a:off x="7406640" y="1600200"/>
            <a:ext cx="640080" cy="640080"/>
          </a:xfrm>
          <a:prstGeom prst="ellipse">
            <a:avLst/>
          </a:prstGeom>
          <a:solidFill>
            <a:srgbClr val="E8A1A8"/>
          </a:solidFill>
          <a:ln/>
        </p:spPr>
      </p:sp>
      <p:pic>
        <p:nvPicPr>
          <p:cNvPr id="26" name="Image 3" descr="preencoded.png">    </p:cNvPr>
          <p:cNvPicPr>
            <a:picLocks noChangeAspect="1"/>
          </p:cNvPicPr>
          <p:nvPr/>
        </p:nvPicPr>
        <p:blipFill>
          <a:blip r:embed="rId4"/>
          <a:stretch>
            <a:fillRect/>
          </a:stretch>
        </p:blipFill>
        <p:spPr>
          <a:xfrm>
            <a:off x="7566660" y="1760220"/>
            <a:ext cx="320040" cy="320040"/>
          </a:xfrm>
          <a:prstGeom prst="rect">
            <a:avLst/>
          </a:prstGeom>
        </p:spPr>
      </p:pic>
      <p:sp>
        <p:nvSpPr>
          <p:cNvPr id="27" name="Text 21"/>
          <p:cNvSpPr txBox="1"/>
          <p:nvPr/>
        </p:nvSpPr>
        <p:spPr>
          <a:xfrm>
            <a:off x="6876288" y="2331720"/>
            <a:ext cx="1700784" cy="868680"/>
          </a:xfrm>
          <a:prstGeom prst="rect">
            <a:avLst/>
          </a:prstGeom>
          <a:noFill/>
          <a:ln/>
        </p:spPr>
        <p:txBody>
          <a:bodyPr wrap="square" lIns="0" tIns="0" rIns="0" bIns="0" rtlCol="0" anchor="t"/>
          <a:lstStyle/>
          <a:p>
            <a:pPr algn="ctr" indent="0" marL="0">
              <a:buNone/>
            </a:pPr>
            <a:r>
              <a:rPr lang="en-US" sz="1100" dirty="0">
                <a:solidFill>
                  <a:srgbClr val="6E7B73"/>
                </a:solidFill>
                <a:latin typeface="Malgun Gothic" pitchFamily="34" charset="0"/>
                <a:ea typeface="Malgun Gothic" pitchFamily="34" charset="-122"/>
                <a:cs typeface="Malgun Gothic" pitchFamily="34" charset="-120"/>
              </a:rPr>
              <a:t>교육목표들이 달성되었는지를 어떻게 알 수 있는가?</a:t>
            </a:r>
            <a:endParaRPr lang="en-US" sz="1100" dirty="0"/>
          </a:p>
        </p:txBody>
      </p:sp>
      <p:sp>
        <p:nvSpPr>
          <p:cNvPr id="28" name="Text 22"/>
          <p:cNvSpPr txBox="1"/>
          <p:nvPr/>
        </p:nvSpPr>
        <p:spPr>
          <a:xfrm>
            <a:off x="6903720" y="3200400"/>
            <a:ext cx="1645920" cy="274320"/>
          </a:xfrm>
          <a:prstGeom prst="rect">
            <a:avLst/>
          </a:prstGeom>
          <a:noFill/>
          <a:ln/>
        </p:spPr>
        <p:txBody>
          <a:bodyPr wrap="square" lIns="0" tIns="0" rIns="0" bIns="0" rtlCol="0" anchor="ctr"/>
          <a:lstStyle/>
          <a:p>
            <a:pPr algn="ctr" indent="0" marL="0">
              <a:buNone/>
            </a:pPr>
            <a:r>
              <a:rPr lang="en-US" sz="1100" dirty="0">
                <a:solidFill>
                  <a:srgbClr val="E8A1A8"/>
                </a:solidFill>
                <a:latin typeface="Malgun Gothic" pitchFamily="34" charset="0"/>
                <a:ea typeface="Malgun Gothic" pitchFamily="34" charset="-122"/>
                <a:cs typeface="Malgun Gothic" pitchFamily="34" charset="-120"/>
              </a:rPr>
              <a:t>▼</a:t>
            </a:r>
            <a:endParaRPr lang="en-US" sz="1100" dirty="0"/>
          </a:p>
        </p:txBody>
      </p:sp>
      <p:sp>
        <p:nvSpPr>
          <p:cNvPr id="29" name="Text 23"/>
          <p:cNvSpPr txBox="1"/>
          <p:nvPr/>
        </p:nvSpPr>
        <p:spPr>
          <a:xfrm>
            <a:off x="6858000" y="3520440"/>
            <a:ext cx="1737360" cy="457200"/>
          </a:xfrm>
          <a:prstGeom prst="rect">
            <a:avLst/>
          </a:prstGeom>
          <a:noFill/>
          <a:ln/>
        </p:spPr>
        <p:txBody>
          <a:bodyPr wrap="square" lIns="0" tIns="0" rIns="0" bIns="0" rtlCol="0" anchor="ctr"/>
          <a:lstStyle/>
          <a:p>
            <a:pPr algn="ctr" indent="0" marL="0">
              <a:buNone/>
            </a:pPr>
            <a:r>
              <a:rPr lang="en-US" sz="1700" b="1" dirty="0">
                <a:solidFill>
                  <a:srgbClr val="33413A"/>
                </a:solidFill>
                <a:latin typeface="Malgun Gothic" pitchFamily="34" charset="0"/>
                <a:ea typeface="Malgun Gothic" pitchFamily="34" charset="-122"/>
                <a:cs typeface="Malgun Gothic" pitchFamily="34" charset="-120"/>
              </a:rPr>
              <a:t>평가</a:t>
            </a:r>
            <a:endParaRPr lang="en-US" sz="1700" dirty="0"/>
          </a:p>
        </p:txBody>
      </p:sp>
      <p:sp>
        <p:nvSpPr>
          <p:cNvPr id="30" name="Text 24"/>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400" b="1" dirty="0">
                <a:solidFill>
                  <a:srgbClr val="5E8C6A"/>
                </a:solidFill>
                <a:latin typeface="Malgun Gothic" pitchFamily="34" charset="0"/>
                <a:ea typeface="Malgun Gothic" pitchFamily="34" charset="-122"/>
                <a:cs typeface="Malgun Gothic" pitchFamily="34" charset="-120"/>
              </a:rPr>
              <a:t>→ 우리나라 영유아교육과정을 구성하는 기본 요소에도 네 가지 요소가 포함된다</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03</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구성 요소 = 교육과정의 실행 순서</a:t>
            </a:r>
            <a:endParaRPr lang="en-US" sz="2800" dirty="0"/>
          </a:p>
        </p:txBody>
      </p:sp>
      <p:sp>
        <p:nvSpPr>
          <p:cNvPr id="5" name="Shape 3"/>
          <p:cNvSpPr/>
          <p:nvPr/>
        </p:nvSpPr>
        <p:spPr>
          <a:xfrm>
            <a:off x="1188720" y="1645920"/>
            <a:ext cx="3200400" cy="2651760"/>
          </a:xfrm>
          <a:prstGeom prst="ellipse">
            <a:avLst/>
          </a:prstGeom>
          <a:noFill/>
          <a:ln w="38100">
            <a:solidFill>
              <a:srgbClr val="C9D6CC"/>
            </a:solidFill>
            <a:prstDash val="dash"/>
          </a:ln>
        </p:spPr>
      </p:sp>
      <p:sp>
        <p:nvSpPr>
          <p:cNvPr id="6" name="Text 4"/>
          <p:cNvSpPr txBox="1"/>
          <p:nvPr/>
        </p:nvSpPr>
        <p:spPr>
          <a:xfrm>
            <a:off x="2240280" y="2651760"/>
            <a:ext cx="1097280" cy="640080"/>
          </a:xfrm>
          <a:prstGeom prst="rect">
            <a:avLst/>
          </a:prstGeom>
          <a:noFill/>
          <a:ln/>
        </p:spPr>
        <p:txBody>
          <a:bodyPr wrap="square" lIns="0" tIns="0" rIns="0" bIns="0" rtlCol="0" anchor="ctr"/>
          <a:lstStyle/>
          <a:p>
            <a:pPr algn="ctr" indent="0" marL="0">
              <a:buNone/>
            </a:pPr>
            <a:r>
              <a:rPr lang="en-US" sz="1400" b="1" dirty="0">
                <a:solidFill>
                  <a:srgbClr val="6E7B73"/>
                </a:solidFill>
                <a:latin typeface="Malgun Gothic" pitchFamily="34" charset="0"/>
                <a:ea typeface="Malgun Gothic" pitchFamily="34" charset="-122"/>
                <a:cs typeface="Malgun Gothic" pitchFamily="34" charset="-120"/>
              </a:rPr>
              <a:t>실행</a:t>
            </a:r>
            <a:endParaRPr lang="en-US" sz="1400" dirty="0"/>
          </a:p>
          <a:p>
            <a:pPr algn="ctr" indent="0" marL="0">
              <a:buNone/>
            </a:pPr>
            <a:r>
              <a:rPr lang="en-US" sz="1400" b="1" dirty="0">
                <a:solidFill>
                  <a:srgbClr val="6E7B73"/>
                </a:solidFill>
                <a:latin typeface="Malgun Gothic" pitchFamily="34" charset="0"/>
                <a:ea typeface="Malgun Gothic" pitchFamily="34" charset="-122"/>
                <a:cs typeface="Malgun Gothic" pitchFamily="34" charset="-120"/>
              </a:rPr>
              <a:t>순서</a:t>
            </a:r>
            <a:endParaRPr lang="en-US" sz="1400" dirty="0"/>
          </a:p>
        </p:txBody>
      </p:sp>
      <p:sp>
        <p:nvSpPr>
          <p:cNvPr id="7" name="Shape 5"/>
          <p:cNvSpPr/>
          <p:nvPr/>
        </p:nvSpPr>
        <p:spPr>
          <a:xfrm>
            <a:off x="2011680" y="1344168"/>
            <a:ext cx="1554480" cy="603504"/>
          </a:xfrm>
          <a:prstGeom prst="roundRect">
            <a:avLst>
              <a:gd name="adj" fmla="val 22727"/>
            </a:avLst>
          </a:prstGeom>
          <a:solidFill>
            <a:srgbClr val="FFFFFF"/>
          </a:solidFill>
          <a:ln w="25400">
            <a:solidFill>
              <a:srgbClr val="F2A27E"/>
            </a:solidFill>
            <a:prstDash val="solid"/>
          </a:ln>
        </p:spPr>
      </p:sp>
      <p:sp>
        <p:nvSpPr>
          <p:cNvPr id="8" name="Shape 6"/>
          <p:cNvSpPr/>
          <p:nvPr/>
        </p:nvSpPr>
        <p:spPr>
          <a:xfrm>
            <a:off x="2103120" y="1499616"/>
            <a:ext cx="292608" cy="292608"/>
          </a:xfrm>
          <a:prstGeom prst="ellipse">
            <a:avLst/>
          </a:prstGeom>
          <a:solidFill>
            <a:srgbClr val="F2A27E"/>
          </a:solidFill>
          <a:ln/>
        </p:spPr>
      </p:sp>
      <p:sp>
        <p:nvSpPr>
          <p:cNvPr id="9" name="Text 7"/>
          <p:cNvSpPr txBox="1"/>
          <p:nvPr/>
        </p:nvSpPr>
        <p:spPr>
          <a:xfrm>
            <a:off x="2103120" y="149961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10" name="Text 8"/>
          <p:cNvSpPr txBox="1"/>
          <p:nvPr/>
        </p:nvSpPr>
        <p:spPr>
          <a:xfrm>
            <a:off x="2468880" y="1344168"/>
            <a:ext cx="1005840" cy="603504"/>
          </a:xfrm>
          <a:prstGeom prst="rect">
            <a:avLst/>
          </a:prstGeom>
          <a:noFill/>
          <a:ln/>
        </p:spPr>
        <p:txBody>
          <a:bodyPr wrap="square" lIns="0" tIns="0" rIns="0" bIns="0" rtlCol="0" anchor="ctr"/>
          <a:lstStyle/>
          <a:p>
            <a:pPr indent="0" marL="0">
              <a:buNone/>
            </a:pPr>
            <a:r>
              <a:rPr lang="en-US" sz="1100" b="1" dirty="0">
                <a:solidFill>
                  <a:srgbClr val="33413A"/>
                </a:solidFill>
                <a:latin typeface="Malgun Gothic" pitchFamily="34" charset="0"/>
                <a:ea typeface="Malgun Gothic" pitchFamily="34" charset="-122"/>
                <a:cs typeface="Malgun Gothic" pitchFamily="34" charset="-120"/>
              </a:rPr>
              <a:t>교육목표 설정</a:t>
            </a:r>
            <a:endParaRPr lang="en-US" sz="1100" dirty="0"/>
          </a:p>
        </p:txBody>
      </p:sp>
      <p:sp>
        <p:nvSpPr>
          <p:cNvPr id="11" name="Shape 9"/>
          <p:cNvSpPr/>
          <p:nvPr/>
        </p:nvSpPr>
        <p:spPr>
          <a:xfrm>
            <a:off x="3533561" y="2260329"/>
            <a:ext cx="1554480" cy="603504"/>
          </a:xfrm>
          <a:prstGeom prst="roundRect">
            <a:avLst>
              <a:gd name="adj" fmla="val 22727"/>
            </a:avLst>
          </a:prstGeom>
          <a:solidFill>
            <a:srgbClr val="FFFFFF"/>
          </a:solidFill>
          <a:ln w="25400">
            <a:solidFill>
              <a:srgbClr val="F5D07A"/>
            </a:solidFill>
            <a:prstDash val="solid"/>
          </a:ln>
        </p:spPr>
      </p:sp>
      <p:sp>
        <p:nvSpPr>
          <p:cNvPr id="12" name="Shape 10"/>
          <p:cNvSpPr/>
          <p:nvPr/>
        </p:nvSpPr>
        <p:spPr>
          <a:xfrm>
            <a:off x="3625001" y="2415777"/>
            <a:ext cx="292608" cy="292608"/>
          </a:xfrm>
          <a:prstGeom prst="ellipse">
            <a:avLst/>
          </a:prstGeom>
          <a:solidFill>
            <a:srgbClr val="F5D07A"/>
          </a:solidFill>
          <a:ln/>
        </p:spPr>
      </p:sp>
      <p:sp>
        <p:nvSpPr>
          <p:cNvPr id="13" name="Text 11"/>
          <p:cNvSpPr txBox="1"/>
          <p:nvPr/>
        </p:nvSpPr>
        <p:spPr>
          <a:xfrm>
            <a:off x="3625001" y="2415777"/>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14" name="Text 12"/>
          <p:cNvSpPr txBox="1"/>
          <p:nvPr/>
        </p:nvSpPr>
        <p:spPr>
          <a:xfrm>
            <a:off x="3990761" y="2260329"/>
            <a:ext cx="1005840" cy="603504"/>
          </a:xfrm>
          <a:prstGeom prst="rect">
            <a:avLst/>
          </a:prstGeom>
          <a:noFill/>
          <a:ln/>
        </p:spPr>
        <p:txBody>
          <a:bodyPr wrap="square" lIns="0" tIns="0" rIns="0" bIns="0" rtlCol="0" anchor="ctr"/>
          <a:lstStyle/>
          <a:p>
            <a:pPr indent="0" marL="0">
              <a:buNone/>
            </a:pPr>
            <a:r>
              <a:rPr lang="en-US" sz="1100" b="1" dirty="0">
                <a:solidFill>
                  <a:srgbClr val="33413A"/>
                </a:solidFill>
                <a:latin typeface="Malgun Gothic" pitchFamily="34" charset="0"/>
                <a:ea typeface="Malgun Gothic" pitchFamily="34" charset="-122"/>
                <a:cs typeface="Malgun Gothic" pitchFamily="34" charset="-120"/>
              </a:rPr>
              <a:t>교육내용 선정</a:t>
            </a:r>
            <a:endParaRPr lang="en-US" sz="1100" dirty="0"/>
          </a:p>
        </p:txBody>
      </p:sp>
      <p:sp>
        <p:nvSpPr>
          <p:cNvPr id="15" name="Shape 13"/>
          <p:cNvSpPr/>
          <p:nvPr/>
        </p:nvSpPr>
        <p:spPr>
          <a:xfrm>
            <a:off x="2952254" y="3742707"/>
            <a:ext cx="1554480" cy="603504"/>
          </a:xfrm>
          <a:prstGeom prst="roundRect">
            <a:avLst>
              <a:gd name="adj" fmla="val 22727"/>
            </a:avLst>
          </a:prstGeom>
          <a:solidFill>
            <a:srgbClr val="FFFFFF"/>
          </a:solidFill>
          <a:ln w="25400">
            <a:solidFill>
              <a:srgbClr val="5E8C6A"/>
            </a:solidFill>
            <a:prstDash val="solid"/>
          </a:ln>
        </p:spPr>
      </p:sp>
      <p:sp>
        <p:nvSpPr>
          <p:cNvPr id="16" name="Shape 14"/>
          <p:cNvSpPr/>
          <p:nvPr/>
        </p:nvSpPr>
        <p:spPr>
          <a:xfrm>
            <a:off x="3043694" y="3898155"/>
            <a:ext cx="292608" cy="292608"/>
          </a:xfrm>
          <a:prstGeom prst="ellipse">
            <a:avLst/>
          </a:prstGeom>
          <a:solidFill>
            <a:srgbClr val="5E8C6A"/>
          </a:solidFill>
          <a:ln/>
        </p:spPr>
      </p:sp>
      <p:sp>
        <p:nvSpPr>
          <p:cNvPr id="17" name="Text 15"/>
          <p:cNvSpPr txBox="1"/>
          <p:nvPr/>
        </p:nvSpPr>
        <p:spPr>
          <a:xfrm>
            <a:off x="3043694" y="3898155"/>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18" name="Text 16"/>
          <p:cNvSpPr txBox="1"/>
          <p:nvPr/>
        </p:nvSpPr>
        <p:spPr>
          <a:xfrm>
            <a:off x="3409454" y="3742707"/>
            <a:ext cx="1005840" cy="603504"/>
          </a:xfrm>
          <a:prstGeom prst="rect">
            <a:avLst/>
          </a:prstGeom>
          <a:noFill/>
          <a:ln/>
        </p:spPr>
        <p:txBody>
          <a:bodyPr wrap="square" lIns="0" tIns="0" rIns="0" bIns="0" rtlCol="0" anchor="ctr"/>
          <a:lstStyle/>
          <a:p>
            <a:pPr indent="0" marL="0">
              <a:buNone/>
            </a:pPr>
            <a:r>
              <a:rPr lang="en-US" sz="1100" b="1" dirty="0">
                <a:solidFill>
                  <a:srgbClr val="33413A"/>
                </a:solidFill>
                <a:latin typeface="Malgun Gothic" pitchFamily="34" charset="0"/>
                <a:ea typeface="Malgun Gothic" pitchFamily="34" charset="-122"/>
                <a:cs typeface="Malgun Gothic" pitchFamily="34" charset="-120"/>
              </a:rPr>
              <a:t>내용 조직·</a:t>
            </a:r>
            <a:endParaRPr lang="en-US" sz="1100" dirty="0"/>
          </a:p>
          <a:p>
            <a:pPr indent="0" marL="0">
              <a:buNone/>
            </a:pPr>
            <a:r>
              <a:rPr lang="en-US" sz="1100" b="1" dirty="0">
                <a:solidFill>
                  <a:srgbClr val="33413A"/>
                </a:solidFill>
                <a:latin typeface="Malgun Gothic" pitchFamily="34" charset="0"/>
                <a:ea typeface="Malgun Gothic" pitchFamily="34" charset="-122"/>
                <a:cs typeface="Malgun Gothic" pitchFamily="34" charset="-120"/>
              </a:rPr>
              <a:t>교수방법 결정</a:t>
            </a:r>
            <a:endParaRPr lang="en-US" sz="1100" dirty="0"/>
          </a:p>
        </p:txBody>
      </p:sp>
      <p:sp>
        <p:nvSpPr>
          <p:cNvPr id="19" name="Shape 17"/>
          <p:cNvSpPr/>
          <p:nvPr/>
        </p:nvSpPr>
        <p:spPr>
          <a:xfrm>
            <a:off x="1071106" y="3742707"/>
            <a:ext cx="1554480" cy="603504"/>
          </a:xfrm>
          <a:prstGeom prst="roundRect">
            <a:avLst>
              <a:gd name="adj" fmla="val 22727"/>
            </a:avLst>
          </a:prstGeom>
          <a:solidFill>
            <a:srgbClr val="FFFFFF"/>
          </a:solidFill>
          <a:ln w="25400">
            <a:solidFill>
              <a:srgbClr val="E8A1A8"/>
            </a:solidFill>
            <a:prstDash val="solid"/>
          </a:ln>
        </p:spPr>
      </p:sp>
      <p:sp>
        <p:nvSpPr>
          <p:cNvPr id="20" name="Shape 18"/>
          <p:cNvSpPr/>
          <p:nvPr/>
        </p:nvSpPr>
        <p:spPr>
          <a:xfrm>
            <a:off x="1162546" y="3898155"/>
            <a:ext cx="292608" cy="292608"/>
          </a:xfrm>
          <a:prstGeom prst="ellipse">
            <a:avLst/>
          </a:prstGeom>
          <a:solidFill>
            <a:srgbClr val="E8A1A8"/>
          </a:solidFill>
          <a:ln/>
        </p:spPr>
      </p:sp>
      <p:sp>
        <p:nvSpPr>
          <p:cNvPr id="21" name="Text 19"/>
          <p:cNvSpPr txBox="1"/>
          <p:nvPr/>
        </p:nvSpPr>
        <p:spPr>
          <a:xfrm>
            <a:off x="1162546" y="3898155"/>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22" name="Text 20"/>
          <p:cNvSpPr txBox="1"/>
          <p:nvPr/>
        </p:nvSpPr>
        <p:spPr>
          <a:xfrm>
            <a:off x="1528306" y="3742707"/>
            <a:ext cx="1005840" cy="603504"/>
          </a:xfrm>
          <a:prstGeom prst="rect">
            <a:avLst/>
          </a:prstGeom>
          <a:noFill/>
          <a:ln/>
        </p:spPr>
        <p:txBody>
          <a:bodyPr wrap="square" lIns="0" tIns="0" rIns="0" bIns="0" rtlCol="0" anchor="ctr"/>
          <a:lstStyle/>
          <a:p>
            <a:pPr indent="0" marL="0">
              <a:buNone/>
            </a:pPr>
            <a:r>
              <a:rPr lang="en-US" sz="1100" b="1" dirty="0">
                <a:solidFill>
                  <a:srgbClr val="33413A"/>
                </a:solidFill>
                <a:latin typeface="Malgun Gothic" pitchFamily="34" charset="0"/>
                <a:ea typeface="Malgun Gothic" pitchFamily="34" charset="-122"/>
                <a:cs typeface="Malgun Gothic" pitchFamily="34" charset="-120"/>
              </a:rPr>
              <a:t>평가</a:t>
            </a:r>
            <a:endParaRPr lang="en-US" sz="1100" dirty="0"/>
          </a:p>
        </p:txBody>
      </p:sp>
      <p:sp>
        <p:nvSpPr>
          <p:cNvPr id="23" name="Shape 21"/>
          <p:cNvSpPr/>
          <p:nvPr/>
        </p:nvSpPr>
        <p:spPr>
          <a:xfrm>
            <a:off x="489799" y="2260329"/>
            <a:ext cx="1554480" cy="603504"/>
          </a:xfrm>
          <a:prstGeom prst="roundRect">
            <a:avLst>
              <a:gd name="adj" fmla="val 22727"/>
            </a:avLst>
          </a:prstGeom>
          <a:solidFill>
            <a:srgbClr val="FFFFFF"/>
          </a:solidFill>
          <a:ln w="25400">
            <a:solidFill>
              <a:srgbClr val="A9CBB0"/>
            </a:solidFill>
            <a:prstDash val="solid"/>
          </a:ln>
        </p:spPr>
      </p:sp>
      <p:sp>
        <p:nvSpPr>
          <p:cNvPr id="24" name="Shape 22"/>
          <p:cNvSpPr/>
          <p:nvPr/>
        </p:nvSpPr>
        <p:spPr>
          <a:xfrm>
            <a:off x="581239" y="2415777"/>
            <a:ext cx="292608" cy="292608"/>
          </a:xfrm>
          <a:prstGeom prst="ellipse">
            <a:avLst/>
          </a:prstGeom>
          <a:solidFill>
            <a:srgbClr val="A9CBB0"/>
          </a:solidFill>
          <a:ln/>
        </p:spPr>
      </p:sp>
      <p:sp>
        <p:nvSpPr>
          <p:cNvPr id="25" name="Text 23"/>
          <p:cNvSpPr txBox="1"/>
          <p:nvPr/>
        </p:nvSpPr>
        <p:spPr>
          <a:xfrm>
            <a:off x="581239" y="2415777"/>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5</a:t>
            </a:r>
            <a:endParaRPr lang="en-US" sz="1100" dirty="0"/>
          </a:p>
        </p:txBody>
      </p:sp>
      <p:sp>
        <p:nvSpPr>
          <p:cNvPr id="26" name="Text 24"/>
          <p:cNvSpPr txBox="1"/>
          <p:nvPr/>
        </p:nvSpPr>
        <p:spPr>
          <a:xfrm>
            <a:off x="946999" y="2260329"/>
            <a:ext cx="1005840" cy="603504"/>
          </a:xfrm>
          <a:prstGeom prst="rect">
            <a:avLst/>
          </a:prstGeom>
          <a:noFill/>
          <a:ln/>
        </p:spPr>
        <p:txBody>
          <a:bodyPr wrap="square" lIns="0" tIns="0" rIns="0" bIns="0" rtlCol="0" anchor="ctr"/>
          <a:lstStyle/>
          <a:p>
            <a:pPr indent="0" marL="0">
              <a:buNone/>
            </a:pPr>
            <a:r>
              <a:rPr lang="en-US" sz="1100" b="1" dirty="0">
                <a:solidFill>
                  <a:srgbClr val="33413A"/>
                </a:solidFill>
                <a:latin typeface="Malgun Gothic" pitchFamily="34" charset="0"/>
                <a:ea typeface="Malgun Gothic" pitchFamily="34" charset="-122"/>
                <a:cs typeface="Malgun Gothic" pitchFamily="34" charset="-120"/>
              </a:rPr>
              <a:t>차기 교육계획</a:t>
            </a:r>
            <a:endParaRPr lang="en-US" sz="1100" dirty="0"/>
          </a:p>
          <a:p>
            <a:pPr indent="0" marL="0">
              <a:buNone/>
            </a:pPr>
            <a:r>
              <a:rPr lang="en-US" sz="1100" b="1" dirty="0">
                <a:solidFill>
                  <a:srgbClr val="33413A"/>
                </a:solidFill>
                <a:latin typeface="Malgun Gothic" pitchFamily="34" charset="0"/>
                <a:ea typeface="Malgun Gothic" pitchFamily="34" charset="-122"/>
                <a:cs typeface="Malgun Gothic" pitchFamily="34" charset="-120"/>
              </a:rPr>
              <a:t>수립에 반영</a:t>
            </a:r>
            <a:endParaRPr lang="en-US" sz="1100" dirty="0"/>
          </a:p>
        </p:txBody>
      </p:sp>
      <p:sp>
        <p:nvSpPr>
          <p:cNvPr id="27" name="Shape 25"/>
          <p:cNvSpPr/>
          <p:nvPr/>
        </p:nvSpPr>
        <p:spPr>
          <a:xfrm>
            <a:off x="5394960" y="1280160"/>
            <a:ext cx="3291840" cy="1463040"/>
          </a:xfrm>
          <a:prstGeom prst="roundRect">
            <a:avLst>
              <a:gd name="adj" fmla="val 9375"/>
            </a:avLst>
          </a:prstGeom>
          <a:solidFill>
            <a:srgbClr val="DCEBDD"/>
          </a:solidFill>
          <a:ln/>
        </p:spPr>
      </p:sp>
      <p:sp>
        <p:nvSpPr>
          <p:cNvPr id="28" name="Text 26"/>
          <p:cNvSpPr txBox="1"/>
          <p:nvPr/>
        </p:nvSpPr>
        <p:spPr>
          <a:xfrm>
            <a:off x="5577840" y="1371600"/>
            <a:ext cx="2926080" cy="320040"/>
          </a:xfrm>
          <a:prstGeom prst="rect">
            <a:avLst/>
          </a:prstGeom>
          <a:noFill/>
          <a:ln/>
        </p:spPr>
        <p:txBody>
          <a:bodyPr wrap="square" lIns="0" tIns="0" rIns="0" bIns="0" rtlCol="0" anchor="ctr"/>
          <a:lstStyle/>
          <a:p>
            <a:pPr indent="0" marL="0">
              <a:buNone/>
            </a:pPr>
            <a:r>
              <a:rPr lang="en-US" sz="1400" b="1" dirty="0">
                <a:solidFill>
                  <a:srgbClr val="5E8C6A"/>
                </a:solidFill>
                <a:latin typeface="Malgun Gothic" pitchFamily="34" charset="0"/>
                <a:ea typeface="Malgun Gothic" pitchFamily="34" charset="-122"/>
                <a:cs typeface="Malgun Gothic" pitchFamily="34" charset="-120"/>
              </a:rPr>
              <a:t>구성요소이자 실행 순서</a:t>
            </a:r>
            <a:endParaRPr lang="en-US" sz="1400" dirty="0"/>
          </a:p>
        </p:txBody>
      </p:sp>
      <p:sp>
        <p:nvSpPr>
          <p:cNvPr id="29" name="Text 27"/>
          <p:cNvSpPr txBox="1"/>
          <p:nvPr/>
        </p:nvSpPr>
        <p:spPr>
          <a:xfrm>
            <a:off x="5577840" y="1691640"/>
            <a:ext cx="3017520" cy="10058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각 기관의 철학에 부합하는 교육목표의 설정</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교육목표 달성에 반드시 필요한 교육내용의 선정</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교육내용의 조직 및 영유아의 발달과 흥미에 적합한 교수방법의 결정</a:t>
            </a:r>
            <a:endParaRPr lang="en-US" sz="1050" dirty="0"/>
          </a:p>
        </p:txBody>
      </p:sp>
      <p:sp>
        <p:nvSpPr>
          <p:cNvPr id="30" name="Shape 28"/>
          <p:cNvSpPr/>
          <p:nvPr/>
        </p:nvSpPr>
        <p:spPr>
          <a:xfrm>
            <a:off x="5394960" y="2926080"/>
            <a:ext cx="3291840" cy="1417320"/>
          </a:xfrm>
          <a:prstGeom prst="roundRect">
            <a:avLst>
              <a:gd name="adj" fmla="val 9677"/>
            </a:avLst>
          </a:prstGeom>
          <a:solidFill>
            <a:srgbClr val="FDF3D6"/>
          </a:solidFill>
          <a:ln/>
        </p:spPr>
      </p:sp>
      <p:sp>
        <p:nvSpPr>
          <p:cNvPr id="31" name="Text 29"/>
          <p:cNvSpPr txBox="1"/>
          <p:nvPr/>
        </p:nvSpPr>
        <p:spPr>
          <a:xfrm>
            <a:off x="5577840" y="3017520"/>
            <a:ext cx="2926080" cy="320040"/>
          </a:xfrm>
          <a:prstGeom prst="rect">
            <a:avLst/>
          </a:prstGeom>
          <a:noFill/>
          <a:ln/>
        </p:spPr>
        <p:txBody>
          <a:bodyPr wrap="square" lIns="0" tIns="0" rIns="0" bIns="0" rtlCol="0" anchor="ctr"/>
          <a:lstStyle/>
          <a:p>
            <a:pPr indent="0" marL="0">
              <a:buNone/>
            </a:pPr>
            <a:r>
              <a:rPr lang="en-US" sz="1400" b="1" dirty="0">
                <a:solidFill>
                  <a:srgbClr val="B08A2E"/>
                </a:solidFill>
                <a:latin typeface="Malgun Gothic" pitchFamily="34" charset="0"/>
                <a:ea typeface="Malgun Gothic" pitchFamily="34" charset="-122"/>
                <a:cs typeface="Malgun Gothic" pitchFamily="34" charset="-120"/>
              </a:rPr>
              <a:t>타일러 모형의 영향</a:t>
            </a:r>
            <a:endParaRPr lang="en-US" sz="1400" dirty="0"/>
          </a:p>
        </p:txBody>
      </p:sp>
      <p:sp>
        <p:nvSpPr>
          <p:cNvPr id="32" name="Text 30"/>
          <p:cNvSpPr txBox="1"/>
          <p:nvPr/>
        </p:nvSpPr>
        <p:spPr>
          <a:xfrm>
            <a:off x="5577840" y="3364992"/>
            <a:ext cx="2971800" cy="914400"/>
          </a:xfrm>
          <a:prstGeom prst="rect">
            <a:avLst/>
          </a:prstGeom>
          <a:noFill/>
          <a:ln/>
        </p:spPr>
        <p:txBody>
          <a:bodyPr wrap="square" lIns="0" tIns="0" rIns="0" bIns="0" rtlCol="0" anchor="t"/>
          <a:lstStyle/>
          <a:p>
            <a:pPr indent="0" marL="0">
              <a:buNone/>
            </a:pPr>
            <a:r>
              <a:rPr lang="en-US" sz="1050" dirty="0">
                <a:solidFill>
                  <a:srgbClr val="33413A"/>
                </a:solidFill>
                <a:latin typeface="Malgun Gothic" pitchFamily="34" charset="0"/>
                <a:ea typeface="Malgun Gothic" pitchFamily="34" charset="-122"/>
                <a:cs typeface="Malgun Gothic" pitchFamily="34" charset="-120"/>
              </a:rPr>
              <a:t>타일러의 교육과정 모형에 대해 비판하면서도 우리나라 초·중·고등학교 교육과정은 타일러의 교육과정 체제에 의존해 왔으며, 교육과정을 개념화하는 데도 많은 영향을 미침</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04</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구성의 특징 ①  ②</a:t>
            </a:r>
            <a:endParaRPr lang="en-US" sz="2800" dirty="0"/>
          </a:p>
        </p:txBody>
      </p:sp>
      <p:sp>
        <p:nvSpPr>
          <p:cNvPr id="5" name="Shape 3"/>
          <p:cNvSpPr/>
          <p:nvPr/>
        </p:nvSpPr>
        <p:spPr>
          <a:xfrm>
            <a:off x="457200" y="1097280"/>
            <a:ext cx="4023360" cy="3611880"/>
          </a:xfrm>
          <a:prstGeom prst="roundRect">
            <a:avLst>
              <a:gd name="adj" fmla="val 3797"/>
            </a:avLst>
          </a:prstGeom>
          <a:solidFill>
            <a:srgbClr val="FCE4D8"/>
          </a:solidFill>
          <a:ln/>
        </p:spPr>
      </p:sp>
      <p:sp>
        <p:nvSpPr>
          <p:cNvPr id="6" name="Text 4"/>
          <p:cNvSpPr txBox="1"/>
          <p:nvPr/>
        </p:nvSpPr>
        <p:spPr>
          <a:xfrm>
            <a:off x="640080" y="1188720"/>
            <a:ext cx="3657600" cy="36576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① 교육내용 간의 통합</a:t>
            </a:r>
            <a:endParaRPr lang="en-US" sz="1600" dirty="0"/>
          </a:p>
        </p:txBody>
      </p:sp>
      <p:sp>
        <p:nvSpPr>
          <p:cNvPr id="7" name="Text 5"/>
          <p:cNvSpPr txBox="1"/>
          <p:nvPr/>
        </p:nvSpPr>
        <p:spPr>
          <a:xfrm>
            <a:off x="640080" y="1554480"/>
            <a:ext cx="365760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분리된 교과별 학습보다 통합된 경험으로 더 잘 배운다</a:t>
            </a:r>
            <a:endParaRPr lang="en-US" sz="1100" dirty="0"/>
          </a:p>
        </p:txBody>
      </p:sp>
      <p:sp>
        <p:nvSpPr>
          <p:cNvPr id="8" name="Shape 6"/>
          <p:cNvSpPr/>
          <p:nvPr/>
        </p:nvSpPr>
        <p:spPr>
          <a:xfrm>
            <a:off x="1280160" y="2240280"/>
            <a:ext cx="1188720" cy="868680"/>
          </a:xfrm>
          <a:prstGeom prst="line">
            <a:avLst/>
          </a:prstGeom>
          <a:noFill/>
          <a:ln w="25400">
            <a:solidFill>
              <a:srgbClr val="F2A27E"/>
            </a:solidFill>
            <a:prstDash val="solid"/>
          </a:ln>
        </p:spPr>
      </p:sp>
      <p:sp>
        <p:nvSpPr>
          <p:cNvPr id="9" name="Shape 7"/>
          <p:cNvSpPr/>
          <p:nvPr/>
        </p:nvSpPr>
        <p:spPr>
          <a:xfrm flipH="1">
            <a:off x="2468880" y="2240280"/>
            <a:ext cx="1188720" cy="868680"/>
          </a:xfrm>
          <a:prstGeom prst="line">
            <a:avLst/>
          </a:prstGeom>
          <a:noFill/>
          <a:ln w="25400">
            <a:solidFill>
              <a:srgbClr val="F2A27E"/>
            </a:solidFill>
            <a:prstDash val="solid"/>
          </a:ln>
        </p:spPr>
      </p:sp>
      <p:sp>
        <p:nvSpPr>
          <p:cNvPr id="10" name="Shape 8"/>
          <p:cNvSpPr/>
          <p:nvPr/>
        </p:nvSpPr>
        <p:spPr>
          <a:xfrm>
            <a:off x="2468880" y="3108960"/>
            <a:ext cx="0" cy="1051560"/>
          </a:xfrm>
          <a:prstGeom prst="line">
            <a:avLst/>
          </a:prstGeom>
          <a:noFill/>
          <a:ln w="25400">
            <a:solidFill>
              <a:srgbClr val="F2A27E"/>
            </a:solidFill>
            <a:prstDash val="solid"/>
          </a:ln>
        </p:spPr>
      </p:sp>
      <p:sp>
        <p:nvSpPr>
          <p:cNvPr id="11" name="Shape 9"/>
          <p:cNvSpPr/>
          <p:nvPr/>
        </p:nvSpPr>
        <p:spPr>
          <a:xfrm>
            <a:off x="1920240" y="2697480"/>
            <a:ext cx="1097280" cy="822960"/>
          </a:xfrm>
          <a:prstGeom prst="ellipse">
            <a:avLst/>
          </a:prstGeom>
          <a:solidFill>
            <a:srgbClr val="F2A27E"/>
          </a:solidFill>
          <a:ln/>
        </p:spPr>
      </p:sp>
      <p:sp>
        <p:nvSpPr>
          <p:cNvPr id="12" name="Text 10"/>
          <p:cNvSpPr txBox="1"/>
          <p:nvPr/>
        </p:nvSpPr>
        <p:spPr>
          <a:xfrm>
            <a:off x="1920240" y="2697480"/>
            <a:ext cx="109728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주제</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'가을'</a:t>
            </a:r>
            <a:endParaRPr lang="en-US" sz="1300" dirty="0"/>
          </a:p>
        </p:txBody>
      </p:sp>
      <p:sp>
        <p:nvSpPr>
          <p:cNvPr id="13" name="Shape 11"/>
          <p:cNvSpPr/>
          <p:nvPr/>
        </p:nvSpPr>
        <p:spPr>
          <a:xfrm>
            <a:off x="640080" y="1965960"/>
            <a:ext cx="1280160" cy="548640"/>
          </a:xfrm>
          <a:prstGeom prst="roundRect">
            <a:avLst>
              <a:gd name="adj" fmla="val 20000"/>
            </a:avLst>
          </a:prstGeom>
          <a:solidFill>
            <a:srgbClr val="FFFFFF"/>
          </a:solidFill>
          <a:ln w="19050">
            <a:solidFill>
              <a:srgbClr val="F2A27E"/>
            </a:solidFill>
            <a:prstDash val="solid"/>
          </a:ln>
        </p:spPr>
      </p:sp>
      <p:sp>
        <p:nvSpPr>
          <p:cNvPr id="14" name="Text 12"/>
          <p:cNvSpPr txBox="1"/>
          <p:nvPr/>
        </p:nvSpPr>
        <p:spPr>
          <a:xfrm>
            <a:off x="640080" y="1965960"/>
            <a:ext cx="1280160" cy="548640"/>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가을 과일</a:t>
            </a:r>
            <a:endParaRPr lang="en-US" sz="1100" dirty="0"/>
          </a:p>
          <a:p>
            <a:pPr algn="ctr" indent="0" marL="0">
              <a:buNone/>
            </a:pPr>
            <a:r>
              <a:rPr lang="en-US" sz="1100" dirty="0">
                <a:solidFill>
                  <a:srgbClr val="33413A"/>
                </a:solidFill>
                <a:latin typeface="Malgun Gothic" pitchFamily="34" charset="0"/>
                <a:ea typeface="Malgun Gothic" pitchFamily="34" charset="-122"/>
                <a:cs typeface="Malgun Gothic" pitchFamily="34" charset="-120"/>
              </a:rPr>
              <a:t>만들기</a:t>
            </a:r>
            <a:endParaRPr lang="en-US" sz="1100" dirty="0"/>
          </a:p>
        </p:txBody>
      </p:sp>
      <p:sp>
        <p:nvSpPr>
          <p:cNvPr id="15" name="Shape 13"/>
          <p:cNvSpPr/>
          <p:nvPr/>
        </p:nvSpPr>
        <p:spPr>
          <a:xfrm>
            <a:off x="3017520" y="1965960"/>
            <a:ext cx="1280160" cy="548640"/>
          </a:xfrm>
          <a:prstGeom prst="roundRect">
            <a:avLst>
              <a:gd name="adj" fmla="val 20000"/>
            </a:avLst>
          </a:prstGeom>
          <a:solidFill>
            <a:srgbClr val="FFFFFF"/>
          </a:solidFill>
          <a:ln w="19050">
            <a:solidFill>
              <a:srgbClr val="F2A27E"/>
            </a:solidFill>
            <a:prstDash val="solid"/>
          </a:ln>
        </p:spPr>
      </p:sp>
      <p:sp>
        <p:nvSpPr>
          <p:cNvPr id="16" name="Text 14"/>
          <p:cNvSpPr txBox="1"/>
          <p:nvPr/>
        </p:nvSpPr>
        <p:spPr>
          <a:xfrm>
            <a:off x="3017520" y="1965960"/>
            <a:ext cx="1280160" cy="548640"/>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과일가게</a:t>
            </a:r>
            <a:endParaRPr lang="en-US" sz="1100" dirty="0"/>
          </a:p>
          <a:p>
            <a:pPr algn="ctr" indent="0" marL="0">
              <a:buNone/>
            </a:pPr>
            <a:r>
              <a:rPr lang="en-US" sz="1100" dirty="0">
                <a:solidFill>
                  <a:srgbClr val="33413A"/>
                </a:solidFill>
                <a:latin typeface="Malgun Gothic" pitchFamily="34" charset="0"/>
                <a:ea typeface="Malgun Gothic" pitchFamily="34" charset="-122"/>
                <a:cs typeface="Malgun Gothic" pitchFamily="34" charset="-120"/>
              </a:rPr>
              <a:t>놀이</a:t>
            </a:r>
            <a:endParaRPr lang="en-US" sz="1100" dirty="0"/>
          </a:p>
        </p:txBody>
      </p:sp>
      <p:sp>
        <p:nvSpPr>
          <p:cNvPr id="17" name="Shape 15"/>
          <p:cNvSpPr/>
          <p:nvPr/>
        </p:nvSpPr>
        <p:spPr>
          <a:xfrm>
            <a:off x="1828800" y="3886200"/>
            <a:ext cx="1280160" cy="548640"/>
          </a:xfrm>
          <a:prstGeom prst="roundRect">
            <a:avLst>
              <a:gd name="adj" fmla="val 20000"/>
            </a:avLst>
          </a:prstGeom>
          <a:solidFill>
            <a:srgbClr val="FFFFFF"/>
          </a:solidFill>
          <a:ln w="19050">
            <a:solidFill>
              <a:srgbClr val="F2A27E"/>
            </a:solidFill>
            <a:prstDash val="solid"/>
          </a:ln>
        </p:spPr>
      </p:sp>
      <p:sp>
        <p:nvSpPr>
          <p:cNvPr id="18" name="Text 16"/>
          <p:cNvSpPr txBox="1"/>
          <p:nvPr/>
        </p:nvSpPr>
        <p:spPr>
          <a:xfrm>
            <a:off x="1828800" y="3886200"/>
            <a:ext cx="1280160" cy="548640"/>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간판·가격표</a:t>
            </a:r>
            <a:endParaRPr lang="en-US" sz="1100" dirty="0"/>
          </a:p>
          <a:p>
            <a:pPr algn="ctr" indent="0" marL="0">
              <a:buNone/>
            </a:pPr>
            <a:r>
              <a:rPr lang="en-US" sz="1100" dirty="0">
                <a:solidFill>
                  <a:srgbClr val="33413A"/>
                </a:solidFill>
                <a:latin typeface="Malgun Gothic" pitchFamily="34" charset="0"/>
                <a:ea typeface="Malgun Gothic" pitchFamily="34" charset="-122"/>
                <a:cs typeface="Malgun Gothic" pitchFamily="34" charset="-120"/>
              </a:rPr>
              <a:t>쓰기</a:t>
            </a:r>
            <a:endParaRPr lang="en-US" sz="1100" dirty="0"/>
          </a:p>
        </p:txBody>
      </p:sp>
      <p:sp>
        <p:nvSpPr>
          <p:cNvPr id="19" name="Shape 17"/>
          <p:cNvSpPr/>
          <p:nvPr/>
        </p:nvSpPr>
        <p:spPr>
          <a:xfrm>
            <a:off x="4663440" y="1097280"/>
            <a:ext cx="4023360" cy="3611880"/>
          </a:xfrm>
          <a:prstGeom prst="roundRect">
            <a:avLst>
              <a:gd name="adj" fmla="val 3797"/>
            </a:avLst>
          </a:prstGeom>
          <a:solidFill>
            <a:srgbClr val="DCEBDD"/>
          </a:solidFill>
          <a:ln/>
        </p:spPr>
      </p:sp>
      <p:sp>
        <p:nvSpPr>
          <p:cNvPr id="20" name="Text 18"/>
          <p:cNvSpPr txBox="1"/>
          <p:nvPr/>
        </p:nvSpPr>
        <p:spPr>
          <a:xfrm>
            <a:off x="4846320" y="1188720"/>
            <a:ext cx="3657600" cy="36576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② 놀이 중심 교육과정으로 운영</a:t>
            </a:r>
            <a:endParaRPr lang="en-US" sz="1600" dirty="0"/>
          </a:p>
        </p:txBody>
      </p:sp>
      <p:sp>
        <p:nvSpPr>
          <p:cNvPr id="21" name="Text 19"/>
          <p:cNvSpPr txBox="1"/>
          <p:nvPr/>
        </p:nvSpPr>
        <p:spPr>
          <a:xfrm>
            <a:off x="4846320" y="1554480"/>
            <a:ext cx="365760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유아와 놀이를 최우선으로 존중</a:t>
            </a:r>
            <a:endParaRPr lang="en-US" sz="1100" dirty="0"/>
          </a:p>
        </p:txBody>
      </p:sp>
      <p:sp>
        <p:nvSpPr>
          <p:cNvPr id="22" name="Shape 20"/>
          <p:cNvSpPr/>
          <p:nvPr/>
        </p:nvSpPr>
        <p:spPr>
          <a:xfrm>
            <a:off x="4892040" y="2011680"/>
            <a:ext cx="457200" cy="457200"/>
          </a:xfrm>
          <a:prstGeom prst="ellipse">
            <a:avLst/>
          </a:prstGeom>
          <a:solidFill>
            <a:srgbClr val="5E8C6A"/>
          </a:solidFill>
          <a:ln/>
        </p:spPr>
      </p:sp>
      <p:pic>
        <p:nvPicPr>
          <p:cNvPr id="23" name="Image 0" descr="preencoded.png">    </p:cNvPr>
          <p:cNvPicPr>
            <a:picLocks noChangeAspect="1"/>
          </p:cNvPicPr>
          <p:nvPr/>
        </p:nvPicPr>
        <p:blipFill>
          <a:blip r:embed="rId1"/>
          <a:stretch>
            <a:fillRect/>
          </a:stretch>
        </p:blipFill>
        <p:spPr>
          <a:xfrm>
            <a:off x="5006340" y="2125980"/>
            <a:ext cx="228600" cy="228600"/>
          </a:xfrm>
          <a:prstGeom prst="rect">
            <a:avLst/>
          </a:prstGeom>
        </p:spPr>
      </p:pic>
      <p:sp>
        <p:nvSpPr>
          <p:cNvPr id="24" name="Text 21"/>
          <p:cNvSpPr txBox="1"/>
          <p:nvPr/>
        </p:nvSpPr>
        <p:spPr>
          <a:xfrm>
            <a:off x="5486400" y="1965960"/>
            <a:ext cx="3063240" cy="548640"/>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충분한 놀이시간 확보</a:t>
            </a:r>
            <a:endParaRPr lang="en-US" sz="1200" dirty="0"/>
          </a:p>
        </p:txBody>
      </p:sp>
      <p:sp>
        <p:nvSpPr>
          <p:cNvPr id="25" name="Shape 22"/>
          <p:cNvSpPr/>
          <p:nvPr/>
        </p:nvSpPr>
        <p:spPr>
          <a:xfrm>
            <a:off x="4892040" y="2651760"/>
            <a:ext cx="457200" cy="457200"/>
          </a:xfrm>
          <a:prstGeom prst="ellipse">
            <a:avLst/>
          </a:prstGeom>
          <a:solidFill>
            <a:srgbClr val="5E8C6A"/>
          </a:solidFill>
          <a:ln/>
        </p:spPr>
      </p:sp>
      <p:pic>
        <p:nvPicPr>
          <p:cNvPr id="26" name="Image 1" descr="preencoded.png">    </p:cNvPr>
          <p:cNvPicPr>
            <a:picLocks noChangeAspect="1"/>
          </p:cNvPicPr>
          <p:nvPr/>
        </p:nvPicPr>
        <p:blipFill>
          <a:blip r:embed="rId2"/>
          <a:stretch>
            <a:fillRect/>
          </a:stretch>
        </p:blipFill>
        <p:spPr>
          <a:xfrm>
            <a:off x="5006340" y="2766060"/>
            <a:ext cx="228600" cy="228600"/>
          </a:xfrm>
          <a:prstGeom prst="rect">
            <a:avLst/>
          </a:prstGeom>
        </p:spPr>
      </p:pic>
      <p:sp>
        <p:nvSpPr>
          <p:cNvPr id="27" name="Text 23"/>
          <p:cNvSpPr txBox="1"/>
          <p:nvPr/>
        </p:nvSpPr>
        <p:spPr>
          <a:xfrm>
            <a:off x="5486400" y="2606040"/>
            <a:ext cx="3063240" cy="548640"/>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유아 스스로 놀이하는 과정에서 배움</a:t>
            </a:r>
            <a:endParaRPr lang="en-US" sz="1200" dirty="0"/>
          </a:p>
        </p:txBody>
      </p:sp>
      <p:sp>
        <p:nvSpPr>
          <p:cNvPr id="28" name="Shape 24"/>
          <p:cNvSpPr/>
          <p:nvPr/>
        </p:nvSpPr>
        <p:spPr>
          <a:xfrm>
            <a:off x="4892040" y="3291840"/>
            <a:ext cx="457200" cy="457200"/>
          </a:xfrm>
          <a:prstGeom prst="ellipse">
            <a:avLst/>
          </a:prstGeom>
          <a:solidFill>
            <a:srgbClr val="5E8C6A"/>
          </a:solidFill>
          <a:ln/>
        </p:spPr>
      </p:sp>
      <p:pic>
        <p:nvPicPr>
          <p:cNvPr id="29" name="Image 2" descr="preencoded.png">    </p:cNvPr>
          <p:cNvPicPr>
            <a:picLocks noChangeAspect="1"/>
          </p:cNvPicPr>
          <p:nvPr/>
        </p:nvPicPr>
        <p:blipFill>
          <a:blip r:embed="rId3"/>
          <a:stretch>
            <a:fillRect/>
          </a:stretch>
        </p:blipFill>
        <p:spPr>
          <a:xfrm>
            <a:off x="5006340" y="3406140"/>
            <a:ext cx="228600" cy="228600"/>
          </a:xfrm>
          <a:prstGeom prst="rect">
            <a:avLst/>
          </a:prstGeom>
        </p:spPr>
      </p:pic>
      <p:sp>
        <p:nvSpPr>
          <p:cNvPr id="30" name="Text 25"/>
          <p:cNvSpPr txBox="1"/>
          <p:nvPr/>
        </p:nvSpPr>
        <p:spPr>
          <a:xfrm>
            <a:off x="5486400" y="3246120"/>
            <a:ext cx="3063240" cy="548640"/>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충분한 바깥놀이, 친숙한 사물·</a:t>
            </a:r>
            <a:endParaRPr lang="en-US" sz="1200" dirty="0"/>
          </a:p>
          <a:p>
            <a:pPr indent="0" marL="0">
              <a:buNone/>
            </a:pPr>
            <a:r>
              <a:rPr lang="en-US" sz="1200" dirty="0">
                <a:solidFill>
                  <a:srgbClr val="33413A"/>
                </a:solidFill>
                <a:latin typeface="Malgun Gothic" pitchFamily="34" charset="0"/>
                <a:ea typeface="Malgun Gothic" pitchFamily="34" charset="-122"/>
                <a:cs typeface="Malgun Gothic" pitchFamily="34" charset="-120"/>
              </a:rPr>
              <a:t>자연물을 이용한 놀이 장려</a:t>
            </a:r>
            <a:endParaRPr lang="en-US" sz="1200" dirty="0"/>
          </a:p>
        </p:txBody>
      </p:sp>
      <p:sp>
        <p:nvSpPr>
          <p:cNvPr id="31" name="Shape 26"/>
          <p:cNvSpPr/>
          <p:nvPr/>
        </p:nvSpPr>
        <p:spPr>
          <a:xfrm>
            <a:off x="4892040" y="3931920"/>
            <a:ext cx="457200" cy="457200"/>
          </a:xfrm>
          <a:prstGeom prst="ellipse">
            <a:avLst/>
          </a:prstGeom>
          <a:solidFill>
            <a:srgbClr val="5E8C6A"/>
          </a:solidFill>
          <a:ln/>
        </p:spPr>
      </p:sp>
      <p:pic>
        <p:nvPicPr>
          <p:cNvPr id="32" name="Image 3" descr="preencoded.png">    </p:cNvPr>
          <p:cNvPicPr>
            <a:picLocks noChangeAspect="1"/>
          </p:cNvPicPr>
          <p:nvPr/>
        </p:nvPicPr>
        <p:blipFill>
          <a:blip r:embed="rId4"/>
          <a:stretch>
            <a:fillRect/>
          </a:stretch>
        </p:blipFill>
        <p:spPr>
          <a:xfrm>
            <a:off x="5006340" y="4046220"/>
            <a:ext cx="228600" cy="228600"/>
          </a:xfrm>
          <a:prstGeom prst="rect">
            <a:avLst/>
          </a:prstGeom>
        </p:spPr>
      </p:pic>
      <p:sp>
        <p:nvSpPr>
          <p:cNvPr id="33" name="Text 27"/>
          <p:cNvSpPr txBox="1"/>
          <p:nvPr/>
        </p:nvSpPr>
        <p:spPr>
          <a:xfrm>
            <a:off x="5486400" y="3886200"/>
            <a:ext cx="3063240" cy="548640"/>
          </a:xfrm>
          <a:prstGeom prst="rect">
            <a:avLst/>
          </a:prstGeom>
          <a:noFill/>
          <a:ln/>
        </p:spPr>
        <p:txBody>
          <a:bodyPr wrap="square" lIns="0" tIns="0" rIns="0" bIns="0" rtlCol="0" anchor="ctr"/>
          <a:lstStyle/>
          <a:p>
            <a:pPr indent="0" marL="0">
              <a:buNone/>
            </a:pPr>
            <a:r>
              <a:rPr lang="en-US" sz="1200" b="1" dirty="0">
                <a:solidFill>
                  <a:srgbClr val="33413A"/>
                </a:solidFill>
                <a:latin typeface="Malgun Gothic" pitchFamily="34" charset="0"/>
                <a:ea typeface="Malgun Gothic" pitchFamily="34" charset="-122"/>
                <a:cs typeface="Malgun Gothic" pitchFamily="34" charset="-120"/>
              </a:rPr>
              <a:t>교사 = 놀이지원자</a:t>
            </a:r>
            <a:endParaRPr lang="en-US" sz="1200" dirty="0"/>
          </a:p>
          <a:p>
            <a:pPr indent="0" marL="0">
              <a:buNone/>
            </a:pPr>
            <a:r>
              <a:rPr lang="en-US" sz="1200" b="1" dirty="0">
                <a:solidFill>
                  <a:srgbClr val="33413A"/>
                </a:solidFill>
                <a:latin typeface="Malgun Gothic" pitchFamily="34" charset="0"/>
                <a:ea typeface="Malgun Gothic" pitchFamily="34" charset="-122"/>
                <a:cs typeface="Malgun Gothic" pitchFamily="34" charset="-120"/>
              </a:rPr>
              <a:t>(관찰, 필요한 지원과 상호작용)</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05</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구성의 특징 ③  ④</a:t>
            </a:r>
            <a:endParaRPr lang="en-US" sz="2800" dirty="0"/>
          </a:p>
        </p:txBody>
      </p:sp>
      <p:sp>
        <p:nvSpPr>
          <p:cNvPr id="5" name="Shape 3"/>
          <p:cNvSpPr/>
          <p:nvPr/>
        </p:nvSpPr>
        <p:spPr>
          <a:xfrm>
            <a:off x="457200" y="1097280"/>
            <a:ext cx="4023360" cy="3611880"/>
          </a:xfrm>
          <a:prstGeom prst="roundRect">
            <a:avLst>
              <a:gd name="adj" fmla="val 3797"/>
            </a:avLst>
          </a:prstGeom>
          <a:solidFill>
            <a:srgbClr val="FDF3D6"/>
          </a:solidFill>
          <a:ln/>
        </p:spPr>
      </p:sp>
      <p:sp>
        <p:nvSpPr>
          <p:cNvPr id="6" name="Text 4"/>
          <p:cNvSpPr txBox="1"/>
          <p:nvPr/>
        </p:nvSpPr>
        <p:spPr>
          <a:xfrm>
            <a:off x="640080" y="1188720"/>
            <a:ext cx="3749040" cy="36576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③ 흥미와 요구를 반영한 교육적 경험</a:t>
            </a:r>
            <a:endParaRPr lang="en-US" sz="1600" dirty="0"/>
          </a:p>
        </p:txBody>
      </p:sp>
      <p:sp>
        <p:nvSpPr>
          <p:cNvPr id="7" name="Shape 5"/>
          <p:cNvSpPr/>
          <p:nvPr/>
        </p:nvSpPr>
        <p:spPr>
          <a:xfrm>
            <a:off x="640080" y="1645920"/>
            <a:ext cx="3657600" cy="411480"/>
          </a:xfrm>
          <a:prstGeom prst="roundRect">
            <a:avLst>
              <a:gd name="adj" fmla="val 44444"/>
            </a:avLst>
          </a:prstGeom>
          <a:solidFill>
            <a:srgbClr val="FFFFFF"/>
          </a:solidFill>
          <a:ln w="19050">
            <a:solidFill>
              <a:srgbClr val="E8A1A8"/>
            </a:solidFill>
            <a:prstDash val="solid"/>
          </a:ln>
        </p:spPr>
      </p:sp>
      <p:sp>
        <p:nvSpPr>
          <p:cNvPr id="8" name="Text 6"/>
          <p:cNvSpPr txBox="1"/>
          <p:nvPr/>
        </p:nvSpPr>
        <p:spPr>
          <a:xfrm>
            <a:off x="640080" y="1645920"/>
            <a:ext cx="3657600" cy="411480"/>
          </a:xfrm>
          <a:prstGeom prst="rect">
            <a:avLst/>
          </a:prstGeom>
          <a:noFill/>
          <a:ln/>
        </p:spPr>
        <p:txBody>
          <a:bodyPr wrap="square" lIns="0" tIns="0" rIns="0" bIns="0" rtlCol="0" anchor="ctr"/>
          <a:lstStyle/>
          <a:p>
            <a:pPr algn="ctr" indent="0" marL="0">
              <a:buNone/>
            </a:pPr>
            <a:r>
              <a:rPr lang="en-US" sz="1100" b="1" dirty="0">
                <a:solidFill>
                  <a:srgbClr val="B45A64"/>
                </a:solidFill>
                <a:latin typeface="Malgun Gothic" pitchFamily="34" charset="0"/>
                <a:ea typeface="Malgun Gothic" pitchFamily="34" charset="-122"/>
                <a:cs typeface="Malgun Gothic" pitchFamily="34" charset="-120"/>
              </a:rPr>
              <a:t>유의: 흥미에 기초 ≠ 단순히 영유아가 좋아하는 것</a:t>
            </a:r>
            <a:endParaRPr lang="en-US" sz="1100" dirty="0"/>
          </a:p>
        </p:txBody>
      </p:sp>
      <p:sp>
        <p:nvSpPr>
          <p:cNvPr id="9" name="Shape 7"/>
          <p:cNvSpPr/>
          <p:nvPr/>
        </p:nvSpPr>
        <p:spPr>
          <a:xfrm>
            <a:off x="822960" y="2240280"/>
            <a:ext cx="3291840" cy="420624"/>
          </a:xfrm>
          <a:prstGeom prst="roundRect">
            <a:avLst>
              <a:gd name="adj" fmla="val 26087"/>
            </a:avLst>
          </a:prstGeom>
          <a:solidFill>
            <a:srgbClr val="FFFFFF"/>
          </a:solidFill>
          <a:ln/>
        </p:spPr>
      </p:sp>
      <p:sp>
        <p:nvSpPr>
          <p:cNvPr id="10" name="Text 8"/>
          <p:cNvSpPr txBox="1"/>
          <p:nvPr/>
        </p:nvSpPr>
        <p:spPr>
          <a:xfrm>
            <a:off x="822960" y="2240280"/>
            <a:ext cx="3291840" cy="420624"/>
          </a:xfrm>
          <a:prstGeom prst="rect">
            <a:avLst/>
          </a:prstGeom>
          <a:noFill/>
          <a:ln/>
        </p:spPr>
        <p:txBody>
          <a:bodyPr wrap="square" lIns="0" tIns="0" rIns="0" bIns="0" rtlCol="0" anchor="ctr"/>
          <a:lstStyle/>
          <a:p>
            <a:pPr algn="ctr" indent="0" marL="0">
              <a:buNone/>
            </a:pPr>
            <a:r>
              <a:rPr lang="en-US" sz="1200" dirty="0">
                <a:solidFill>
                  <a:srgbClr val="33413A"/>
                </a:solidFill>
                <a:latin typeface="Malgun Gothic" pitchFamily="34" charset="0"/>
                <a:ea typeface="Malgun Gothic" pitchFamily="34" charset="-122"/>
                <a:cs typeface="Malgun Gothic" pitchFamily="34" charset="-120"/>
              </a:rPr>
              <a:t>흥미 존중 + 발달적 요구에 적합한 내용</a:t>
            </a:r>
            <a:endParaRPr lang="en-US" sz="1200" dirty="0"/>
          </a:p>
        </p:txBody>
      </p:sp>
      <p:sp>
        <p:nvSpPr>
          <p:cNvPr id="11" name="Text 9"/>
          <p:cNvSpPr txBox="1"/>
          <p:nvPr/>
        </p:nvSpPr>
        <p:spPr>
          <a:xfrm>
            <a:off x="822960" y="2660904"/>
            <a:ext cx="3291840" cy="182880"/>
          </a:xfrm>
          <a:prstGeom prst="rect">
            <a:avLst/>
          </a:prstGeom>
          <a:noFill/>
          <a:ln/>
        </p:spPr>
        <p:txBody>
          <a:bodyPr wrap="square" lIns="0" tIns="0" rIns="0" bIns="0" rtlCol="0" anchor="ctr"/>
          <a:lstStyle/>
          <a:p>
            <a:pPr algn="ctr" indent="0" marL="0">
              <a:buNone/>
            </a:pPr>
            <a:r>
              <a:rPr lang="en-US" sz="800" dirty="0">
                <a:solidFill>
                  <a:srgbClr val="B08A2E"/>
                </a:solidFill>
                <a:latin typeface="Malgun Gothic" pitchFamily="34" charset="0"/>
                <a:ea typeface="Malgun Gothic" pitchFamily="34" charset="-122"/>
                <a:cs typeface="Malgun Gothic" pitchFamily="34" charset="-120"/>
              </a:rPr>
              <a:t>▼</a:t>
            </a:r>
            <a:endParaRPr lang="en-US" sz="800" dirty="0"/>
          </a:p>
        </p:txBody>
      </p:sp>
      <p:sp>
        <p:nvSpPr>
          <p:cNvPr id="12" name="Shape 10"/>
          <p:cNvSpPr/>
          <p:nvPr/>
        </p:nvSpPr>
        <p:spPr>
          <a:xfrm>
            <a:off x="822960" y="2843784"/>
            <a:ext cx="3291840" cy="420624"/>
          </a:xfrm>
          <a:prstGeom prst="roundRect">
            <a:avLst>
              <a:gd name="adj" fmla="val 26087"/>
            </a:avLst>
          </a:prstGeom>
          <a:solidFill>
            <a:srgbClr val="FFFFFF"/>
          </a:solidFill>
          <a:ln/>
        </p:spPr>
      </p:sp>
      <p:sp>
        <p:nvSpPr>
          <p:cNvPr id="13" name="Text 11"/>
          <p:cNvSpPr txBox="1"/>
          <p:nvPr/>
        </p:nvSpPr>
        <p:spPr>
          <a:xfrm>
            <a:off x="822960" y="2843784"/>
            <a:ext cx="3291840" cy="420624"/>
          </a:xfrm>
          <a:prstGeom prst="rect">
            <a:avLst/>
          </a:prstGeom>
          <a:noFill/>
          <a:ln/>
        </p:spPr>
        <p:txBody>
          <a:bodyPr wrap="square" lIns="0" tIns="0" rIns="0" bIns="0" rtlCol="0" anchor="ctr"/>
          <a:lstStyle/>
          <a:p>
            <a:pPr algn="ctr" indent="0" marL="0">
              <a:buNone/>
            </a:pPr>
            <a:r>
              <a:rPr lang="en-US" sz="1200" dirty="0">
                <a:solidFill>
                  <a:srgbClr val="33413A"/>
                </a:solidFill>
                <a:latin typeface="Malgun Gothic" pitchFamily="34" charset="0"/>
                <a:ea typeface="Malgun Gothic" pitchFamily="34" charset="-122"/>
                <a:cs typeface="Malgun Gothic" pitchFamily="34" charset="-120"/>
              </a:rPr>
              <a:t>교사의 주의 깊은 관찰과 평가</a:t>
            </a:r>
            <a:endParaRPr lang="en-US" sz="1200" dirty="0"/>
          </a:p>
        </p:txBody>
      </p:sp>
      <p:sp>
        <p:nvSpPr>
          <p:cNvPr id="14" name="Text 12"/>
          <p:cNvSpPr txBox="1"/>
          <p:nvPr/>
        </p:nvSpPr>
        <p:spPr>
          <a:xfrm>
            <a:off x="822960" y="3264408"/>
            <a:ext cx="3291840" cy="182880"/>
          </a:xfrm>
          <a:prstGeom prst="rect">
            <a:avLst/>
          </a:prstGeom>
          <a:noFill/>
          <a:ln/>
        </p:spPr>
        <p:txBody>
          <a:bodyPr wrap="square" lIns="0" tIns="0" rIns="0" bIns="0" rtlCol="0" anchor="ctr"/>
          <a:lstStyle/>
          <a:p>
            <a:pPr algn="ctr" indent="0" marL="0">
              <a:buNone/>
            </a:pPr>
            <a:r>
              <a:rPr lang="en-US" sz="800" dirty="0">
                <a:solidFill>
                  <a:srgbClr val="B08A2E"/>
                </a:solidFill>
                <a:latin typeface="Malgun Gothic" pitchFamily="34" charset="0"/>
                <a:ea typeface="Malgun Gothic" pitchFamily="34" charset="-122"/>
                <a:cs typeface="Malgun Gothic" pitchFamily="34" charset="-120"/>
              </a:rPr>
              <a:t>▼</a:t>
            </a:r>
            <a:endParaRPr lang="en-US" sz="800" dirty="0"/>
          </a:p>
        </p:txBody>
      </p:sp>
      <p:sp>
        <p:nvSpPr>
          <p:cNvPr id="15" name="Shape 13"/>
          <p:cNvSpPr/>
          <p:nvPr/>
        </p:nvSpPr>
        <p:spPr>
          <a:xfrm>
            <a:off x="822960" y="3447288"/>
            <a:ext cx="3291840" cy="420624"/>
          </a:xfrm>
          <a:prstGeom prst="roundRect">
            <a:avLst>
              <a:gd name="adj" fmla="val 26087"/>
            </a:avLst>
          </a:prstGeom>
          <a:solidFill>
            <a:srgbClr val="FFFFFF"/>
          </a:solidFill>
          <a:ln/>
        </p:spPr>
      </p:sp>
      <p:sp>
        <p:nvSpPr>
          <p:cNvPr id="16" name="Text 14"/>
          <p:cNvSpPr txBox="1"/>
          <p:nvPr/>
        </p:nvSpPr>
        <p:spPr>
          <a:xfrm>
            <a:off x="822960" y="3447288"/>
            <a:ext cx="3291840" cy="420624"/>
          </a:xfrm>
          <a:prstGeom prst="rect">
            <a:avLst/>
          </a:prstGeom>
          <a:noFill/>
          <a:ln/>
        </p:spPr>
        <p:txBody>
          <a:bodyPr wrap="square" lIns="0" tIns="0" rIns="0" bIns="0" rtlCol="0" anchor="ctr"/>
          <a:lstStyle/>
          <a:p>
            <a:pPr algn="ctr" indent="0" marL="0">
              <a:buNone/>
            </a:pPr>
            <a:r>
              <a:rPr lang="en-US" sz="1200" dirty="0">
                <a:solidFill>
                  <a:srgbClr val="33413A"/>
                </a:solidFill>
                <a:latin typeface="Malgun Gothic" pitchFamily="34" charset="0"/>
                <a:ea typeface="Malgun Gothic" pitchFamily="34" charset="-122"/>
                <a:cs typeface="Malgun Gothic" pitchFamily="34" charset="-120"/>
              </a:rPr>
              <a:t>의미 있는 주제나 놀이 선별</a:t>
            </a:r>
            <a:endParaRPr lang="en-US" sz="1200" dirty="0"/>
          </a:p>
        </p:txBody>
      </p:sp>
      <p:sp>
        <p:nvSpPr>
          <p:cNvPr id="17" name="Text 15"/>
          <p:cNvSpPr txBox="1"/>
          <p:nvPr/>
        </p:nvSpPr>
        <p:spPr>
          <a:xfrm>
            <a:off x="822960" y="3867912"/>
            <a:ext cx="3291840" cy="182880"/>
          </a:xfrm>
          <a:prstGeom prst="rect">
            <a:avLst/>
          </a:prstGeom>
          <a:noFill/>
          <a:ln/>
        </p:spPr>
        <p:txBody>
          <a:bodyPr wrap="square" lIns="0" tIns="0" rIns="0" bIns="0" rtlCol="0" anchor="ctr"/>
          <a:lstStyle/>
          <a:p>
            <a:pPr algn="ctr" indent="0" marL="0">
              <a:buNone/>
            </a:pPr>
            <a:r>
              <a:rPr lang="en-US" sz="800" dirty="0">
                <a:solidFill>
                  <a:srgbClr val="B08A2E"/>
                </a:solidFill>
                <a:latin typeface="Malgun Gothic" pitchFamily="34" charset="0"/>
                <a:ea typeface="Malgun Gothic" pitchFamily="34" charset="-122"/>
                <a:cs typeface="Malgun Gothic" pitchFamily="34" charset="-120"/>
              </a:rPr>
              <a:t>▼</a:t>
            </a:r>
            <a:endParaRPr lang="en-US" sz="800" dirty="0"/>
          </a:p>
        </p:txBody>
      </p:sp>
      <p:sp>
        <p:nvSpPr>
          <p:cNvPr id="18" name="Shape 16"/>
          <p:cNvSpPr/>
          <p:nvPr/>
        </p:nvSpPr>
        <p:spPr>
          <a:xfrm>
            <a:off x="822960" y="4050792"/>
            <a:ext cx="3291840" cy="420624"/>
          </a:xfrm>
          <a:prstGeom prst="roundRect">
            <a:avLst>
              <a:gd name="adj" fmla="val 26087"/>
            </a:avLst>
          </a:prstGeom>
          <a:solidFill>
            <a:srgbClr val="F5D07A"/>
          </a:solidFill>
          <a:ln/>
        </p:spPr>
      </p:sp>
      <p:sp>
        <p:nvSpPr>
          <p:cNvPr id="19" name="Text 17"/>
          <p:cNvSpPr txBox="1"/>
          <p:nvPr/>
        </p:nvSpPr>
        <p:spPr>
          <a:xfrm>
            <a:off x="822960" y="4050792"/>
            <a:ext cx="3291840" cy="420624"/>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교육적인 활동으로 연결</a:t>
            </a:r>
            <a:endParaRPr lang="en-US" sz="1200" dirty="0"/>
          </a:p>
        </p:txBody>
      </p:sp>
      <p:sp>
        <p:nvSpPr>
          <p:cNvPr id="20" name="Shape 18"/>
          <p:cNvSpPr/>
          <p:nvPr/>
        </p:nvSpPr>
        <p:spPr>
          <a:xfrm>
            <a:off x="4663440" y="1097280"/>
            <a:ext cx="4023360" cy="3611880"/>
          </a:xfrm>
          <a:prstGeom prst="roundRect">
            <a:avLst>
              <a:gd name="adj" fmla="val 3797"/>
            </a:avLst>
          </a:prstGeom>
          <a:solidFill>
            <a:srgbClr val="F9E1E3"/>
          </a:solidFill>
          <a:ln/>
        </p:spPr>
      </p:sp>
      <p:sp>
        <p:nvSpPr>
          <p:cNvPr id="21" name="Text 19"/>
          <p:cNvSpPr txBox="1"/>
          <p:nvPr/>
        </p:nvSpPr>
        <p:spPr>
          <a:xfrm>
            <a:off x="4846320" y="1188720"/>
            <a:ext cx="3749040" cy="36576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④ 개인차와 문화적 특성 등 다양성 반영</a:t>
            </a:r>
            <a:endParaRPr lang="en-US" sz="1600" dirty="0"/>
          </a:p>
        </p:txBody>
      </p:sp>
      <p:sp>
        <p:nvSpPr>
          <p:cNvPr id="22" name="Shape 20"/>
          <p:cNvSpPr/>
          <p:nvPr/>
        </p:nvSpPr>
        <p:spPr>
          <a:xfrm>
            <a:off x="4846320" y="1691640"/>
            <a:ext cx="868680" cy="347472"/>
          </a:xfrm>
          <a:prstGeom prst="roundRect">
            <a:avLst>
              <a:gd name="adj" fmla="val 50000"/>
            </a:avLst>
          </a:prstGeom>
          <a:solidFill>
            <a:srgbClr val="FFFFFF"/>
          </a:solidFill>
          <a:ln/>
        </p:spPr>
      </p:sp>
      <p:sp>
        <p:nvSpPr>
          <p:cNvPr id="23" name="Text 21"/>
          <p:cNvSpPr txBox="1"/>
          <p:nvPr/>
        </p:nvSpPr>
        <p:spPr>
          <a:xfrm>
            <a:off x="4846320" y="1691640"/>
            <a:ext cx="868680" cy="347472"/>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발달 특성</a:t>
            </a:r>
            <a:endParaRPr lang="en-US" sz="1100" dirty="0"/>
          </a:p>
        </p:txBody>
      </p:sp>
      <p:sp>
        <p:nvSpPr>
          <p:cNvPr id="24" name="Shape 22"/>
          <p:cNvSpPr/>
          <p:nvPr/>
        </p:nvSpPr>
        <p:spPr>
          <a:xfrm>
            <a:off x="5806440" y="1691640"/>
            <a:ext cx="685800" cy="347472"/>
          </a:xfrm>
          <a:prstGeom prst="roundRect">
            <a:avLst>
              <a:gd name="adj" fmla="val 50000"/>
            </a:avLst>
          </a:prstGeom>
          <a:solidFill>
            <a:srgbClr val="FFFFFF"/>
          </a:solidFill>
          <a:ln/>
        </p:spPr>
      </p:sp>
      <p:sp>
        <p:nvSpPr>
          <p:cNvPr id="25" name="Text 23"/>
          <p:cNvSpPr txBox="1"/>
          <p:nvPr/>
        </p:nvSpPr>
        <p:spPr>
          <a:xfrm>
            <a:off x="5806440" y="1691640"/>
            <a:ext cx="685800" cy="347472"/>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개인차</a:t>
            </a:r>
            <a:endParaRPr lang="en-US" sz="1100" dirty="0"/>
          </a:p>
        </p:txBody>
      </p:sp>
      <p:sp>
        <p:nvSpPr>
          <p:cNvPr id="26" name="Shape 24"/>
          <p:cNvSpPr/>
          <p:nvPr/>
        </p:nvSpPr>
        <p:spPr>
          <a:xfrm>
            <a:off x="6583680" y="1691640"/>
            <a:ext cx="548640" cy="347472"/>
          </a:xfrm>
          <a:prstGeom prst="roundRect">
            <a:avLst>
              <a:gd name="adj" fmla="val 50000"/>
            </a:avLst>
          </a:prstGeom>
          <a:solidFill>
            <a:srgbClr val="FFFFFF"/>
          </a:solidFill>
          <a:ln/>
        </p:spPr>
      </p:sp>
      <p:sp>
        <p:nvSpPr>
          <p:cNvPr id="27" name="Text 25"/>
          <p:cNvSpPr txBox="1"/>
          <p:nvPr/>
        </p:nvSpPr>
        <p:spPr>
          <a:xfrm>
            <a:off x="6583680" y="1691640"/>
            <a:ext cx="548640" cy="347472"/>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기질</a:t>
            </a:r>
            <a:endParaRPr lang="en-US" sz="1100" dirty="0"/>
          </a:p>
        </p:txBody>
      </p:sp>
      <p:sp>
        <p:nvSpPr>
          <p:cNvPr id="28" name="Shape 26"/>
          <p:cNvSpPr/>
          <p:nvPr/>
        </p:nvSpPr>
        <p:spPr>
          <a:xfrm>
            <a:off x="7223760" y="1691640"/>
            <a:ext cx="1325880" cy="347472"/>
          </a:xfrm>
          <a:prstGeom prst="roundRect">
            <a:avLst>
              <a:gd name="adj" fmla="val 50000"/>
            </a:avLst>
          </a:prstGeom>
          <a:solidFill>
            <a:srgbClr val="FFFFFF"/>
          </a:solidFill>
          <a:ln/>
        </p:spPr>
      </p:sp>
      <p:sp>
        <p:nvSpPr>
          <p:cNvPr id="29" name="Text 27"/>
          <p:cNvSpPr txBox="1"/>
          <p:nvPr/>
        </p:nvSpPr>
        <p:spPr>
          <a:xfrm>
            <a:off x="7223760" y="1691640"/>
            <a:ext cx="1325880" cy="347472"/>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사회문화적 배경</a:t>
            </a:r>
            <a:endParaRPr lang="en-US" sz="1100" dirty="0"/>
          </a:p>
        </p:txBody>
      </p:sp>
      <p:sp>
        <p:nvSpPr>
          <p:cNvPr id="30" name="Shape 28"/>
          <p:cNvSpPr/>
          <p:nvPr/>
        </p:nvSpPr>
        <p:spPr>
          <a:xfrm>
            <a:off x="4892040" y="2331720"/>
            <a:ext cx="457200" cy="457200"/>
          </a:xfrm>
          <a:prstGeom prst="ellipse">
            <a:avLst/>
          </a:prstGeom>
          <a:solidFill>
            <a:srgbClr val="E8A1A8"/>
          </a:solidFill>
          <a:ln/>
        </p:spPr>
      </p:sp>
      <p:pic>
        <p:nvPicPr>
          <p:cNvPr id="31" name="Image 0" descr="preencoded.png">    </p:cNvPr>
          <p:cNvPicPr>
            <a:picLocks noChangeAspect="1"/>
          </p:cNvPicPr>
          <p:nvPr/>
        </p:nvPicPr>
        <p:blipFill>
          <a:blip r:embed="rId1"/>
          <a:stretch>
            <a:fillRect/>
          </a:stretch>
        </p:blipFill>
        <p:spPr>
          <a:xfrm>
            <a:off x="5006340" y="2446020"/>
            <a:ext cx="228600" cy="228600"/>
          </a:xfrm>
          <a:prstGeom prst="rect">
            <a:avLst/>
          </a:prstGeom>
        </p:spPr>
      </p:pic>
      <p:sp>
        <p:nvSpPr>
          <p:cNvPr id="32" name="Text 29"/>
          <p:cNvSpPr txBox="1"/>
          <p:nvPr/>
        </p:nvSpPr>
        <p:spPr>
          <a:xfrm>
            <a:off x="5486400" y="2286000"/>
            <a:ext cx="301752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영아기</a:t>
            </a:r>
            <a:endParaRPr lang="en-US" sz="1100" dirty="0"/>
          </a:p>
        </p:txBody>
      </p:sp>
      <p:sp>
        <p:nvSpPr>
          <p:cNvPr id="33" name="Text 30"/>
          <p:cNvSpPr txBox="1"/>
          <p:nvPr/>
        </p:nvSpPr>
        <p:spPr>
          <a:xfrm>
            <a:off x="5486400" y="2542032"/>
            <a:ext cx="3108960" cy="320040"/>
          </a:xfrm>
          <a:prstGeom prst="rect">
            <a:avLst/>
          </a:prstGeom>
          <a:noFill/>
          <a:ln/>
        </p:spPr>
        <p:txBody>
          <a:bodyPr wrap="square" lIns="0" tIns="0" rIns="0" bIns="0" rtlCol="0" anchor="ctr"/>
          <a:lstStyle/>
          <a:p>
            <a:pPr indent="0" marL="0">
              <a:buNone/>
            </a:pPr>
            <a:r>
              <a:rPr lang="en-US" sz="1150" b="1" dirty="0">
                <a:solidFill>
                  <a:srgbClr val="33413A"/>
                </a:solidFill>
                <a:latin typeface="Malgun Gothic" pitchFamily="34" charset="0"/>
                <a:ea typeface="Malgun Gothic" pitchFamily="34" charset="-122"/>
                <a:cs typeface="Malgun Gothic" pitchFamily="34" charset="-120"/>
              </a:rPr>
              <a:t>학급별 계획보다 개인별 보육계획</a:t>
            </a:r>
            <a:endParaRPr lang="en-US" sz="1150" dirty="0"/>
          </a:p>
        </p:txBody>
      </p:sp>
      <p:sp>
        <p:nvSpPr>
          <p:cNvPr id="34" name="Shape 31"/>
          <p:cNvSpPr/>
          <p:nvPr/>
        </p:nvSpPr>
        <p:spPr>
          <a:xfrm>
            <a:off x="4892040" y="3108960"/>
            <a:ext cx="457200" cy="457200"/>
          </a:xfrm>
          <a:prstGeom prst="ellipse">
            <a:avLst/>
          </a:prstGeom>
          <a:solidFill>
            <a:srgbClr val="E8A1A8"/>
          </a:solidFill>
          <a:ln/>
        </p:spPr>
      </p:sp>
      <p:pic>
        <p:nvPicPr>
          <p:cNvPr id="35" name="Image 1" descr="preencoded.png">    </p:cNvPr>
          <p:cNvPicPr>
            <a:picLocks noChangeAspect="1"/>
          </p:cNvPicPr>
          <p:nvPr/>
        </p:nvPicPr>
        <p:blipFill>
          <a:blip r:embed="rId2"/>
          <a:stretch>
            <a:fillRect/>
          </a:stretch>
        </p:blipFill>
        <p:spPr>
          <a:xfrm>
            <a:off x="5006340" y="3223260"/>
            <a:ext cx="228600" cy="228600"/>
          </a:xfrm>
          <a:prstGeom prst="rect">
            <a:avLst/>
          </a:prstGeom>
        </p:spPr>
      </p:pic>
      <p:sp>
        <p:nvSpPr>
          <p:cNvPr id="36" name="Text 32"/>
          <p:cNvSpPr txBox="1"/>
          <p:nvPr/>
        </p:nvSpPr>
        <p:spPr>
          <a:xfrm>
            <a:off x="5486400" y="3063240"/>
            <a:ext cx="301752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누리과정</a:t>
            </a:r>
            <a:endParaRPr lang="en-US" sz="1100" dirty="0"/>
          </a:p>
        </p:txBody>
      </p:sp>
      <p:sp>
        <p:nvSpPr>
          <p:cNvPr id="37" name="Text 33"/>
          <p:cNvSpPr txBox="1"/>
          <p:nvPr/>
        </p:nvSpPr>
        <p:spPr>
          <a:xfrm>
            <a:off x="5486400" y="3319272"/>
            <a:ext cx="3108960" cy="320040"/>
          </a:xfrm>
          <a:prstGeom prst="rect">
            <a:avLst/>
          </a:prstGeom>
          <a:noFill/>
          <a:ln/>
        </p:spPr>
        <p:txBody>
          <a:bodyPr wrap="square" lIns="0" tIns="0" rIns="0" bIns="0" rtlCol="0" anchor="ctr"/>
          <a:lstStyle/>
          <a:p>
            <a:pPr indent="0" marL="0">
              <a:buNone/>
            </a:pPr>
            <a:r>
              <a:rPr lang="en-US" sz="1150" b="1" dirty="0">
                <a:solidFill>
                  <a:srgbClr val="33413A"/>
                </a:solidFill>
                <a:latin typeface="Malgun Gothic" pitchFamily="34" charset="0"/>
                <a:ea typeface="Malgun Gothic" pitchFamily="34" charset="-122"/>
                <a:cs typeface="Malgun Gothic" pitchFamily="34" charset="-120"/>
              </a:rPr>
              <a:t>개인별 평가에 기초한 수준별 교육계획</a:t>
            </a:r>
            <a:endParaRPr lang="en-US" sz="1150" dirty="0"/>
          </a:p>
        </p:txBody>
      </p:sp>
      <p:sp>
        <p:nvSpPr>
          <p:cNvPr id="38" name="Shape 34"/>
          <p:cNvSpPr/>
          <p:nvPr/>
        </p:nvSpPr>
        <p:spPr>
          <a:xfrm>
            <a:off x="4892040" y="3886200"/>
            <a:ext cx="457200" cy="457200"/>
          </a:xfrm>
          <a:prstGeom prst="ellipse">
            <a:avLst/>
          </a:prstGeom>
          <a:solidFill>
            <a:srgbClr val="E8A1A8"/>
          </a:solidFill>
          <a:ln/>
        </p:spPr>
      </p:sp>
      <p:pic>
        <p:nvPicPr>
          <p:cNvPr id="39" name="Image 2" descr="preencoded.png">    </p:cNvPr>
          <p:cNvPicPr>
            <a:picLocks noChangeAspect="1"/>
          </p:cNvPicPr>
          <p:nvPr/>
        </p:nvPicPr>
        <p:blipFill>
          <a:blip r:embed="rId3"/>
          <a:stretch>
            <a:fillRect/>
          </a:stretch>
        </p:blipFill>
        <p:spPr>
          <a:xfrm>
            <a:off x="5006340" y="4000500"/>
            <a:ext cx="228600" cy="228600"/>
          </a:xfrm>
          <a:prstGeom prst="rect">
            <a:avLst/>
          </a:prstGeom>
        </p:spPr>
      </p:pic>
      <p:sp>
        <p:nvSpPr>
          <p:cNvPr id="40" name="Text 35"/>
          <p:cNvSpPr txBox="1"/>
          <p:nvPr/>
        </p:nvSpPr>
        <p:spPr>
          <a:xfrm>
            <a:off x="5486400" y="3840480"/>
            <a:ext cx="301752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다문화 사회</a:t>
            </a:r>
            <a:endParaRPr lang="en-US" sz="1100" dirty="0"/>
          </a:p>
        </p:txBody>
      </p:sp>
      <p:sp>
        <p:nvSpPr>
          <p:cNvPr id="41" name="Text 36"/>
          <p:cNvSpPr txBox="1"/>
          <p:nvPr/>
        </p:nvSpPr>
        <p:spPr>
          <a:xfrm>
            <a:off x="5486400" y="4096512"/>
            <a:ext cx="3108960" cy="320040"/>
          </a:xfrm>
          <a:prstGeom prst="rect">
            <a:avLst/>
          </a:prstGeom>
          <a:noFill/>
          <a:ln/>
        </p:spPr>
        <p:txBody>
          <a:bodyPr wrap="square" lIns="0" tIns="0" rIns="0" bIns="0" rtlCol="0" anchor="ctr"/>
          <a:lstStyle/>
          <a:p>
            <a:pPr indent="0" marL="0">
              <a:buNone/>
            </a:pPr>
            <a:r>
              <a:rPr lang="en-US" sz="1150" b="1" dirty="0">
                <a:solidFill>
                  <a:srgbClr val="33413A"/>
                </a:solidFill>
                <a:latin typeface="Malgun Gothic" pitchFamily="34" charset="0"/>
                <a:ea typeface="Malgun Gothic" pitchFamily="34" charset="-122"/>
                <a:cs typeface="Malgun Gothic" pitchFamily="34" charset="-120"/>
              </a:rPr>
              <a:t>유아와 가정의 다양성을 반영한 다문화교육</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E8C6A"/>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한눈에 정리</a:t>
            </a:r>
            <a:endParaRPr lang="en-US" sz="3000" dirty="0"/>
          </a:p>
        </p:txBody>
      </p:sp>
      <p:sp>
        <p:nvSpPr>
          <p:cNvPr id="3" name="Text 1"/>
          <p:cNvSpPr txBox="1"/>
          <p:nvPr/>
        </p:nvSpPr>
        <p:spPr>
          <a:xfrm>
            <a:off x="457200" y="1143000"/>
            <a:ext cx="8229600" cy="320040"/>
          </a:xfrm>
          <a:prstGeom prst="rect">
            <a:avLst/>
          </a:prstGeom>
          <a:noFill/>
          <a:ln/>
        </p:spPr>
        <p:txBody>
          <a:bodyPr wrap="square" lIns="0" tIns="0" rIns="0" bIns="0" rtlCol="0" anchor="ctr"/>
          <a:lstStyle/>
          <a:p>
            <a:pPr indent="0" marL="0">
              <a:buNone/>
            </a:pPr>
            <a:r>
              <a:rPr lang="en-US" sz="1400" b="1" dirty="0">
                <a:solidFill>
                  <a:srgbClr val="FDF3D6"/>
                </a:solidFill>
                <a:latin typeface="Malgun Gothic" pitchFamily="34" charset="0"/>
                <a:ea typeface="Malgun Gothic" pitchFamily="34" charset="-122"/>
                <a:cs typeface="Malgun Gothic" pitchFamily="34" charset="-120"/>
              </a:rPr>
              <a:t>구성요소 (= 교육과정이 실행되는 순서)</a:t>
            </a:r>
            <a:endParaRPr lang="en-US" sz="1400" dirty="0"/>
          </a:p>
        </p:txBody>
      </p:sp>
      <p:sp>
        <p:nvSpPr>
          <p:cNvPr id="4" name="Shape 2"/>
          <p:cNvSpPr/>
          <p:nvPr/>
        </p:nvSpPr>
        <p:spPr>
          <a:xfrm>
            <a:off x="457200" y="1554480"/>
            <a:ext cx="1828800" cy="640080"/>
          </a:xfrm>
          <a:prstGeom prst="roundRect">
            <a:avLst>
              <a:gd name="adj" fmla="val 21429"/>
            </a:avLst>
          </a:prstGeom>
          <a:solidFill>
            <a:srgbClr val="DCEBDD"/>
          </a:solidFill>
          <a:ln/>
        </p:spPr>
      </p:sp>
      <p:sp>
        <p:nvSpPr>
          <p:cNvPr id="5" name="Text 3"/>
          <p:cNvSpPr txBox="1"/>
          <p:nvPr/>
        </p:nvSpPr>
        <p:spPr>
          <a:xfrm>
            <a:off x="457200" y="155448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교육목표</a:t>
            </a:r>
            <a:endParaRPr lang="en-US" sz="1500" dirty="0"/>
          </a:p>
        </p:txBody>
      </p:sp>
      <p:sp>
        <p:nvSpPr>
          <p:cNvPr id="6" name="Text 4"/>
          <p:cNvSpPr txBox="1"/>
          <p:nvPr/>
        </p:nvSpPr>
        <p:spPr>
          <a:xfrm>
            <a:off x="2286000" y="1554480"/>
            <a:ext cx="2743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7" name="Shape 5"/>
          <p:cNvSpPr/>
          <p:nvPr/>
        </p:nvSpPr>
        <p:spPr>
          <a:xfrm>
            <a:off x="2560320" y="1554480"/>
            <a:ext cx="1828800" cy="640080"/>
          </a:xfrm>
          <a:prstGeom prst="roundRect">
            <a:avLst>
              <a:gd name="adj" fmla="val 21429"/>
            </a:avLst>
          </a:prstGeom>
          <a:solidFill>
            <a:srgbClr val="DCEBDD"/>
          </a:solidFill>
          <a:ln/>
        </p:spPr>
      </p:sp>
      <p:sp>
        <p:nvSpPr>
          <p:cNvPr id="8" name="Text 6"/>
          <p:cNvSpPr txBox="1"/>
          <p:nvPr/>
        </p:nvSpPr>
        <p:spPr>
          <a:xfrm>
            <a:off x="2560320" y="155448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교육내용</a:t>
            </a:r>
            <a:endParaRPr lang="en-US" sz="1500" dirty="0"/>
          </a:p>
        </p:txBody>
      </p:sp>
      <p:sp>
        <p:nvSpPr>
          <p:cNvPr id="9" name="Text 7"/>
          <p:cNvSpPr txBox="1"/>
          <p:nvPr/>
        </p:nvSpPr>
        <p:spPr>
          <a:xfrm>
            <a:off x="4389120" y="1554480"/>
            <a:ext cx="2743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10" name="Shape 8"/>
          <p:cNvSpPr/>
          <p:nvPr/>
        </p:nvSpPr>
        <p:spPr>
          <a:xfrm>
            <a:off x="4663440" y="1554480"/>
            <a:ext cx="1828800" cy="640080"/>
          </a:xfrm>
          <a:prstGeom prst="roundRect">
            <a:avLst>
              <a:gd name="adj" fmla="val 21429"/>
            </a:avLst>
          </a:prstGeom>
          <a:solidFill>
            <a:srgbClr val="DCEBDD"/>
          </a:solidFill>
          <a:ln/>
        </p:spPr>
      </p:sp>
      <p:sp>
        <p:nvSpPr>
          <p:cNvPr id="11" name="Text 9"/>
          <p:cNvSpPr txBox="1"/>
          <p:nvPr/>
        </p:nvSpPr>
        <p:spPr>
          <a:xfrm>
            <a:off x="4663440" y="155448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교수-학습 방법</a:t>
            </a:r>
            <a:endParaRPr lang="en-US" sz="1500" dirty="0"/>
          </a:p>
        </p:txBody>
      </p:sp>
      <p:sp>
        <p:nvSpPr>
          <p:cNvPr id="12" name="Text 10"/>
          <p:cNvSpPr txBox="1"/>
          <p:nvPr/>
        </p:nvSpPr>
        <p:spPr>
          <a:xfrm>
            <a:off x="6492240" y="1554480"/>
            <a:ext cx="2743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13" name="Shape 11"/>
          <p:cNvSpPr/>
          <p:nvPr/>
        </p:nvSpPr>
        <p:spPr>
          <a:xfrm>
            <a:off x="6766560" y="1554480"/>
            <a:ext cx="1828800" cy="640080"/>
          </a:xfrm>
          <a:prstGeom prst="roundRect">
            <a:avLst>
              <a:gd name="adj" fmla="val 21429"/>
            </a:avLst>
          </a:prstGeom>
          <a:solidFill>
            <a:srgbClr val="DCEBDD"/>
          </a:solidFill>
          <a:ln/>
        </p:spPr>
      </p:sp>
      <p:sp>
        <p:nvSpPr>
          <p:cNvPr id="14" name="Text 12"/>
          <p:cNvSpPr txBox="1"/>
          <p:nvPr/>
        </p:nvSpPr>
        <p:spPr>
          <a:xfrm>
            <a:off x="6766560" y="155448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평가</a:t>
            </a:r>
            <a:endParaRPr lang="en-US" sz="1500" dirty="0"/>
          </a:p>
        </p:txBody>
      </p:sp>
      <p:sp>
        <p:nvSpPr>
          <p:cNvPr id="15" name="Text 13"/>
          <p:cNvSpPr txBox="1"/>
          <p:nvPr/>
        </p:nvSpPr>
        <p:spPr>
          <a:xfrm>
            <a:off x="457200" y="2468880"/>
            <a:ext cx="8229600" cy="320040"/>
          </a:xfrm>
          <a:prstGeom prst="rect">
            <a:avLst/>
          </a:prstGeom>
          <a:noFill/>
          <a:ln/>
        </p:spPr>
        <p:txBody>
          <a:bodyPr wrap="square" lIns="0" tIns="0" rIns="0" bIns="0" rtlCol="0" anchor="ctr"/>
          <a:lstStyle/>
          <a:p>
            <a:pPr indent="0" marL="0">
              <a:buNone/>
            </a:pPr>
            <a:r>
              <a:rPr lang="en-US" sz="1400" b="1" dirty="0">
                <a:solidFill>
                  <a:srgbClr val="FDF3D6"/>
                </a:solidFill>
                <a:latin typeface="Malgun Gothic" pitchFamily="34" charset="0"/>
                <a:ea typeface="Malgun Gothic" pitchFamily="34" charset="-122"/>
                <a:cs typeface="Malgun Gothic" pitchFamily="34" charset="-120"/>
              </a:rPr>
              <a:t>구성의 특징</a:t>
            </a:r>
            <a:endParaRPr lang="en-US" sz="1400" dirty="0"/>
          </a:p>
        </p:txBody>
      </p:sp>
      <p:sp>
        <p:nvSpPr>
          <p:cNvPr id="16" name="Shape 14"/>
          <p:cNvSpPr/>
          <p:nvPr/>
        </p:nvSpPr>
        <p:spPr>
          <a:xfrm>
            <a:off x="457200" y="2880360"/>
            <a:ext cx="1828800" cy="640080"/>
          </a:xfrm>
          <a:prstGeom prst="roundRect">
            <a:avLst>
              <a:gd name="adj" fmla="val 21429"/>
            </a:avLst>
          </a:prstGeom>
          <a:solidFill>
            <a:srgbClr val="FDF3D6"/>
          </a:solidFill>
          <a:ln/>
        </p:spPr>
      </p:sp>
      <p:sp>
        <p:nvSpPr>
          <p:cNvPr id="17" name="Text 15"/>
          <p:cNvSpPr txBox="1"/>
          <p:nvPr/>
        </p:nvSpPr>
        <p:spPr>
          <a:xfrm>
            <a:off x="457200" y="288036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통합</a:t>
            </a:r>
            <a:endParaRPr lang="en-US" sz="1500" dirty="0"/>
          </a:p>
        </p:txBody>
      </p:sp>
      <p:sp>
        <p:nvSpPr>
          <p:cNvPr id="18" name="Shape 16"/>
          <p:cNvSpPr/>
          <p:nvPr/>
        </p:nvSpPr>
        <p:spPr>
          <a:xfrm>
            <a:off x="2560320" y="2880360"/>
            <a:ext cx="1828800" cy="640080"/>
          </a:xfrm>
          <a:prstGeom prst="roundRect">
            <a:avLst>
              <a:gd name="adj" fmla="val 21429"/>
            </a:avLst>
          </a:prstGeom>
          <a:solidFill>
            <a:srgbClr val="FDF3D6"/>
          </a:solidFill>
          <a:ln/>
        </p:spPr>
      </p:sp>
      <p:sp>
        <p:nvSpPr>
          <p:cNvPr id="19" name="Text 17"/>
          <p:cNvSpPr txBox="1"/>
          <p:nvPr/>
        </p:nvSpPr>
        <p:spPr>
          <a:xfrm>
            <a:off x="2560320" y="288036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놀이 중심</a:t>
            </a:r>
            <a:endParaRPr lang="en-US" sz="1500" dirty="0"/>
          </a:p>
        </p:txBody>
      </p:sp>
      <p:sp>
        <p:nvSpPr>
          <p:cNvPr id="20" name="Shape 18"/>
          <p:cNvSpPr/>
          <p:nvPr/>
        </p:nvSpPr>
        <p:spPr>
          <a:xfrm>
            <a:off x="4663440" y="2880360"/>
            <a:ext cx="1828800" cy="640080"/>
          </a:xfrm>
          <a:prstGeom prst="roundRect">
            <a:avLst>
              <a:gd name="adj" fmla="val 21429"/>
            </a:avLst>
          </a:prstGeom>
          <a:solidFill>
            <a:srgbClr val="FDF3D6"/>
          </a:solidFill>
          <a:ln/>
        </p:spPr>
      </p:sp>
      <p:sp>
        <p:nvSpPr>
          <p:cNvPr id="21" name="Text 19"/>
          <p:cNvSpPr txBox="1"/>
          <p:nvPr/>
        </p:nvSpPr>
        <p:spPr>
          <a:xfrm>
            <a:off x="4663440" y="288036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흥미·요구 반영</a:t>
            </a:r>
            <a:endParaRPr lang="en-US" sz="1500" dirty="0"/>
          </a:p>
        </p:txBody>
      </p:sp>
      <p:sp>
        <p:nvSpPr>
          <p:cNvPr id="22" name="Shape 20"/>
          <p:cNvSpPr/>
          <p:nvPr/>
        </p:nvSpPr>
        <p:spPr>
          <a:xfrm>
            <a:off x="6766560" y="2880360"/>
            <a:ext cx="1828800" cy="640080"/>
          </a:xfrm>
          <a:prstGeom prst="roundRect">
            <a:avLst>
              <a:gd name="adj" fmla="val 21429"/>
            </a:avLst>
          </a:prstGeom>
          <a:solidFill>
            <a:srgbClr val="FDF3D6"/>
          </a:solidFill>
          <a:ln/>
        </p:spPr>
      </p:sp>
      <p:sp>
        <p:nvSpPr>
          <p:cNvPr id="23" name="Text 21"/>
          <p:cNvSpPr txBox="1"/>
          <p:nvPr/>
        </p:nvSpPr>
        <p:spPr>
          <a:xfrm>
            <a:off x="6766560" y="288036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다양성 반영</a:t>
            </a:r>
            <a:endParaRPr lang="en-US" sz="1500" dirty="0"/>
          </a:p>
        </p:txBody>
      </p:sp>
      <p:sp>
        <p:nvSpPr>
          <p:cNvPr id="24" name="Text 22"/>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평가 결과는 차기 교육계획 수립에 적절히 반영</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영유아교육과정의 구성</dc:title>
  <dc:subject>PptxGenJS Presentation</dc:subject>
  <dc:creator>PptxGenJS</dc:creator>
  <cp:lastModifiedBy>PptxGenJS</cp:lastModifiedBy>
  <cp:revision>1</cp:revision>
  <dcterms:created xsi:type="dcterms:W3CDTF">2026-09-27T12:41:26Z</dcterms:created>
  <dcterms:modified xsi:type="dcterms:W3CDTF">2026-09-27T12:41:26Z</dcterms:modified>
</cp:coreProperties>
</file>