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5장 교육과정의 계획과 운영 중에서 "영유아교육과정의 이해"를 발표하겠습니다. 교육과정이 무엇인지 정의를 먼저 살펴보고, 유치원의 누리과정과 어린이집의 표준보육과정이 어떻게 변해 왔는지, 그리고 2019 개정 누리과정의 핵심 방향을 차례로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교육과정이란 목표와 일정한 순서로 배열된 학습의 코스와 더불어 교육내용이나 경험내용을 의미합니다.
이귀윤(1990)에 따르면 교사를 중심으로 보면 가르치는 내용, 교과, 의도적 계획으로 정의되고, 배우는 학생을 중심으로 보면 학습경험 또는 학습 결과로 정의됩니다.
방인옥 등(1999)은 교육과정을 "학습자의 전인적 성장과 발달을 돕기 위해서 학교가 의미하는 교육적 상황을 마련하고 모든 종류의 교수-학습 경험을 체계적으로 구성한 설계도"라고 정의했습니다.
넓은 의미로는 학생이 경험하는 모든 것, 좁은 의미로는 계획된 교과목 또는 교수요목을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우리나라 유치원교육과정은 1969년 처음 제정된 이후 2007년까지 여섯 차례 개정되었습니다.
현재는 유치원과 어린이집 3~5세를 위한 공통교육과정인 누리과정을 시행하고 있습니다. 누리과정은 그동안 이원화되어 있던 유치원교육과정과 어린이집 표준보육과정을 일원화하여, 취학 전 교육의 질을 높이고 생애초기 출발점 평등을 보장하려는 취지로 개발되었습니다(교육과학기술부·보건복지부, 2012; 2013; 2019).
2013년에는 만 3~5세 유아를 위한 누리과정이 시행되었고, 2020년부터는 유아중심·놀이중심의 개정 누리과정이 적용되고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어린이집은 국가수준 보육과정으로 표준보육과정이 보급되었습니다. 표준보육과정은 어린이집에서 영유아가 경험해야 할 바람직한 태도와 가치, 지식, 기술 등을 제시한 국가수준의 보편적 교육과정입니다.
1990년대 후반 어린이집이 양적으로 늘어난 것과 관련이 있습니다. 핵가족화, 취업모의 증가, 그리고 출생 후 조기 경험이 발달에 결정적이라는 인식이 커지면서 어린이집 이용이 보편화되었고, 보육은 사회적 계층이나 부모의 취업 여부와 관계없이 모든 영유아에게 보호와 교육을 제공하는 것으로 바뀌었습니다. 그래서 국가수준의 지침이 필요해졌습니다.
2004년 1월 29일 전면 개정된 영유아보육법 제29조 제2항에 표준보육과정 개발·보급이 명시되었고, 2007년 공포, 2013년 제3차 개정(보건복지부, 2013b), 2020년 제4차 고시(보건복지부, 2020)가 이루어졌습니다. 2025년에는 유보통합 실행계획(안)에 따라 0~5세 영유아교육과정이 마련되기 전, 2024 개정 표준보육과정(0~2세)이 고시되었습니다.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유치원과 어린이집의 공통교육과정인 2019 개정 누리과정은 교육부가 출발선 평등을 실현하기 위한 "유아교육 혁신방안"에 의거해 개정한 것입니다.
혁신 방향은 세 가지입니다.
첫째, 초등학교 준비 위주의 학습보다는 개별 유아의 다양한 특성을 고려한 내용으로 구성해야 한다.
둘째, 교사계획서 위주, 학습 위주의 교육보다는 유아의 자유놀이를 권장하며 관찰과 기록 등 유아와의 상호작용을 강조해야 한다.
셋째, 5개 영역, 주제-소주제 등 구성체계가 지나치게 세부적이므로 현장의 자율성을 존중하기 위해 세부내용을 삭제해야 한다(교육부, 2017).
이 방향을 반영해 "유아 중심·놀이 중심 교육과정"으로 개정된 누리과정이 2020년부터 유치원과 어린이집 공통교육과정으로 적용되고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현재 0~2세 영아는 어린이집 표준보육과정을, 3~5세 유아는 유치원과 어린이집 공통의 누리과정을 따릅니다.
첫째, 교육과정은 학습자의 전인적 성장과 발달을 위한 교수-학습 경험의 설계도입니다.
둘째, 누리과정은 이원화되어 있던 유치원교육과정과 표준보육과정을 일원화해 교육의 질과 출발점 평등을 보장하려는 것입니다.
셋째, 2019 개정 누리과정은 유아 중심·놀이 중심으로, 현장의 자율성을 존중합니다.
이상으로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dirty="0">
                <a:solidFill>
                  <a:srgbClr val="FDF3D6"/>
                </a:solidFill>
                <a:latin typeface="Malgun Gothic" pitchFamily="34" charset="0"/>
                <a:ea typeface="Malgun Gothic" pitchFamily="34" charset="-122"/>
                <a:cs typeface="Malgun Gothic" pitchFamily="34" charset="-120"/>
              </a:rPr>
              <a:t>05  교육과정의 계획과 운영</a:t>
            </a:r>
            <a:endParaRPr lang="en-US" sz="1600" dirty="0"/>
          </a:p>
        </p:txBody>
      </p:sp>
      <p:sp>
        <p:nvSpPr>
          <p:cNvPr id="10" name="Text 8"/>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영유아교육과정의 이해</a:t>
            </a:r>
            <a:endParaRPr lang="en-US" sz="4400" dirty="0"/>
          </a:p>
        </p:txBody>
      </p:sp>
      <p:sp>
        <p:nvSpPr>
          <p:cNvPr id="11" name="Text 9"/>
          <p:cNvSpPr txBox="1"/>
          <p:nvPr/>
        </p:nvSpPr>
        <p:spPr>
          <a:xfrm>
            <a:off x="640080" y="260604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교육과정의 정의부터 누리과정·표준보육과정까지</a:t>
            </a:r>
            <a:endParaRPr lang="en-US" sz="1800" dirty="0"/>
          </a:p>
        </p:txBody>
      </p:sp>
      <p:sp>
        <p:nvSpPr>
          <p:cNvPr id="12" name="Text 10"/>
          <p:cNvSpPr txBox="1"/>
          <p:nvPr/>
        </p:nvSpPr>
        <p:spPr>
          <a:xfrm>
            <a:off x="640080" y="3931920"/>
            <a:ext cx="5486400" cy="365760"/>
          </a:xfrm>
          <a:prstGeom prst="rect">
            <a:avLst/>
          </a:prstGeom>
          <a:noFill/>
          <a:ln/>
        </p:spPr>
        <p:txBody>
          <a:bodyPr wrap="square" lIns="0" tIns="0" rIns="0" bIns="0" rtlCol="0" anchor="ctr"/>
          <a:lstStyle/>
          <a:p>
            <a:pPr indent="0" marL="0">
              <a:buNone/>
            </a:pPr>
            <a:r>
              <a:rPr lang="en-US" sz="1400" dirty="0">
                <a:solidFill>
                  <a:srgbClr val="DCEBDD"/>
                </a:solidFill>
                <a:latin typeface="Malgun Gothic" pitchFamily="34" charset="0"/>
                <a:ea typeface="Malgun Gothic" pitchFamily="34" charset="-122"/>
                <a:cs typeface="Malgun Gothic" pitchFamily="34" charset="-120"/>
              </a:rPr>
              <a:t>과목명  |  학번  |  발표자 이름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02</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교육과정이란?</a:t>
            </a:r>
            <a:endParaRPr lang="en-US" sz="2800" dirty="0"/>
          </a:p>
        </p:txBody>
      </p:sp>
      <p:sp>
        <p:nvSpPr>
          <p:cNvPr id="5" name="Shape 3"/>
          <p:cNvSpPr/>
          <p:nvPr/>
        </p:nvSpPr>
        <p:spPr>
          <a:xfrm>
            <a:off x="457200" y="1188720"/>
            <a:ext cx="4206240" cy="960120"/>
          </a:xfrm>
          <a:prstGeom prst="roundRect">
            <a:avLst>
              <a:gd name="adj" fmla="val 14286"/>
            </a:avLst>
          </a:prstGeom>
          <a:solidFill>
            <a:srgbClr val="FCE4D8"/>
          </a:solidFill>
          <a:ln/>
        </p:spPr>
      </p:sp>
      <p:sp>
        <p:nvSpPr>
          <p:cNvPr id="6" name="Shape 4"/>
          <p:cNvSpPr/>
          <p:nvPr/>
        </p:nvSpPr>
        <p:spPr>
          <a:xfrm>
            <a:off x="640080" y="1371600"/>
            <a:ext cx="594360" cy="594360"/>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777240" y="1508760"/>
            <a:ext cx="320040" cy="320040"/>
          </a:xfrm>
          <a:prstGeom prst="rect">
            <a:avLst/>
          </a:prstGeom>
        </p:spPr>
      </p:pic>
      <p:sp>
        <p:nvSpPr>
          <p:cNvPr id="8" name="Text 5"/>
          <p:cNvSpPr txBox="1"/>
          <p:nvPr/>
        </p:nvSpPr>
        <p:spPr>
          <a:xfrm>
            <a:off x="1417320" y="1325880"/>
            <a:ext cx="3108960" cy="32004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교사 중심으로 보면</a:t>
            </a:r>
            <a:endParaRPr lang="en-US" sz="1300" dirty="0"/>
          </a:p>
        </p:txBody>
      </p:sp>
      <p:sp>
        <p:nvSpPr>
          <p:cNvPr id="9" name="Text 6"/>
          <p:cNvSpPr txBox="1"/>
          <p:nvPr/>
        </p:nvSpPr>
        <p:spPr>
          <a:xfrm>
            <a:off x="1417320" y="1645920"/>
            <a:ext cx="3154680" cy="365760"/>
          </a:xfrm>
          <a:prstGeom prst="rect">
            <a:avLst/>
          </a:prstGeom>
          <a:noFill/>
          <a:ln/>
        </p:spPr>
        <p:txBody>
          <a:bodyPr wrap="square" lIns="0" tIns="0" rIns="0" bIns="0" rtlCol="0" anchor="ctr"/>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가르치는 내용 · 교과 · 의도적 계획</a:t>
            </a:r>
            <a:endParaRPr lang="en-US" sz="1400" dirty="0"/>
          </a:p>
        </p:txBody>
      </p:sp>
      <p:sp>
        <p:nvSpPr>
          <p:cNvPr id="10" name="Shape 7"/>
          <p:cNvSpPr/>
          <p:nvPr/>
        </p:nvSpPr>
        <p:spPr>
          <a:xfrm>
            <a:off x="457200" y="2331720"/>
            <a:ext cx="4206240" cy="960120"/>
          </a:xfrm>
          <a:prstGeom prst="roundRect">
            <a:avLst>
              <a:gd name="adj" fmla="val 14286"/>
            </a:avLst>
          </a:prstGeom>
          <a:solidFill>
            <a:srgbClr val="DCEBDD"/>
          </a:solidFill>
          <a:ln/>
        </p:spPr>
      </p:sp>
      <p:sp>
        <p:nvSpPr>
          <p:cNvPr id="11" name="Shape 8"/>
          <p:cNvSpPr/>
          <p:nvPr/>
        </p:nvSpPr>
        <p:spPr>
          <a:xfrm>
            <a:off x="640080" y="2514600"/>
            <a:ext cx="594360" cy="594360"/>
          </a:xfrm>
          <a:prstGeom prst="ellipse">
            <a:avLst/>
          </a:prstGeom>
          <a:solidFill>
            <a:srgbClr val="5E8C6A"/>
          </a:solidFill>
          <a:ln/>
        </p:spPr>
      </p:sp>
      <p:pic>
        <p:nvPicPr>
          <p:cNvPr id="12" name="Image 1" descr="preencoded.png">    </p:cNvPr>
          <p:cNvPicPr>
            <a:picLocks noChangeAspect="1"/>
          </p:cNvPicPr>
          <p:nvPr/>
        </p:nvPicPr>
        <p:blipFill>
          <a:blip r:embed="rId2"/>
          <a:stretch>
            <a:fillRect/>
          </a:stretch>
        </p:blipFill>
        <p:spPr>
          <a:xfrm>
            <a:off x="777240" y="2651760"/>
            <a:ext cx="320040" cy="320040"/>
          </a:xfrm>
          <a:prstGeom prst="rect">
            <a:avLst/>
          </a:prstGeom>
        </p:spPr>
      </p:pic>
      <p:sp>
        <p:nvSpPr>
          <p:cNvPr id="13" name="Text 9"/>
          <p:cNvSpPr txBox="1"/>
          <p:nvPr/>
        </p:nvSpPr>
        <p:spPr>
          <a:xfrm>
            <a:off x="1417320" y="2468880"/>
            <a:ext cx="3108960" cy="32004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학생 중심으로 보면</a:t>
            </a:r>
            <a:endParaRPr lang="en-US" sz="1300" dirty="0"/>
          </a:p>
        </p:txBody>
      </p:sp>
      <p:sp>
        <p:nvSpPr>
          <p:cNvPr id="14" name="Text 10"/>
          <p:cNvSpPr txBox="1"/>
          <p:nvPr/>
        </p:nvSpPr>
        <p:spPr>
          <a:xfrm>
            <a:off x="1417320" y="2788920"/>
            <a:ext cx="3154680" cy="365760"/>
          </a:xfrm>
          <a:prstGeom prst="rect">
            <a:avLst/>
          </a:prstGeom>
          <a:noFill/>
          <a:ln/>
        </p:spPr>
        <p:txBody>
          <a:bodyPr wrap="square" lIns="0" tIns="0" rIns="0" bIns="0" rtlCol="0" anchor="ctr"/>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학습경험 · 학습 결과</a:t>
            </a:r>
            <a:endParaRPr lang="en-US" sz="1400" dirty="0"/>
          </a:p>
        </p:txBody>
      </p:sp>
      <p:sp>
        <p:nvSpPr>
          <p:cNvPr id="15" name="Text 11"/>
          <p:cNvSpPr txBox="1"/>
          <p:nvPr/>
        </p:nvSpPr>
        <p:spPr>
          <a:xfrm>
            <a:off x="457200" y="3364992"/>
            <a:ext cx="4206240" cy="228600"/>
          </a:xfrm>
          <a:prstGeom prst="rect">
            <a:avLst/>
          </a:prstGeom>
          <a:noFill/>
          <a:ln/>
        </p:spPr>
        <p:txBody>
          <a:bodyPr wrap="square" lIns="0" tIns="0" rIns="0" bIns="0" rtlCol="0" anchor="ctr"/>
          <a:lstStyle/>
          <a:p>
            <a:pPr algn="r" indent="0" marL="0">
              <a:buNone/>
            </a:pPr>
            <a:r>
              <a:rPr lang="en-US" sz="1000" dirty="0">
                <a:solidFill>
                  <a:srgbClr val="6E7B73"/>
                </a:solidFill>
                <a:latin typeface="Malgun Gothic" pitchFamily="34" charset="0"/>
                <a:ea typeface="Malgun Gothic" pitchFamily="34" charset="-122"/>
                <a:cs typeface="Malgun Gothic" pitchFamily="34" charset="-120"/>
              </a:rPr>
              <a:t>(이귀윤, 1990)</a:t>
            </a:r>
            <a:endParaRPr lang="en-US" sz="1000" dirty="0"/>
          </a:p>
        </p:txBody>
      </p:sp>
      <p:sp>
        <p:nvSpPr>
          <p:cNvPr id="16" name="Shape 12"/>
          <p:cNvSpPr/>
          <p:nvPr/>
        </p:nvSpPr>
        <p:spPr>
          <a:xfrm>
            <a:off x="5074920" y="1051560"/>
            <a:ext cx="3566160" cy="2651760"/>
          </a:xfrm>
          <a:prstGeom prst="ellipse">
            <a:avLst/>
          </a:prstGeom>
          <a:solidFill>
            <a:srgbClr val="FDF3D6"/>
          </a:solidFill>
          <a:ln w="19050">
            <a:solidFill>
              <a:srgbClr val="F5D07A"/>
            </a:solidFill>
            <a:prstDash val="solid"/>
          </a:ln>
        </p:spPr>
      </p:sp>
      <p:sp>
        <p:nvSpPr>
          <p:cNvPr id="17" name="Text 13"/>
          <p:cNvSpPr txBox="1"/>
          <p:nvPr/>
        </p:nvSpPr>
        <p:spPr>
          <a:xfrm>
            <a:off x="5074920" y="1234440"/>
            <a:ext cx="3566160" cy="274320"/>
          </a:xfrm>
          <a:prstGeom prst="rect">
            <a:avLst/>
          </a:prstGeom>
          <a:noFill/>
          <a:ln/>
        </p:spPr>
        <p:txBody>
          <a:bodyPr wrap="square" lIns="0" tIns="0" rIns="0" bIns="0" rtlCol="0" anchor="ctr"/>
          <a:lstStyle/>
          <a:p>
            <a:pPr algn="ctr" indent="0" marL="0">
              <a:buNone/>
            </a:pPr>
            <a:r>
              <a:rPr lang="en-US" sz="1300" b="1" dirty="0">
                <a:solidFill>
                  <a:srgbClr val="B08A2E"/>
                </a:solidFill>
                <a:latin typeface="Malgun Gothic" pitchFamily="34" charset="0"/>
                <a:ea typeface="Malgun Gothic" pitchFamily="34" charset="-122"/>
                <a:cs typeface="Malgun Gothic" pitchFamily="34" charset="-120"/>
              </a:rPr>
              <a:t>넓은 의미</a:t>
            </a:r>
            <a:endParaRPr lang="en-US" sz="1300" dirty="0"/>
          </a:p>
        </p:txBody>
      </p:sp>
      <p:sp>
        <p:nvSpPr>
          <p:cNvPr id="18" name="Text 14"/>
          <p:cNvSpPr txBox="1"/>
          <p:nvPr/>
        </p:nvSpPr>
        <p:spPr>
          <a:xfrm>
            <a:off x="5074920" y="1508760"/>
            <a:ext cx="3566160" cy="274320"/>
          </a:xfrm>
          <a:prstGeom prst="rect">
            <a:avLst/>
          </a:prstGeom>
          <a:noFill/>
          <a:ln/>
        </p:spPr>
        <p:txBody>
          <a:bodyPr wrap="square" lIns="0" tIns="0" rIns="0" bIns="0" rtlCol="0" anchor="ctr"/>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"학생이 경험하는 모든 것"</a:t>
            </a:r>
            <a:endParaRPr lang="en-US" sz="1300" dirty="0"/>
          </a:p>
        </p:txBody>
      </p:sp>
      <p:sp>
        <p:nvSpPr>
          <p:cNvPr id="19" name="Shape 15"/>
          <p:cNvSpPr/>
          <p:nvPr/>
        </p:nvSpPr>
        <p:spPr>
          <a:xfrm>
            <a:off x="5897880" y="2011680"/>
            <a:ext cx="1920240" cy="1417320"/>
          </a:xfrm>
          <a:prstGeom prst="ellipse">
            <a:avLst/>
          </a:prstGeom>
          <a:solidFill>
            <a:srgbClr val="F9E1E3"/>
          </a:solidFill>
          <a:ln w="19050">
            <a:solidFill>
              <a:srgbClr val="E8A1A8"/>
            </a:solidFill>
            <a:prstDash val="solid"/>
          </a:ln>
        </p:spPr>
      </p:sp>
      <p:sp>
        <p:nvSpPr>
          <p:cNvPr id="20" name="Text 16"/>
          <p:cNvSpPr txBox="1"/>
          <p:nvPr/>
        </p:nvSpPr>
        <p:spPr>
          <a:xfrm>
            <a:off x="5897880" y="2240280"/>
            <a:ext cx="1920240" cy="274320"/>
          </a:xfrm>
          <a:prstGeom prst="rect">
            <a:avLst/>
          </a:prstGeom>
          <a:noFill/>
          <a:ln/>
        </p:spPr>
        <p:txBody>
          <a:bodyPr wrap="square" lIns="0" tIns="0" rIns="0" bIns="0" rtlCol="0" anchor="ctr"/>
          <a:lstStyle/>
          <a:p>
            <a:pPr algn="ctr" indent="0" marL="0">
              <a:buNone/>
            </a:pPr>
            <a:r>
              <a:rPr lang="en-US" sz="1300" b="1" dirty="0">
                <a:solidFill>
                  <a:srgbClr val="B45A64"/>
                </a:solidFill>
                <a:latin typeface="Malgun Gothic" pitchFamily="34" charset="0"/>
                <a:ea typeface="Malgun Gothic" pitchFamily="34" charset="-122"/>
                <a:cs typeface="Malgun Gothic" pitchFamily="34" charset="-120"/>
              </a:rPr>
              <a:t>좁은 의미</a:t>
            </a:r>
            <a:endParaRPr lang="en-US" sz="1300" dirty="0"/>
          </a:p>
        </p:txBody>
      </p:sp>
      <p:sp>
        <p:nvSpPr>
          <p:cNvPr id="21" name="Text 17"/>
          <p:cNvSpPr txBox="1"/>
          <p:nvPr/>
        </p:nvSpPr>
        <p:spPr>
          <a:xfrm>
            <a:off x="5897880" y="2560320"/>
            <a:ext cx="1920240" cy="548640"/>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계획된 교과목</a:t>
            </a:r>
            <a:endParaRPr lang="en-US" sz="1200" dirty="0"/>
          </a:p>
          <a:p>
            <a:pPr algn="ctr" indent="0" marL="0">
              <a:buNone/>
            </a:pPr>
            <a:r>
              <a:rPr lang="en-US" sz="1200" dirty="0">
                <a:solidFill>
                  <a:srgbClr val="33413A"/>
                </a:solidFill>
                <a:latin typeface="Malgun Gothic" pitchFamily="34" charset="0"/>
                <a:ea typeface="Malgun Gothic" pitchFamily="34" charset="-122"/>
                <a:cs typeface="Malgun Gothic" pitchFamily="34" charset="-120"/>
              </a:rPr>
              <a:t>또는 교수요목</a:t>
            </a:r>
            <a:endParaRPr lang="en-US" sz="1200" dirty="0"/>
          </a:p>
        </p:txBody>
      </p:sp>
      <p:sp>
        <p:nvSpPr>
          <p:cNvPr id="22" name="Shape 18"/>
          <p:cNvSpPr/>
          <p:nvPr/>
        </p:nvSpPr>
        <p:spPr>
          <a:xfrm>
            <a:off x="457200" y="3840480"/>
            <a:ext cx="8229600" cy="868680"/>
          </a:xfrm>
          <a:prstGeom prst="roundRect">
            <a:avLst>
              <a:gd name="adj" fmla="val 12632"/>
            </a:avLst>
          </a:prstGeom>
          <a:solidFill>
            <a:srgbClr val="F4F7F4"/>
          </a:solidFill>
          <a:ln/>
        </p:spPr>
      </p:sp>
      <p:sp>
        <p:nvSpPr>
          <p:cNvPr id="23" name="Text 19"/>
          <p:cNvSpPr txBox="1"/>
          <p:nvPr/>
        </p:nvSpPr>
        <p:spPr>
          <a:xfrm>
            <a:off x="685800" y="3931920"/>
            <a:ext cx="7772400" cy="41148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교육과정 = </a:t>
            </a:r>
            <a:pPr indent="0" marL="0">
              <a:buNone/>
            </a:pPr>
            <a:r>
              <a:rPr lang="en-US" sz="1600" dirty="0">
                <a:solidFill>
                  <a:srgbClr val="33413A"/>
                </a:solidFill>
                <a:latin typeface="Malgun Gothic" pitchFamily="34" charset="0"/>
                <a:ea typeface="Malgun Gothic" pitchFamily="34" charset="-122"/>
                <a:cs typeface="Malgun Gothic" pitchFamily="34" charset="-120"/>
              </a:rPr>
              <a:t>전인적 성장·발달을 돕는 교수-학습 경험의 체계적 </a:t>
            </a:r>
            <a:pPr indent="0" marL="0">
              <a:buNone/>
            </a:pPr>
            <a:r>
              <a:rPr lang="en-US" sz="1600" b="1" dirty="0">
                <a:solidFill>
                  <a:srgbClr val="5E8C6A"/>
                </a:solidFill>
                <a:latin typeface="Malgun Gothic" pitchFamily="34" charset="0"/>
                <a:ea typeface="Malgun Gothic" pitchFamily="34" charset="-122"/>
                <a:cs typeface="Malgun Gothic" pitchFamily="34" charset="-120"/>
              </a:rPr>
              <a:t>설계도</a:t>
            </a:r>
            <a:endParaRPr lang="en-US" sz="1600" dirty="0"/>
          </a:p>
        </p:txBody>
      </p:sp>
      <p:sp>
        <p:nvSpPr>
          <p:cNvPr id="24" name="Text 20"/>
          <p:cNvSpPr txBox="1"/>
          <p:nvPr/>
        </p:nvSpPr>
        <p:spPr>
          <a:xfrm>
            <a:off x="685800" y="4343400"/>
            <a:ext cx="777240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방인옥 등(1999)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03</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유치원교육과정에서 누리과정으로</a:t>
            </a:r>
            <a:endParaRPr lang="en-US" sz="2800" dirty="0"/>
          </a:p>
        </p:txBody>
      </p:sp>
      <p:sp>
        <p:nvSpPr>
          <p:cNvPr id="5" name="Shape 3"/>
          <p:cNvSpPr/>
          <p:nvPr/>
        </p:nvSpPr>
        <p:spPr>
          <a:xfrm>
            <a:off x="1188720" y="1691640"/>
            <a:ext cx="6766560" cy="0"/>
          </a:xfrm>
          <a:prstGeom prst="line">
            <a:avLst/>
          </a:prstGeom>
          <a:noFill/>
          <a:ln w="38100">
            <a:solidFill>
              <a:srgbClr val="C9D6CC"/>
            </a:solidFill>
            <a:prstDash val="solid"/>
          </a:ln>
        </p:spPr>
      </p:sp>
      <p:sp>
        <p:nvSpPr>
          <p:cNvPr id="6" name="Shape 4"/>
          <p:cNvSpPr/>
          <p:nvPr/>
        </p:nvSpPr>
        <p:spPr>
          <a:xfrm>
            <a:off x="1005840" y="1508760"/>
            <a:ext cx="365760" cy="365760"/>
          </a:xfrm>
          <a:prstGeom prst="ellipse">
            <a:avLst/>
          </a:prstGeom>
          <a:solidFill>
            <a:srgbClr val="A9CBB0"/>
          </a:solidFill>
          <a:ln w="38100">
            <a:solidFill>
              <a:srgbClr val="FFFFFF"/>
            </a:solidFill>
            <a:prstDash val="solid"/>
          </a:ln>
        </p:spPr>
      </p:sp>
      <p:sp>
        <p:nvSpPr>
          <p:cNvPr id="7" name="Text 5"/>
          <p:cNvSpPr txBox="1"/>
          <p:nvPr/>
        </p:nvSpPr>
        <p:spPr>
          <a:xfrm>
            <a:off x="182880" y="1097280"/>
            <a:ext cx="2011680" cy="365760"/>
          </a:xfrm>
          <a:prstGeom prst="rect">
            <a:avLst/>
          </a:prstGeom>
          <a:noFill/>
          <a:ln/>
        </p:spPr>
        <p:txBody>
          <a:bodyPr wrap="square" lIns="0" tIns="0" rIns="0" bIns="0" rtlCol="0" anchor="ctr"/>
          <a:lstStyle/>
          <a:p>
            <a:pPr algn="ctr" indent="0" marL="0">
              <a:buNone/>
            </a:pPr>
            <a:r>
              <a:rPr lang="en-US" sz="2000" b="1" dirty="0">
                <a:solidFill>
                  <a:srgbClr val="A9CBB0"/>
                </a:solidFill>
                <a:latin typeface="Malgun Gothic" pitchFamily="34" charset="0"/>
                <a:ea typeface="Malgun Gothic" pitchFamily="34" charset="-122"/>
                <a:cs typeface="Malgun Gothic" pitchFamily="34" charset="-120"/>
              </a:rPr>
              <a:t>1969</a:t>
            </a:r>
            <a:endParaRPr lang="en-US" sz="2000" dirty="0"/>
          </a:p>
        </p:txBody>
      </p:sp>
      <p:sp>
        <p:nvSpPr>
          <p:cNvPr id="8" name="Text 6"/>
          <p:cNvSpPr txBox="1"/>
          <p:nvPr/>
        </p:nvSpPr>
        <p:spPr>
          <a:xfrm>
            <a:off x="18288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유치원교육과정</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처음 제정</a:t>
            </a:r>
            <a:endParaRPr lang="en-US" sz="1300" dirty="0"/>
          </a:p>
        </p:txBody>
      </p:sp>
      <p:sp>
        <p:nvSpPr>
          <p:cNvPr id="9" name="Shape 7"/>
          <p:cNvSpPr/>
          <p:nvPr/>
        </p:nvSpPr>
        <p:spPr>
          <a:xfrm>
            <a:off x="3261360" y="1508760"/>
            <a:ext cx="365760" cy="365760"/>
          </a:xfrm>
          <a:prstGeom prst="ellipse">
            <a:avLst/>
          </a:prstGeom>
          <a:solidFill>
            <a:srgbClr val="F5D07A"/>
          </a:solidFill>
          <a:ln w="38100">
            <a:solidFill>
              <a:srgbClr val="FFFFFF"/>
            </a:solidFill>
            <a:prstDash val="solid"/>
          </a:ln>
        </p:spPr>
      </p:sp>
      <p:sp>
        <p:nvSpPr>
          <p:cNvPr id="10" name="Text 8"/>
          <p:cNvSpPr txBox="1"/>
          <p:nvPr/>
        </p:nvSpPr>
        <p:spPr>
          <a:xfrm>
            <a:off x="2438400" y="1097280"/>
            <a:ext cx="2011680" cy="365760"/>
          </a:xfrm>
          <a:prstGeom prst="rect">
            <a:avLst/>
          </a:prstGeom>
          <a:noFill/>
          <a:ln/>
        </p:spPr>
        <p:txBody>
          <a:bodyPr wrap="square" lIns="0" tIns="0" rIns="0" bIns="0" rtlCol="0" anchor="ctr"/>
          <a:lstStyle/>
          <a:p>
            <a:pPr algn="ctr" indent="0" marL="0">
              <a:buNone/>
            </a:pPr>
            <a:r>
              <a:rPr lang="en-US" sz="2000" b="1" dirty="0">
                <a:solidFill>
                  <a:srgbClr val="B08A2E"/>
                </a:solidFill>
                <a:latin typeface="Malgun Gothic" pitchFamily="34" charset="0"/>
                <a:ea typeface="Malgun Gothic" pitchFamily="34" charset="-122"/>
                <a:cs typeface="Malgun Gothic" pitchFamily="34" charset="-120"/>
              </a:rPr>
              <a:t>~2007</a:t>
            </a:r>
            <a:endParaRPr lang="en-US" sz="2000" dirty="0"/>
          </a:p>
        </p:txBody>
      </p:sp>
      <p:sp>
        <p:nvSpPr>
          <p:cNvPr id="11" name="Text 9"/>
          <p:cNvSpPr txBox="1"/>
          <p:nvPr/>
        </p:nvSpPr>
        <p:spPr>
          <a:xfrm>
            <a:off x="243840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여섯 차례</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개정</a:t>
            </a:r>
            <a:endParaRPr lang="en-US" sz="1300" dirty="0"/>
          </a:p>
        </p:txBody>
      </p:sp>
      <p:sp>
        <p:nvSpPr>
          <p:cNvPr id="12" name="Shape 10"/>
          <p:cNvSpPr/>
          <p:nvPr/>
        </p:nvSpPr>
        <p:spPr>
          <a:xfrm>
            <a:off x="5516880" y="1508760"/>
            <a:ext cx="365760" cy="365760"/>
          </a:xfrm>
          <a:prstGeom prst="ellipse">
            <a:avLst/>
          </a:prstGeom>
          <a:solidFill>
            <a:srgbClr val="F2A27E"/>
          </a:solidFill>
          <a:ln w="38100">
            <a:solidFill>
              <a:srgbClr val="FFFFFF"/>
            </a:solidFill>
            <a:prstDash val="solid"/>
          </a:ln>
        </p:spPr>
      </p:sp>
      <p:sp>
        <p:nvSpPr>
          <p:cNvPr id="13" name="Text 11"/>
          <p:cNvSpPr txBox="1"/>
          <p:nvPr/>
        </p:nvSpPr>
        <p:spPr>
          <a:xfrm>
            <a:off x="4693920" y="1097280"/>
            <a:ext cx="2011680" cy="365760"/>
          </a:xfrm>
          <a:prstGeom prst="rect">
            <a:avLst/>
          </a:prstGeom>
          <a:noFill/>
          <a:ln/>
        </p:spPr>
        <p:txBody>
          <a:bodyPr wrap="square" lIns="0" tIns="0" rIns="0" bIns="0" rtlCol="0" anchor="ctr"/>
          <a:lstStyle/>
          <a:p>
            <a:pPr algn="ctr" indent="0" marL="0">
              <a:buNone/>
            </a:pPr>
            <a:r>
              <a:rPr lang="en-US" sz="2000" b="1" dirty="0">
                <a:solidFill>
                  <a:srgbClr val="F2A27E"/>
                </a:solidFill>
                <a:latin typeface="Malgun Gothic" pitchFamily="34" charset="0"/>
                <a:ea typeface="Malgun Gothic" pitchFamily="34" charset="-122"/>
                <a:cs typeface="Malgun Gothic" pitchFamily="34" charset="-120"/>
              </a:rPr>
              <a:t>2013</a:t>
            </a:r>
            <a:endParaRPr lang="en-US" sz="2000" dirty="0"/>
          </a:p>
        </p:txBody>
      </p:sp>
      <p:sp>
        <p:nvSpPr>
          <p:cNvPr id="14" name="Text 12"/>
          <p:cNvSpPr txBox="1"/>
          <p:nvPr/>
        </p:nvSpPr>
        <p:spPr>
          <a:xfrm>
            <a:off x="469392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만 3~5세</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누리과정 시행</a:t>
            </a:r>
            <a:endParaRPr lang="en-US" sz="1300" dirty="0"/>
          </a:p>
        </p:txBody>
      </p:sp>
      <p:sp>
        <p:nvSpPr>
          <p:cNvPr id="15" name="Shape 13"/>
          <p:cNvSpPr/>
          <p:nvPr/>
        </p:nvSpPr>
        <p:spPr>
          <a:xfrm>
            <a:off x="7772400" y="1508760"/>
            <a:ext cx="365760" cy="365760"/>
          </a:xfrm>
          <a:prstGeom prst="ellipse">
            <a:avLst/>
          </a:prstGeom>
          <a:solidFill>
            <a:srgbClr val="5E8C6A"/>
          </a:solidFill>
          <a:ln w="38100">
            <a:solidFill>
              <a:srgbClr val="FFFFFF"/>
            </a:solidFill>
            <a:prstDash val="solid"/>
          </a:ln>
        </p:spPr>
      </p:sp>
      <p:sp>
        <p:nvSpPr>
          <p:cNvPr id="16" name="Text 14"/>
          <p:cNvSpPr txBox="1"/>
          <p:nvPr/>
        </p:nvSpPr>
        <p:spPr>
          <a:xfrm>
            <a:off x="6949440" y="1097280"/>
            <a:ext cx="2011680" cy="365760"/>
          </a:xfrm>
          <a:prstGeom prst="rect">
            <a:avLst/>
          </a:prstGeom>
          <a:noFill/>
          <a:ln/>
        </p:spPr>
        <p:txBody>
          <a:bodyPr wrap="square" lIns="0" tIns="0" rIns="0" bIns="0" rtlCol="0" anchor="ctr"/>
          <a:lstStyle/>
          <a:p>
            <a:pPr algn="ctr" indent="0" marL="0">
              <a:buNone/>
            </a:pPr>
            <a:r>
              <a:rPr lang="en-US" sz="2000" b="1" dirty="0">
                <a:solidFill>
                  <a:srgbClr val="5E8C6A"/>
                </a:solidFill>
                <a:latin typeface="Malgun Gothic" pitchFamily="34" charset="0"/>
                <a:ea typeface="Malgun Gothic" pitchFamily="34" charset="-122"/>
                <a:cs typeface="Malgun Gothic" pitchFamily="34" charset="-120"/>
              </a:rPr>
              <a:t>2020</a:t>
            </a:r>
            <a:endParaRPr lang="en-US" sz="2000" dirty="0"/>
          </a:p>
        </p:txBody>
      </p:sp>
      <p:sp>
        <p:nvSpPr>
          <p:cNvPr id="17" name="Text 15"/>
          <p:cNvSpPr txBox="1"/>
          <p:nvPr/>
        </p:nvSpPr>
        <p:spPr>
          <a:xfrm>
            <a:off x="694944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개정 누리과정 적용</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(유아중심·놀이중심)</a:t>
            </a:r>
            <a:endParaRPr lang="en-US" sz="1300" dirty="0"/>
          </a:p>
        </p:txBody>
      </p:sp>
      <p:sp>
        <p:nvSpPr>
          <p:cNvPr id="18" name="Shape 16"/>
          <p:cNvSpPr/>
          <p:nvPr/>
        </p:nvSpPr>
        <p:spPr>
          <a:xfrm>
            <a:off x="457200" y="2971800"/>
            <a:ext cx="2377440" cy="685800"/>
          </a:xfrm>
          <a:prstGeom prst="roundRect">
            <a:avLst>
              <a:gd name="adj" fmla="val 16000"/>
            </a:avLst>
          </a:prstGeom>
          <a:solidFill>
            <a:srgbClr val="FCE4D8"/>
          </a:solidFill>
          <a:ln/>
        </p:spPr>
      </p:sp>
      <p:sp>
        <p:nvSpPr>
          <p:cNvPr id="19" name="Text 17"/>
          <p:cNvSpPr txBox="1"/>
          <p:nvPr/>
        </p:nvSpPr>
        <p:spPr>
          <a:xfrm>
            <a:off x="457200" y="2971800"/>
            <a:ext cx="2377440" cy="68580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유치원교육과정</a:t>
            </a:r>
            <a:endParaRPr lang="en-US" sz="1500" dirty="0"/>
          </a:p>
        </p:txBody>
      </p:sp>
      <p:sp>
        <p:nvSpPr>
          <p:cNvPr id="20" name="Shape 18"/>
          <p:cNvSpPr/>
          <p:nvPr/>
        </p:nvSpPr>
        <p:spPr>
          <a:xfrm>
            <a:off x="457200" y="3840480"/>
            <a:ext cx="2377440" cy="685800"/>
          </a:xfrm>
          <a:prstGeom prst="roundRect">
            <a:avLst>
              <a:gd name="adj" fmla="val 16000"/>
            </a:avLst>
          </a:prstGeom>
          <a:solidFill>
            <a:srgbClr val="DCEBDD"/>
          </a:solidFill>
          <a:ln/>
        </p:spPr>
      </p:sp>
      <p:sp>
        <p:nvSpPr>
          <p:cNvPr id="21" name="Text 19"/>
          <p:cNvSpPr txBox="1"/>
          <p:nvPr/>
        </p:nvSpPr>
        <p:spPr>
          <a:xfrm>
            <a:off x="457200" y="3840480"/>
            <a:ext cx="2377440" cy="68580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어린이집 표준보육과정</a:t>
            </a:r>
            <a:endParaRPr lang="en-US" sz="1500" dirty="0"/>
          </a:p>
        </p:txBody>
      </p:sp>
      <p:sp>
        <p:nvSpPr>
          <p:cNvPr id="22" name="Shape 20"/>
          <p:cNvSpPr/>
          <p:nvPr/>
        </p:nvSpPr>
        <p:spPr>
          <a:xfrm>
            <a:off x="3017520" y="3474720"/>
            <a:ext cx="731520" cy="548640"/>
          </a:xfrm>
          <a:prstGeom prst="rightArrow">
            <a:avLst/>
          </a:prstGeom>
          <a:solidFill>
            <a:srgbClr val="F5D07A"/>
          </a:solidFill>
          <a:ln/>
        </p:spPr>
      </p:sp>
      <p:sp>
        <p:nvSpPr>
          <p:cNvPr id="23" name="Text 21"/>
          <p:cNvSpPr txBox="1"/>
          <p:nvPr/>
        </p:nvSpPr>
        <p:spPr>
          <a:xfrm>
            <a:off x="2834640" y="3108960"/>
            <a:ext cx="1097280" cy="320040"/>
          </a:xfrm>
          <a:prstGeom prst="rect">
            <a:avLst/>
          </a:prstGeom>
          <a:noFill/>
          <a:ln/>
        </p:spPr>
        <p:txBody>
          <a:bodyPr wrap="square" lIns="0" tIns="0" rIns="0" bIns="0" rtlCol="0" anchor="ctr"/>
          <a:lstStyle/>
          <a:p>
            <a:pPr algn="ctr" indent="0" marL="0">
              <a:buNone/>
            </a:pPr>
            <a:r>
              <a:rPr lang="en-US" sz="1200" b="1" dirty="0">
                <a:solidFill>
                  <a:srgbClr val="B08A2E"/>
                </a:solidFill>
                <a:latin typeface="Malgun Gothic" pitchFamily="34" charset="0"/>
                <a:ea typeface="Malgun Gothic" pitchFamily="34" charset="-122"/>
                <a:cs typeface="Malgun Gothic" pitchFamily="34" charset="-120"/>
              </a:rPr>
              <a:t>일원화</a:t>
            </a:r>
            <a:endParaRPr lang="en-US" sz="1200" dirty="0"/>
          </a:p>
        </p:txBody>
      </p:sp>
      <p:sp>
        <p:nvSpPr>
          <p:cNvPr id="24" name="Shape 22"/>
          <p:cNvSpPr/>
          <p:nvPr/>
        </p:nvSpPr>
        <p:spPr>
          <a:xfrm>
            <a:off x="3931920" y="2971800"/>
            <a:ext cx="4754880" cy="1554480"/>
          </a:xfrm>
          <a:prstGeom prst="roundRect">
            <a:avLst>
              <a:gd name="adj" fmla="val 8824"/>
            </a:avLst>
          </a:prstGeom>
          <a:solidFill>
            <a:srgbClr val="FDF3D6"/>
          </a:solidFill>
          <a:ln/>
        </p:spPr>
      </p:sp>
      <p:sp>
        <p:nvSpPr>
          <p:cNvPr id="25" name="Text 23"/>
          <p:cNvSpPr txBox="1"/>
          <p:nvPr/>
        </p:nvSpPr>
        <p:spPr>
          <a:xfrm>
            <a:off x="4160520" y="3108960"/>
            <a:ext cx="4389120" cy="365760"/>
          </a:xfrm>
          <a:prstGeom prst="rect">
            <a:avLst/>
          </a:prstGeom>
          <a:noFill/>
          <a:ln/>
        </p:spPr>
        <p:txBody>
          <a:bodyPr wrap="square" lIns="0" tIns="0" rIns="0" bIns="0" rtlCol="0" anchor="ctr"/>
          <a:lstStyle/>
          <a:p>
            <a:pPr indent="0" marL="0">
              <a:buNone/>
            </a:pPr>
            <a:r>
              <a:rPr lang="en-US" sz="1700" b="1" dirty="0">
                <a:solidFill>
                  <a:srgbClr val="5E8C6A"/>
                </a:solidFill>
                <a:latin typeface="Malgun Gothic" pitchFamily="34" charset="0"/>
                <a:ea typeface="Malgun Gothic" pitchFamily="34" charset="-122"/>
                <a:cs typeface="Malgun Gothic" pitchFamily="34" charset="-120"/>
              </a:rPr>
              <a:t>누리과정 (만 3~5세 공통교육과정)</a:t>
            </a:r>
            <a:endParaRPr lang="en-US" sz="1700" dirty="0"/>
          </a:p>
        </p:txBody>
      </p:sp>
      <p:sp>
        <p:nvSpPr>
          <p:cNvPr id="26" name="Text 24"/>
          <p:cNvSpPr txBox="1"/>
          <p:nvPr/>
        </p:nvSpPr>
        <p:spPr>
          <a:xfrm>
            <a:off x="4160520" y="3566160"/>
            <a:ext cx="4389120" cy="7315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33413A"/>
                </a:solidFill>
                <a:latin typeface="Malgun Gothic" pitchFamily="34" charset="0"/>
                <a:ea typeface="Malgun Gothic" pitchFamily="34" charset="-122"/>
                <a:cs typeface="Malgun Gothic" pitchFamily="34" charset="-120"/>
              </a:rPr>
              <a:t>취학 전 교육의 질 제고</a:t>
            </a:r>
            <a:endParaRPr lang="en-US" sz="1500" dirty="0"/>
          </a:p>
          <a:p>
            <a:pPr marL="342900" indent="-342900">
              <a:spcAft>
                <a:spcPts val="600"/>
              </a:spcAft>
              <a:buSzPct val="100000"/>
              <a:buChar char="•"/>
            </a:pPr>
            <a:r>
              <a:rPr lang="en-US" sz="1500" dirty="0">
                <a:solidFill>
                  <a:srgbClr val="33413A"/>
                </a:solidFill>
                <a:latin typeface="Malgun Gothic" pitchFamily="34" charset="0"/>
                <a:ea typeface="Malgun Gothic" pitchFamily="34" charset="-122"/>
                <a:cs typeface="Malgun Gothic" pitchFamily="34" charset="-120"/>
              </a:rPr>
              <a:t>생애초기 출발점 평등 보장</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04</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어린이집 표준보육과정</a:t>
            </a:r>
            <a:endParaRPr lang="en-US" sz="2800" dirty="0"/>
          </a:p>
        </p:txBody>
      </p:sp>
      <p:sp>
        <p:nvSpPr>
          <p:cNvPr id="5" name="Text 3"/>
          <p:cNvSpPr txBox="1"/>
          <p:nvPr/>
        </p:nvSpPr>
        <p:spPr>
          <a:xfrm>
            <a:off x="457200" y="1097280"/>
            <a:ext cx="3840480" cy="320040"/>
          </a:xfrm>
          <a:prstGeom prst="rect">
            <a:avLst/>
          </a:prstGeom>
          <a:noFill/>
          <a:ln/>
        </p:spPr>
        <p:txBody>
          <a:bodyPr wrap="square" lIns="0" tIns="0" rIns="0" bIns="0" rtlCol="0" anchor="ctr"/>
          <a:lstStyle/>
          <a:p>
            <a:pPr indent="0" marL="0">
              <a:buNone/>
            </a:pPr>
            <a:r>
              <a:rPr lang="en-US" sz="1500" b="1" dirty="0">
                <a:solidFill>
                  <a:srgbClr val="5E8C6A"/>
                </a:solidFill>
                <a:latin typeface="Malgun Gothic" pitchFamily="34" charset="0"/>
                <a:ea typeface="Malgun Gothic" pitchFamily="34" charset="-122"/>
                <a:cs typeface="Malgun Gothic" pitchFamily="34" charset="-120"/>
              </a:rPr>
              <a:t>왜 필요해졌을까?</a:t>
            </a:r>
            <a:endParaRPr lang="en-US" sz="1500" dirty="0"/>
          </a:p>
        </p:txBody>
      </p:sp>
      <p:sp>
        <p:nvSpPr>
          <p:cNvPr id="6" name="Shape 4"/>
          <p:cNvSpPr/>
          <p:nvPr/>
        </p:nvSpPr>
        <p:spPr>
          <a:xfrm>
            <a:off x="457200" y="1554480"/>
            <a:ext cx="438912" cy="438912"/>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566928" y="1664208"/>
            <a:ext cx="219456" cy="219456"/>
          </a:xfrm>
          <a:prstGeom prst="rect">
            <a:avLst/>
          </a:prstGeom>
        </p:spPr>
      </p:pic>
      <p:sp>
        <p:nvSpPr>
          <p:cNvPr id="8" name="Text 5"/>
          <p:cNvSpPr txBox="1"/>
          <p:nvPr/>
        </p:nvSpPr>
        <p:spPr>
          <a:xfrm>
            <a:off x="1051560" y="1554480"/>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핵가족화</a:t>
            </a:r>
            <a:endParaRPr lang="en-US" sz="1500" dirty="0"/>
          </a:p>
        </p:txBody>
      </p:sp>
      <p:sp>
        <p:nvSpPr>
          <p:cNvPr id="9" name="Shape 6"/>
          <p:cNvSpPr/>
          <p:nvPr/>
        </p:nvSpPr>
        <p:spPr>
          <a:xfrm>
            <a:off x="457200" y="2121408"/>
            <a:ext cx="438912" cy="438912"/>
          </a:xfrm>
          <a:prstGeom prst="ellipse">
            <a:avLst/>
          </a:prstGeom>
          <a:solidFill>
            <a:srgbClr val="F5D07A"/>
          </a:solidFill>
          <a:ln/>
        </p:spPr>
      </p:sp>
      <p:pic>
        <p:nvPicPr>
          <p:cNvPr id="10" name="Image 1" descr="preencoded.png">    </p:cNvPr>
          <p:cNvPicPr>
            <a:picLocks noChangeAspect="1"/>
          </p:cNvPicPr>
          <p:nvPr/>
        </p:nvPicPr>
        <p:blipFill>
          <a:blip r:embed="rId2"/>
          <a:stretch>
            <a:fillRect/>
          </a:stretch>
        </p:blipFill>
        <p:spPr>
          <a:xfrm>
            <a:off x="566928" y="2231136"/>
            <a:ext cx="219456" cy="219456"/>
          </a:xfrm>
          <a:prstGeom prst="rect">
            <a:avLst/>
          </a:prstGeom>
        </p:spPr>
      </p:pic>
      <p:sp>
        <p:nvSpPr>
          <p:cNvPr id="11" name="Text 7"/>
          <p:cNvSpPr txBox="1"/>
          <p:nvPr/>
        </p:nvSpPr>
        <p:spPr>
          <a:xfrm>
            <a:off x="1051560" y="2121408"/>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취업모의 지속적 증가</a:t>
            </a:r>
            <a:endParaRPr lang="en-US" sz="1500" dirty="0"/>
          </a:p>
        </p:txBody>
      </p:sp>
      <p:sp>
        <p:nvSpPr>
          <p:cNvPr id="12" name="Shape 8"/>
          <p:cNvSpPr/>
          <p:nvPr/>
        </p:nvSpPr>
        <p:spPr>
          <a:xfrm>
            <a:off x="457200" y="2688336"/>
            <a:ext cx="438912" cy="438912"/>
          </a:xfrm>
          <a:prstGeom prst="ellipse">
            <a:avLst/>
          </a:prstGeom>
          <a:solidFill>
            <a:srgbClr val="5E8C6A"/>
          </a:solidFill>
          <a:ln/>
        </p:spPr>
      </p:sp>
      <p:pic>
        <p:nvPicPr>
          <p:cNvPr id="13" name="Image 2" descr="preencoded.png">    </p:cNvPr>
          <p:cNvPicPr>
            <a:picLocks noChangeAspect="1"/>
          </p:cNvPicPr>
          <p:nvPr/>
        </p:nvPicPr>
        <p:blipFill>
          <a:blip r:embed="rId3"/>
          <a:stretch>
            <a:fillRect/>
          </a:stretch>
        </p:blipFill>
        <p:spPr>
          <a:xfrm>
            <a:off x="566928" y="2798064"/>
            <a:ext cx="219456" cy="219456"/>
          </a:xfrm>
          <a:prstGeom prst="rect">
            <a:avLst/>
          </a:prstGeom>
        </p:spPr>
      </p:pic>
      <p:sp>
        <p:nvSpPr>
          <p:cNvPr id="14" name="Text 9"/>
          <p:cNvSpPr txBox="1"/>
          <p:nvPr/>
        </p:nvSpPr>
        <p:spPr>
          <a:xfrm>
            <a:off x="1051560" y="2688336"/>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조기 경험의 중요성 부각</a:t>
            </a:r>
            <a:endParaRPr lang="en-US" sz="1500" dirty="0"/>
          </a:p>
        </p:txBody>
      </p:sp>
      <p:sp>
        <p:nvSpPr>
          <p:cNvPr id="15" name="Shape 10"/>
          <p:cNvSpPr/>
          <p:nvPr/>
        </p:nvSpPr>
        <p:spPr>
          <a:xfrm>
            <a:off x="457200" y="3337560"/>
            <a:ext cx="3749040" cy="1234440"/>
          </a:xfrm>
          <a:prstGeom prst="roundRect">
            <a:avLst>
              <a:gd name="adj" fmla="val 8889"/>
            </a:avLst>
          </a:prstGeom>
          <a:solidFill>
            <a:srgbClr val="DCEBDD"/>
          </a:solidFill>
          <a:ln/>
        </p:spPr>
      </p:sp>
      <p:sp>
        <p:nvSpPr>
          <p:cNvPr id="16" name="Text 11"/>
          <p:cNvSpPr txBox="1"/>
          <p:nvPr/>
        </p:nvSpPr>
        <p:spPr>
          <a:xfrm>
            <a:off x="640080" y="3429000"/>
            <a:ext cx="3474720" cy="1051560"/>
          </a:xfrm>
          <a:prstGeom prst="rect">
            <a:avLst/>
          </a:prstGeom>
          <a:noFill/>
          <a:ln/>
        </p:spPr>
        <p:txBody>
          <a:bodyPr wrap="square" lIns="0" tIns="0" rIns="0" bIns="0" rtlCol="0" anchor="ctr"/>
          <a:lstStyle/>
          <a:p>
            <a:pPr indent="0" marL="0">
              <a:spcAft>
                <a:spcPts val="400"/>
              </a:spcAft>
              <a:buNone/>
            </a:pPr>
            <a:r>
              <a:rPr lang="en-US" sz="1300" b="1" dirty="0">
                <a:solidFill>
                  <a:srgbClr val="33413A"/>
                </a:solidFill>
                <a:latin typeface="Malgun Gothic" pitchFamily="34" charset="0"/>
                <a:ea typeface="Malgun Gothic" pitchFamily="34" charset="-122"/>
                <a:cs typeface="Malgun Gothic" pitchFamily="34" charset="-120"/>
              </a:rPr>
              <a:t>어린이집 이용의 보편화</a:t>
            </a:r>
            <a:endParaRPr lang="en-US" sz="1300" dirty="0"/>
          </a:p>
          <a:p>
            <a:pPr indent="0" marL="0">
              <a:spcAft>
                <a:spcPts val="400"/>
              </a:spcAft>
              <a:buNone/>
            </a:pPr>
            <a:r>
              <a:rPr lang="en-US" sz="1300" dirty="0">
                <a:solidFill>
                  <a:srgbClr val="33413A"/>
                </a:solidFill>
                <a:latin typeface="Malgun Gothic" pitchFamily="34" charset="0"/>
                <a:ea typeface="Malgun Gothic" pitchFamily="34" charset="-122"/>
                <a:cs typeface="Malgun Gothic" pitchFamily="34" charset="-120"/>
              </a:rPr>
              <a:t>언제, 무엇을 목표로, 어떤 경험을 줄지</a:t>
            </a:r>
            <a:endParaRPr lang="en-US" sz="1300" dirty="0"/>
          </a:p>
          <a:p>
            <a:pPr indent="0" marL="0">
              <a:spcAft>
                <a:spcPts val="400"/>
              </a:spcAft>
              <a:buNone/>
            </a:pPr>
            <a:r>
              <a:rPr lang="en-US" sz="1300" dirty="0">
                <a:solidFill>
                  <a:srgbClr val="33413A"/>
                </a:solidFill>
                <a:latin typeface="Malgun Gothic" pitchFamily="34" charset="0"/>
                <a:ea typeface="Malgun Gothic" pitchFamily="34" charset="-122"/>
                <a:cs typeface="Malgun Gothic" pitchFamily="34" charset="-120"/>
              </a:rPr>
              <a:t>→ </a:t>
            </a:r>
            <a:pPr indent="0" marL="0">
              <a:spcAft>
                <a:spcPts val="400"/>
              </a:spcAft>
              <a:buNone/>
            </a:pPr>
            <a:r>
              <a:rPr lang="en-US" sz="1300" b="1" dirty="0">
                <a:solidFill>
                  <a:srgbClr val="5E8C6A"/>
                </a:solidFill>
                <a:latin typeface="Malgun Gothic" pitchFamily="34" charset="0"/>
                <a:ea typeface="Malgun Gothic" pitchFamily="34" charset="-122"/>
                <a:cs typeface="Malgun Gothic" pitchFamily="34" charset="-120"/>
              </a:rPr>
              <a:t>국가수준의 지침</a:t>
            </a:r>
            <a:pPr indent="0" marL="0">
              <a:spcAft>
                <a:spcPts val="400"/>
              </a:spcAft>
              <a:buNone/>
            </a:pPr>
            <a:r>
              <a:rPr lang="en-US" sz="1300" dirty="0">
                <a:solidFill>
                  <a:srgbClr val="33413A"/>
                </a:solidFill>
                <a:latin typeface="Malgun Gothic" pitchFamily="34" charset="0"/>
                <a:ea typeface="Malgun Gothic" pitchFamily="34" charset="-122"/>
                <a:cs typeface="Malgun Gothic" pitchFamily="34" charset="-120"/>
              </a:rPr>
              <a:t>이 필요해짐</a:t>
            </a:r>
            <a:endParaRPr lang="en-US" sz="1300" dirty="0"/>
          </a:p>
        </p:txBody>
      </p:sp>
      <p:sp>
        <p:nvSpPr>
          <p:cNvPr id="17" name="Shape 12"/>
          <p:cNvSpPr/>
          <p:nvPr/>
        </p:nvSpPr>
        <p:spPr>
          <a:xfrm>
            <a:off x="5074920" y="1234440"/>
            <a:ext cx="0" cy="3246120"/>
          </a:xfrm>
          <a:prstGeom prst="line">
            <a:avLst/>
          </a:prstGeom>
          <a:noFill/>
          <a:ln w="31750">
            <a:solidFill>
              <a:srgbClr val="C9D6CC"/>
            </a:solidFill>
            <a:prstDash val="solid"/>
          </a:ln>
        </p:spPr>
      </p:sp>
      <p:sp>
        <p:nvSpPr>
          <p:cNvPr id="18" name="Shape 13"/>
          <p:cNvSpPr/>
          <p:nvPr/>
        </p:nvSpPr>
        <p:spPr>
          <a:xfrm>
            <a:off x="4965192" y="1170432"/>
            <a:ext cx="219456" cy="219456"/>
          </a:xfrm>
          <a:prstGeom prst="ellipse">
            <a:avLst/>
          </a:prstGeom>
          <a:solidFill>
            <a:srgbClr val="5E8C6A"/>
          </a:solidFill>
          <a:ln/>
        </p:spPr>
      </p:sp>
      <p:sp>
        <p:nvSpPr>
          <p:cNvPr id="19" name="Text 14"/>
          <p:cNvSpPr txBox="1"/>
          <p:nvPr/>
        </p:nvSpPr>
        <p:spPr>
          <a:xfrm>
            <a:off x="5349240" y="1097280"/>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2004</a:t>
            </a:r>
            <a:endParaRPr lang="en-US" sz="1600" dirty="0"/>
          </a:p>
        </p:txBody>
      </p:sp>
      <p:sp>
        <p:nvSpPr>
          <p:cNvPr id="20" name="Text 15"/>
          <p:cNvSpPr txBox="1"/>
          <p:nvPr/>
        </p:nvSpPr>
        <p:spPr>
          <a:xfrm>
            <a:off x="6126480" y="1115568"/>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영유아보육법 제29조 제2항 개정</a:t>
            </a:r>
            <a:endParaRPr lang="en-US" sz="1200" dirty="0"/>
          </a:p>
          <a:p>
            <a:pPr indent="0" marL="0">
              <a:buNone/>
            </a:pPr>
            <a:r>
              <a:rPr lang="en-US" sz="1200" dirty="0">
                <a:solidFill>
                  <a:srgbClr val="33413A"/>
                </a:solidFill>
                <a:latin typeface="Malgun Gothic" pitchFamily="34" charset="0"/>
                <a:ea typeface="Malgun Gothic" pitchFamily="34" charset="-122"/>
                <a:cs typeface="Malgun Gothic" pitchFamily="34" charset="-120"/>
              </a:rPr>
              <a:t>표준보육과정 개발·보급 명시</a:t>
            </a:r>
            <a:endParaRPr lang="en-US" sz="1200" dirty="0"/>
          </a:p>
        </p:txBody>
      </p:sp>
      <p:sp>
        <p:nvSpPr>
          <p:cNvPr id="21" name="Shape 16"/>
          <p:cNvSpPr/>
          <p:nvPr/>
        </p:nvSpPr>
        <p:spPr>
          <a:xfrm>
            <a:off x="4965192" y="1883664"/>
            <a:ext cx="219456" cy="219456"/>
          </a:xfrm>
          <a:prstGeom prst="ellipse">
            <a:avLst/>
          </a:prstGeom>
          <a:solidFill>
            <a:srgbClr val="5E8C6A"/>
          </a:solidFill>
          <a:ln/>
        </p:spPr>
      </p:sp>
      <p:sp>
        <p:nvSpPr>
          <p:cNvPr id="22" name="Text 17"/>
          <p:cNvSpPr txBox="1"/>
          <p:nvPr/>
        </p:nvSpPr>
        <p:spPr>
          <a:xfrm>
            <a:off x="5349240" y="1810512"/>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2007</a:t>
            </a:r>
            <a:endParaRPr lang="en-US" sz="1600" dirty="0"/>
          </a:p>
        </p:txBody>
      </p:sp>
      <p:sp>
        <p:nvSpPr>
          <p:cNvPr id="23" name="Text 18"/>
          <p:cNvSpPr txBox="1"/>
          <p:nvPr/>
        </p:nvSpPr>
        <p:spPr>
          <a:xfrm>
            <a:off x="6126480" y="1828800"/>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표준보육과정 공포</a:t>
            </a:r>
            <a:endParaRPr lang="en-US" sz="1200" dirty="0"/>
          </a:p>
        </p:txBody>
      </p:sp>
      <p:sp>
        <p:nvSpPr>
          <p:cNvPr id="24" name="Shape 19"/>
          <p:cNvSpPr/>
          <p:nvPr/>
        </p:nvSpPr>
        <p:spPr>
          <a:xfrm>
            <a:off x="4965192" y="2596896"/>
            <a:ext cx="219456" cy="219456"/>
          </a:xfrm>
          <a:prstGeom prst="ellipse">
            <a:avLst/>
          </a:prstGeom>
          <a:solidFill>
            <a:srgbClr val="5E8C6A"/>
          </a:solidFill>
          <a:ln/>
        </p:spPr>
      </p:sp>
      <p:sp>
        <p:nvSpPr>
          <p:cNvPr id="25" name="Text 20"/>
          <p:cNvSpPr txBox="1"/>
          <p:nvPr/>
        </p:nvSpPr>
        <p:spPr>
          <a:xfrm>
            <a:off x="5349240" y="2523744"/>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2013</a:t>
            </a:r>
            <a:endParaRPr lang="en-US" sz="1600" dirty="0"/>
          </a:p>
        </p:txBody>
      </p:sp>
      <p:sp>
        <p:nvSpPr>
          <p:cNvPr id="26" name="Text 21"/>
          <p:cNvSpPr txBox="1"/>
          <p:nvPr/>
        </p:nvSpPr>
        <p:spPr>
          <a:xfrm>
            <a:off x="6126480" y="2542032"/>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제3차 표준보육과정 개정</a:t>
            </a:r>
            <a:endParaRPr lang="en-US" sz="1200" dirty="0"/>
          </a:p>
        </p:txBody>
      </p:sp>
      <p:sp>
        <p:nvSpPr>
          <p:cNvPr id="27" name="Shape 22"/>
          <p:cNvSpPr/>
          <p:nvPr/>
        </p:nvSpPr>
        <p:spPr>
          <a:xfrm>
            <a:off x="4965192" y="3310128"/>
            <a:ext cx="219456" cy="219456"/>
          </a:xfrm>
          <a:prstGeom prst="ellipse">
            <a:avLst/>
          </a:prstGeom>
          <a:solidFill>
            <a:srgbClr val="5E8C6A"/>
          </a:solidFill>
          <a:ln/>
        </p:spPr>
      </p:sp>
      <p:sp>
        <p:nvSpPr>
          <p:cNvPr id="28" name="Text 23"/>
          <p:cNvSpPr txBox="1"/>
          <p:nvPr/>
        </p:nvSpPr>
        <p:spPr>
          <a:xfrm>
            <a:off x="5349240" y="3236976"/>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2020</a:t>
            </a:r>
            <a:endParaRPr lang="en-US" sz="1600" dirty="0"/>
          </a:p>
        </p:txBody>
      </p:sp>
      <p:sp>
        <p:nvSpPr>
          <p:cNvPr id="29" name="Text 24"/>
          <p:cNvSpPr txBox="1"/>
          <p:nvPr/>
        </p:nvSpPr>
        <p:spPr>
          <a:xfrm>
            <a:off x="6126480" y="3255264"/>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제4차 표준보육과정 고시</a:t>
            </a:r>
            <a:endParaRPr lang="en-US" sz="1200" dirty="0"/>
          </a:p>
        </p:txBody>
      </p:sp>
      <p:sp>
        <p:nvSpPr>
          <p:cNvPr id="30" name="Shape 25"/>
          <p:cNvSpPr/>
          <p:nvPr/>
        </p:nvSpPr>
        <p:spPr>
          <a:xfrm>
            <a:off x="4965192" y="4023360"/>
            <a:ext cx="219456" cy="219456"/>
          </a:xfrm>
          <a:prstGeom prst="ellipse">
            <a:avLst/>
          </a:prstGeom>
          <a:solidFill>
            <a:srgbClr val="F2A27E"/>
          </a:solidFill>
          <a:ln/>
        </p:spPr>
      </p:sp>
      <p:sp>
        <p:nvSpPr>
          <p:cNvPr id="31" name="Text 26"/>
          <p:cNvSpPr txBox="1"/>
          <p:nvPr/>
        </p:nvSpPr>
        <p:spPr>
          <a:xfrm>
            <a:off x="5349240" y="3950208"/>
            <a:ext cx="731520" cy="365760"/>
          </a:xfrm>
          <a:prstGeom prst="rect">
            <a:avLst/>
          </a:prstGeom>
          <a:noFill/>
          <a:ln/>
        </p:spPr>
        <p:txBody>
          <a:bodyPr wrap="square" lIns="0" tIns="0" rIns="0" bIns="0" rtlCol="0" anchor="ctr"/>
          <a:lstStyle/>
          <a:p>
            <a:pPr indent="0" marL="0">
              <a:buNone/>
            </a:pPr>
            <a:r>
              <a:rPr lang="en-US" sz="1600" b="1" dirty="0">
                <a:solidFill>
                  <a:srgbClr val="D07A55"/>
                </a:solidFill>
                <a:latin typeface="Malgun Gothic" pitchFamily="34" charset="0"/>
                <a:ea typeface="Malgun Gothic" pitchFamily="34" charset="-122"/>
                <a:cs typeface="Malgun Gothic" pitchFamily="34" charset="-120"/>
              </a:rPr>
              <a:t>2025</a:t>
            </a:r>
            <a:endParaRPr lang="en-US" sz="1600" dirty="0"/>
          </a:p>
        </p:txBody>
      </p:sp>
      <p:sp>
        <p:nvSpPr>
          <p:cNvPr id="32" name="Text 27"/>
          <p:cNvSpPr txBox="1"/>
          <p:nvPr/>
        </p:nvSpPr>
        <p:spPr>
          <a:xfrm>
            <a:off x="6126480" y="3968496"/>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2024 개정 표준보육과정(0~2세) 고시</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05</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2019 개정 누리과정의 혁신 방향</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200" dirty="0">
                <a:solidFill>
                  <a:srgbClr val="6E7B73"/>
                </a:solidFill>
                <a:latin typeface="Malgun Gothic" pitchFamily="34" charset="0"/>
                <a:ea typeface="Malgun Gothic" pitchFamily="34" charset="-122"/>
                <a:cs typeface="Malgun Gothic" pitchFamily="34" charset="-120"/>
              </a:rPr>
              <a:t>출발선 평등 실현을 위한 '유아교육 혁신방안'에 의거 (교육부, 2017)</a:t>
            </a:r>
            <a:endParaRPr lang="en-US" sz="1200" dirty="0"/>
          </a:p>
        </p:txBody>
      </p:sp>
      <p:sp>
        <p:nvSpPr>
          <p:cNvPr id="6" name="Shape 4"/>
          <p:cNvSpPr/>
          <p:nvPr/>
        </p:nvSpPr>
        <p:spPr>
          <a:xfrm>
            <a:off x="457200" y="1371600"/>
            <a:ext cx="2560320" cy="2514600"/>
          </a:xfrm>
          <a:prstGeom prst="roundRect">
            <a:avLst>
              <a:gd name="adj" fmla="val 5455"/>
            </a:avLst>
          </a:prstGeom>
          <a:solidFill>
            <a:srgbClr val="FCE4D8"/>
          </a:solidFill>
          <a:ln/>
        </p:spPr>
      </p:sp>
      <p:sp>
        <p:nvSpPr>
          <p:cNvPr id="7" name="Shape 5"/>
          <p:cNvSpPr/>
          <p:nvPr/>
        </p:nvSpPr>
        <p:spPr>
          <a:xfrm>
            <a:off x="640080" y="1554480"/>
            <a:ext cx="548640" cy="54864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777240" y="1691640"/>
            <a:ext cx="274320" cy="274320"/>
          </a:xfrm>
          <a:prstGeom prst="rect">
            <a:avLst/>
          </a:prstGeom>
        </p:spPr>
      </p:pic>
      <p:sp>
        <p:nvSpPr>
          <p:cNvPr id="9" name="Text 6"/>
          <p:cNvSpPr txBox="1"/>
          <p:nvPr/>
        </p:nvSpPr>
        <p:spPr>
          <a:xfrm>
            <a:off x="132588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첫째</a:t>
            </a:r>
            <a:endParaRPr lang="en-US" sz="1800" dirty="0"/>
          </a:p>
        </p:txBody>
      </p:sp>
      <p:sp>
        <p:nvSpPr>
          <p:cNvPr id="10" name="Text 7"/>
          <p:cNvSpPr txBox="1"/>
          <p:nvPr/>
        </p:nvSpPr>
        <p:spPr>
          <a:xfrm>
            <a:off x="64008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초등학교 준비 위주 학습</a:t>
            </a:r>
            <a:endParaRPr lang="en-US" sz="1100" dirty="0"/>
          </a:p>
        </p:txBody>
      </p:sp>
      <p:sp>
        <p:nvSpPr>
          <p:cNvPr id="11" name="Text 8"/>
          <p:cNvSpPr txBox="1"/>
          <p:nvPr/>
        </p:nvSpPr>
        <p:spPr>
          <a:xfrm>
            <a:off x="640080" y="2743200"/>
            <a:ext cx="2194560" cy="228600"/>
          </a:xfrm>
          <a:prstGeom prst="rect">
            <a:avLst/>
          </a:prstGeom>
          <a:noFill/>
          <a:ln/>
        </p:spPr>
        <p:txBody>
          <a:bodyPr wrap="square" lIns="0" tIns="0" rIns="0" bIns="0" rtlCol="0" anchor="ctr"/>
          <a:lstStyle/>
          <a:p>
            <a:pPr indent="0" marL="0">
              <a:buNone/>
            </a:pPr>
            <a:r>
              <a:rPr lang="en-US" sz="1000" dirty="0">
                <a:solidFill>
                  <a:srgbClr val="F2A27E"/>
                </a:solidFill>
                <a:latin typeface="Malgun Gothic" pitchFamily="34" charset="0"/>
                <a:ea typeface="Malgun Gothic" pitchFamily="34" charset="-122"/>
                <a:cs typeface="Malgun Gothic" pitchFamily="34" charset="-120"/>
              </a:rPr>
              <a:t>▼</a:t>
            </a:r>
            <a:endParaRPr lang="en-US" sz="1000" dirty="0"/>
          </a:p>
        </p:txBody>
      </p:sp>
      <p:sp>
        <p:nvSpPr>
          <p:cNvPr id="12" name="Text 9"/>
          <p:cNvSpPr txBox="1"/>
          <p:nvPr/>
        </p:nvSpPr>
        <p:spPr>
          <a:xfrm>
            <a:off x="640080" y="3017520"/>
            <a:ext cx="2194560" cy="777240"/>
          </a:xfrm>
          <a:prstGeom prst="rect">
            <a:avLst/>
          </a:prstGeom>
          <a:noFill/>
          <a:ln/>
        </p:spPr>
        <p:txBody>
          <a:bodyPr wrap="square" lIns="0" tIns="0" rIns="0" bIns="0" rtlCol="0" anchor="t"/>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개별 유아의 다양한 특성 고려</a:t>
            </a:r>
            <a:endParaRPr lang="en-US" sz="1400" dirty="0"/>
          </a:p>
        </p:txBody>
      </p:sp>
      <p:sp>
        <p:nvSpPr>
          <p:cNvPr id="13" name="Shape 10"/>
          <p:cNvSpPr/>
          <p:nvPr/>
        </p:nvSpPr>
        <p:spPr>
          <a:xfrm>
            <a:off x="3291840" y="1371600"/>
            <a:ext cx="2560320" cy="2514600"/>
          </a:xfrm>
          <a:prstGeom prst="roundRect">
            <a:avLst>
              <a:gd name="adj" fmla="val 5455"/>
            </a:avLst>
          </a:prstGeom>
          <a:solidFill>
            <a:srgbClr val="FDF3D6"/>
          </a:solidFill>
          <a:ln/>
        </p:spPr>
      </p:sp>
      <p:sp>
        <p:nvSpPr>
          <p:cNvPr id="14" name="Shape 11"/>
          <p:cNvSpPr/>
          <p:nvPr/>
        </p:nvSpPr>
        <p:spPr>
          <a:xfrm>
            <a:off x="3474720" y="1554480"/>
            <a:ext cx="548640" cy="548640"/>
          </a:xfrm>
          <a:prstGeom prst="ellipse">
            <a:avLst/>
          </a:prstGeom>
          <a:solidFill>
            <a:srgbClr val="F5D07A"/>
          </a:solidFill>
          <a:ln/>
        </p:spPr>
      </p:sp>
      <p:pic>
        <p:nvPicPr>
          <p:cNvPr id="15" name="Image 1" descr="preencoded.png">    </p:cNvPr>
          <p:cNvPicPr>
            <a:picLocks noChangeAspect="1"/>
          </p:cNvPicPr>
          <p:nvPr/>
        </p:nvPicPr>
        <p:blipFill>
          <a:blip r:embed="rId2"/>
          <a:stretch>
            <a:fillRect/>
          </a:stretch>
        </p:blipFill>
        <p:spPr>
          <a:xfrm>
            <a:off x="3611880" y="1691640"/>
            <a:ext cx="274320" cy="274320"/>
          </a:xfrm>
          <a:prstGeom prst="rect">
            <a:avLst/>
          </a:prstGeom>
        </p:spPr>
      </p:pic>
      <p:sp>
        <p:nvSpPr>
          <p:cNvPr id="16" name="Text 12"/>
          <p:cNvSpPr txBox="1"/>
          <p:nvPr/>
        </p:nvSpPr>
        <p:spPr>
          <a:xfrm>
            <a:off x="416052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둘째</a:t>
            </a:r>
            <a:endParaRPr lang="en-US" sz="1800" dirty="0"/>
          </a:p>
        </p:txBody>
      </p:sp>
      <p:sp>
        <p:nvSpPr>
          <p:cNvPr id="17" name="Text 13"/>
          <p:cNvSpPr txBox="1"/>
          <p:nvPr/>
        </p:nvSpPr>
        <p:spPr>
          <a:xfrm>
            <a:off x="347472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교사계획서·학습 위주 교육</a:t>
            </a:r>
            <a:endParaRPr lang="en-US" sz="1100" dirty="0"/>
          </a:p>
        </p:txBody>
      </p:sp>
      <p:sp>
        <p:nvSpPr>
          <p:cNvPr id="18" name="Text 14"/>
          <p:cNvSpPr txBox="1"/>
          <p:nvPr/>
        </p:nvSpPr>
        <p:spPr>
          <a:xfrm>
            <a:off x="3474720" y="2743200"/>
            <a:ext cx="2194560" cy="228600"/>
          </a:xfrm>
          <a:prstGeom prst="rect">
            <a:avLst/>
          </a:prstGeom>
          <a:noFill/>
          <a:ln/>
        </p:spPr>
        <p:txBody>
          <a:bodyPr wrap="square" lIns="0" tIns="0" rIns="0" bIns="0" rtlCol="0" anchor="ctr"/>
          <a:lstStyle/>
          <a:p>
            <a:pPr indent="0" marL="0">
              <a:buNone/>
            </a:pPr>
            <a:r>
              <a:rPr lang="en-US" sz="1000" dirty="0">
                <a:solidFill>
                  <a:srgbClr val="B08A2E"/>
                </a:solidFill>
                <a:latin typeface="Malgun Gothic" pitchFamily="34" charset="0"/>
                <a:ea typeface="Malgun Gothic" pitchFamily="34" charset="-122"/>
                <a:cs typeface="Malgun Gothic" pitchFamily="34" charset="-120"/>
              </a:rPr>
              <a:t>▼</a:t>
            </a:r>
            <a:endParaRPr lang="en-US" sz="1000" dirty="0"/>
          </a:p>
        </p:txBody>
      </p:sp>
      <p:sp>
        <p:nvSpPr>
          <p:cNvPr id="19" name="Text 15"/>
          <p:cNvSpPr txBox="1"/>
          <p:nvPr/>
        </p:nvSpPr>
        <p:spPr>
          <a:xfrm>
            <a:off x="3474720" y="3017520"/>
            <a:ext cx="2194560" cy="777240"/>
          </a:xfrm>
          <a:prstGeom prst="rect">
            <a:avLst/>
          </a:prstGeom>
          <a:noFill/>
          <a:ln/>
        </p:spPr>
        <p:txBody>
          <a:bodyPr wrap="square" lIns="0" tIns="0" rIns="0" bIns="0" rtlCol="0" anchor="t"/>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자유놀이 권장</a:t>
            </a:r>
            <a:endParaRPr lang="en-US" sz="1400" dirty="0"/>
          </a:p>
          <a:p>
            <a:pPr indent="0" marL="0">
              <a:buNone/>
            </a:pPr>
            <a:r>
              <a:rPr lang="en-US" sz="1400" b="1" dirty="0">
                <a:solidFill>
                  <a:srgbClr val="33413A"/>
                </a:solidFill>
                <a:latin typeface="Malgun Gothic" pitchFamily="34" charset="0"/>
                <a:ea typeface="Malgun Gothic" pitchFamily="34" charset="-122"/>
                <a:cs typeface="Malgun Gothic" pitchFamily="34" charset="-120"/>
              </a:rPr>
              <a:t>관찰·기록 등 상호작용 강조</a:t>
            </a:r>
            <a:endParaRPr lang="en-US" sz="1400" dirty="0"/>
          </a:p>
        </p:txBody>
      </p:sp>
      <p:sp>
        <p:nvSpPr>
          <p:cNvPr id="20" name="Shape 16"/>
          <p:cNvSpPr/>
          <p:nvPr/>
        </p:nvSpPr>
        <p:spPr>
          <a:xfrm>
            <a:off x="6126480" y="1371600"/>
            <a:ext cx="2560320" cy="2514600"/>
          </a:xfrm>
          <a:prstGeom prst="roundRect">
            <a:avLst>
              <a:gd name="adj" fmla="val 5455"/>
            </a:avLst>
          </a:prstGeom>
          <a:solidFill>
            <a:srgbClr val="DCEBDD"/>
          </a:solidFill>
          <a:ln/>
        </p:spPr>
      </p:sp>
      <p:sp>
        <p:nvSpPr>
          <p:cNvPr id="21" name="Shape 17"/>
          <p:cNvSpPr/>
          <p:nvPr/>
        </p:nvSpPr>
        <p:spPr>
          <a:xfrm>
            <a:off x="6309360" y="1554480"/>
            <a:ext cx="548640" cy="548640"/>
          </a:xfrm>
          <a:prstGeom prst="ellipse">
            <a:avLst/>
          </a:prstGeom>
          <a:solidFill>
            <a:srgbClr val="5E8C6A"/>
          </a:solidFill>
          <a:ln/>
        </p:spPr>
      </p:sp>
      <p:pic>
        <p:nvPicPr>
          <p:cNvPr id="22" name="Image 2" descr="preencoded.png">    </p:cNvPr>
          <p:cNvPicPr>
            <a:picLocks noChangeAspect="1"/>
          </p:cNvPicPr>
          <p:nvPr/>
        </p:nvPicPr>
        <p:blipFill>
          <a:blip r:embed="rId3"/>
          <a:stretch>
            <a:fillRect/>
          </a:stretch>
        </p:blipFill>
        <p:spPr>
          <a:xfrm>
            <a:off x="6446520" y="1691640"/>
            <a:ext cx="274320" cy="274320"/>
          </a:xfrm>
          <a:prstGeom prst="rect">
            <a:avLst/>
          </a:prstGeom>
        </p:spPr>
      </p:pic>
      <p:sp>
        <p:nvSpPr>
          <p:cNvPr id="23" name="Text 18"/>
          <p:cNvSpPr txBox="1"/>
          <p:nvPr/>
        </p:nvSpPr>
        <p:spPr>
          <a:xfrm>
            <a:off x="699516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셋째</a:t>
            </a:r>
            <a:endParaRPr lang="en-US" sz="1800" dirty="0"/>
          </a:p>
        </p:txBody>
      </p:sp>
      <p:sp>
        <p:nvSpPr>
          <p:cNvPr id="24" name="Text 19"/>
          <p:cNvSpPr txBox="1"/>
          <p:nvPr/>
        </p:nvSpPr>
        <p:spPr>
          <a:xfrm>
            <a:off x="630936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5개 영역, 주제-소주제의</a:t>
            </a:r>
            <a:endParaRPr lang="en-US" sz="1100" dirty="0"/>
          </a:p>
          <a:p>
            <a:pPr indent="0" marL="0">
              <a:buNone/>
            </a:pPr>
            <a:r>
              <a:rPr lang="en-US" sz="1100" dirty="0">
                <a:solidFill>
                  <a:srgbClr val="6E7B73"/>
                </a:solidFill>
                <a:latin typeface="Malgun Gothic" pitchFamily="34" charset="0"/>
                <a:ea typeface="Malgun Gothic" pitchFamily="34" charset="-122"/>
                <a:cs typeface="Malgun Gothic" pitchFamily="34" charset="-120"/>
              </a:rPr>
              <a:t>지나치게 세부적인 구성</a:t>
            </a:r>
            <a:endParaRPr lang="en-US" sz="1100" dirty="0"/>
          </a:p>
        </p:txBody>
      </p:sp>
      <p:sp>
        <p:nvSpPr>
          <p:cNvPr id="25" name="Text 20"/>
          <p:cNvSpPr txBox="1"/>
          <p:nvPr/>
        </p:nvSpPr>
        <p:spPr>
          <a:xfrm>
            <a:off x="6309360" y="2743200"/>
            <a:ext cx="2194560" cy="228600"/>
          </a:xfrm>
          <a:prstGeom prst="rect">
            <a:avLst/>
          </a:prstGeom>
          <a:noFill/>
          <a:ln/>
        </p:spPr>
        <p:txBody>
          <a:bodyPr wrap="square" lIns="0" tIns="0" rIns="0" bIns="0" rtlCol="0" anchor="ctr"/>
          <a:lstStyle/>
          <a:p>
            <a:pPr indent="0" marL="0">
              <a:buNone/>
            </a:pPr>
            <a:r>
              <a:rPr lang="en-US" sz="1000" dirty="0">
                <a:solidFill>
                  <a:srgbClr val="5E8C6A"/>
                </a:solidFill>
                <a:latin typeface="Malgun Gothic" pitchFamily="34" charset="0"/>
                <a:ea typeface="Malgun Gothic" pitchFamily="34" charset="-122"/>
                <a:cs typeface="Malgun Gothic" pitchFamily="34" charset="-120"/>
              </a:rPr>
              <a:t>▼</a:t>
            </a:r>
            <a:endParaRPr lang="en-US" sz="1000" dirty="0"/>
          </a:p>
        </p:txBody>
      </p:sp>
      <p:sp>
        <p:nvSpPr>
          <p:cNvPr id="26" name="Text 21"/>
          <p:cNvSpPr txBox="1"/>
          <p:nvPr/>
        </p:nvSpPr>
        <p:spPr>
          <a:xfrm>
            <a:off x="6309360" y="3017520"/>
            <a:ext cx="2194560" cy="777240"/>
          </a:xfrm>
          <a:prstGeom prst="rect">
            <a:avLst/>
          </a:prstGeom>
          <a:noFill/>
          <a:ln/>
        </p:spPr>
        <p:txBody>
          <a:bodyPr wrap="square" lIns="0" tIns="0" rIns="0" bIns="0" rtlCol="0" anchor="t"/>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세부내용 삭제로</a:t>
            </a:r>
            <a:endParaRPr lang="en-US" sz="1400" dirty="0"/>
          </a:p>
          <a:p>
            <a:pPr indent="0" marL="0">
              <a:buNone/>
            </a:pPr>
            <a:r>
              <a:rPr lang="en-US" sz="1400" b="1" dirty="0">
                <a:solidFill>
                  <a:srgbClr val="33413A"/>
                </a:solidFill>
                <a:latin typeface="Malgun Gothic" pitchFamily="34" charset="0"/>
                <a:ea typeface="Malgun Gothic" pitchFamily="34" charset="-122"/>
                <a:cs typeface="Malgun Gothic" pitchFamily="34" charset="-120"/>
              </a:rPr>
              <a:t>현장의 자율성 존중</a:t>
            </a:r>
            <a:endParaRPr lang="en-US" sz="1400" dirty="0"/>
          </a:p>
        </p:txBody>
      </p:sp>
      <p:sp>
        <p:nvSpPr>
          <p:cNvPr id="27" name="Shape 22"/>
          <p:cNvSpPr/>
          <p:nvPr/>
        </p:nvSpPr>
        <p:spPr>
          <a:xfrm>
            <a:off x="457200" y="4069080"/>
            <a:ext cx="8229600" cy="640080"/>
          </a:xfrm>
          <a:prstGeom prst="roundRect">
            <a:avLst>
              <a:gd name="adj" fmla="val 50000"/>
            </a:avLst>
          </a:prstGeom>
          <a:solidFill>
            <a:srgbClr val="5E8C6A"/>
          </a:solidFill>
          <a:ln/>
        </p:spPr>
      </p:sp>
      <p:sp>
        <p:nvSpPr>
          <p:cNvPr id="28" name="Text 23"/>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유아 중심 · 놀이 중심 교육과정  →  2020년부터 유치원·어린이집 공통 적용</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E8C6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한눈에 정리</a:t>
            </a:r>
            <a:endParaRPr lang="en-US" sz="3000" dirty="0"/>
          </a:p>
        </p:txBody>
      </p:sp>
      <p:sp>
        <p:nvSpPr>
          <p:cNvPr id="3" name="Shape 1"/>
          <p:cNvSpPr/>
          <p:nvPr/>
        </p:nvSpPr>
        <p:spPr>
          <a:xfrm>
            <a:off x="457200" y="1508760"/>
            <a:ext cx="3291840" cy="1005840"/>
          </a:xfrm>
          <a:prstGeom prst="roundRect">
            <a:avLst>
              <a:gd name="adj" fmla="val 13636"/>
            </a:avLst>
          </a:prstGeom>
          <a:solidFill>
            <a:srgbClr val="DCEBDD"/>
          </a:solidFill>
          <a:ln/>
        </p:spPr>
      </p:sp>
      <p:sp>
        <p:nvSpPr>
          <p:cNvPr id="4" name="Text 2"/>
          <p:cNvSpPr txBox="1"/>
          <p:nvPr/>
        </p:nvSpPr>
        <p:spPr>
          <a:xfrm>
            <a:off x="640080" y="1600200"/>
            <a:ext cx="2926080" cy="411480"/>
          </a:xfrm>
          <a:prstGeom prst="rect">
            <a:avLst/>
          </a:prstGeom>
          <a:noFill/>
          <a:ln/>
        </p:spPr>
        <p:txBody>
          <a:bodyPr wrap="square" lIns="0" tIns="0" rIns="0" bIns="0" rtlCol="0" anchor="ctr"/>
          <a:lstStyle/>
          <a:p>
            <a:pPr indent="0" marL="0">
              <a:buNone/>
            </a:pPr>
            <a:r>
              <a:rPr lang="en-US" sz="1800" b="1" dirty="0">
                <a:solidFill>
                  <a:srgbClr val="5E8C6A"/>
                </a:solidFill>
                <a:latin typeface="Malgun Gothic" pitchFamily="34" charset="0"/>
                <a:ea typeface="Malgun Gothic" pitchFamily="34" charset="-122"/>
                <a:cs typeface="Malgun Gothic" pitchFamily="34" charset="-120"/>
              </a:rPr>
              <a:t>표준보육과정</a:t>
            </a:r>
            <a:endParaRPr lang="en-US" sz="1800" dirty="0"/>
          </a:p>
        </p:txBody>
      </p:sp>
      <p:sp>
        <p:nvSpPr>
          <p:cNvPr id="5" name="Text 3"/>
          <p:cNvSpPr txBox="1"/>
          <p:nvPr/>
        </p:nvSpPr>
        <p:spPr>
          <a:xfrm>
            <a:off x="640080" y="2011680"/>
            <a:ext cx="2926080" cy="36576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0~2세 · 어린이집</a:t>
            </a:r>
            <a:endParaRPr lang="en-US" sz="1300" dirty="0"/>
          </a:p>
        </p:txBody>
      </p:sp>
      <p:sp>
        <p:nvSpPr>
          <p:cNvPr id="6" name="Shape 4"/>
          <p:cNvSpPr/>
          <p:nvPr/>
        </p:nvSpPr>
        <p:spPr>
          <a:xfrm>
            <a:off x="3931920" y="1508760"/>
            <a:ext cx="4754880" cy="1005840"/>
          </a:xfrm>
          <a:prstGeom prst="roundRect">
            <a:avLst>
              <a:gd name="adj" fmla="val 13636"/>
            </a:avLst>
          </a:prstGeom>
          <a:solidFill>
            <a:srgbClr val="FDF3D6"/>
          </a:solidFill>
          <a:ln/>
        </p:spPr>
      </p:sp>
      <p:sp>
        <p:nvSpPr>
          <p:cNvPr id="7" name="Text 5"/>
          <p:cNvSpPr txBox="1"/>
          <p:nvPr/>
        </p:nvSpPr>
        <p:spPr>
          <a:xfrm>
            <a:off x="4114800" y="1600200"/>
            <a:ext cx="4389120" cy="411480"/>
          </a:xfrm>
          <a:prstGeom prst="rect">
            <a:avLst/>
          </a:prstGeom>
          <a:noFill/>
          <a:ln/>
        </p:spPr>
        <p:txBody>
          <a:bodyPr wrap="square" lIns="0" tIns="0" rIns="0" bIns="0" rtlCol="0" anchor="ctr"/>
          <a:lstStyle/>
          <a:p>
            <a:pPr indent="0" marL="0">
              <a:buNone/>
            </a:pPr>
            <a:r>
              <a:rPr lang="en-US" sz="1800" b="1" dirty="0">
                <a:solidFill>
                  <a:srgbClr val="B08A2E"/>
                </a:solidFill>
                <a:latin typeface="Malgun Gothic" pitchFamily="34" charset="0"/>
                <a:ea typeface="Malgun Gothic" pitchFamily="34" charset="-122"/>
                <a:cs typeface="Malgun Gothic" pitchFamily="34" charset="-120"/>
              </a:rPr>
              <a:t>누리과정</a:t>
            </a:r>
            <a:endParaRPr lang="en-US" sz="1800" dirty="0"/>
          </a:p>
        </p:txBody>
      </p:sp>
      <p:sp>
        <p:nvSpPr>
          <p:cNvPr id="8" name="Text 6"/>
          <p:cNvSpPr txBox="1"/>
          <p:nvPr/>
        </p:nvSpPr>
        <p:spPr>
          <a:xfrm>
            <a:off x="4114800" y="2011680"/>
            <a:ext cx="4389120" cy="36576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3~5세 · 유치원과 어린이집 공통</a:t>
            </a:r>
            <a:endParaRPr lang="en-US" sz="1300" dirty="0"/>
          </a:p>
        </p:txBody>
      </p:sp>
      <p:sp>
        <p:nvSpPr>
          <p:cNvPr id="9" name="Shape 7"/>
          <p:cNvSpPr/>
          <p:nvPr/>
        </p:nvSpPr>
        <p:spPr>
          <a:xfrm>
            <a:off x="457200" y="2880360"/>
            <a:ext cx="365760" cy="365760"/>
          </a:xfrm>
          <a:prstGeom prst="ellipse">
            <a:avLst/>
          </a:prstGeom>
          <a:solidFill>
            <a:srgbClr val="F5D07A"/>
          </a:solidFill>
          <a:ln/>
        </p:spPr>
      </p:sp>
      <p:sp>
        <p:nvSpPr>
          <p:cNvPr id="10" name="Text 8"/>
          <p:cNvSpPr txBox="1"/>
          <p:nvPr/>
        </p:nvSpPr>
        <p:spPr>
          <a:xfrm>
            <a:off x="457200" y="2880360"/>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1</a:t>
            </a:r>
            <a:endParaRPr lang="en-US" sz="1300" dirty="0"/>
          </a:p>
        </p:txBody>
      </p:sp>
      <p:sp>
        <p:nvSpPr>
          <p:cNvPr id="11" name="Text 9"/>
          <p:cNvSpPr txBox="1"/>
          <p:nvPr/>
        </p:nvSpPr>
        <p:spPr>
          <a:xfrm>
            <a:off x="1005840" y="2834640"/>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교육과정</a:t>
            </a:r>
            <a:endParaRPr lang="en-US" sz="1500" dirty="0"/>
          </a:p>
        </p:txBody>
      </p:sp>
      <p:sp>
        <p:nvSpPr>
          <p:cNvPr id="12" name="Text 10"/>
          <p:cNvSpPr txBox="1"/>
          <p:nvPr/>
        </p:nvSpPr>
        <p:spPr>
          <a:xfrm>
            <a:off x="2468880" y="2834640"/>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학습자의 전인적 성장·발달을 위한 교수-학습 경험의 설계도</a:t>
            </a:r>
            <a:endParaRPr lang="en-US" sz="1400" dirty="0"/>
          </a:p>
        </p:txBody>
      </p:sp>
      <p:sp>
        <p:nvSpPr>
          <p:cNvPr id="13" name="Shape 11"/>
          <p:cNvSpPr/>
          <p:nvPr/>
        </p:nvSpPr>
        <p:spPr>
          <a:xfrm>
            <a:off x="457200" y="3447288"/>
            <a:ext cx="365760" cy="365760"/>
          </a:xfrm>
          <a:prstGeom prst="ellipse">
            <a:avLst/>
          </a:prstGeom>
          <a:solidFill>
            <a:srgbClr val="F5D07A"/>
          </a:solidFill>
          <a:ln/>
        </p:spPr>
      </p:sp>
      <p:sp>
        <p:nvSpPr>
          <p:cNvPr id="14" name="Text 12"/>
          <p:cNvSpPr txBox="1"/>
          <p:nvPr/>
        </p:nvSpPr>
        <p:spPr>
          <a:xfrm>
            <a:off x="457200" y="3447288"/>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2</a:t>
            </a:r>
            <a:endParaRPr lang="en-US" sz="1300" dirty="0"/>
          </a:p>
        </p:txBody>
      </p:sp>
      <p:sp>
        <p:nvSpPr>
          <p:cNvPr id="15" name="Text 13"/>
          <p:cNvSpPr txBox="1"/>
          <p:nvPr/>
        </p:nvSpPr>
        <p:spPr>
          <a:xfrm>
            <a:off x="1005840" y="3401568"/>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누리과정</a:t>
            </a:r>
            <a:endParaRPr lang="en-US" sz="1500" dirty="0"/>
          </a:p>
        </p:txBody>
      </p:sp>
      <p:sp>
        <p:nvSpPr>
          <p:cNvPr id="16" name="Text 14"/>
          <p:cNvSpPr txBox="1"/>
          <p:nvPr/>
        </p:nvSpPr>
        <p:spPr>
          <a:xfrm>
            <a:off x="2468880" y="3401568"/>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이원화된 과정을 일원화해 교육의 질과 출발점 평등을 보장</a:t>
            </a:r>
            <a:endParaRPr lang="en-US" sz="1400" dirty="0"/>
          </a:p>
        </p:txBody>
      </p:sp>
      <p:sp>
        <p:nvSpPr>
          <p:cNvPr id="17" name="Shape 15"/>
          <p:cNvSpPr/>
          <p:nvPr/>
        </p:nvSpPr>
        <p:spPr>
          <a:xfrm>
            <a:off x="457200" y="4014216"/>
            <a:ext cx="365760" cy="365760"/>
          </a:xfrm>
          <a:prstGeom prst="ellipse">
            <a:avLst/>
          </a:prstGeom>
          <a:solidFill>
            <a:srgbClr val="F5D07A"/>
          </a:solidFill>
          <a:ln/>
        </p:spPr>
      </p:sp>
      <p:sp>
        <p:nvSpPr>
          <p:cNvPr id="18" name="Text 16"/>
          <p:cNvSpPr txBox="1"/>
          <p:nvPr/>
        </p:nvSpPr>
        <p:spPr>
          <a:xfrm>
            <a:off x="457200" y="4014216"/>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3</a:t>
            </a:r>
            <a:endParaRPr lang="en-US" sz="1300" dirty="0"/>
          </a:p>
        </p:txBody>
      </p:sp>
      <p:sp>
        <p:nvSpPr>
          <p:cNvPr id="19" name="Text 17"/>
          <p:cNvSpPr txBox="1"/>
          <p:nvPr/>
        </p:nvSpPr>
        <p:spPr>
          <a:xfrm>
            <a:off x="1005840" y="3968496"/>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2019 개정</a:t>
            </a:r>
            <a:endParaRPr lang="en-US" sz="1500" dirty="0"/>
          </a:p>
        </p:txBody>
      </p:sp>
      <p:sp>
        <p:nvSpPr>
          <p:cNvPr id="20" name="Text 18"/>
          <p:cNvSpPr txBox="1"/>
          <p:nvPr/>
        </p:nvSpPr>
        <p:spPr>
          <a:xfrm>
            <a:off x="2468880" y="3968496"/>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유아 중심·놀이 중심, 현장의 자율성 존중</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영유아교육과정의 이해</dc:title>
  <dc:subject>PptxGenJS Presentation</dc:subject>
  <dc:creator>PptxGenJS</dc:creator>
  <cp:lastModifiedBy>PptxGenJS</cp:lastModifiedBy>
  <cp:revision>1</cp:revision>
  <dcterms:created xsi:type="dcterms:W3CDTF">2026-09-26T10:50:48Z</dcterms:created>
  <dcterms:modified xsi:type="dcterms:W3CDTF">2026-09-26T10:50:48Z</dcterms:modified>
</cp:coreProperties>
</file>